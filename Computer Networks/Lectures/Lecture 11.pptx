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960" r:id="rId2"/>
    <p:sldId id="1043" r:id="rId3"/>
    <p:sldId id="1218" r:id="rId4"/>
    <p:sldId id="1061" r:id="rId5"/>
    <p:sldId id="1213" r:id="rId6"/>
    <p:sldId id="1214" r:id="rId7"/>
    <p:sldId id="1215" r:id="rId8"/>
    <p:sldId id="1062" r:id="rId9"/>
    <p:sldId id="1063" r:id="rId10"/>
    <p:sldId id="1064" r:id="rId11"/>
    <p:sldId id="1066" r:id="rId12"/>
    <p:sldId id="1065" r:id="rId13"/>
    <p:sldId id="1067" r:id="rId14"/>
    <p:sldId id="1083" r:id="rId15"/>
    <p:sldId id="1068" r:id="rId16"/>
    <p:sldId id="1069" r:id="rId17"/>
    <p:sldId id="121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8A45A4-7B88-4B40-A13E-32D692B02E89}" type="datetimeFigureOut">
              <a:rPr lang="en-US" smtClean="0"/>
              <a:t>8/13/2024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AC5D1F-7E27-4702-A09B-C171105DE798}" type="slidenum">
              <a:rPr lang="en-US" smtClean="0"/>
              <a:t>‹#›</a:t>
            </a:fld>
            <a:endParaRPr lang="en-US"/>
          </a:p>
        </p:txBody>
      </p:sp>
    </p:spTree>
    <p:extLst>
      <p:ext uri="{BB962C8B-B14F-4D97-AF65-F5344CB8AC3E}">
        <p14:creationId xmlns:p14="http://schemas.microsoft.com/office/powerpoint/2010/main" val="3206749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History</a:t>
            </a:r>
          </a:p>
          <a:p>
            <a:endParaRPr lang="en-US" dirty="0"/>
          </a:p>
          <a:p>
            <a:r>
              <a:rPr lang="en-US" dirty="0"/>
              <a:t>8.0  (April 2020)</a:t>
            </a:r>
          </a:p>
          <a:p>
            <a:pPr marL="171450" indent="-171450">
              <a:buFont typeface="Arial" panose="020B0604020202020204" pitchFamily="34" charset="0"/>
              <a:buChar char="•"/>
            </a:pPr>
            <a:r>
              <a:rPr lang="en-US" dirty="0"/>
              <a:t>All slides reformatted for 16:9 aspect ratio</a:t>
            </a:r>
          </a:p>
          <a:p>
            <a:pPr marL="171450" indent="-171450">
              <a:buFont typeface="Arial" panose="020B0604020202020204" pitchFamily="34" charset="0"/>
              <a:buChar char="•"/>
            </a:pPr>
            <a:r>
              <a:rPr lang="en-US" dirty="0"/>
              <a:t>All slides updated to 8</a:t>
            </a:r>
            <a:r>
              <a:rPr lang="en-US" baseline="30000" dirty="0"/>
              <a:t>th</a:t>
            </a:r>
            <a:r>
              <a:rPr lang="en-US" dirty="0"/>
              <a:t> edition material</a:t>
            </a:r>
          </a:p>
          <a:p>
            <a:pPr marL="171450" indent="-171450">
              <a:buFont typeface="Arial" panose="020B0604020202020204" pitchFamily="34" charset="0"/>
              <a:buChar char="•"/>
            </a:pPr>
            <a:r>
              <a:rPr lang="en-US" dirty="0"/>
              <a:t>Use of Calibri font, rather that Gill Sans MT</a:t>
            </a:r>
          </a:p>
          <a:p>
            <a:pPr marL="171450" indent="-171450">
              <a:buFont typeface="Arial" panose="020B0604020202020204" pitchFamily="34" charset="0"/>
              <a:buChar char="•"/>
            </a:pPr>
            <a:r>
              <a:rPr lang="en-US" dirty="0"/>
              <a:t>Add LOTS more animation throughout</a:t>
            </a:r>
          </a:p>
          <a:p>
            <a:pPr marL="171450" indent="-171450">
              <a:buFont typeface="Arial" panose="020B0604020202020204" pitchFamily="34" charset="0"/>
              <a:buChar char="•"/>
            </a:pPr>
            <a:r>
              <a:rPr lang="en-US" dirty="0"/>
              <a:t>added new  8</a:t>
            </a:r>
            <a:r>
              <a:rPr lang="en-US" baseline="30000" dirty="0"/>
              <a:t>th</a:t>
            </a:r>
            <a:r>
              <a:rPr lang="en-US" dirty="0"/>
              <a:t> edition material on QUIC, CUBIC, delay-based congestion control</a:t>
            </a:r>
          </a:p>
          <a:p>
            <a:pPr marL="171450" indent="-171450">
              <a:buFont typeface="Arial" panose="020B0604020202020204" pitchFamily="34" charset="0"/>
              <a:buChar char="•"/>
            </a:pPr>
            <a:r>
              <a:rPr lang="en-US" dirty="0"/>
              <a:t>lighter header font</a:t>
            </a:r>
          </a:p>
        </p:txBody>
      </p:sp>
      <p:sp>
        <p:nvSpPr>
          <p:cNvPr id="4" name="Slide Number Placeholder 3"/>
          <p:cNvSpPr>
            <a:spLocks noGrp="1"/>
          </p:cNvSpPr>
          <p:nvPr>
            <p:ph type="sldNum" sz="quarter" idx="5"/>
          </p:nvPr>
        </p:nvSpPr>
        <p:spPr/>
        <p:txBody>
          <a:bodyPr/>
          <a:lstStyle/>
          <a:p>
            <a:fld id="{3D91EEAC-CFEF-9647-876F-EABC6B8338D7}" type="slidenum">
              <a:rPr lang="en-US" smtClean="0"/>
              <a:t>1</a:t>
            </a:fld>
            <a:endParaRPr lang="en-US"/>
          </a:p>
        </p:txBody>
      </p:sp>
    </p:spTree>
    <p:extLst>
      <p:ext uri="{BB962C8B-B14F-4D97-AF65-F5344CB8AC3E}">
        <p14:creationId xmlns:p14="http://schemas.microsoft.com/office/powerpoint/2010/main" val="2792661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a:p>
        </p:txBody>
      </p:sp>
    </p:spTree>
    <p:extLst>
      <p:ext uri="{BB962C8B-B14F-4D97-AF65-F5344CB8AC3E}">
        <p14:creationId xmlns:p14="http://schemas.microsoft.com/office/powerpoint/2010/main" val="1508217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arrows through reliable data transfer channel is just one way – reliably send from sender to receiver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0415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some time talking about how its to the sender and receiver side protocol that IMPLEMENTS reliable data transfer</a:t>
            </a:r>
          </a:p>
          <a:p>
            <a:endParaRPr lang="en-US" dirty="0"/>
          </a:p>
          <a:p>
            <a:r>
              <a:rPr lang="en-US" dirty="0"/>
              <a:t>Communication over unreliable channel is </a:t>
            </a:r>
            <a:r>
              <a:rPr lang="en-US" dirty="0" err="1"/>
              <a:t>TWO-way</a:t>
            </a:r>
            <a:r>
              <a:rPr lang="en-US" dirty="0"/>
              <a:t>: sender and receiver will exchange messages back and forth to IMPLEMENT one-way  reliable data transfer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767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we have a sender side and a receiver side. How much work they’ll have to do depends on the  IMPAIRMENTS introduced by channel – if the channel is perfect – no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117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point of view to keep in mind – it’s easy for US to look at sender and receiver together and see what is happening.  OH – that message sent was lost. </a:t>
            </a:r>
          </a:p>
          <a:p>
            <a:endParaRPr lang="en-US" dirty="0"/>
          </a:p>
          <a:p>
            <a:r>
              <a:rPr lang="en-US" dirty="0"/>
              <a:t>But think about it say from senders POV How does the sender know if its transmitted message over the unreliable channel got though??  ONLY if receiver somehow signals to the sender that it was received.</a:t>
            </a:r>
          </a:p>
          <a:p>
            <a:endParaRPr lang="en-US" dirty="0"/>
          </a:p>
          <a:p>
            <a:endParaRPr lang="en-US" dirty="0"/>
          </a:p>
          <a:p>
            <a:r>
              <a:rPr lang="en-US" dirty="0"/>
              <a:t>The key point here is that one side does NOT know what is going on at the other side – it’s as if there’s a curtain between them.  Everything they know about the other can ONLY be learned by sending/receiving messages.</a:t>
            </a:r>
          </a:p>
          <a:p>
            <a:endParaRPr lang="en-US" dirty="0"/>
          </a:p>
          <a:p>
            <a:r>
              <a:rPr lang="en-US" dirty="0"/>
              <a:t>Sender process wants to make sure a segment got through.  But it can just somehow magically look through curtain to see if receiver got it.  It will be up to the receiver to let the sender KNOW that it (the receiver) has correctly received the segment.</a:t>
            </a:r>
          </a:p>
          <a:p>
            <a:endParaRPr lang="en-US" dirty="0"/>
          </a:p>
          <a:p>
            <a:r>
              <a:rPr lang="en-US" dirty="0"/>
              <a:t>How will the sender and receiver do that – that’s the PROTOCOL.</a:t>
            </a:r>
          </a:p>
          <a:p>
            <a:endParaRPr lang="en-US" dirty="0"/>
          </a:p>
          <a:p>
            <a:r>
              <a:rPr lang="en-US" dirty="0"/>
              <a:t> Before starting to develop a protocol, let’s look more closely at the interface (the API if you will)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7984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2704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let’s get started in developing our reliable data transfer protocol, which we’ll call </a:t>
            </a:r>
            <a:r>
              <a:rPr lang="en-US" dirty="0" err="1"/>
              <a:t>rdt</a:t>
            </a:r>
            <a:r>
              <a:rPr lang="en-US" dirty="0"/>
              <a:t> (need a good acronym for protocol – like HTTP, TCP, UDP, IP)</a:t>
            </a:r>
          </a:p>
          <a:p>
            <a:endParaRPr lang="en-US" dirty="0"/>
          </a:p>
          <a:p>
            <a:r>
              <a:rPr lang="en-US" dirty="0"/>
              <a:t>Bullet points 1 and 2</a:t>
            </a:r>
          </a:p>
          <a:p>
            <a:endParaRPr lang="en-US" dirty="0"/>
          </a:p>
          <a:p>
            <a:endParaRPr lang="en-US" dirty="0"/>
          </a:p>
          <a:p>
            <a:r>
              <a:rPr lang="en-US" dirty="0"/>
              <a:t>NOW if we are going to develop a protocol, so we’ll need some way to SPECIFY a protocol.  </a:t>
            </a:r>
            <a:r>
              <a:rPr lang="en-US" b="1" i="1" dirty="0"/>
              <a:t>How</a:t>
            </a:r>
            <a:r>
              <a:rPr lang="en-US" dirty="0"/>
              <a:t> do we do that?</a:t>
            </a:r>
          </a:p>
          <a:p>
            <a:endParaRPr lang="en-US" dirty="0"/>
          </a:p>
          <a:p>
            <a:r>
              <a:rPr lang="en-US" dirty="0"/>
              <a:t>We could write text, but as all know, that’s prone to misinterpretation, and might be incomplete.  You might write a specification, and then think “oh yeah – I forgot about that case”</a:t>
            </a:r>
          </a:p>
          <a:p>
            <a:endParaRPr lang="en-US" dirty="0"/>
          </a:p>
          <a:p>
            <a:r>
              <a:rPr lang="en-US" dirty="0"/>
              <a:t>What we need is more </a:t>
            </a:r>
            <a:r>
              <a:rPr lang="en-US" b="1" i="1" dirty="0"/>
              <a:t>formal</a:t>
            </a:r>
            <a:r>
              <a:rPr lang="en-US" dirty="0"/>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p>
          <a:p>
            <a:endParaRPr lang="en-US" dirty="0"/>
          </a:p>
          <a:p>
            <a:r>
              <a:rPr lang="en-US" dirty="0"/>
              <a:t>And as the name might suggest, a central notion of finite state machines is the notion of STATE </a:t>
            </a:r>
          </a:p>
          <a:p>
            <a:r>
              <a:rPr lang="en-US" dirty="0"/>
              <a:t>&lt;talk about state&gt;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4246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We’ll start with the simplest case possible - an unreliable channel that is, in fact perfect – no segments are lost, corrupted, </a:t>
            </a:r>
            <a:r>
              <a:rPr lang="en-US" dirty="0" err="1"/>
              <a:t>dupplicated</a:t>
            </a:r>
            <a:r>
              <a:rPr lang="en-US" dirty="0"/>
              <a:t> or reordered.  The sender just sends and it pops out the other side(perhaps after some delay) perfectly.</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8451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397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8317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89773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22660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8933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0146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254B8-3664-B08B-6C71-1400376459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85934A-6A00-DAE6-AE16-9CB49BD3F9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1AA05C-A65F-D5B4-56F0-DE813237E46D}"/>
              </a:ext>
            </a:extLst>
          </p:cNvPr>
          <p:cNvSpPr>
            <a:spLocks noGrp="1"/>
          </p:cNvSpPr>
          <p:nvPr>
            <p:ph type="dt" sz="half" idx="10"/>
          </p:nvPr>
        </p:nvSpPr>
        <p:spPr/>
        <p:txBody>
          <a:bodyPr/>
          <a:lstStyle/>
          <a:p>
            <a:fld id="{7BA39B43-1E8B-46B9-A7A3-8AAB35D5069B}" type="datetimeFigureOut">
              <a:rPr lang="en-US" smtClean="0"/>
              <a:t>8/13/2024</a:t>
            </a:fld>
            <a:endParaRPr lang="en-US"/>
          </a:p>
        </p:txBody>
      </p:sp>
      <p:sp>
        <p:nvSpPr>
          <p:cNvPr id="5" name="Footer Placeholder 4">
            <a:extLst>
              <a:ext uri="{FF2B5EF4-FFF2-40B4-BE49-F238E27FC236}">
                <a16:creationId xmlns:a16="http://schemas.microsoft.com/office/drawing/2014/main" id="{E3A7A0A8-A39E-CCD7-87EE-198F30D2A7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C406F0-B8DC-8F25-FB7B-EEF560A8AC4E}"/>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3560831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13A1B-0F22-782B-2D8F-5CB554AC8A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AD2A2C-7042-D8DE-894C-2BAABC637B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2B8395-6E07-BF3F-E646-55013D510E08}"/>
              </a:ext>
            </a:extLst>
          </p:cNvPr>
          <p:cNvSpPr>
            <a:spLocks noGrp="1"/>
          </p:cNvSpPr>
          <p:nvPr>
            <p:ph type="dt" sz="half" idx="10"/>
          </p:nvPr>
        </p:nvSpPr>
        <p:spPr/>
        <p:txBody>
          <a:bodyPr/>
          <a:lstStyle/>
          <a:p>
            <a:fld id="{7BA39B43-1E8B-46B9-A7A3-8AAB35D5069B}" type="datetimeFigureOut">
              <a:rPr lang="en-US" smtClean="0"/>
              <a:t>8/13/2024</a:t>
            </a:fld>
            <a:endParaRPr lang="en-US"/>
          </a:p>
        </p:txBody>
      </p:sp>
      <p:sp>
        <p:nvSpPr>
          <p:cNvPr id="5" name="Footer Placeholder 4">
            <a:extLst>
              <a:ext uri="{FF2B5EF4-FFF2-40B4-BE49-F238E27FC236}">
                <a16:creationId xmlns:a16="http://schemas.microsoft.com/office/drawing/2014/main" id="{5E3236D2-3194-0824-60EF-2C07022726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CC825A-FBD8-C96A-0FEE-151D35DA7BF0}"/>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4030135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6A2F9-F25D-7636-9790-27A5452225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7C2E77-B03B-7B58-2F7E-BA10A2E1C7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288D8A-EB23-292C-EABB-C08AD6EC5A41}"/>
              </a:ext>
            </a:extLst>
          </p:cNvPr>
          <p:cNvSpPr>
            <a:spLocks noGrp="1"/>
          </p:cNvSpPr>
          <p:nvPr>
            <p:ph type="dt" sz="half" idx="10"/>
          </p:nvPr>
        </p:nvSpPr>
        <p:spPr/>
        <p:txBody>
          <a:bodyPr/>
          <a:lstStyle/>
          <a:p>
            <a:fld id="{7BA39B43-1E8B-46B9-A7A3-8AAB35D5069B}" type="datetimeFigureOut">
              <a:rPr lang="en-US" smtClean="0"/>
              <a:t>8/13/2024</a:t>
            </a:fld>
            <a:endParaRPr lang="en-US"/>
          </a:p>
        </p:txBody>
      </p:sp>
      <p:sp>
        <p:nvSpPr>
          <p:cNvPr id="5" name="Footer Placeholder 4">
            <a:extLst>
              <a:ext uri="{FF2B5EF4-FFF2-40B4-BE49-F238E27FC236}">
                <a16:creationId xmlns:a16="http://schemas.microsoft.com/office/drawing/2014/main" id="{F161FCC1-16FF-E7D7-3707-618B7BE4B9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4E1650-6C3B-4B48-E45C-27E379363D8D}"/>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3122340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5D155-0691-062B-4FD9-D40C428C66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545CE-2C50-AAC9-1100-D62927171C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4814A2-5E21-1DEF-2337-023ECFFF5D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1653A9-02A5-DD9D-8472-9F380D644E41}"/>
              </a:ext>
            </a:extLst>
          </p:cNvPr>
          <p:cNvSpPr>
            <a:spLocks noGrp="1"/>
          </p:cNvSpPr>
          <p:nvPr>
            <p:ph type="dt" sz="half" idx="10"/>
          </p:nvPr>
        </p:nvSpPr>
        <p:spPr/>
        <p:txBody>
          <a:bodyPr/>
          <a:lstStyle/>
          <a:p>
            <a:fld id="{7BA39B43-1E8B-46B9-A7A3-8AAB35D5069B}" type="datetimeFigureOut">
              <a:rPr lang="en-US" smtClean="0"/>
              <a:t>8/13/2024</a:t>
            </a:fld>
            <a:endParaRPr lang="en-US"/>
          </a:p>
        </p:txBody>
      </p:sp>
      <p:sp>
        <p:nvSpPr>
          <p:cNvPr id="6" name="Footer Placeholder 5">
            <a:extLst>
              <a:ext uri="{FF2B5EF4-FFF2-40B4-BE49-F238E27FC236}">
                <a16:creationId xmlns:a16="http://schemas.microsoft.com/office/drawing/2014/main" id="{A69F07C2-8897-3E93-8102-703E3226D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AD03A6-815B-A5BD-5D9C-7F75A1E200E4}"/>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390307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E15EF-E6B2-2E70-0ABC-EC8C67C9AF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A9430B-9A87-B734-BD23-A5D5DD642A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43F2F6-E735-D32F-FC6D-ADDF3297B5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78B431-6E7A-A019-4703-029CE62669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0414A7-4264-C914-1B3C-0F2BC7A13D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3E82F7-5D33-0CE3-97B1-63CA302EF6EF}"/>
              </a:ext>
            </a:extLst>
          </p:cNvPr>
          <p:cNvSpPr>
            <a:spLocks noGrp="1"/>
          </p:cNvSpPr>
          <p:nvPr>
            <p:ph type="dt" sz="half" idx="10"/>
          </p:nvPr>
        </p:nvSpPr>
        <p:spPr/>
        <p:txBody>
          <a:bodyPr/>
          <a:lstStyle/>
          <a:p>
            <a:fld id="{7BA39B43-1E8B-46B9-A7A3-8AAB35D5069B}" type="datetimeFigureOut">
              <a:rPr lang="en-US" smtClean="0"/>
              <a:t>8/13/2024</a:t>
            </a:fld>
            <a:endParaRPr lang="en-US"/>
          </a:p>
        </p:txBody>
      </p:sp>
      <p:sp>
        <p:nvSpPr>
          <p:cNvPr id="8" name="Footer Placeholder 7">
            <a:extLst>
              <a:ext uri="{FF2B5EF4-FFF2-40B4-BE49-F238E27FC236}">
                <a16:creationId xmlns:a16="http://schemas.microsoft.com/office/drawing/2014/main" id="{792853B5-C211-AA86-0CBB-CF7CEA2173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88F294-3FAD-63EC-6A7C-A13A935A6E3F}"/>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2798878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BC7C2-1127-02C3-D445-0C9388619A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42B853B-B149-93E2-5A8D-2CE52725171B}"/>
              </a:ext>
            </a:extLst>
          </p:cNvPr>
          <p:cNvSpPr>
            <a:spLocks noGrp="1"/>
          </p:cNvSpPr>
          <p:nvPr>
            <p:ph type="dt" sz="half" idx="10"/>
          </p:nvPr>
        </p:nvSpPr>
        <p:spPr/>
        <p:txBody>
          <a:bodyPr/>
          <a:lstStyle/>
          <a:p>
            <a:fld id="{7BA39B43-1E8B-46B9-A7A3-8AAB35D5069B}" type="datetimeFigureOut">
              <a:rPr lang="en-US" smtClean="0"/>
              <a:t>8/13/2024</a:t>
            </a:fld>
            <a:endParaRPr lang="en-US"/>
          </a:p>
        </p:txBody>
      </p:sp>
      <p:sp>
        <p:nvSpPr>
          <p:cNvPr id="4" name="Footer Placeholder 3">
            <a:extLst>
              <a:ext uri="{FF2B5EF4-FFF2-40B4-BE49-F238E27FC236}">
                <a16:creationId xmlns:a16="http://schemas.microsoft.com/office/drawing/2014/main" id="{B16EAD41-031C-AF43-A9FD-82F39320D8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AD3AC3-31E8-F4EE-61D1-AD3E091478B7}"/>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109357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CFAEB1-C85F-3406-E441-DE3D57DFCDF2}"/>
              </a:ext>
            </a:extLst>
          </p:cNvPr>
          <p:cNvSpPr>
            <a:spLocks noGrp="1"/>
          </p:cNvSpPr>
          <p:nvPr>
            <p:ph type="dt" sz="half" idx="10"/>
          </p:nvPr>
        </p:nvSpPr>
        <p:spPr/>
        <p:txBody>
          <a:bodyPr/>
          <a:lstStyle/>
          <a:p>
            <a:fld id="{7BA39B43-1E8B-46B9-A7A3-8AAB35D5069B}" type="datetimeFigureOut">
              <a:rPr lang="en-US" smtClean="0"/>
              <a:t>8/13/2024</a:t>
            </a:fld>
            <a:endParaRPr lang="en-US"/>
          </a:p>
        </p:txBody>
      </p:sp>
      <p:sp>
        <p:nvSpPr>
          <p:cNvPr id="3" name="Footer Placeholder 2">
            <a:extLst>
              <a:ext uri="{FF2B5EF4-FFF2-40B4-BE49-F238E27FC236}">
                <a16:creationId xmlns:a16="http://schemas.microsoft.com/office/drawing/2014/main" id="{4633E417-D3B6-61C5-2397-BBEA0C0B78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D18407-B315-59A8-9792-D66CE5D5950B}"/>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2701000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D6A12-BEFB-46CF-F40F-8C80D2E9FF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D8356AF-E7D7-8BC4-AC60-9A475BBB2F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20F827-65FC-AB11-B0AD-BBC6B431BC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9681C4-29B4-7EC1-06FE-BD55DD1E6B15}"/>
              </a:ext>
            </a:extLst>
          </p:cNvPr>
          <p:cNvSpPr>
            <a:spLocks noGrp="1"/>
          </p:cNvSpPr>
          <p:nvPr>
            <p:ph type="dt" sz="half" idx="10"/>
          </p:nvPr>
        </p:nvSpPr>
        <p:spPr/>
        <p:txBody>
          <a:bodyPr/>
          <a:lstStyle/>
          <a:p>
            <a:fld id="{7BA39B43-1E8B-46B9-A7A3-8AAB35D5069B}" type="datetimeFigureOut">
              <a:rPr lang="en-US" smtClean="0"/>
              <a:t>8/13/2024</a:t>
            </a:fld>
            <a:endParaRPr lang="en-US"/>
          </a:p>
        </p:txBody>
      </p:sp>
      <p:sp>
        <p:nvSpPr>
          <p:cNvPr id="6" name="Footer Placeholder 5">
            <a:extLst>
              <a:ext uri="{FF2B5EF4-FFF2-40B4-BE49-F238E27FC236}">
                <a16:creationId xmlns:a16="http://schemas.microsoft.com/office/drawing/2014/main" id="{4CB5C199-357F-A439-2495-97500A5F32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6AD49F-BDE6-9588-FEF7-7233C62321E2}"/>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34731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A1883-B5AF-07DC-A421-EB5599B4F8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E737AF-8A3F-03E9-4638-8A087A7950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AB61B0-E373-1A78-0497-11B37EA6FE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D4370C-54B1-C5B0-B571-9E7B9A8D6D46}"/>
              </a:ext>
            </a:extLst>
          </p:cNvPr>
          <p:cNvSpPr>
            <a:spLocks noGrp="1"/>
          </p:cNvSpPr>
          <p:nvPr>
            <p:ph type="dt" sz="half" idx="10"/>
          </p:nvPr>
        </p:nvSpPr>
        <p:spPr/>
        <p:txBody>
          <a:bodyPr/>
          <a:lstStyle/>
          <a:p>
            <a:fld id="{7BA39B43-1E8B-46B9-A7A3-8AAB35D5069B}" type="datetimeFigureOut">
              <a:rPr lang="en-US" smtClean="0"/>
              <a:t>8/13/2024</a:t>
            </a:fld>
            <a:endParaRPr lang="en-US"/>
          </a:p>
        </p:txBody>
      </p:sp>
      <p:sp>
        <p:nvSpPr>
          <p:cNvPr id="6" name="Footer Placeholder 5">
            <a:extLst>
              <a:ext uri="{FF2B5EF4-FFF2-40B4-BE49-F238E27FC236}">
                <a16:creationId xmlns:a16="http://schemas.microsoft.com/office/drawing/2014/main" id="{BEC82A52-59D7-EA52-C801-FD632B0BB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1C1F98-2AE7-1384-879C-E5C9EE77ED07}"/>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1435386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731C6-63A8-838F-07E4-56E282B59F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CA13D6-A17F-79AD-EADF-EE9497953A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3643F6-9928-2A99-4BF2-613756297493}"/>
              </a:ext>
            </a:extLst>
          </p:cNvPr>
          <p:cNvSpPr>
            <a:spLocks noGrp="1"/>
          </p:cNvSpPr>
          <p:nvPr>
            <p:ph type="dt" sz="half" idx="10"/>
          </p:nvPr>
        </p:nvSpPr>
        <p:spPr/>
        <p:txBody>
          <a:bodyPr/>
          <a:lstStyle/>
          <a:p>
            <a:fld id="{7BA39B43-1E8B-46B9-A7A3-8AAB35D5069B}" type="datetimeFigureOut">
              <a:rPr lang="en-US" smtClean="0"/>
              <a:t>8/13/2024</a:t>
            </a:fld>
            <a:endParaRPr lang="en-US"/>
          </a:p>
        </p:txBody>
      </p:sp>
      <p:sp>
        <p:nvSpPr>
          <p:cNvPr id="5" name="Footer Placeholder 4">
            <a:extLst>
              <a:ext uri="{FF2B5EF4-FFF2-40B4-BE49-F238E27FC236}">
                <a16:creationId xmlns:a16="http://schemas.microsoft.com/office/drawing/2014/main" id="{83B79319-ABF1-A53B-B79D-CA594F0500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E7E7DA-D88A-1B99-0438-38B544C8AAE7}"/>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43148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333C41-9705-E69F-C1BC-D84F3D0659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D31B53-50A6-349C-720F-5DC175B3FA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D57266-740F-B20F-2CC2-9BDAD1A1AD82}"/>
              </a:ext>
            </a:extLst>
          </p:cNvPr>
          <p:cNvSpPr>
            <a:spLocks noGrp="1"/>
          </p:cNvSpPr>
          <p:nvPr>
            <p:ph type="dt" sz="half" idx="10"/>
          </p:nvPr>
        </p:nvSpPr>
        <p:spPr/>
        <p:txBody>
          <a:bodyPr/>
          <a:lstStyle/>
          <a:p>
            <a:fld id="{7BA39B43-1E8B-46B9-A7A3-8AAB35D5069B}" type="datetimeFigureOut">
              <a:rPr lang="en-US" smtClean="0"/>
              <a:t>8/13/2024</a:t>
            </a:fld>
            <a:endParaRPr lang="en-US"/>
          </a:p>
        </p:txBody>
      </p:sp>
      <p:sp>
        <p:nvSpPr>
          <p:cNvPr id="5" name="Footer Placeholder 4">
            <a:extLst>
              <a:ext uri="{FF2B5EF4-FFF2-40B4-BE49-F238E27FC236}">
                <a16:creationId xmlns:a16="http://schemas.microsoft.com/office/drawing/2014/main" id="{F8DE5991-4001-2A1B-B2F9-93AFDE54F3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A5F951-3088-2CAE-B2D1-85B11238553C}"/>
              </a:ext>
            </a:extLst>
          </p:cNvPr>
          <p:cNvSpPr>
            <a:spLocks noGrp="1"/>
          </p:cNvSpPr>
          <p:nvPr>
            <p:ph type="sldNum" sz="quarter" idx="12"/>
          </p:nvPr>
        </p:nvSpPr>
        <p:spPr/>
        <p:txBody>
          <a:bodyPr/>
          <a:lstStyle/>
          <a:p>
            <a:fld id="{2A4EBEC0-6C6C-4D93-BD06-2856B06B9213}" type="slidenum">
              <a:rPr lang="en-US" smtClean="0"/>
              <a:t>‹#›</a:t>
            </a:fld>
            <a:endParaRPr lang="en-US"/>
          </a:p>
        </p:txBody>
      </p:sp>
    </p:spTree>
    <p:extLst>
      <p:ext uri="{BB962C8B-B14F-4D97-AF65-F5344CB8AC3E}">
        <p14:creationId xmlns:p14="http://schemas.microsoft.com/office/powerpoint/2010/main" val="1439528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3E35B1-3D1D-7471-8FEF-5EF0E59DB3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E92997-6C6F-F12B-E6D1-C89D6A9B90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18443E-CB0F-2477-5ACF-D313F9D179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A39B43-1E8B-46B9-A7A3-8AAB35D5069B}" type="datetimeFigureOut">
              <a:rPr lang="en-US" smtClean="0"/>
              <a:t>8/13/2024</a:t>
            </a:fld>
            <a:endParaRPr lang="en-US"/>
          </a:p>
        </p:txBody>
      </p:sp>
      <p:sp>
        <p:nvSpPr>
          <p:cNvPr id="5" name="Footer Placeholder 4">
            <a:extLst>
              <a:ext uri="{FF2B5EF4-FFF2-40B4-BE49-F238E27FC236}">
                <a16:creationId xmlns:a16="http://schemas.microsoft.com/office/drawing/2014/main" id="{D0914EC2-9E93-9816-871E-A46DEAFD02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191B352-794F-9138-F2B5-B7EF683F52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4EBEC0-6C6C-4D93-BD06-2856B06B9213}" type="slidenum">
              <a:rPr lang="en-US" smtClean="0"/>
              <a:t>‹#›</a:t>
            </a:fld>
            <a:endParaRPr lang="en-US"/>
          </a:p>
        </p:txBody>
      </p:sp>
    </p:spTree>
    <p:extLst>
      <p:ext uri="{BB962C8B-B14F-4D97-AF65-F5344CB8AC3E}">
        <p14:creationId xmlns:p14="http://schemas.microsoft.com/office/powerpoint/2010/main" val="2601661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9C77C5-A377-3E44-9802-7A06ED6AD0D8}"/>
              </a:ext>
            </a:extLst>
          </p:cNvPr>
          <p:cNvSpPr>
            <a:spLocks noChangeArrowheads="1"/>
          </p:cNvSpPr>
          <p:nvPr/>
        </p:nvSpPr>
        <p:spPr bwMode="auto">
          <a:xfrm>
            <a:off x="7981312" y="4289908"/>
            <a:ext cx="3981504"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endParaRPr lang="en-US" altLang="en-US" sz="2000" dirty="0">
              <a:latin typeface="+mn-lt"/>
            </a:endParaRPr>
          </a:p>
        </p:txBody>
      </p:sp>
      <p:sp>
        <p:nvSpPr>
          <p:cNvPr id="6" name="Rectangle 3">
            <a:extLst>
              <a:ext uri="{FF2B5EF4-FFF2-40B4-BE49-F238E27FC236}">
                <a16:creationId xmlns:a16="http://schemas.microsoft.com/office/drawing/2014/main" id="{9A9F684E-5DD1-6543-95D2-8EB5E7619BE2}"/>
              </a:ext>
            </a:extLst>
          </p:cNvPr>
          <p:cNvSpPr>
            <a:spLocks noChangeArrowheads="1"/>
          </p:cNvSpPr>
          <p:nvPr/>
        </p:nvSpPr>
        <p:spPr bwMode="auto">
          <a:xfrm>
            <a:off x="1989064" y="2183946"/>
            <a:ext cx="5052616"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Chapter 3</a:t>
            </a:r>
            <a:br>
              <a:rPr lang="en-US" altLang="en-US" sz="6000" b="1" dirty="0">
                <a:solidFill>
                  <a:srgbClr val="000099"/>
                </a:solidFill>
                <a:latin typeface="+mj-lt"/>
              </a:rPr>
            </a:br>
            <a:r>
              <a:rPr lang="en-US" altLang="en-US" sz="5400" b="1" dirty="0">
                <a:solidFill>
                  <a:srgbClr val="000099"/>
                </a:solidFill>
                <a:latin typeface="+mj-lt"/>
              </a:rPr>
              <a:t>Transport Layer</a:t>
            </a:r>
          </a:p>
        </p:txBody>
      </p:sp>
      <p:sp>
        <p:nvSpPr>
          <p:cNvPr id="2" name="Slide Number Placeholder 1">
            <a:extLst>
              <a:ext uri="{FF2B5EF4-FFF2-40B4-BE49-F238E27FC236}">
                <a16:creationId xmlns:a16="http://schemas.microsoft.com/office/drawing/2014/main" id="{B46B45F3-5B52-354C-801C-007B1F52150F}"/>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a:t>
            </a:fld>
            <a:endParaRPr lang="en-US" dirty="0"/>
          </a:p>
        </p:txBody>
      </p:sp>
      <p:pic>
        <p:nvPicPr>
          <p:cNvPr id="9" name="Picture 8" descr="A picture containing outdoor, water, bridge, building&#10;&#10;Description automatically generated">
            <a:extLst>
              <a:ext uri="{FF2B5EF4-FFF2-40B4-BE49-F238E27FC236}">
                <a16:creationId xmlns:a16="http://schemas.microsoft.com/office/drawing/2014/main" id="{F92E998D-891C-8C4D-A1FD-4079E0691FBD}"/>
              </a:ext>
            </a:extLst>
          </p:cNvPr>
          <p:cNvPicPr>
            <a:picLocks noChangeAspect="1"/>
          </p:cNvPicPr>
          <p:nvPr/>
        </p:nvPicPr>
        <p:blipFill>
          <a:blip r:embed="rId3"/>
          <a:stretch>
            <a:fillRect/>
          </a:stretch>
        </p:blipFill>
        <p:spPr>
          <a:xfrm>
            <a:off x="7134202" y="887185"/>
            <a:ext cx="4170828" cy="5213535"/>
          </a:xfrm>
          <a:prstGeom prst="rect">
            <a:avLst/>
          </a:prstGeom>
        </p:spPr>
      </p:pic>
    </p:spTree>
    <p:extLst>
      <p:ext uri="{BB962C8B-B14F-4D97-AF65-F5344CB8AC3E}">
        <p14:creationId xmlns:p14="http://schemas.microsoft.com/office/powerpoint/2010/main" val="2314825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rgbClr val="010086"/>
              </a:buClr>
            </a:pPr>
            <a:r>
              <a:rPr lang="en-US" altLang="en-US" sz="3200" dirty="0">
                <a:cs typeface="Calibri" panose="020F0502020204030204" pitchFamily="34" charset="0"/>
              </a:rPr>
              <a:t>Principles of reliable data transfer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403225" indent="-285750">
              <a:spcBef>
                <a:spcPts val="800"/>
              </a:spcBef>
              <a:buClr>
                <a:schemeClr val="bg1">
                  <a:lumMod val="75000"/>
                </a:schemeClr>
              </a:buClr>
            </a:pPr>
            <a:r>
              <a:rPr lang="en-US" sz="3200" dirty="0">
                <a:solidFill>
                  <a:schemeClr val="bg1">
                    <a:lumMod val="75000"/>
                  </a:schemeClr>
                </a:solidFill>
              </a:rPr>
              <a:t>Evolution of transport-layer functionality</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F6D691E7-EAAE-3346-9874-13E19E43355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2</a:t>
            </a:fld>
            <a:endParaRPr lang="en-US" dirty="0"/>
          </a:p>
        </p:txBody>
      </p:sp>
      <p:pic>
        <p:nvPicPr>
          <p:cNvPr id="6" name="Picture 5">
            <a:extLst>
              <a:ext uri="{FF2B5EF4-FFF2-40B4-BE49-F238E27FC236}">
                <a16:creationId xmlns:a16="http://schemas.microsoft.com/office/drawing/2014/main" id="{3DC958F9-547C-2644-99EE-6ECDE636E5F6}"/>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821324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447216" y="2183039"/>
            <a:ext cx="10515600" cy="1325563"/>
          </a:xfrm>
        </p:spPr>
        <p:txBody>
          <a:bodyPr/>
          <a:lstStyle/>
          <a:p>
            <a:r>
              <a:rPr lang="en-US" dirty="0"/>
              <a:t>What is meant by reliable data transfer?</a:t>
            </a:r>
          </a:p>
        </p:txBody>
      </p:sp>
      <p:sp>
        <p:nvSpPr>
          <p:cNvPr id="5" name="Slide Number Placeholder 4"/>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3</a:t>
            </a:fld>
            <a:endParaRPr lang="en-US" dirty="0"/>
          </a:p>
        </p:txBody>
      </p:sp>
    </p:spTree>
    <p:extLst>
      <p:ext uri="{BB962C8B-B14F-4D97-AF65-F5344CB8AC3E}">
        <p14:creationId xmlns:p14="http://schemas.microsoft.com/office/powerpoint/2010/main" val="2326144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160" name="Group 159">
            <a:extLst>
              <a:ext uri="{FF2B5EF4-FFF2-40B4-BE49-F238E27FC236}">
                <a16:creationId xmlns:a16="http://schemas.microsoft.com/office/drawing/2014/main" id="{AA406E8C-63BA-BB42-9548-F314CBF3CE0A}"/>
              </a:ext>
            </a:extLst>
          </p:cNvPr>
          <p:cNvGrpSpPr/>
          <p:nvPr/>
        </p:nvGrpSpPr>
        <p:grpSpPr>
          <a:xfrm>
            <a:off x="238849" y="1911780"/>
            <a:ext cx="5147343" cy="2073847"/>
            <a:chOff x="737513" y="2398718"/>
            <a:chExt cx="5595549" cy="2073847"/>
          </a:xfrm>
        </p:grpSpPr>
        <p:sp>
          <p:nvSpPr>
            <p:cNvPr id="161" name="Bent-Up Arrow 160">
              <a:extLst>
                <a:ext uri="{FF2B5EF4-FFF2-40B4-BE49-F238E27FC236}">
                  <a16:creationId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2" name="Group 161">
              <a:extLst>
                <a:ext uri="{FF2B5EF4-FFF2-40B4-BE49-F238E27FC236}">
                  <a16:creationId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Box 221">
                <a:extLst>
                  <a:ext uri="{FF2B5EF4-FFF2-40B4-BE49-F238E27FC236}">
                    <a16:creationId xmlns:a16="http://schemas.microsoft.com/office/drawing/2014/main" id="{9B910D5B-F03E-EF4D-8AA8-F0CB2EF771DD}"/>
                  </a:ext>
                </a:extLst>
              </p:cNvPr>
              <p:cNvSpPr txBox="1"/>
              <p:nvPr/>
            </p:nvSpPr>
            <p:spPr>
              <a:xfrm>
                <a:off x="9935581"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163" name="Group 162">
              <a:extLst>
                <a:ext uri="{FF2B5EF4-FFF2-40B4-BE49-F238E27FC236}">
                  <a16:creationId xmlns:a16="http://schemas.microsoft.com/office/drawing/2014/main" id="{4711F2A1-3F96-204B-8D76-CA73A72D0541}"/>
                </a:ext>
              </a:extLst>
            </p:cNvPr>
            <p:cNvGrpSpPr/>
            <p:nvPr/>
          </p:nvGrpSpPr>
          <p:grpSpPr>
            <a:xfrm>
              <a:off x="2038693" y="3003923"/>
              <a:ext cx="577241" cy="307777"/>
              <a:chOff x="9950444" y="999755"/>
              <a:chExt cx="577241" cy="307777"/>
            </a:xfrm>
          </p:grpSpPr>
          <p:sp>
            <p:nvSpPr>
              <p:cNvPr id="219" name="Rectangle 218">
                <a:extLst>
                  <a:ext uri="{FF2B5EF4-FFF2-40B4-BE49-F238E27FC236}">
                    <a16:creationId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id="{159B749A-0FAF-ED4F-A42F-24ED3C9A2228}"/>
                  </a:ext>
                </a:extLst>
              </p:cNvPr>
              <p:cNvSpPr txBox="1"/>
              <p:nvPr/>
            </p:nvSpPr>
            <p:spPr>
              <a:xfrm>
                <a:off x="9950444" y="999755"/>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4" name="Group 194">
              <a:extLst>
                <a:ext uri="{FF2B5EF4-FFF2-40B4-BE49-F238E27FC236}">
                  <a16:creationId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id="{C9BAD8A3-73FD-504F-969F-7C35A5C98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5" name="Group 164">
              <a:extLst>
                <a:ext uri="{FF2B5EF4-FFF2-40B4-BE49-F238E27FC236}">
                  <a16:creationId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TextBox 215">
                <a:extLst>
                  <a:ext uri="{FF2B5EF4-FFF2-40B4-BE49-F238E27FC236}">
                    <a16:creationId xmlns:a16="http://schemas.microsoft.com/office/drawing/2014/main" id="{2D496D32-B730-8F41-BC5C-D46F18E3C27F}"/>
                  </a:ext>
                </a:extLst>
              </p:cNvPr>
              <p:cNvSpPr txBox="1"/>
              <p:nvPr/>
            </p:nvSpPr>
            <p:spPr>
              <a:xfrm>
                <a:off x="9921965"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66" name="Group 165">
              <a:extLst>
                <a:ext uri="{FF2B5EF4-FFF2-40B4-BE49-F238E27FC236}">
                  <a16:creationId xmlns:a16="http://schemas.microsoft.com/office/drawing/2014/main" id="{EA2AE3CE-CD18-494C-A00E-4B2C61F9903E}"/>
                </a:ext>
              </a:extLst>
            </p:cNvPr>
            <p:cNvGrpSpPr/>
            <p:nvPr/>
          </p:nvGrpSpPr>
          <p:grpSpPr>
            <a:xfrm>
              <a:off x="4815705" y="3003923"/>
              <a:ext cx="577241" cy="307777"/>
              <a:chOff x="9678159" y="981583"/>
              <a:chExt cx="577241" cy="307777"/>
            </a:xfrm>
          </p:grpSpPr>
          <p:sp>
            <p:nvSpPr>
              <p:cNvPr id="213" name="Rectangle 212">
                <a:extLst>
                  <a:ext uri="{FF2B5EF4-FFF2-40B4-BE49-F238E27FC236}">
                    <a16:creationId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TextBox 213">
                <a:extLst>
                  <a:ext uri="{FF2B5EF4-FFF2-40B4-BE49-F238E27FC236}">
                    <a16:creationId xmlns:a16="http://schemas.microsoft.com/office/drawing/2014/main" id="{B8FBC38B-338F-F747-943D-E7C01C7B97F9}"/>
                  </a:ext>
                </a:extLst>
              </p:cNvPr>
              <p:cNvSpPr txBox="1"/>
              <p:nvPr/>
            </p:nvSpPr>
            <p:spPr>
              <a:xfrm>
                <a:off x="9678159" y="981583"/>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1">
              <a:extLst>
                <a:ext uri="{FF2B5EF4-FFF2-40B4-BE49-F238E27FC236}">
                  <a16:creationId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Rectangle 163">
                <a:extLst>
                  <a:ext uri="{FF2B5EF4-FFF2-40B4-BE49-F238E27FC236}">
                    <a16:creationId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3" name="Freeform 164">
                <a:extLst>
                  <a:ext uri="{FF2B5EF4-FFF2-40B4-BE49-F238E27FC236}">
                    <a16:creationId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Freeform 165">
                <a:extLst>
                  <a:ext uri="{FF2B5EF4-FFF2-40B4-BE49-F238E27FC236}">
                    <a16:creationId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Rectangle 166">
                <a:extLst>
                  <a:ext uri="{FF2B5EF4-FFF2-40B4-BE49-F238E27FC236}">
                    <a16:creationId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6" name="Group 167">
                <a:extLst>
                  <a:ext uri="{FF2B5EF4-FFF2-40B4-BE49-F238E27FC236}">
                    <a16:creationId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2" name="AutoShape 169">
                  <a:extLst>
                    <a:ext uri="{FF2B5EF4-FFF2-40B4-BE49-F238E27FC236}">
                      <a16:creationId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7" name="Rectangle 170">
                <a:extLst>
                  <a:ext uri="{FF2B5EF4-FFF2-40B4-BE49-F238E27FC236}">
                    <a16:creationId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8" name="Group 171">
                <a:extLst>
                  <a:ext uri="{FF2B5EF4-FFF2-40B4-BE49-F238E27FC236}">
                    <a16:creationId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AutoShape 173">
                  <a:extLst>
                    <a:ext uri="{FF2B5EF4-FFF2-40B4-BE49-F238E27FC236}">
                      <a16:creationId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Rectangle 174">
                <a:extLst>
                  <a:ext uri="{FF2B5EF4-FFF2-40B4-BE49-F238E27FC236}">
                    <a16:creationId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75">
                <a:extLst>
                  <a:ext uri="{FF2B5EF4-FFF2-40B4-BE49-F238E27FC236}">
                    <a16:creationId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1" name="Group 176">
                <a:extLst>
                  <a:ext uri="{FF2B5EF4-FFF2-40B4-BE49-F238E27FC236}">
                    <a16:creationId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8" name="AutoShape 178">
                  <a:extLst>
                    <a:ext uri="{FF2B5EF4-FFF2-40B4-BE49-F238E27FC236}">
                      <a16:creationId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2" name="Freeform 179">
                <a:extLst>
                  <a:ext uri="{FF2B5EF4-FFF2-40B4-BE49-F238E27FC236}">
                    <a16:creationId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3" name="Group 180">
                <a:extLst>
                  <a:ext uri="{FF2B5EF4-FFF2-40B4-BE49-F238E27FC236}">
                    <a16:creationId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6" name="AutoShape 182">
                  <a:extLst>
                    <a:ext uri="{FF2B5EF4-FFF2-40B4-BE49-F238E27FC236}">
                      <a16:creationId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4" name="Rectangle 183">
                <a:extLst>
                  <a:ext uri="{FF2B5EF4-FFF2-40B4-BE49-F238E27FC236}">
                    <a16:creationId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5" name="Freeform 184">
                <a:extLst>
                  <a:ext uri="{FF2B5EF4-FFF2-40B4-BE49-F238E27FC236}">
                    <a16:creationId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Freeform 185">
                <a:extLst>
                  <a:ext uri="{FF2B5EF4-FFF2-40B4-BE49-F238E27FC236}">
                    <a16:creationId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Oval 186">
                <a:extLst>
                  <a:ext uri="{FF2B5EF4-FFF2-40B4-BE49-F238E27FC236}">
                    <a16:creationId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Freeform 187">
                <a:extLst>
                  <a:ext uri="{FF2B5EF4-FFF2-40B4-BE49-F238E27FC236}">
                    <a16:creationId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AutoShape 188">
                <a:extLst>
                  <a:ext uri="{FF2B5EF4-FFF2-40B4-BE49-F238E27FC236}">
                    <a16:creationId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AutoShape 189">
                <a:extLst>
                  <a:ext uri="{FF2B5EF4-FFF2-40B4-BE49-F238E27FC236}">
                    <a16:creationId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Oval 190">
                <a:extLst>
                  <a:ext uri="{FF2B5EF4-FFF2-40B4-BE49-F238E27FC236}">
                    <a16:creationId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2" name="Oval 191">
                <a:extLst>
                  <a:ext uri="{FF2B5EF4-FFF2-40B4-BE49-F238E27FC236}">
                    <a16:creationId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93">
                <a:extLst>
                  <a:ext uri="{FF2B5EF4-FFF2-40B4-BE49-F238E27FC236}">
                    <a16:creationId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8" name="Group 167">
              <a:extLst>
                <a:ext uri="{FF2B5EF4-FFF2-40B4-BE49-F238E27FC236}">
                  <a16:creationId xmlns:a16="http://schemas.microsoft.com/office/drawing/2014/main" id="{EAFBA5EB-DA0C-3243-87AB-B89E8E79E894}"/>
                </a:ext>
              </a:extLst>
            </p:cNvPr>
            <p:cNvGrpSpPr/>
            <p:nvPr/>
          </p:nvGrpSpPr>
          <p:grpSpPr>
            <a:xfrm>
              <a:off x="2669417" y="3423937"/>
              <a:ext cx="2003932" cy="369332"/>
              <a:chOff x="7504363" y="3141846"/>
              <a:chExt cx="2003932" cy="369332"/>
            </a:xfrm>
          </p:grpSpPr>
          <p:grpSp>
            <p:nvGrpSpPr>
              <p:cNvPr id="175" name="Group 174">
                <a:extLst>
                  <a:ext uri="{FF2B5EF4-FFF2-40B4-BE49-F238E27FC236}">
                    <a16:creationId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179">
                  <a:extLst>
                    <a:ext uri="{FF2B5EF4-FFF2-40B4-BE49-F238E27FC236}">
                      <a16:creationId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6" name="TextBox 175">
                <a:extLst>
                  <a:ext uri="{FF2B5EF4-FFF2-40B4-BE49-F238E27FC236}">
                    <a16:creationId xmlns:a16="http://schemas.microsoft.com/office/drawing/2014/main" id="{997FB701-F3E4-214A-918C-4E8D192B2BB3}"/>
                  </a:ext>
                </a:extLst>
              </p:cNvPr>
              <p:cNvSpPr txBox="1"/>
              <p:nvPr/>
            </p:nvSpPr>
            <p:spPr>
              <a:xfrm>
                <a:off x="7695752" y="3141846"/>
                <a:ext cx="16788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reliable channel</a:t>
                </a:r>
              </a:p>
            </p:txBody>
          </p:sp>
        </p:grpSp>
        <p:cxnSp>
          <p:nvCxnSpPr>
            <p:cNvPr id="169" name="Straight Connector 168">
              <a:extLst>
                <a:ext uri="{FF2B5EF4-FFF2-40B4-BE49-F238E27FC236}">
                  <a16:creationId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1" name="Straight Connector 170">
              <a:extLst>
                <a:ext uri="{FF2B5EF4-FFF2-40B4-BE49-F238E27FC236}">
                  <a16:creationId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1100341-F7A9-1D41-8489-9128E671B607}"/>
                </a:ext>
              </a:extLst>
            </p:cNvPr>
            <p:cNvSpPr txBox="1"/>
            <p:nvPr/>
          </p:nvSpPr>
          <p:spPr>
            <a:xfrm>
              <a:off x="737513" y="3044385"/>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TextBox 172">
              <a:extLst>
                <a:ext uri="{FF2B5EF4-FFF2-40B4-BE49-F238E27FC236}">
                  <a16:creationId xmlns:a16="http://schemas.microsoft.com/office/drawing/2014/main" id="{30DCEE24-EC49-B244-B451-278656DCCEBE}"/>
                </a:ext>
              </a:extLst>
            </p:cNvPr>
            <p:cNvSpPr txBox="1"/>
            <p:nvPr/>
          </p:nvSpPr>
          <p:spPr>
            <a:xfrm>
              <a:off x="828116" y="3272133"/>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15EB50A4-0F12-A743-8A7B-907E5EE4A2F5}"/>
                </a:ext>
              </a:extLst>
            </p:cNvPr>
            <p:cNvSpPr txBox="1"/>
            <p:nvPr/>
          </p:nvSpPr>
          <p:spPr>
            <a:xfrm flipH="1">
              <a:off x="1817207" y="4010900"/>
              <a:ext cx="40256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abstraction</a:t>
              </a:r>
            </a:p>
          </p:txBody>
        </p:sp>
      </p:grpSp>
      <p:sp>
        <p:nvSpPr>
          <p:cNvPr id="66" name="Slide Number Placeholder 2">
            <a:extLst>
              <a:ext uri="{FF2B5EF4-FFF2-40B4-BE49-F238E27FC236}">
                <a16:creationId xmlns:a16="http://schemas.microsoft.com/office/drawing/2014/main" id="{F496148B-2840-6E48-8844-F185577E4A6A}"/>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4</a:t>
            </a:fld>
            <a:endParaRPr lang="en-US" dirty="0"/>
          </a:p>
        </p:txBody>
      </p:sp>
    </p:spTree>
    <p:extLst>
      <p:ext uri="{BB962C8B-B14F-4D97-AF65-F5344CB8AC3E}">
        <p14:creationId xmlns:p14="http://schemas.microsoft.com/office/powerpoint/2010/main" val="3177238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0" name="Group 159">
            <a:extLst>
              <a:ext uri="{FF2B5EF4-FFF2-40B4-BE49-F238E27FC236}">
                <a16:creationId xmlns:a16="http://schemas.microsoft.com/office/drawing/2014/main" id="{AA406E8C-63BA-BB42-9548-F314CBF3CE0A}"/>
              </a:ext>
            </a:extLst>
          </p:cNvPr>
          <p:cNvGrpSpPr/>
          <p:nvPr/>
        </p:nvGrpSpPr>
        <p:grpSpPr>
          <a:xfrm>
            <a:off x="238849" y="1911780"/>
            <a:ext cx="5147343" cy="2073847"/>
            <a:chOff x="737513" y="2398718"/>
            <a:chExt cx="5595549" cy="2073847"/>
          </a:xfrm>
        </p:grpSpPr>
        <p:sp>
          <p:nvSpPr>
            <p:cNvPr id="161" name="Bent-Up Arrow 160">
              <a:extLst>
                <a:ext uri="{FF2B5EF4-FFF2-40B4-BE49-F238E27FC236}">
                  <a16:creationId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2" name="Group 161">
              <a:extLst>
                <a:ext uri="{FF2B5EF4-FFF2-40B4-BE49-F238E27FC236}">
                  <a16:creationId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Box 221">
                <a:extLst>
                  <a:ext uri="{FF2B5EF4-FFF2-40B4-BE49-F238E27FC236}">
                    <a16:creationId xmlns:a16="http://schemas.microsoft.com/office/drawing/2014/main" id="{9B910D5B-F03E-EF4D-8AA8-F0CB2EF771DD}"/>
                  </a:ext>
                </a:extLst>
              </p:cNvPr>
              <p:cNvSpPr txBox="1"/>
              <p:nvPr/>
            </p:nvSpPr>
            <p:spPr>
              <a:xfrm>
                <a:off x="9935581"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163" name="Group 162">
              <a:extLst>
                <a:ext uri="{FF2B5EF4-FFF2-40B4-BE49-F238E27FC236}">
                  <a16:creationId xmlns:a16="http://schemas.microsoft.com/office/drawing/2014/main" id="{4711F2A1-3F96-204B-8D76-CA73A72D0541}"/>
                </a:ext>
              </a:extLst>
            </p:cNvPr>
            <p:cNvGrpSpPr/>
            <p:nvPr/>
          </p:nvGrpSpPr>
          <p:grpSpPr>
            <a:xfrm>
              <a:off x="2038693" y="3003923"/>
              <a:ext cx="577241" cy="307777"/>
              <a:chOff x="9950444" y="999755"/>
              <a:chExt cx="577241" cy="307777"/>
            </a:xfrm>
          </p:grpSpPr>
          <p:sp>
            <p:nvSpPr>
              <p:cNvPr id="219" name="Rectangle 218">
                <a:extLst>
                  <a:ext uri="{FF2B5EF4-FFF2-40B4-BE49-F238E27FC236}">
                    <a16:creationId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id="{159B749A-0FAF-ED4F-A42F-24ED3C9A2228}"/>
                  </a:ext>
                </a:extLst>
              </p:cNvPr>
              <p:cNvSpPr txBox="1"/>
              <p:nvPr/>
            </p:nvSpPr>
            <p:spPr>
              <a:xfrm>
                <a:off x="9950444" y="999755"/>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4" name="Group 194">
              <a:extLst>
                <a:ext uri="{FF2B5EF4-FFF2-40B4-BE49-F238E27FC236}">
                  <a16:creationId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id="{C9BAD8A3-73FD-504F-969F-7C35A5C98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5" name="Group 164">
              <a:extLst>
                <a:ext uri="{FF2B5EF4-FFF2-40B4-BE49-F238E27FC236}">
                  <a16:creationId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TextBox 215">
                <a:extLst>
                  <a:ext uri="{FF2B5EF4-FFF2-40B4-BE49-F238E27FC236}">
                    <a16:creationId xmlns:a16="http://schemas.microsoft.com/office/drawing/2014/main" id="{2D496D32-B730-8F41-BC5C-D46F18E3C27F}"/>
                  </a:ext>
                </a:extLst>
              </p:cNvPr>
              <p:cNvSpPr txBox="1"/>
              <p:nvPr/>
            </p:nvSpPr>
            <p:spPr>
              <a:xfrm>
                <a:off x="9921965"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66" name="Group 165">
              <a:extLst>
                <a:ext uri="{FF2B5EF4-FFF2-40B4-BE49-F238E27FC236}">
                  <a16:creationId xmlns:a16="http://schemas.microsoft.com/office/drawing/2014/main" id="{EA2AE3CE-CD18-494C-A00E-4B2C61F9903E}"/>
                </a:ext>
              </a:extLst>
            </p:cNvPr>
            <p:cNvGrpSpPr/>
            <p:nvPr/>
          </p:nvGrpSpPr>
          <p:grpSpPr>
            <a:xfrm>
              <a:off x="4815705" y="3003923"/>
              <a:ext cx="577241" cy="307777"/>
              <a:chOff x="9678159" y="981583"/>
              <a:chExt cx="577241" cy="307777"/>
            </a:xfrm>
          </p:grpSpPr>
          <p:sp>
            <p:nvSpPr>
              <p:cNvPr id="213" name="Rectangle 212">
                <a:extLst>
                  <a:ext uri="{FF2B5EF4-FFF2-40B4-BE49-F238E27FC236}">
                    <a16:creationId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TextBox 213">
                <a:extLst>
                  <a:ext uri="{FF2B5EF4-FFF2-40B4-BE49-F238E27FC236}">
                    <a16:creationId xmlns:a16="http://schemas.microsoft.com/office/drawing/2014/main" id="{B8FBC38B-338F-F747-943D-E7C01C7B97F9}"/>
                  </a:ext>
                </a:extLst>
              </p:cNvPr>
              <p:cNvSpPr txBox="1"/>
              <p:nvPr/>
            </p:nvSpPr>
            <p:spPr>
              <a:xfrm>
                <a:off x="9678159" y="981583"/>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1">
              <a:extLst>
                <a:ext uri="{FF2B5EF4-FFF2-40B4-BE49-F238E27FC236}">
                  <a16:creationId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Rectangle 163">
                <a:extLst>
                  <a:ext uri="{FF2B5EF4-FFF2-40B4-BE49-F238E27FC236}">
                    <a16:creationId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3" name="Freeform 164">
                <a:extLst>
                  <a:ext uri="{FF2B5EF4-FFF2-40B4-BE49-F238E27FC236}">
                    <a16:creationId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Freeform 165">
                <a:extLst>
                  <a:ext uri="{FF2B5EF4-FFF2-40B4-BE49-F238E27FC236}">
                    <a16:creationId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Rectangle 166">
                <a:extLst>
                  <a:ext uri="{FF2B5EF4-FFF2-40B4-BE49-F238E27FC236}">
                    <a16:creationId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6" name="Group 167">
                <a:extLst>
                  <a:ext uri="{FF2B5EF4-FFF2-40B4-BE49-F238E27FC236}">
                    <a16:creationId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2" name="AutoShape 169">
                  <a:extLst>
                    <a:ext uri="{FF2B5EF4-FFF2-40B4-BE49-F238E27FC236}">
                      <a16:creationId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7" name="Rectangle 170">
                <a:extLst>
                  <a:ext uri="{FF2B5EF4-FFF2-40B4-BE49-F238E27FC236}">
                    <a16:creationId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8" name="Group 171">
                <a:extLst>
                  <a:ext uri="{FF2B5EF4-FFF2-40B4-BE49-F238E27FC236}">
                    <a16:creationId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AutoShape 173">
                  <a:extLst>
                    <a:ext uri="{FF2B5EF4-FFF2-40B4-BE49-F238E27FC236}">
                      <a16:creationId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Rectangle 174">
                <a:extLst>
                  <a:ext uri="{FF2B5EF4-FFF2-40B4-BE49-F238E27FC236}">
                    <a16:creationId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75">
                <a:extLst>
                  <a:ext uri="{FF2B5EF4-FFF2-40B4-BE49-F238E27FC236}">
                    <a16:creationId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1" name="Group 176">
                <a:extLst>
                  <a:ext uri="{FF2B5EF4-FFF2-40B4-BE49-F238E27FC236}">
                    <a16:creationId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8" name="AutoShape 178">
                  <a:extLst>
                    <a:ext uri="{FF2B5EF4-FFF2-40B4-BE49-F238E27FC236}">
                      <a16:creationId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2" name="Freeform 179">
                <a:extLst>
                  <a:ext uri="{FF2B5EF4-FFF2-40B4-BE49-F238E27FC236}">
                    <a16:creationId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3" name="Group 180">
                <a:extLst>
                  <a:ext uri="{FF2B5EF4-FFF2-40B4-BE49-F238E27FC236}">
                    <a16:creationId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6" name="AutoShape 182">
                  <a:extLst>
                    <a:ext uri="{FF2B5EF4-FFF2-40B4-BE49-F238E27FC236}">
                      <a16:creationId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4" name="Rectangle 183">
                <a:extLst>
                  <a:ext uri="{FF2B5EF4-FFF2-40B4-BE49-F238E27FC236}">
                    <a16:creationId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5" name="Freeform 184">
                <a:extLst>
                  <a:ext uri="{FF2B5EF4-FFF2-40B4-BE49-F238E27FC236}">
                    <a16:creationId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Freeform 185">
                <a:extLst>
                  <a:ext uri="{FF2B5EF4-FFF2-40B4-BE49-F238E27FC236}">
                    <a16:creationId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Oval 186">
                <a:extLst>
                  <a:ext uri="{FF2B5EF4-FFF2-40B4-BE49-F238E27FC236}">
                    <a16:creationId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Freeform 187">
                <a:extLst>
                  <a:ext uri="{FF2B5EF4-FFF2-40B4-BE49-F238E27FC236}">
                    <a16:creationId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AutoShape 188">
                <a:extLst>
                  <a:ext uri="{FF2B5EF4-FFF2-40B4-BE49-F238E27FC236}">
                    <a16:creationId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AutoShape 189">
                <a:extLst>
                  <a:ext uri="{FF2B5EF4-FFF2-40B4-BE49-F238E27FC236}">
                    <a16:creationId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Oval 190">
                <a:extLst>
                  <a:ext uri="{FF2B5EF4-FFF2-40B4-BE49-F238E27FC236}">
                    <a16:creationId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2" name="Oval 191">
                <a:extLst>
                  <a:ext uri="{FF2B5EF4-FFF2-40B4-BE49-F238E27FC236}">
                    <a16:creationId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93">
                <a:extLst>
                  <a:ext uri="{FF2B5EF4-FFF2-40B4-BE49-F238E27FC236}">
                    <a16:creationId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8" name="Group 167">
              <a:extLst>
                <a:ext uri="{FF2B5EF4-FFF2-40B4-BE49-F238E27FC236}">
                  <a16:creationId xmlns:a16="http://schemas.microsoft.com/office/drawing/2014/main" id="{EAFBA5EB-DA0C-3243-87AB-B89E8E79E894}"/>
                </a:ext>
              </a:extLst>
            </p:cNvPr>
            <p:cNvGrpSpPr/>
            <p:nvPr/>
          </p:nvGrpSpPr>
          <p:grpSpPr>
            <a:xfrm>
              <a:off x="2669417" y="3423937"/>
              <a:ext cx="2003932" cy="369332"/>
              <a:chOff x="7504363" y="3141846"/>
              <a:chExt cx="2003932" cy="369332"/>
            </a:xfrm>
          </p:grpSpPr>
          <p:grpSp>
            <p:nvGrpSpPr>
              <p:cNvPr id="175" name="Group 174">
                <a:extLst>
                  <a:ext uri="{FF2B5EF4-FFF2-40B4-BE49-F238E27FC236}">
                    <a16:creationId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179">
                  <a:extLst>
                    <a:ext uri="{FF2B5EF4-FFF2-40B4-BE49-F238E27FC236}">
                      <a16:creationId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6" name="TextBox 175">
                <a:extLst>
                  <a:ext uri="{FF2B5EF4-FFF2-40B4-BE49-F238E27FC236}">
                    <a16:creationId xmlns:a16="http://schemas.microsoft.com/office/drawing/2014/main" id="{997FB701-F3E4-214A-918C-4E8D192B2BB3}"/>
                  </a:ext>
                </a:extLst>
              </p:cNvPr>
              <p:cNvSpPr txBox="1"/>
              <p:nvPr/>
            </p:nvSpPr>
            <p:spPr>
              <a:xfrm>
                <a:off x="7695752" y="3141846"/>
                <a:ext cx="16788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reliable channel</a:t>
                </a:r>
              </a:p>
            </p:txBody>
          </p:sp>
        </p:grpSp>
        <p:cxnSp>
          <p:nvCxnSpPr>
            <p:cNvPr id="169" name="Straight Connector 168">
              <a:extLst>
                <a:ext uri="{FF2B5EF4-FFF2-40B4-BE49-F238E27FC236}">
                  <a16:creationId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1" name="Straight Connector 170">
              <a:extLst>
                <a:ext uri="{FF2B5EF4-FFF2-40B4-BE49-F238E27FC236}">
                  <a16:creationId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1100341-F7A9-1D41-8489-9128E671B607}"/>
                </a:ext>
              </a:extLst>
            </p:cNvPr>
            <p:cNvSpPr txBox="1"/>
            <p:nvPr/>
          </p:nvSpPr>
          <p:spPr>
            <a:xfrm>
              <a:off x="737513" y="3044385"/>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TextBox 172">
              <a:extLst>
                <a:ext uri="{FF2B5EF4-FFF2-40B4-BE49-F238E27FC236}">
                  <a16:creationId xmlns:a16="http://schemas.microsoft.com/office/drawing/2014/main" id="{30DCEE24-EC49-B244-B451-278656DCCEBE}"/>
                </a:ext>
              </a:extLst>
            </p:cNvPr>
            <p:cNvSpPr txBox="1"/>
            <p:nvPr/>
          </p:nvSpPr>
          <p:spPr>
            <a:xfrm>
              <a:off x="828116" y="3272133"/>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15EB50A4-0F12-A743-8A7B-907E5EE4A2F5}"/>
                </a:ext>
              </a:extLst>
            </p:cNvPr>
            <p:cNvSpPr txBox="1"/>
            <p:nvPr/>
          </p:nvSpPr>
          <p:spPr>
            <a:xfrm flipH="1">
              <a:off x="1817207" y="4010900"/>
              <a:ext cx="40256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abstraction</a:t>
              </a:r>
            </a:p>
          </p:txBody>
        </p:sp>
      </p:grpSp>
      <p:sp>
        <p:nvSpPr>
          <p:cNvPr id="8" name="Rectangle 7">
            <a:extLst>
              <a:ext uri="{FF2B5EF4-FFF2-40B4-BE49-F238E27FC236}">
                <a16:creationId xmlns:a16="http://schemas.microsoft.com/office/drawing/2014/main" id="{7A8CA74F-CA34-FE4D-BBA8-48490B128E60}"/>
              </a:ext>
            </a:extLst>
          </p:cNvPr>
          <p:cNvSpPr/>
          <p:nvPr/>
        </p:nvSpPr>
        <p:spPr>
          <a:xfrm>
            <a:off x="295893" y="1816276"/>
            <a:ext cx="5265664" cy="239460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ight Arrow 13">
            <a:extLst>
              <a:ext uri="{FF2B5EF4-FFF2-40B4-BE49-F238E27FC236}">
                <a16:creationId xmlns:a16="http://schemas.microsoft.com/office/drawing/2014/main" id="{801B4EA5-1C05-1743-AB9A-0E0C38CDA1C5}"/>
              </a:ext>
            </a:extLst>
          </p:cNvPr>
          <p:cNvSpPr/>
          <p:nvPr/>
        </p:nvSpPr>
        <p:spPr>
          <a:xfrm>
            <a:off x="5448822" y="3106456"/>
            <a:ext cx="638827" cy="1014608"/>
          </a:xfrm>
          <a:prstGeom prst="rightArrow">
            <a:avLst/>
          </a:prstGeom>
          <a:gradFill>
            <a:gsLst>
              <a:gs pos="0">
                <a:schemeClr val="accent1">
                  <a:lumMod val="5000"/>
                  <a:lumOff val="95000"/>
                </a:schemeClr>
              </a:gs>
              <a:gs pos="56000">
                <a:srgbClr val="C0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Oval 2">
            <a:extLst>
              <a:ext uri="{FF2B5EF4-FFF2-40B4-BE49-F238E27FC236}">
                <a16:creationId xmlns:a16="http://schemas.microsoft.com/office/drawing/2014/main" id="{5B614158-9985-B744-A5F2-706D5EF5D7E9}"/>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Oval 230">
            <a:extLst>
              <a:ext uri="{FF2B5EF4-FFF2-40B4-BE49-F238E27FC236}">
                <a16:creationId xmlns:a16="http://schemas.microsoft.com/office/drawing/2014/main" id="{4368BA48-D0C1-5949-880D-4FFAA26CCECD}"/>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Slide Number Placeholder 2">
            <a:extLst>
              <a:ext uri="{FF2B5EF4-FFF2-40B4-BE49-F238E27FC236}">
                <a16:creationId xmlns:a16="http://schemas.microsoft.com/office/drawing/2014/main" id="{F8B5D732-7735-9D4B-9D7A-0E2219A426F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5</a:t>
            </a:fld>
            <a:endParaRPr lang="en-US" dirty="0"/>
          </a:p>
        </p:txBody>
      </p:sp>
    </p:spTree>
    <p:extLst>
      <p:ext uri="{BB962C8B-B14F-4D97-AF65-F5344CB8AC3E}">
        <p14:creationId xmlns:p14="http://schemas.microsoft.com/office/powerpoint/2010/main" val="327558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1000"/>
                                        <p:tgtEl>
                                          <p:spTgt spid="9"/>
                                        </p:tgtEl>
                                      </p:cBhvr>
                                    </p:animEffect>
                                  </p:childTnLst>
                                </p:cTn>
                              </p:par>
                            </p:childTnLst>
                          </p:cTn>
                        </p:par>
                        <p:par>
                          <p:cTn id="12" fill="hold">
                            <p:stCondLst>
                              <p:cond delay="1500"/>
                            </p:stCondLst>
                            <p:childTnLst>
                              <p:par>
                                <p:cTn id="13" presetID="9" presetClass="exit" presetSubtype="0" fill="hold" grpId="1" nodeType="afterEffect">
                                  <p:stCondLst>
                                    <p:cond delay="0"/>
                                  </p:stCondLst>
                                  <p:childTnLst>
                                    <p:animEffect transition="out" filter="dissolve">
                                      <p:cBhvr>
                                        <p:cTn id="14" dur="500"/>
                                        <p:tgtEl>
                                          <p:spTgt spid="14"/>
                                        </p:tgtEl>
                                      </p:cBhvr>
                                    </p:animEffect>
                                    <p:set>
                                      <p:cBhvr>
                                        <p:cTn id="15" dur="1" fill="hold">
                                          <p:stCondLst>
                                            <p:cond delay="499"/>
                                          </p:stCondLst>
                                        </p:cTn>
                                        <p:tgtEl>
                                          <p:spTgt spid="1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par>
                          <p:cTn id="21" fill="hold">
                            <p:stCondLst>
                              <p:cond delay="500"/>
                            </p:stCondLst>
                            <p:childTnLst>
                              <p:par>
                                <p:cTn id="22" presetID="9" presetClass="entr" presetSubtype="0" fill="hold" grpId="0" nodeType="afterEffect">
                                  <p:stCondLst>
                                    <p:cond delay="1000"/>
                                  </p:stCondLst>
                                  <p:childTnLst>
                                    <p:set>
                                      <p:cBhvr>
                                        <p:cTn id="23" dur="1" fill="hold">
                                          <p:stCondLst>
                                            <p:cond delay="0"/>
                                          </p:stCondLst>
                                        </p:cTn>
                                        <p:tgtEl>
                                          <p:spTgt spid="231"/>
                                        </p:tgtEl>
                                        <p:attrNameLst>
                                          <p:attrName>style.visibility</p:attrName>
                                        </p:attrNameLst>
                                      </p:cBhvr>
                                      <p:to>
                                        <p:strVal val="visible"/>
                                      </p:to>
                                    </p:set>
                                    <p:animEffect transition="in" filter="dissolve">
                                      <p:cBhvr>
                                        <p:cTn id="24"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3" grpId="0" animBg="1"/>
      <p:bldP spid="2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 name="Group 15">
            <a:extLst>
              <a:ext uri="{FF2B5EF4-FFF2-40B4-BE49-F238E27FC236}">
                <a16:creationId xmlns:a16="http://schemas.microsoft.com/office/drawing/2014/main" id="{3F910FC6-F569-2147-8E13-9C3CBF349C22}"/>
              </a:ext>
            </a:extLst>
          </p:cNvPr>
          <p:cNvGrpSpPr/>
          <p:nvPr/>
        </p:nvGrpSpPr>
        <p:grpSpPr>
          <a:xfrm>
            <a:off x="995688" y="3550466"/>
            <a:ext cx="9016751" cy="2246769"/>
            <a:chOff x="995688" y="4013928"/>
            <a:chExt cx="9016751" cy="2246769"/>
          </a:xfrm>
        </p:grpSpPr>
        <p:sp>
          <p:nvSpPr>
            <p:cNvPr id="254" name="TextBox 253">
              <a:extLst>
                <a:ext uri="{FF2B5EF4-FFF2-40B4-BE49-F238E27FC236}">
                  <a16:creationId xmlns:a16="http://schemas.microsoft.com/office/drawing/2014/main" id="{B694493B-88BF-134F-B1BA-C0BD341D486C}"/>
                </a:ext>
              </a:extLst>
            </p:cNvPr>
            <p:cNvSpPr txBox="1"/>
            <p:nvPr/>
          </p:nvSpPr>
          <p:spPr>
            <a:xfrm>
              <a:off x="995688" y="4013928"/>
              <a:ext cx="4815357" cy="224676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Complexity of reliable data transfer protocol  will depend (strongly) on characteristics of unreliable channel (lose, corrupt, reorder data?)</a:t>
              </a:r>
            </a:p>
          </p:txBody>
        </p:sp>
        <p:cxnSp>
          <p:nvCxnSpPr>
            <p:cNvPr id="10" name="Straight Connector 9">
              <a:extLst>
                <a:ext uri="{FF2B5EF4-FFF2-40B4-BE49-F238E27FC236}">
                  <a16:creationId xmlns:a16="http://schemas.microsoft.com/office/drawing/2014/main" id="{CF6FCEAF-463D-2648-AB33-C825C90C616E}"/>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E0B021F0-9489-874C-A482-48774A1F4135}"/>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31" name="Oval 230">
            <a:extLst>
              <a:ext uri="{FF2B5EF4-FFF2-40B4-BE49-F238E27FC236}">
                <a16:creationId xmlns:a16="http://schemas.microsoft.com/office/drawing/2014/main" id="{05A41E28-36B5-F84E-9E12-7529960E3C65}"/>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Oval 235">
            <a:extLst>
              <a:ext uri="{FF2B5EF4-FFF2-40B4-BE49-F238E27FC236}">
                <a16:creationId xmlns:a16="http://schemas.microsoft.com/office/drawing/2014/main" id="{1C1568F9-7215-6C43-8C2A-E0D8D4F2877D}"/>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Slide Number Placeholder 2">
            <a:extLst>
              <a:ext uri="{FF2B5EF4-FFF2-40B4-BE49-F238E27FC236}">
                <a16:creationId xmlns:a16="http://schemas.microsoft.com/office/drawing/2014/main" id="{ADF8FD71-EE62-D045-9E44-162D8557969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6</a:t>
            </a:fld>
            <a:endParaRPr lang="en-US" dirty="0"/>
          </a:p>
        </p:txBody>
      </p:sp>
    </p:spTree>
    <p:extLst>
      <p:ext uri="{BB962C8B-B14F-4D97-AF65-F5344CB8AC3E}">
        <p14:creationId xmlns:p14="http://schemas.microsoft.com/office/powerpoint/2010/main" val="56427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88" name="Group 87">
            <a:extLst>
              <a:ext uri="{FF2B5EF4-FFF2-40B4-BE49-F238E27FC236}">
                <a16:creationId xmlns:a16="http://schemas.microsoft.com/office/drawing/2014/main" id="{CC1537B2-998E-7649-AE3E-ACB471EB73E8}"/>
              </a:ext>
            </a:extLst>
          </p:cNvPr>
          <p:cNvGrpSpPr/>
          <p:nvPr/>
        </p:nvGrpSpPr>
        <p:grpSpPr>
          <a:xfrm>
            <a:off x="1042183" y="3581463"/>
            <a:ext cx="8970256" cy="2246769"/>
            <a:chOff x="1042183" y="4044925"/>
            <a:chExt cx="8970256" cy="2246769"/>
          </a:xfrm>
        </p:grpSpPr>
        <p:sp>
          <p:nvSpPr>
            <p:cNvPr id="89" name="TextBox 88">
              <a:extLst>
                <a:ext uri="{FF2B5EF4-FFF2-40B4-BE49-F238E27FC236}">
                  <a16:creationId xmlns:a16="http://schemas.microsoft.com/office/drawing/2014/main" id="{910591A5-B3B8-B947-A7F1-BDBD4F667F70}"/>
                </a:ext>
              </a:extLst>
            </p:cNvPr>
            <p:cNvSpPr txBox="1"/>
            <p:nvPr/>
          </p:nvSpPr>
          <p:spPr>
            <a:xfrm>
              <a:off x="1042183" y="4044925"/>
              <a:ext cx="4815357" cy="22467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receiver do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know the “state” of each other, e.g., was a message received?</a:t>
              </a:r>
            </a:p>
            <a:p>
              <a:pPr marL="457200" marR="0" lvl="0" indent="-457200"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unless communicated via a message</a:t>
              </a:r>
            </a:p>
          </p:txBody>
        </p:sp>
        <p:cxnSp>
          <p:nvCxnSpPr>
            <p:cNvPr id="90" name="Straight Connector 89">
              <a:extLst>
                <a:ext uri="{FF2B5EF4-FFF2-40B4-BE49-F238E27FC236}">
                  <a16:creationId xmlns:a16="http://schemas.microsoft.com/office/drawing/2014/main" id="{655271F5-62E0-BF47-BF60-FE01086FB678}"/>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33B8B2C-3583-1D4A-9253-C59A292E0DE2}"/>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3" name="Oval 92">
            <a:extLst>
              <a:ext uri="{FF2B5EF4-FFF2-40B4-BE49-F238E27FC236}">
                <a16:creationId xmlns:a16="http://schemas.microsoft.com/office/drawing/2014/main" id="{80A6EEAE-C014-954F-ADE6-66049A46FFBE}"/>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 name="Oval 93">
            <a:extLst>
              <a:ext uri="{FF2B5EF4-FFF2-40B4-BE49-F238E27FC236}">
                <a16:creationId xmlns:a16="http://schemas.microsoft.com/office/drawing/2014/main" id="{0FE70045-1128-264B-A4F3-CC9AAED801DA}"/>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A shower curtain&#10;&#10;Description automatically generated">
            <a:extLst>
              <a:ext uri="{FF2B5EF4-FFF2-40B4-BE49-F238E27FC236}">
                <a16:creationId xmlns:a16="http://schemas.microsoft.com/office/drawing/2014/main" id="{916F2FD5-AF05-E24C-BB57-482FB6C40C8C}"/>
              </a:ext>
            </a:extLst>
          </p:cNvPr>
          <p:cNvPicPr>
            <a:picLocks noChangeAspect="1"/>
          </p:cNvPicPr>
          <p:nvPr/>
        </p:nvPicPr>
        <p:blipFill>
          <a:blip r:embed="rId4"/>
          <a:stretch>
            <a:fillRect/>
          </a:stretch>
        </p:blipFill>
        <p:spPr>
          <a:xfrm>
            <a:off x="8292476" y="1291955"/>
            <a:ext cx="1976012" cy="4393769"/>
          </a:xfrm>
          <a:prstGeom prst="rect">
            <a:avLst/>
          </a:prstGeom>
        </p:spPr>
      </p:pic>
      <p:pic>
        <p:nvPicPr>
          <p:cNvPr id="92" name="Picture 91" descr="A shower curtain&#10;&#10;Description automatically generated">
            <a:extLst>
              <a:ext uri="{FF2B5EF4-FFF2-40B4-BE49-F238E27FC236}">
                <a16:creationId xmlns:a16="http://schemas.microsoft.com/office/drawing/2014/main" id="{60AABE17-DADA-B14B-B0C4-01EC1B9C6813}"/>
              </a:ext>
            </a:extLst>
          </p:cNvPr>
          <p:cNvPicPr>
            <a:picLocks noChangeAspect="1"/>
          </p:cNvPicPr>
          <p:nvPr/>
        </p:nvPicPr>
        <p:blipFill>
          <a:blip r:embed="rId4"/>
          <a:stretch>
            <a:fillRect/>
          </a:stretch>
        </p:blipFill>
        <p:spPr>
          <a:xfrm>
            <a:off x="8219289" y="1165171"/>
            <a:ext cx="3972711" cy="4579749"/>
          </a:xfrm>
          <a:prstGeom prst="rect">
            <a:avLst/>
          </a:prstGeom>
        </p:spPr>
      </p:pic>
      <p:sp>
        <p:nvSpPr>
          <p:cNvPr id="87" name="Slide Number Placeholder 2">
            <a:extLst>
              <a:ext uri="{FF2B5EF4-FFF2-40B4-BE49-F238E27FC236}">
                <a16:creationId xmlns:a16="http://schemas.microsoft.com/office/drawing/2014/main" id="{A2229121-4A15-DF44-A869-74D8C822A5F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7</a:t>
            </a:fld>
            <a:endParaRPr lang="en-US" dirty="0"/>
          </a:p>
        </p:txBody>
      </p:sp>
    </p:spTree>
    <p:extLst>
      <p:ext uri="{BB962C8B-B14F-4D97-AF65-F5344CB8AC3E}">
        <p14:creationId xmlns:p14="http://schemas.microsoft.com/office/powerpoint/2010/main" val="329888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1000"/>
                                        <p:tgtEl>
                                          <p:spTgt spid="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wipe(left)">
                                      <p:cBhvr>
                                        <p:cTn id="17" dur="10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Reliable data transfer protocol (</a:t>
            </a:r>
            <a:r>
              <a:rPr lang="en-US" sz="4400" dirty="0" err="1"/>
              <a:t>rdt</a:t>
            </a:r>
            <a:r>
              <a:rPr lang="en-US" sz="4400" dirty="0"/>
              <a:t>): interfaces</a:t>
            </a:r>
          </a:p>
        </p:txBody>
      </p:sp>
      <p:grpSp>
        <p:nvGrpSpPr>
          <p:cNvPr id="15" name="Group 14">
            <a:extLst>
              <a:ext uri="{FF2B5EF4-FFF2-40B4-BE49-F238E27FC236}">
                <a16:creationId xmlns:a16="http://schemas.microsoft.com/office/drawing/2014/main" id="{5F3D26B5-5E98-5E4A-87D8-7FA097DF959B}"/>
              </a:ext>
            </a:extLst>
          </p:cNvPr>
          <p:cNvGrpSpPr/>
          <p:nvPr/>
        </p:nvGrpSpPr>
        <p:grpSpPr>
          <a:xfrm>
            <a:off x="2579501" y="2165159"/>
            <a:ext cx="7088417" cy="3419122"/>
            <a:chOff x="2293693" y="1943479"/>
            <a:chExt cx="7088417" cy="3419122"/>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3481010" y="2124363"/>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4077480" y="2576394"/>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3214263" y="2004894"/>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6726088" y="2075463"/>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6785217" y="2548684"/>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7823735" y="1943479"/>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3121019" y="289801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6614663" y="287030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33" name="Group 232">
              <a:extLst>
                <a:ext uri="{FF2B5EF4-FFF2-40B4-BE49-F238E27FC236}">
                  <a16:creationId xmlns:a16="http://schemas.microsoft.com/office/drawing/2014/main" id="{0D04F411-4AAF-BC49-BC7A-363692477E93}"/>
                </a:ext>
              </a:extLst>
            </p:cNvPr>
            <p:cNvGrpSpPr/>
            <p:nvPr/>
          </p:nvGrpSpPr>
          <p:grpSpPr>
            <a:xfrm>
              <a:off x="3110199" y="4881020"/>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4069352" y="2795325"/>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7403443" y="2731748"/>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3042206" y="3300756"/>
              <a:ext cx="2001038" cy="1089529"/>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n-US" sz="1800" b="0" i="0" u="none" strike="noStrike" kern="1200" cap="none" spc="0" normalizeH="0" baseline="0" noProof="0" dirty="0" err="1">
                  <a:ln>
                    <a:noFill/>
                  </a:ln>
                  <a:solidFill>
                    <a:prstClr val="black"/>
                  </a:solidFill>
                  <a:effectLst/>
                  <a:uLnTx/>
                  <a:uFillTx/>
                  <a:latin typeface="Courier" pitchFamily="2" charset="0"/>
                  <a:ea typeface="+mn-ea"/>
                  <a:cs typeface="+mn-cs"/>
                </a:rPr>
                <a:t>rdt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6413059" y="3328511"/>
              <a:ext cx="2001033" cy="1089529"/>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n-US" sz="1800" b="0" i="0" u="none" strike="noStrike" kern="1200" cap="none" spc="0" normalizeH="0" baseline="0" noProof="0" dirty="0" err="1">
                  <a:ln>
                    <a:noFill/>
                  </a:ln>
                  <a:solidFill>
                    <a:prstClr val="black"/>
                  </a:solidFill>
                  <a:effectLst/>
                  <a:uLnTx/>
                  <a:uFillTx/>
                  <a:latin typeface="Courier" pitchFamily="2" charset="0"/>
                  <a:ea typeface="+mn-ea"/>
                  <a:cs typeface="+mn-cs"/>
                </a:rPr>
                <a:t>rdt</a:t>
              </a:r>
              <a:r>
                <a:rPr kumimoji="0" lang="en-US" sz="1800" b="0" i="0" u="none" strike="noStrike" kern="1200" cap="none" spc="0" normalizeH="0" baseline="0" noProof="0" dirty="0">
                  <a:ln>
                    <a:noFill/>
                  </a:ln>
                  <a:solidFill>
                    <a:prstClr val="black"/>
                  </a:solidFill>
                  <a:effectLst/>
                  <a:uLnTx/>
                  <a:uFillTx/>
                  <a:latin typeface="Courier" pitchFamily="2" charset="0"/>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4071724" y="4602963"/>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6784894" y="4598122"/>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C2F0730B-D0ED-F641-98C5-78E791D1F90B}"/>
                </a:ext>
              </a:extLst>
            </p:cNvPr>
            <p:cNvSpPr txBox="1"/>
            <p:nvPr/>
          </p:nvSpPr>
          <p:spPr>
            <a:xfrm>
              <a:off x="2293693" y="2546898"/>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rdt_send</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0" name="TextBox 159">
              <a:extLst>
                <a:ext uri="{FF2B5EF4-FFF2-40B4-BE49-F238E27FC236}">
                  <a16:creationId xmlns:a16="http://schemas.microsoft.com/office/drawing/2014/main" id="{5F274F00-C43B-6D4C-8305-49C2887DFDB8}"/>
                </a:ext>
              </a:extLst>
            </p:cNvPr>
            <p:cNvSpPr txBox="1"/>
            <p:nvPr/>
          </p:nvSpPr>
          <p:spPr>
            <a:xfrm>
              <a:off x="2637055" y="4529903"/>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udt_send</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1" name="TextBox 160">
              <a:extLst>
                <a:ext uri="{FF2B5EF4-FFF2-40B4-BE49-F238E27FC236}">
                  <a16:creationId xmlns:a16="http://schemas.microsoft.com/office/drawing/2014/main" id="{8360D8A8-FCEB-0748-86B2-6367F0490699}"/>
                </a:ext>
              </a:extLst>
            </p:cNvPr>
            <p:cNvSpPr txBox="1"/>
            <p:nvPr/>
          </p:nvSpPr>
          <p:spPr>
            <a:xfrm>
              <a:off x="7460091" y="4522693"/>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rdt_rcv</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2" name="TextBox 161">
              <a:extLst>
                <a:ext uri="{FF2B5EF4-FFF2-40B4-BE49-F238E27FC236}">
                  <a16:creationId xmlns:a16="http://schemas.microsoft.com/office/drawing/2014/main" id="{D4C97A67-5BFF-1F4C-BB10-0037874E0FBC}"/>
                </a:ext>
              </a:extLst>
            </p:cNvPr>
            <p:cNvSpPr txBox="1"/>
            <p:nvPr/>
          </p:nvSpPr>
          <p:spPr>
            <a:xfrm>
              <a:off x="7446811" y="2872208"/>
              <a:ext cx="19352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deliver_data</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grpSp>
          <p:nvGrpSpPr>
            <p:cNvPr id="14" name="Group 13">
              <a:extLst>
                <a:ext uri="{FF2B5EF4-FFF2-40B4-BE49-F238E27FC236}">
                  <a16:creationId xmlns:a16="http://schemas.microsoft.com/office/drawing/2014/main" id="{F43034C5-12D0-B544-8624-5B957307D6C4}"/>
                </a:ext>
              </a:extLst>
            </p:cNvPr>
            <p:cNvGrpSpPr/>
            <p:nvPr/>
          </p:nvGrpSpPr>
          <p:grpSpPr>
            <a:xfrm>
              <a:off x="4198761" y="4538107"/>
              <a:ext cx="1129178" cy="338554"/>
              <a:chOff x="4492148" y="4699180"/>
              <a:chExt cx="1129178" cy="338554"/>
            </a:xfrm>
          </p:grpSpPr>
          <p:grpSp>
            <p:nvGrpSpPr>
              <p:cNvPr id="163" name="Group 162">
                <a:extLst>
                  <a:ext uri="{FF2B5EF4-FFF2-40B4-BE49-F238E27FC236}">
                    <a16:creationId xmlns:a16="http://schemas.microsoft.com/office/drawing/2014/main" id="{6EE61F86-BE11-7149-9359-71FBA7C666F1}"/>
                  </a:ext>
                </a:extLst>
              </p:cNvPr>
              <p:cNvGrpSpPr/>
              <p:nvPr/>
            </p:nvGrpSpPr>
            <p:grpSpPr>
              <a:xfrm>
                <a:off x="5044085" y="4699180"/>
                <a:ext cx="577241" cy="338554"/>
                <a:chOff x="9950444" y="999755"/>
                <a:chExt cx="577241" cy="338554"/>
              </a:xfrm>
            </p:grpSpPr>
            <p:sp>
              <p:nvSpPr>
                <p:cNvPr id="164" name="Rectangle 163">
                  <a:extLst>
                    <a:ext uri="{FF2B5EF4-FFF2-40B4-BE49-F238E27FC236}">
                      <a16:creationId xmlns:a16="http://schemas.microsoft.com/office/drawing/2014/main" id="{57D8AC92-EC61-6A41-96EB-9AC393F717F1}"/>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TextBox 164">
                  <a:extLst>
                    <a:ext uri="{FF2B5EF4-FFF2-40B4-BE49-F238E27FC236}">
                      <a16:creationId xmlns:a16="http://schemas.microsoft.com/office/drawing/2014/main" id="{F1637E6F-EFC0-D84A-BD43-1DD363CF3717}"/>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6">
                <a:extLst>
                  <a:ext uri="{FF2B5EF4-FFF2-40B4-BE49-F238E27FC236}">
                    <a16:creationId xmlns:a16="http://schemas.microsoft.com/office/drawing/2014/main" id="{65EE0A01-2F8E-5749-87FB-D527A9FE564A}"/>
                  </a:ext>
                </a:extLst>
              </p:cNvPr>
              <p:cNvGrpSpPr/>
              <p:nvPr/>
            </p:nvGrpSpPr>
            <p:grpSpPr>
              <a:xfrm>
                <a:off x="4492148" y="4738794"/>
                <a:ext cx="684009" cy="276999"/>
                <a:chOff x="9965227" y="1039458"/>
                <a:chExt cx="684009" cy="276999"/>
              </a:xfrm>
            </p:grpSpPr>
            <p:sp>
              <p:nvSpPr>
                <p:cNvPr id="168" name="Rectangle 167">
                  <a:extLst>
                    <a:ext uri="{FF2B5EF4-FFF2-40B4-BE49-F238E27FC236}">
                      <a16:creationId xmlns:a16="http://schemas.microsoft.com/office/drawing/2014/main" id="{04B6CB81-4155-2746-910F-3F3A2CCC25D4}"/>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TextBox 168">
                  <a:extLst>
                    <a:ext uri="{FF2B5EF4-FFF2-40B4-BE49-F238E27FC236}">
                      <a16:creationId xmlns:a16="http://schemas.microsoft.com/office/drawing/2014/main" id="{6539C471-3169-F34C-99B5-F3105A964D11}"/>
                    </a:ext>
                  </a:extLst>
                </p:cNvPr>
                <p:cNvSpPr txBox="1"/>
                <p:nvPr/>
              </p:nvSpPr>
              <p:spPr>
                <a:xfrm>
                  <a:off x="9965227" y="1039458"/>
                  <a:ext cx="68400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Header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0" name="Group 169">
              <a:extLst>
                <a:ext uri="{FF2B5EF4-FFF2-40B4-BE49-F238E27FC236}">
                  <a16:creationId xmlns:a16="http://schemas.microsoft.com/office/drawing/2014/main" id="{B6FA9AE8-EBC5-0147-94F3-3E921D2CC449}"/>
                </a:ext>
              </a:extLst>
            </p:cNvPr>
            <p:cNvGrpSpPr/>
            <p:nvPr/>
          </p:nvGrpSpPr>
          <p:grpSpPr>
            <a:xfrm>
              <a:off x="6194588" y="4534824"/>
              <a:ext cx="1129178" cy="338554"/>
              <a:chOff x="4492148" y="4699180"/>
              <a:chExt cx="1129178" cy="338554"/>
            </a:xfrm>
          </p:grpSpPr>
          <p:grpSp>
            <p:nvGrpSpPr>
              <p:cNvPr id="171" name="Group 170">
                <a:extLst>
                  <a:ext uri="{FF2B5EF4-FFF2-40B4-BE49-F238E27FC236}">
                    <a16:creationId xmlns:a16="http://schemas.microsoft.com/office/drawing/2014/main" id="{914827A5-B36D-5447-BDA9-1E2D6F444CD2}"/>
                  </a:ext>
                </a:extLst>
              </p:cNvPr>
              <p:cNvGrpSpPr/>
              <p:nvPr/>
            </p:nvGrpSpPr>
            <p:grpSpPr>
              <a:xfrm>
                <a:off x="5044085" y="4699180"/>
                <a:ext cx="577241" cy="338554"/>
                <a:chOff x="9950444" y="999755"/>
                <a:chExt cx="577241" cy="338554"/>
              </a:xfrm>
            </p:grpSpPr>
            <p:sp>
              <p:nvSpPr>
                <p:cNvPr id="175" name="Rectangle 174">
                  <a:extLst>
                    <a:ext uri="{FF2B5EF4-FFF2-40B4-BE49-F238E27FC236}">
                      <a16:creationId xmlns:a16="http://schemas.microsoft.com/office/drawing/2014/main" id="{86365D49-EBCD-6849-85B0-2CEB5230224A}"/>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TextBox 175">
                  <a:extLst>
                    <a:ext uri="{FF2B5EF4-FFF2-40B4-BE49-F238E27FC236}">
                      <a16:creationId xmlns:a16="http://schemas.microsoft.com/office/drawing/2014/main" id="{595BF0A2-D091-7845-BCE5-75F48AA8E23A}"/>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72" name="Group 171">
                <a:extLst>
                  <a:ext uri="{FF2B5EF4-FFF2-40B4-BE49-F238E27FC236}">
                    <a16:creationId xmlns:a16="http://schemas.microsoft.com/office/drawing/2014/main" id="{67440755-0E4E-954E-AF41-146130A58AC5}"/>
                  </a:ext>
                </a:extLst>
              </p:cNvPr>
              <p:cNvGrpSpPr/>
              <p:nvPr/>
            </p:nvGrpSpPr>
            <p:grpSpPr>
              <a:xfrm>
                <a:off x="4492148" y="4738794"/>
                <a:ext cx="684009" cy="276999"/>
                <a:chOff x="9965227" y="1039458"/>
                <a:chExt cx="684009" cy="276999"/>
              </a:xfrm>
            </p:grpSpPr>
            <p:sp>
              <p:nvSpPr>
                <p:cNvPr id="173" name="Rectangle 172">
                  <a:extLst>
                    <a:ext uri="{FF2B5EF4-FFF2-40B4-BE49-F238E27FC236}">
                      <a16:creationId xmlns:a16="http://schemas.microsoft.com/office/drawing/2014/main" id="{570E072F-7451-6049-8AE4-47E446A3608F}"/>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FC86A8E8-F3DF-0C45-B9B7-56C26EB61CCB}"/>
                    </a:ext>
                  </a:extLst>
                </p:cNvPr>
                <p:cNvSpPr txBox="1"/>
                <p:nvPr/>
              </p:nvSpPr>
              <p:spPr>
                <a:xfrm>
                  <a:off x="9965227" y="1039458"/>
                  <a:ext cx="68400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Header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nvGrpSpPr>
          <p:cNvPr id="197" name="Group 6">
            <a:extLst>
              <a:ext uri="{FF2B5EF4-FFF2-40B4-BE49-F238E27FC236}">
                <a16:creationId xmlns:a16="http://schemas.microsoft.com/office/drawing/2014/main" id="{71667032-3DE5-D641-AF89-31661341B629}"/>
              </a:ext>
            </a:extLst>
          </p:cNvPr>
          <p:cNvGrpSpPr>
            <a:grpSpLocks/>
          </p:cNvGrpSpPr>
          <p:nvPr/>
        </p:nvGrpSpPr>
        <p:grpSpPr bwMode="auto">
          <a:xfrm>
            <a:off x="352441" y="1450769"/>
            <a:ext cx="3206750" cy="1430338"/>
            <a:chOff x="240" y="920"/>
            <a:chExt cx="2020" cy="901"/>
          </a:xfrm>
        </p:grpSpPr>
        <p:sp>
          <p:nvSpPr>
            <p:cNvPr id="198" name="Text Box 7">
              <a:extLst>
                <a:ext uri="{FF2B5EF4-FFF2-40B4-BE49-F238E27FC236}">
                  <a16:creationId xmlns:a16="http://schemas.microsoft.com/office/drawing/2014/main" id="{B992066A-2018-C94C-AFAF-EE19612D0A94}"/>
                </a:ext>
              </a:extLst>
            </p:cNvPr>
            <p:cNvSpPr txBox="1">
              <a:spLocks noChangeArrowheads="1"/>
            </p:cNvSpPr>
            <p:nvPr/>
          </p:nvSpPr>
          <p:spPr bwMode="auto">
            <a:xfrm>
              <a:off x="318" y="920"/>
              <a:ext cx="1895" cy="5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rdt_send</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from above, (e.g., by app.). Passed data to deliver to receiver upper layer</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199" name="Group 8">
              <a:extLst>
                <a:ext uri="{FF2B5EF4-FFF2-40B4-BE49-F238E27FC236}">
                  <a16:creationId xmlns:a16="http://schemas.microsoft.com/office/drawing/2014/main" id="{9A43EE55-B459-A442-AF20-820C98C69C07}"/>
                </a:ext>
              </a:extLst>
            </p:cNvPr>
            <p:cNvGrpSpPr>
              <a:grpSpLocks/>
            </p:cNvGrpSpPr>
            <p:nvPr/>
          </p:nvGrpSpPr>
          <p:grpSpPr bwMode="auto">
            <a:xfrm>
              <a:off x="240" y="921"/>
              <a:ext cx="2020" cy="900"/>
              <a:chOff x="240" y="933"/>
              <a:chExt cx="2020" cy="900"/>
            </a:xfrm>
          </p:grpSpPr>
          <p:sp>
            <p:nvSpPr>
              <p:cNvPr id="200" name="Line 9">
                <a:extLst>
                  <a:ext uri="{FF2B5EF4-FFF2-40B4-BE49-F238E27FC236}">
                    <a16:creationId xmlns:a16="http://schemas.microsoft.com/office/drawing/2014/main" id="{D59558C8-6B42-C945-B92F-70A2CBF157D5}"/>
                  </a:ext>
                </a:extLst>
              </p:cNvPr>
              <p:cNvSpPr>
                <a:spLocks noChangeShapeType="1"/>
              </p:cNvSpPr>
              <p:nvPr/>
            </p:nvSpPr>
            <p:spPr bwMode="auto">
              <a:xfrm>
                <a:off x="1787" y="1509"/>
                <a:ext cx="174" cy="324"/>
              </a:xfrm>
              <a:prstGeom prst="line">
                <a:avLst/>
              </a:prstGeom>
              <a:noFill/>
              <a:ln w="19050">
                <a:solidFill>
                  <a:srgbClr val="C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201" name="Rectangle 10">
                <a:extLst>
                  <a:ext uri="{FF2B5EF4-FFF2-40B4-BE49-F238E27FC236}">
                    <a16:creationId xmlns:a16="http://schemas.microsoft.com/office/drawing/2014/main" id="{686FEA1A-00FC-FD44-B59F-41229CD93A2C}"/>
                  </a:ext>
                </a:extLst>
              </p:cNvPr>
              <p:cNvSpPr>
                <a:spLocks noChangeArrowheads="1"/>
              </p:cNvSpPr>
              <p:nvPr/>
            </p:nvSpPr>
            <p:spPr bwMode="auto">
              <a:xfrm>
                <a:off x="240" y="933"/>
                <a:ext cx="2020" cy="558"/>
              </a:xfrm>
              <a:prstGeom prst="rect">
                <a:avLst/>
              </a:prstGeom>
              <a:noFill/>
              <a:ln w="19050">
                <a:solidFill>
                  <a:srgbClr val="C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02" name="Group 11">
            <a:extLst>
              <a:ext uri="{FF2B5EF4-FFF2-40B4-BE49-F238E27FC236}">
                <a16:creationId xmlns:a16="http://schemas.microsoft.com/office/drawing/2014/main" id="{D5975D2B-C7D8-5443-B05C-D424C6687958}"/>
              </a:ext>
            </a:extLst>
          </p:cNvPr>
          <p:cNvGrpSpPr>
            <a:grpSpLocks/>
          </p:cNvGrpSpPr>
          <p:nvPr/>
        </p:nvGrpSpPr>
        <p:grpSpPr bwMode="auto">
          <a:xfrm>
            <a:off x="665618" y="5097921"/>
            <a:ext cx="3074988" cy="1393825"/>
            <a:chOff x="218" y="3055"/>
            <a:chExt cx="1937" cy="878"/>
          </a:xfrm>
        </p:grpSpPr>
        <p:sp>
          <p:nvSpPr>
            <p:cNvPr id="203" name="Text Box 12">
              <a:extLst>
                <a:ext uri="{FF2B5EF4-FFF2-40B4-BE49-F238E27FC236}">
                  <a16:creationId xmlns:a16="http://schemas.microsoft.com/office/drawing/2014/main" id="{3112DCC3-CE7F-0946-98BD-677D47E5D9EC}"/>
                </a:ext>
              </a:extLst>
            </p:cNvPr>
            <p:cNvSpPr txBox="1">
              <a:spLocks noChangeArrowheads="1"/>
            </p:cNvSpPr>
            <p:nvPr/>
          </p:nvSpPr>
          <p:spPr bwMode="auto">
            <a:xfrm>
              <a:off x="233" y="3356"/>
              <a:ext cx="1878" cy="57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udt_send</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by </a:t>
              </a:r>
              <a:r>
                <a:rPr kumimoji="0" lang="en-US" sz="1800" b="0" i="0" u="none" strike="noStrike" kern="1200" cap="none" spc="0" normalizeH="0" baseline="0" noProof="0" dirty="0" err="1">
                  <a:ln>
                    <a:noFill/>
                  </a:ln>
                  <a:solidFill>
                    <a:prstClr val="black"/>
                  </a:solidFill>
                  <a:effectLst/>
                  <a:uLnTx/>
                  <a:uFillTx/>
                  <a:latin typeface="Courier" pitchFamily="2" charset="0"/>
                  <a:ea typeface="ＭＳ Ｐゴシック" charset="0"/>
                  <a:cs typeface="+mn-cs"/>
                </a:rPr>
                <a:t>rdt</a:t>
              </a:r>
              <a:endParaRPr kumimoji="0" lang="en-US" sz="1800" b="0" i="0" u="none" strike="noStrike" kern="1200" cap="none" spc="0" normalizeH="0" baseline="0" noProof="0" dirty="0">
                <a:ln>
                  <a:noFill/>
                </a:ln>
                <a:solidFill>
                  <a:prstClr val="black"/>
                </a:solidFill>
                <a:effectLst/>
                <a:uLnTx/>
                <a:uFillTx/>
                <a:latin typeface="Courier" pitchFamily="2" charset="0"/>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transfer packet over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unreliable channel to receiver</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04" name="Group 13">
              <a:extLst>
                <a:ext uri="{FF2B5EF4-FFF2-40B4-BE49-F238E27FC236}">
                  <a16:creationId xmlns:a16="http://schemas.microsoft.com/office/drawing/2014/main" id="{B6C30B44-1E4C-5642-B786-3E6EA26B0E37}"/>
                </a:ext>
              </a:extLst>
            </p:cNvPr>
            <p:cNvGrpSpPr>
              <a:grpSpLocks/>
            </p:cNvGrpSpPr>
            <p:nvPr/>
          </p:nvGrpSpPr>
          <p:grpSpPr bwMode="auto">
            <a:xfrm>
              <a:off x="218" y="3055"/>
              <a:ext cx="1937" cy="867"/>
              <a:chOff x="218" y="3055"/>
              <a:chExt cx="1937" cy="867"/>
            </a:xfrm>
          </p:grpSpPr>
          <p:sp>
            <p:nvSpPr>
              <p:cNvPr id="205" name="Line 14">
                <a:extLst>
                  <a:ext uri="{FF2B5EF4-FFF2-40B4-BE49-F238E27FC236}">
                    <a16:creationId xmlns:a16="http://schemas.microsoft.com/office/drawing/2014/main" id="{E0160BA3-7E99-FF4F-B251-3A57C4067339}"/>
                  </a:ext>
                </a:extLst>
              </p:cNvPr>
              <p:cNvSpPr>
                <a:spLocks noChangeShapeType="1"/>
              </p:cNvSpPr>
              <p:nvPr/>
            </p:nvSpPr>
            <p:spPr bwMode="auto">
              <a:xfrm flipV="1">
                <a:off x="1433" y="3055"/>
                <a:ext cx="359" cy="303"/>
              </a:xfrm>
              <a:prstGeom prst="line">
                <a:avLst/>
              </a:prstGeom>
              <a:noFill/>
              <a:ln w="19050">
                <a:solidFill>
                  <a:srgbClr val="C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206" name="Rectangle 15">
                <a:extLst>
                  <a:ext uri="{FF2B5EF4-FFF2-40B4-BE49-F238E27FC236}">
                    <a16:creationId xmlns:a16="http://schemas.microsoft.com/office/drawing/2014/main" id="{9DF0B33E-9F7D-6D42-BB3E-B10B8F37A046}"/>
                  </a:ext>
                </a:extLst>
              </p:cNvPr>
              <p:cNvSpPr>
                <a:spLocks noChangeArrowheads="1"/>
              </p:cNvSpPr>
              <p:nvPr/>
            </p:nvSpPr>
            <p:spPr bwMode="auto">
              <a:xfrm>
                <a:off x="218" y="3364"/>
                <a:ext cx="1937" cy="558"/>
              </a:xfrm>
              <a:prstGeom prst="rect">
                <a:avLst/>
              </a:prstGeom>
              <a:noFill/>
              <a:ln w="19050">
                <a:solidFill>
                  <a:srgbClr val="C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07" name="Group 16">
            <a:extLst>
              <a:ext uri="{FF2B5EF4-FFF2-40B4-BE49-F238E27FC236}">
                <a16:creationId xmlns:a16="http://schemas.microsoft.com/office/drawing/2014/main" id="{17BBEB73-4D20-4E49-B116-621BC3CAA3C6}"/>
              </a:ext>
            </a:extLst>
          </p:cNvPr>
          <p:cNvGrpSpPr>
            <a:grpSpLocks/>
          </p:cNvGrpSpPr>
          <p:nvPr/>
        </p:nvGrpSpPr>
        <p:grpSpPr bwMode="auto">
          <a:xfrm>
            <a:off x="8446406" y="5042355"/>
            <a:ext cx="3122613" cy="1520825"/>
            <a:chOff x="3071" y="2986"/>
            <a:chExt cx="1967" cy="958"/>
          </a:xfrm>
        </p:grpSpPr>
        <p:sp>
          <p:nvSpPr>
            <p:cNvPr id="208" name="Text Box 17">
              <a:extLst>
                <a:ext uri="{FF2B5EF4-FFF2-40B4-BE49-F238E27FC236}">
                  <a16:creationId xmlns:a16="http://schemas.microsoft.com/office/drawing/2014/main" id="{13F46785-7C2F-3743-9685-4279D33DE680}"/>
                </a:ext>
              </a:extLst>
            </p:cNvPr>
            <p:cNvSpPr txBox="1">
              <a:spLocks noChangeArrowheads="1"/>
            </p:cNvSpPr>
            <p:nvPr/>
          </p:nvSpPr>
          <p:spPr bwMode="auto">
            <a:xfrm>
              <a:off x="3101" y="3362"/>
              <a:ext cx="1937" cy="5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rdt_rcv</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when packet arrives on receiver side of channel</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09" name="Group 18">
              <a:extLst>
                <a:ext uri="{FF2B5EF4-FFF2-40B4-BE49-F238E27FC236}">
                  <a16:creationId xmlns:a16="http://schemas.microsoft.com/office/drawing/2014/main" id="{6F4A03FB-C196-4245-A236-BAE0357475F2}"/>
                </a:ext>
              </a:extLst>
            </p:cNvPr>
            <p:cNvGrpSpPr>
              <a:grpSpLocks/>
            </p:cNvGrpSpPr>
            <p:nvPr/>
          </p:nvGrpSpPr>
          <p:grpSpPr bwMode="auto">
            <a:xfrm>
              <a:off x="3071" y="2986"/>
              <a:ext cx="1937" cy="943"/>
              <a:chOff x="3071" y="2986"/>
              <a:chExt cx="1937" cy="943"/>
            </a:xfrm>
          </p:grpSpPr>
          <p:sp>
            <p:nvSpPr>
              <p:cNvPr id="210" name="Line 19">
                <a:extLst>
                  <a:ext uri="{FF2B5EF4-FFF2-40B4-BE49-F238E27FC236}">
                    <a16:creationId xmlns:a16="http://schemas.microsoft.com/office/drawing/2014/main" id="{DFAB6866-5B35-6E41-8F29-0263EC44C604}"/>
                  </a:ext>
                </a:extLst>
              </p:cNvPr>
              <p:cNvSpPr>
                <a:spLocks noChangeShapeType="1"/>
              </p:cNvSpPr>
              <p:nvPr/>
            </p:nvSpPr>
            <p:spPr bwMode="auto">
              <a:xfrm flipH="1" flipV="1">
                <a:off x="3312" y="2986"/>
                <a:ext cx="398" cy="371"/>
              </a:xfrm>
              <a:prstGeom prst="line">
                <a:avLst/>
              </a:prstGeom>
              <a:noFill/>
              <a:ln w="19050">
                <a:solidFill>
                  <a:srgbClr val="C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1" name="Rectangle 20">
                <a:extLst>
                  <a:ext uri="{FF2B5EF4-FFF2-40B4-BE49-F238E27FC236}">
                    <a16:creationId xmlns:a16="http://schemas.microsoft.com/office/drawing/2014/main" id="{144EF218-DC19-974D-9D41-3796E5959FAA}"/>
                  </a:ext>
                </a:extLst>
              </p:cNvPr>
              <p:cNvSpPr>
                <a:spLocks noChangeArrowheads="1"/>
              </p:cNvSpPr>
              <p:nvPr/>
            </p:nvSpPr>
            <p:spPr bwMode="auto">
              <a:xfrm>
                <a:off x="3071" y="3348"/>
                <a:ext cx="1937" cy="581"/>
              </a:xfrm>
              <a:prstGeom prst="rect">
                <a:avLst/>
              </a:prstGeom>
              <a:noFill/>
              <a:ln w="19050">
                <a:solidFill>
                  <a:srgbClr val="C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12" name="Group 21">
            <a:extLst>
              <a:ext uri="{FF2B5EF4-FFF2-40B4-BE49-F238E27FC236}">
                <a16:creationId xmlns:a16="http://schemas.microsoft.com/office/drawing/2014/main" id="{42650407-45AA-3C47-B59D-AAD89CBCEE9E}"/>
              </a:ext>
            </a:extLst>
          </p:cNvPr>
          <p:cNvGrpSpPr>
            <a:grpSpLocks/>
          </p:cNvGrpSpPr>
          <p:nvPr/>
        </p:nvGrpSpPr>
        <p:grpSpPr bwMode="auto">
          <a:xfrm>
            <a:off x="8824801" y="1555220"/>
            <a:ext cx="3063876" cy="1571625"/>
            <a:chOff x="3138" y="936"/>
            <a:chExt cx="1930" cy="990"/>
          </a:xfrm>
        </p:grpSpPr>
        <p:sp>
          <p:nvSpPr>
            <p:cNvPr id="213" name="Text Box 22">
              <a:extLst>
                <a:ext uri="{FF2B5EF4-FFF2-40B4-BE49-F238E27FC236}">
                  <a16:creationId xmlns:a16="http://schemas.microsoft.com/office/drawing/2014/main" id="{A91EF9B4-2F2C-834D-A9F0-AF5FF0012C06}"/>
                </a:ext>
              </a:extLst>
            </p:cNvPr>
            <p:cNvSpPr txBox="1">
              <a:spLocks noChangeArrowheads="1"/>
            </p:cNvSpPr>
            <p:nvPr/>
          </p:nvSpPr>
          <p:spPr bwMode="auto">
            <a:xfrm>
              <a:off x="3168" y="936"/>
              <a:ext cx="1900" cy="40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deliver_data</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by </a:t>
              </a:r>
              <a:r>
                <a:rPr kumimoji="0" lang="en-US" sz="1800" b="0" i="0" u="none" strike="noStrike" kern="1200" cap="none" spc="0" normalizeH="0" baseline="0" noProof="0" dirty="0" err="1">
                  <a:ln>
                    <a:noFill/>
                  </a:ln>
                  <a:solidFill>
                    <a:prstClr val="black"/>
                  </a:solidFill>
                  <a:effectLst/>
                  <a:uLnTx/>
                  <a:uFillTx/>
                  <a:latin typeface="Courier" pitchFamily="2" charset="0"/>
                  <a:ea typeface="ＭＳ Ｐゴシック" charset="0"/>
                  <a:cs typeface="+mn-cs"/>
                </a:rPr>
                <a:t>rdt</a:t>
              </a:r>
              <a:r>
                <a:rPr kumimoji="0" lang="en-US" sz="1800" b="0"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deliver data to upper layer</a:t>
              </a:r>
            </a:p>
          </p:txBody>
        </p:sp>
        <p:grpSp>
          <p:nvGrpSpPr>
            <p:cNvPr id="214" name="Group 23">
              <a:extLst>
                <a:ext uri="{FF2B5EF4-FFF2-40B4-BE49-F238E27FC236}">
                  <a16:creationId xmlns:a16="http://schemas.microsoft.com/office/drawing/2014/main" id="{2D175EAB-99E5-D446-9FA5-DA6520AC99E3}"/>
                </a:ext>
              </a:extLst>
            </p:cNvPr>
            <p:cNvGrpSpPr>
              <a:grpSpLocks/>
            </p:cNvGrpSpPr>
            <p:nvPr/>
          </p:nvGrpSpPr>
          <p:grpSpPr bwMode="auto">
            <a:xfrm>
              <a:off x="3138" y="942"/>
              <a:ext cx="1899" cy="984"/>
              <a:chOff x="3138" y="942"/>
              <a:chExt cx="1899" cy="984"/>
            </a:xfrm>
          </p:grpSpPr>
          <p:sp>
            <p:nvSpPr>
              <p:cNvPr id="215" name="Line 24">
                <a:extLst>
                  <a:ext uri="{FF2B5EF4-FFF2-40B4-BE49-F238E27FC236}">
                    <a16:creationId xmlns:a16="http://schemas.microsoft.com/office/drawing/2014/main" id="{B4F4A625-25A9-7C49-A577-9E5369A60459}"/>
                  </a:ext>
                </a:extLst>
              </p:cNvPr>
              <p:cNvSpPr>
                <a:spLocks noChangeShapeType="1"/>
              </p:cNvSpPr>
              <p:nvPr/>
            </p:nvSpPr>
            <p:spPr bwMode="auto">
              <a:xfrm flipH="1">
                <a:off x="3328" y="1334"/>
                <a:ext cx="325" cy="592"/>
              </a:xfrm>
              <a:prstGeom prst="line">
                <a:avLst/>
              </a:prstGeom>
              <a:noFill/>
              <a:ln w="19050">
                <a:solidFill>
                  <a:srgbClr val="C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6" name="Rectangle 25">
                <a:extLst>
                  <a:ext uri="{FF2B5EF4-FFF2-40B4-BE49-F238E27FC236}">
                    <a16:creationId xmlns:a16="http://schemas.microsoft.com/office/drawing/2014/main" id="{EB9BAEEC-FC22-9041-B4A4-025004EA540A}"/>
                  </a:ext>
                </a:extLst>
              </p:cNvPr>
              <p:cNvSpPr>
                <a:spLocks noChangeArrowheads="1"/>
              </p:cNvSpPr>
              <p:nvPr/>
            </p:nvSpPr>
            <p:spPr bwMode="auto">
              <a:xfrm>
                <a:off x="3138" y="942"/>
                <a:ext cx="1899" cy="396"/>
              </a:xfrm>
              <a:prstGeom prst="rect">
                <a:avLst/>
              </a:prstGeom>
              <a:noFill/>
              <a:ln w="19050">
                <a:solidFill>
                  <a:srgbClr val="C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17" name="Group 216">
            <a:extLst>
              <a:ext uri="{FF2B5EF4-FFF2-40B4-BE49-F238E27FC236}">
                <a16:creationId xmlns:a16="http://schemas.microsoft.com/office/drawing/2014/main" id="{6F41A62F-3DD7-6346-9896-7AA8D52AFD01}"/>
              </a:ext>
            </a:extLst>
          </p:cNvPr>
          <p:cNvGrpSpPr/>
          <p:nvPr/>
        </p:nvGrpSpPr>
        <p:grpSpPr>
          <a:xfrm>
            <a:off x="4390890" y="5513755"/>
            <a:ext cx="3819165" cy="1064365"/>
            <a:chOff x="2631911" y="5334147"/>
            <a:chExt cx="3819165" cy="1064365"/>
          </a:xfrm>
        </p:grpSpPr>
        <p:sp>
          <p:nvSpPr>
            <p:cNvPr id="218" name="TextBox 217">
              <a:extLst>
                <a:ext uri="{FF2B5EF4-FFF2-40B4-BE49-F238E27FC236}">
                  <a16:creationId xmlns:a16="http://schemas.microsoft.com/office/drawing/2014/main" id="{81FE2BAE-2017-AB42-AD7C-774573E3F768}"/>
                </a:ext>
              </a:extLst>
            </p:cNvPr>
            <p:cNvSpPr txBox="1"/>
            <p:nvPr/>
          </p:nvSpPr>
          <p:spPr>
            <a:xfrm>
              <a:off x="2631911" y="5807581"/>
              <a:ext cx="3819165" cy="590931"/>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Bi-directional communication over unreliable channel</a:t>
              </a:r>
            </a:p>
          </p:txBody>
        </p:sp>
        <p:cxnSp>
          <p:nvCxnSpPr>
            <p:cNvPr id="219" name="Straight Connector 218">
              <a:extLst>
                <a:ext uri="{FF2B5EF4-FFF2-40B4-BE49-F238E27FC236}">
                  <a16:creationId xmlns:a16="http://schemas.microsoft.com/office/drawing/2014/main" id="{69CFE212-FAA9-9642-8915-72A4331BBDCC}"/>
                </a:ext>
              </a:extLst>
            </p:cNvPr>
            <p:cNvCxnSpPr>
              <a:cxnSpLocks/>
            </p:cNvCxnSpPr>
            <p:nvPr/>
          </p:nvCxnSpPr>
          <p:spPr>
            <a:xfrm>
              <a:off x="2905750" y="5334147"/>
              <a:ext cx="1431271" cy="4734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648DDD5-23AA-D944-BD74-7186BAB3A91E}"/>
                </a:ext>
              </a:extLst>
            </p:cNvPr>
            <p:cNvCxnSpPr>
              <a:cxnSpLocks/>
            </p:cNvCxnSpPr>
            <p:nvPr/>
          </p:nvCxnSpPr>
          <p:spPr>
            <a:xfrm flipH="1">
              <a:off x="4339308" y="5338301"/>
              <a:ext cx="1358761" cy="4692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a16="http://schemas.microsoft.com/office/drawing/2014/main" id="{24DA57A5-E7F2-7A4B-9805-D1B62272D517}"/>
              </a:ext>
            </a:extLst>
          </p:cNvPr>
          <p:cNvGrpSpPr/>
          <p:nvPr/>
        </p:nvGrpSpPr>
        <p:grpSpPr>
          <a:xfrm>
            <a:off x="4175224" y="3049446"/>
            <a:ext cx="3819165" cy="734333"/>
            <a:chOff x="2418275" y="5378074"/>
            <a:chExt cx="3819165" cy="734333"/>
          </a:xfrm>
        </p:grpSpPr>
        <p:sp>
          <p:nvSpPr>
            <p:cNvPr id="222" name="TextBox 221">
              <a:extLst>
                <a:ext uri="{FF2B5EF4-FFF2-40B4-BE49-F238E27FC236}">
                  <a16:creationId xmlns:a16="http://schemas.microsoft.com/office/drawing/2014/main" id="{AA641F40-AD8C-4445-92AF-C75760D41DB5}"/>
                </a:ext>
              </a:extLst>
            </p:cNvPr>
            <p:cNvSpPr txBox="1"/>
            <p:nvPr/>
          </p:nvSpPr>
          <p:spPr>
            <a:xfrm>
              <a:off x="2418275" y="5770775"/>
              <a:ext cx="3819165" cy="3416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a:t>
              </a:r>
            </a:p>
          </p:txBody>
        </p:sp>
        <p:cxnSp>
          <p:nvCxnSpPr>
            <p:cNvPr id="231" name="Straight Connector 230">
              <a:extLst>
                <a:ext uri="{FF2B5EF4-FFF2-40B4-BE49-F238E27FC236}">
                  <a16:creationId xmlns:a16="http://schemas.microsoft.com/office/drawing/2014/main" id="{5EC91614-D442-594E-977D-A7CD27559B86}"/>
                </a:ext>
              </a:extLst>
            </p:cNvPr>
            <p:cNvCxnSpPr>
              <a:cxnSpLocks/>
              <a:stCxn id="156" idx="2"/>
            </p:cNvCxnSpPr>
            <p:nvPr/>
          </p:nvCxnSpPr>
          <p:spPr>
            <a:xfrm>
              <a:off x="2882260" y="5405784"/>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F28C5F11-037B-3141-81EB-95B8DB592151}"/>
                </a:ext>
              </a:extLst>
            </p:cNvPr>
            <p:cNvCxnSpPr>
              <a:cxnSpLocks/>
              <a:stCxn id="150" idx="2"/>
            </p:cNvCxnSpPr>
            <p:nvPr/>
          </p:nvCxnSpPr>
          <p:spPr>
            <a:xfrm flipH="1">
              <a:off x="4339309" y="5378074"/>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50AC3C84-7598-504F-A405-3ABFEB5F658C}"/>
              </a:ext>
            </a:extLst>
          </p:cNvPr>
          <p:cNvGrpSpPr/>
          <p:nvPr/>
        </p:nvGrpSpPr>
        <p:grpSpPr>
          <a:xfrm>
            <a:off x="5125651" y="4114827"/>
            <a:ext cx="1774588" cy="687847"/>
            <a:chOff x="5125651" y="4114827"/>
            <a:chExt cx="1774588" cy="687847"/>
          </a:xfrm>
        </p:grpSpPr>
        <p:sp>
          <p:nvSpPr>
            <p:cNvPr id="241" name="TextBox 240">
              <a:extLst>
                <a:ext uri="{FF2B5EF4-FFF2-40B4-BE49-F238E27FC236}">
                  <a16:creationId xmlns:a16="http://schemas.microsoft.com/office/drawing/2014/main" id="{EDB0CBDE-E11E-4D44-A1B1-F46AB6BB5EE3}"/>
                </a:ext>
              </a:extLst>
            </p:cNvPr>
            <p:cNvSpPr txBox="1"/>
            <p:nvPr/>
          </p:nvSpPr>
          <p:spPr>
            <a:xfrm>
              <a:off x="5532497" y="4114827"/>
              <a:ext cx="1135642" cy="3416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packet</a:t>
              </a:r>
            </a:p>
          </p:txBody>
        </p:sp>
        <p:grpSp>
          <p:nvGrpSpPr>
            <p:cNvPr id="27" name="Group 26">
              <a:extLst>
                <a:ext uri="{FF2B5EF4-FFF2-40B4-BE49-F238E27FC236}">
                  <a16:creationId xmlns:a16="http://schemas.microsoft.com/office/drawing/2014/main" id="{9D568B1D-51FF-AA46-90CF-7CFEE16AA233}"/>
                </a:ext>
              </a:extLst>
            </p:cNvPr>
            <p:cNvGrpSpPr/>
            <p:nvPr/>
          </p:nvGrpSpPr>
          <p:grpSpPr>
            <a:xfrm flipV="1">
              <a:off x="5125651" y="4373167"/>
              <a:ext cx="1774588" cy="429507"/>
              <a:chOff x="8970705" y="3780959"/>
              <a:chExt cx="2707737" cy="429507"/>
            </a:xfrm>
          </p:grpSpPr>
          <p:cxnSp>
            <p:nvCxnSpPr>
              <p:cNvPr id="242" name="Straight Connector 241">
                <a:extLst>
                  <a:ext uri="{FF2B5EF4-FFF2-40B4-BE49-F238E27FC236}">
                    <a16:creationId xmlns:a16="http://schemas.microsoft.com/office/drawing/2014/main" id="{E2B11327-3736-0944-A286-E629946AF6C2}"/>
                  </a:ext>
                </a:extLst>
              </p:cNvPr>
              <p:cNvCxnSpPr>
                <a:cxnSpLocks/>
              </p:cNvCxnSpPr>
              <p:nvPr/>
            </p:nvCxnSpPr>
            <p:spPr>
              <a:xfrm>
                <a:off x="8970705" y="3808669"/>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A509D373-1A9D-6F41-B2A3-89CFB48DFD95}"/>
                  </a:ext>
                </a:extLst>
              </p:cNvPr>
              <p:cNvCxnSpPr>
                <a:cxnSpLocks/>
              </p:cNvCxnSpPr>
              <p:nvPr/>
            </p:nvCxnSpPr>
            <p:spPr>
              <a:xfrm flipH="1">
                <a:off x="10427754" y="3780959"/>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159" name="Oval 158">
            <a:extLst>
              <a:ext uri="{FF2B5EF4-FFF2-40B4-BE49-F238E27FC236}">
                <a16:creationId xmlns:a16="http://schemas.microsoft.com/office/drawing/2014/main" id="{C022FBDC-CC2E-5E47-9678-89FEA29CD830}"/>
              </a:ext>
            </a:extLst>
          </p:cNvPr>
          <p:cNvSpPr/>
          <p:nvPr/>
        </p:nvSpPr>
        <p:spPr>
          <a:xfrm>
            <a:off x="3233978" y="3481952"/>
            <a:ext cx="2201622"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Oval 165">
            <a:extLst>
              <a:ext uri="{FF2B5EF4-FFF2-40B4-BE49-F238E27FC236}">
                <a16:creationId xmlns:a16="http://schemas.microsoft.com/office/drawing/2014/main" id="{FF958383-DD7C-5640-BB35-D8FF6965A3B4}"/>
              </a:ext>
            </a:extLst>
          </p:cNvPr>
          <p:cNvSpPr/>
          <p:nvPr/>
        </p:nvSpPr>
        <p:spPr>
          <a:xfrm>
            <a:off x="6574078" y="3494652"/>
            <a:ext cx="2201622"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Slide Number Placeholder 2">
            <a:extLst>
              <a:ext uri="{FF2B5EF4-FFF2-40B4-BE49-F238E27FC236}">
                <a16:creationId xmlns:a16="http://schemas.microsoft.com/office/drawing/2014/main" id="{6DBFA797-FCF1-D64C-B202-129E2249C30F}"/>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8</a:t>
            </a:fld>
            <a:endParaRPr lang="en-US" dirty="0"/>
          </a:p>
        </p:txBody>
      </p:sp>
    </p:spTree>
    <p:extLst>
      <p:ext uri="{BB962C8B-B14F-4D97-AF65-F5344CB8AC3E}">
        <p14:creationId xmlns:p14="http://schemas.microsoft.com/office/powerpoint/2010/main" val="87264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additive="base">
                                        <p:cTn id="7" dur="500" fill="hold"/>
                                        <p:tgtEl>
                                          <p:spTgt spid="197"/>
                                        </p:tgtEl>
                                        <p:attrNameLst>
                                          <p:attrName>ppt_x</p:attrName>
                                        </p:attrNameLst>
                                      </p:cBhvr>
                                      <p:tavLst>
                                        <p:tav tm="0">
                                          <p:val>
                                            <p:strVal val="0-#ppt_w/2"/>
                                          </p:val>
                                        </p:tav>
                                        <p:tav tm="100000">
                                          <p:val>
                                            <p:strVal val="#ppt_x"/>
                                          </p:val>
                                        </p:tav>
                                      </p:tavLst>
                                    </p:anim>
                                    <p:anim calcmode="lin" valueType="num">
                                      <p:cBhvr additive="base">
                                        <p:cTn id="8" dur="500" fill="hold"/>
                                        <p:tgtEl>
                                          <p:spTgt spid="1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2"/>
                                        </p:tgtEl>
                                        <p:attrNameLst>
                                          <p:attrName>style.visibility</p:attrName>
                                        </p:attrNameLst>
                                      </p:cBhvr>
                                      <p:to>
                                        <p:strVal val="visible"/>
                                      </p:to>
                                    </p:set>
                                    <p:anim calcmode="lin" valueType="num">
                                      <p:cBhvr additive="base">
                                        <p:cTn id="13" dur="500" fill="hold"/>
                                        <p:tgtEl>
                                          <p:spTgt spid="202"/>
                                        </p:tgtEl>
                                        <p:attrNameLst>
                                          <p:attrName>ppt_x</p:attrName>
                                        </p:attrNameLst>
                                      </p:cBhvr>
                                      <p:tavLst>
                                        <p:tav tm="0">
                                          <p:val>
                                            <p:strVal val="0-#ppt_w/2"/>
                                          </p:val>
                                        </p:tav>
                                        <p:tav tm="100000">
                                          <p:val>
                                            <p:strVal val="#ppt_x"/>
                                          </p:val>
                                        </p:tav>
                                      </p:tavLst>
                                    </p:anim>
                                    <p:anim calcmode="lin" valueType="num">
                                      <p:cBhvr additive="base">
                                        <p:cTn id="14" dur="500" fill="hold"/>
                                        <p:tgtEl>
                                          <p:spTgt spid="20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07"/>
                                        </p:tgtEl>
                                        <p:attrNameLst>
                                          <p:attrName>style.visibility</p:attrName>
                                        </p:attrNameLst>
                                      </p:cBhvr>
                                      <p:to>
                                        <p:strVal val="visible"/>
                                      </p:to>
                                    </p:set>
                                    <p:anim calcmode="lin" valueType="num">
                                      <p:cBhvr additive="base">
                                        <p:cTn id="19" dur="500" fill="hold"/>
                                        <p:tgtEl>
                                          <p:spTgt spid="207"/>
                                        </p:tgtEl>
                                        <p:attrNameLst>
                                          <p:attrName>ppt_x</p:attrName>
                                        </p:attrNameLst>
                                      </p:cBhvr>
                                      <p:tavLst>
                                        <p:tav tm="0">
                                          <p:val>
                                            <p:strVal val="1+#ppt_w/2"/>
                                          </p:val>
                                        </p:tav>
                                        <p:tav tm="100000">
                                          <p:val>
                                            <p:strVal val="#ppt_x"/>
                                          </p:val>
                                        </p:tav>
                                      </p:tavLst>
                                    </p:anim>
                                    <p:anim calcmode="lin" valueType="num">
                                      <p:cBhvr additive="base">
                                        <p:cTn id="20" dur="500" fill="hold"/>
                                        <p:tgtEl>
                                          <p:spTgt spid="20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12"/>
                                        </p:tgtEl>
                                        <p:attrNameLst>
                                          <p:attrName>style.visibility</p:attrName>
                                        </p:attrNameLst>
                                      </p:cBhvr>
                                      <p:to>
                                        <p:strVal val="visible"/>
                                      </p:to>
                                    </p:set>
                                    <p:anim calcmode="lin" valueType="num">
                                      <p:cBhvr additive="base">
                                        <p:cTn id="25" dur="500" fill="hold"/>
                                        <p:tgtEl>
                                          <p:spTgt spid="212"/>
                                        </p:tgtEl>
                                        <p:attrNameLst>
                                          <p:attrName>ppt_x</p:attrName>
                                        </p:attrNameLst>
                                      </p:cBhvr>
                                      <p:tavLst>
                                        <p:tav tm="0">
                                          <p:val>
                                            <p:strVal val="1+#ppt_w/2"/>
                                          </p:val>
                                        </p:tav>
                                        <p:tav tm="100000">
                                          <p:val>
                                            <p:strVal val="#ppt_x"/>
                                          </p:val>
                                        </p:tav>
                                      </p:tavLst>
                                    </p:anim>
                                    <p:anim calcmode="lin" valueType="num">
                                      <p:cBhvr additive="base">
                                        <p:cTn id="26" dur="500" fill="hold"/>
                                        <p:tgtEl>
                                          <p:spTgt spid="2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17"/>
                                        </p:tgtEl>
                                        <p:attrNameLst>
                                          <p:attrName>style.visibility</p:attrName>
                                        </p:attrNameLst>
                                      </p:cBhvr>
                                      <p:to>
                                        <p:strVal val="visible"/>
                                      </p:to>
                                    </p:set>
                                    <p:animEffect transition="in" filter="dissolve">
                                      <p:cBhvr>
                                        <p:cTn id="31" dur="500"/>
                                        <p:tgtEl>
                                          <p:spTgt spid="21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21"/>
                                        </p:tgtEl>
                                        <p:attrNameLst>
                                          <p:attrName>style.visibility</p:attrName>
                                        </p:attrNameLst>
                                      </p:cBhvr>
                                      <p:to>
                                        <p:strVal val="visible"/>
                                      </p:to>
                                    </p:set>
                                    <p:animEffect transition="in" filter="dissolve">
                                      <p:cBhvr>
                                        <p:cTn id="36" dur="500"/>
                                        <p:tgtEl>
                                          <p:spTgt spid="22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dissolve">
                                      <p:cBhvr>
                                        <p:cTn id="4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Reliable data transfer: getting started</a:t>
            </a:r>
          </a:p>
        </p:txBody>
      </p:sp>
      <p:sp>
        <p:nvSpPr>
          <p:cNvPr id="193" name="Rectangle 3">
            <a:extLst>
              <a:ext uri="{FF2B5EF4-FFF2-40B4-BE49-F238E27FC236}">
                <a16:creationId xmlns:a16="http://schemas.microsoft.com/office/drawing/2014/main" id="{5D93718A-0690-8C4E-A748-FD7FA291E0B5}"/>
              </a:ext>
            </a:extLst>
          </p:cNvPr>
          <p:cNvSpPr txBox="1">
            <a:spLocks noChangeArrowheads="1"/>
          </p:cNvSpPr>
          <p:nvPr/>
        </p:nvSpPr>
        <p:spPr bwMode="auto">
          <a:xfrm>
            <a:off x="906239" y="1209675"/>
            <a:ext cx="11056577" cy="3352800"/>
          </a:xfrm>
          <a:prstGeom prst="rect">
            <a:avLst/>
          </a:prstGeom>
          <a:noFill/>
          <a:ln>
            <a:noFill/>
          </a:ln>
          <a:effectLst/>
          <a:extLst>
            <a:ext uri="{91240B29-F687-4f45-9708-019B960494DF}">
              <a14:hiddenLine xmlns="" xmlns:a14="http://schemas.microsoft.com/office/drawing/2010/main" w="9525">
                <a:solidFill>
                  <a:srgbClr val="CC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ja-JP" sz="3200" b="0" i="0" u="none" strike="noStrike" kern="0" cap="none" spc="0" normalizeH="0" baseline="0" noProof="0" dirty="0">
                <a:ln>
                  <a:noFill/>
                </a:ln>
                <a:solidFill>
                  <a:srgbClr val="C00000"/>
                </a:solidFill>
                <a:effectLst/>
                <a:uLnTx/>
                <a:uFillTx/>
                <a:latin typeface="Calibri" panose="020F0502020204030204"/>
                <a:ea typeface="ＭＳ Ｐゴシック" panose="020B0600070205080204" pitchFamily="34" charset="-128"/>
              </a:rPr>
              <a:t>We will:</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incrementally develop sender, receiver sides of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r</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eliable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d</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ata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ransfer protocol (</a:t>
            </a:r>
            <a:r>
              <a:rPr kumimoji="0" lang="en-US" altLang="en-US" sz="2800" b="0" i="0" u="none" strike="noStrike" kern="0" cap="none" spc="0" normalizeH="0" baseline="0" noProof="0" dirty="0" err="1">
                <a:ln>
                  <a:noFill/>
                </a:ln>
                <a:solidFill>
                  <a:prstClr val="black"/>
                </a:solidFill>
                <a:effectLst/>
                <a:uLnTx/>
                <a:uFillTx/>
                <a:latin typeface="Courier" pitchFamily="2" charset="0"/>
                <a:ea typeface="ＭＳ Ｐゴシック" panose="020B0600070205080204" pitchFamily="34" charset="-128"/>
              </a:rPr>
              <a:t>rdt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consider only unidirectional data transfer</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but control info will flow in both directions!</a:t>
            </a:r>
          </a:p>
        </p:txBody>
      </p:sp>
      <p:sp>
        <p:nvSpPr>
          <p:cNvPr id="194" name="Oval 5">
            <a:extLst>
              <a:ext uri="{FF2B5EF4-FFF2-40B4-BE49-F238E27FC236}">
                <a16:creationId xmlns:a16="http://schemas.microsoft.com/office/drawing/2014/main" id="{239622CA-E70A-CC42-B345-49DC0319BAA9}"/>
              </a:ext>
            </a:extLst>
          </p:cNvPr>
          <p:cNvSpPr>
            <a:spLocks noChangeArrowheads="1"/>
          </p:cNvSpPr>
          <p:nvPr/>
        </p:nvSpPr>
        <p:spPr bwMode="auto">
          <a:xfrm>
            <a:off x="4017605" y="4873894"/>
            <a:ext cx="885825" cy="876300"/>
          </a:xfrm>
          <a:prstGeom prst="ellipse">
            <a:avLst/>
          </a:prstGeom>
          <a:solidFill>
            <a:srgbClr val="000099"/>
          </a:solidFill>
          <a:ln>
            <a:noFill/>
          </a:ln>
          <a:effectLst/>
          <a:extLst>
            <a:ext uri="{91240B29-F687-4f45-9708-019B960494DF}">
              <a14:hiddenLine xmlns="" xmlns:a14="http://schemas.microsoft.com/office/drawing/2010/main" w="19050">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5" name="Oval 6">
            <a:extLst>
              <a:ext uri="{FF2B5EF4-FFF2-40B4-BE49-F238E27FC236}">
                <a16:creationId xmlns:a16="http://schemas.microsoft.com/office/drawing/2014/main" id="{3070A472-417C-B64C-8596-E60CAE3FAF1E}"/>
              </a:ext>
            </a:extLst>
          </p:cNvPr>
          <p:cNvSpPr>
            <a:spLocks noChangeArrowheads="1"/>
          </p:cNvSpPr>
          <p:nvPr/>
        </p:nvSpPr>
        <p:spPr bwMode="auto">
          <a:xfrm>
            <a:off x="3927117" y="4899294"/>
            <a:ext cx="942975" cy="876300"/>
          </a:xfrm>
          <a:prstGeom prst="ellipse">
            <a:avLst/>
          </a:prstGeom>
          <a:solidFill>
            <a:srgbClr val="FFFFFF"/>
          </a:solidFill>
          <a:ln w="19050">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6" name="Text Box 7">
            <a:extLst>
              <a:ext uri="{FF2B5EF4-FFF2-40B4-BE49-F238E27FC236}">
                <a16:creationId xmlns:a16="http://schemas.microsoft.com/office/drawing/2014/main" id="{08B8C369-B54C-DA42-A239-7C5638495649}"/>
              </a:ext>
            </a:extLst>
          </p:cNvPr>
          <p:cNvSpPr txBox="1">
            <a:spLocks noChangeArrowheads="1"/>
          </p:cNvSpPr>
          <p:nvPr/>
        </p:nvSpPr>
        <p:spPr bwMode="auto">
          <a:xfrm>
            <a:off x="4038243" y="5013594"/>
            <a:ext cx="735012" cy="7016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state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1</a:t>
            </a:r>
          </a:p>
        </p:txBody>
      </p:sp>
      <p:sp>
        <p:nvSpPr>
          <p:cNvPr id="234" name="Freeform 8">
            <a:extLst>
              <a:ext uri="{FF2B5EF4-FFF2-40B4-BE49-F238E27FC236}">
                <a16:creationId xmlns:a16="http://schemas.microsoft.com/office/drawing/2014/main" id="{3475345F-C536-0A44-888E-B17681F112D6}"/>
              </a:ext>
            </a:extLst>
          </p:cNvPr>
          <p:cNvSpPr>
            <a:spLocks/>
          </p:cNvSpPr>
          <p:nvPr/>
        </p:nvSpPr>
        <p:spPr bwMode="auto">
          <a:xfrm>
            <a:off x="4870092" y="4851669"/>
            <a:ext cx="3952875" cy="285750"/>
          </a:xfrm>
          <a:custGeom>
            <a:avLst/>
            <a:gdLst>
              <a:gd name="T0" fmla="*/ 0 w 1446"/>
              <a:gd name="T1" fmla="*/ 2147483647 h 180"/>
              <a:gd name="T2" fmla="*/ 2147483647 w 1446"/>
              <a:gd name="T3" fmla="*/ 2147483647 h 180"/>
              <a:gd name="T4" fmla="*/ 0 60000 65536"/>
              <a:gd name="T5" fmla="*/ 0 60000 65536"/>
            </a:gdLst>
            <a:ahLst/>
            <a:cxnLst>
              <a:cxn ang="T4">
                <a:pos x="T0" y="T1"/>
              </a:cxn>
              <a:cxn ang="T5">
                <a:pos x="T2" y="T3"/>
              </a:cxn>
            </a:cxnLst>
            <a:rect l="0" t="0" r="r" b="b"/>
            <a:pathLst>
              <a:path w="1446" h="180">
                <a:moveTo>
                  <a:pt x="0" y="180"/>
                </a:moveTo>
                <a:cubicBezTo>
                  <a:pt x="540" y="30"/>
                  <a:pt x="972" y="0"/>
                  <a:pt x="1446" y="168"/>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5" name="Oval 10">
            <a:extLst>
              <a:ext uri="{FF2B5EF4-FFF2-40B4-BE49-F238E27FC236}">
                <a16:creationId xmlns:a16="http://schemas.microsoft.com/office/drawing/2014/main" id="{746ECFE2-5CD0-C04F-8B87-C645E1556A9F}"/>
              </a:ext>
            </a:extLst>
          </p:cNvPr>
          <p:cNvSpPr>
            <a:spLocks noChangeArrowheads="1"/>
          </p:cNvSpPr>
          <p:nvPr/>
        </p:nvSpPr>
        <p:spPr bwMode="auto">
          <a:xfrm>
            <a:off x="8802330" y="4977635"/>
            <a:ext cx="873124" cy="876300"/>
          </a:xfrm>
          <a:prstGeom prst="ellipse">
            <a:avLst/>
          </a:prstGeom>
          <a:solidFill>
            <a:srgbClr val="000099"/>
          </a:solidFill>
          <a:ln>
            <a:noFill/>
          </a:ln>
          <a:effectLst/>
          <a:extLst>
            <a:ext uri="{91240B29-F687-4f45-9708-019B960494DF}">
              <a14:hiddenLine xmlns="" xmlns:a14="http://schemas.microsoft.com/office/drawing/2010/main" w="19050">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38" name="Oval 11">
            <a:extLst>
              <a:ext uri="{FF2B5EF4-FFF2-40B4-BE49-F238E27FC236}">
                <a16:creationId xmlns:a16="http://schemas.microsoft.com/office/drawing/2014/main" id="{64FCB6C7-C6F9-8C46-BF1F-E9242E6C942E}"/>
              </a:ext>
            </a:extLst>
          </p:cNvPr>
          <p:cNvSpPr>
            <a:spLocks noChangeArrowheads="1"/>
          </p:cNvSpPr>
          <p:nvPr/>
        </p:nvSpPr>
        <p:spPr bwMode="auto">
          <a:xfrm>
            <a:off x="8737242" y="5004069"/>
            <a:ext cx="885825" cy="876300"/>
          </a:xfrm>
          <a:prstGeom prst="ellipse">
            <a:avLst/>
          </a:prstGeom>
          <a:solidFill>
            <a:srgbClr val="FFFFFF"/>
          </a:solidFill>
          <a:ln w="19050">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9" name="Text Box 12">
            <a:extLst>
              <a:ext uri="{FF2B5EF4-FFF2-40B4-BE49-F238E27FC236}">
                <a16:creationId xmlns:a16="http://schemas.microsoft.com/office/drawing/2014/main" id="{57C97D62-0B61-3848-BBA8-5FCC09BFDC01}"/>
              </a:ext>
            </a:extLst>
          </p:cNvPr>
          <p:cNvSpPr txBox="1">
            <a:spLocks noChangeArrowheads="1"/>
          </p:cNvSpPr>
          <p:nvPr/>
        </p:nvSpPr>
        <p:spPr bwMode="auto">
          <a:xfrm>
            <a:off x="8802017" y="5112019"/>
            <a:ext cx="735012" cy="7016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state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2</a:t>
            </a:r>
          </a:p>
        </p:txBody>
      </p:sp>
      <p:sp>
        <p:nvSpPr>
          <p:cNvPr id="246" name="Text Box 13">
            <a:extLst>
              <a:ext uri="{FF2B5EF4-FFF2-40B4-BE49-F238E27FC236}">
                <a16:creationId xmlns:a16="http://schemas.microsoft.com/office/drawing/2014/main" id="{807A58CF-7E9F-DF4E-9818-2CBC4ED16CA2}"/>
              </a:ext>
            </a:extLst>
          </p:cNvPr>
          <p:cNvSpPr txBox="1">
            <a:spLocks noChangeArrowheads="1"/>
          </p:cNvSpPr>
          <p:nvPr/>
        </p:nvSpPr>
        <p:spPr bwMode="auto">
          <a:xfrm>
            <a:off x="5100280" y="4216669"/>
            <a:ext cx="3152775"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C0000"/>
                </a:solidFill>
                <a:effectLst/>
                <a:uLnTx/>
                <a:uFillTx/>
                <a:latin typeface="Tahoma" charset="0"/>
                <a:ea typeface="ＭＳ Ｐゴシック" charset="0"/>
                <a:cs typeface="+mn-cs"/>
              </a:rPr>
              <a:t>event causing state transition</a:t>
            </a:r>
            <a:endPar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248" name="Text Box 14">
            <a:extLst>
              <a:ext uri="{FF2B5EF4-FFF2-40B4-BE49-F238E27FC236}">
                <a16:creationId xmlns:a16="http://schemas.microsoft.com/office/drawing/2014/main" id="{6FE48C09-1C7F-8C4D-B56E-B697D8EF6AD8}"/>
              </a:ext>
            </a:extLst>
          </p:cNvPr>
          <p:cNvSpPr txBox="1">
            <a:spLocks noChangeArrowheads="1"/>
          </p:cNvSpPr>
          <p:nvPr/>
        </p:nvSpPr>
        <p:spPr bwMode="auto">
          <a:xfrm>
            <a:off x="5027255" y="4511944"/>
            <a:ext cx="3421062"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actions taken on state transition</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54" name="Line 15">
            <a:extLst>
              <a:ext uri="{FF2B5EF4-FFF2-40B4-BE49-F238E27FC236}">
                <a16:creationId xmlns:a16="http://schemas.microsoft.com/office/drawing/2014/main" id="{C6A8A602-5239-A74B-AD17-B72696EF3F0B}"/>
              </a:ext>
            </a:extLst>
          </p:cNvPr>
          <p:cNvSpPr>
            <a:spLocks noChangeShapeType="1"/>
          </p:cNvSpPr>
          <p:nvPr/>
        </p:nvSpPr>
        <p:spPr bwMode="auto">
          <a:xfrm>
            <a:off x="4993917" y="4565919"/>
            <a:ext cx="3381375"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5" name="Rectangle 16">
            <a:extLst>
              <a:ext uri="{FF2B5EF4-FFF2-40B4-BE49-F238E27FC236}">
                <a16:creationId xmlns:a16="http://schemas.microsoft.com/office/drawing/2014/main" id="{C0FAC860-2F25-F545-9139-9C98D6260A8C}"/>
              </a:ext>
            </a:extLst>
          </p:cNvPr>
          <p:cNvSpPr>
            <a:spLocks noChangeArrowheads="1"/>
          </p:cNvSpPr>
          <p:nvPr/>
        </p:nvSpPr>
        <p:spPr bwMode="auto">
          <a:xfrm>
            <a:off x="1012467" y="4899294"/>
            <a:ext cx="2771775" cy="1238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r" defTabSz="914400" rtl="0" eaLnBrk="0" fontAlgn="base" latinLnBrk="0" hangingPunct="0">
              <a:lnSpc>
                <a:spcPct val="85000"/>
              </a:lnSpc>
              <a:spcBef>
                <a:spcPct val="20000"/>
              </a:spcBef>
              <a:spcAft>
                <a:spcPct val="0"/>
              </a:spcAft>
              <a:buClr>
                <a:srgbClr val="000099"/>
              </a:buClr>
              <a:buSzPct val="65000"/>
              <a:buFont typeface="Wingdings" pitchFamily="2" charset="2"/>
              <a:buNone/>
              <a:tabLst/>
              <a:defRPr/>
            </a:pPr>
            <a:r>
              <a:rPr kumimoji="0" lang="en-US" altLang="en-US" sz="1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state:</a:t>
            </a: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when in this </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state</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next state uniquely determined by next event</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56" name="Freeform 17">
            <a:extLst>
              <a:ext uri="{FF2B5EF4-FFF2-40B4-BE49-F238E27FC236}">
                <a16:creationId xmlns:a16="http://schemas.microsoft.com/office/drawing/2014/main" id="{6C66B08F-D328-CD47-A7C2-DEFD7C90E7AF}"/>
              </a:ext>
            </a:extLst>
          </p:cNvPr>
          <p:cNvSpPr>
            <a:spLocks/>
          </p:cNvSpPr>
          <p:nvPr/>
        </p:nvSpPr>
        <p:spPr bwMode="auto">
          <a:xfrm>
            <a:off x="4270017" y="5775594"/>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7" name="Freeform 18">
            <a:extLst>
              <a:ext uri="{FF2B5EF4-FFF2-40B4-BE49-F238E27FC236}">
                <a16:creationId xmlns:a16="http://schemas.microsoft.com/office/drawing/2014/main" id="{EBD24A16-C963-134E-B147-F90FBCE99895}"/>
              </a:ext>
            </a:extLst>
          </p:cNvPr>
          <p:cNvSpPr>
            <a:spLocks/>
          </p:cNvSpPr>
          <p:nvPr/>
        </p:nvSpPr>
        <p:spPr bwMode="auto">
          <a:xfrm flipH="1" flipV="1">
            <a:off x="9413517" y="5813694"/>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8" name="Line 19">
            <a:extLst>
              <a:ext uri="{FF2B5EF4-FFF2-40B4-BE49-F238E27FC236}">
                <a16:creationId xmlns:a16="http://schemas.microsoft.com/office/drawing/2014/main" id="{8C0C0821-24D7-9B48-B890-E098F3F3B2F5}"/>
              </a:ext>
            </a:extLst>
          </p:cNvPr>
          <p:cNvSpPr>
            <a:spLocks noChangeShapeType="1"/>
          </p:cNvSpPr>
          <p:nvPr/>
        </p:nvSpPr>
        <p:spPr bwMode="auto">
          <a:xfrm>
            <a:off x="4824055" y="5532730"/>
            <a:ext cx="1541462" cy="738164"/>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9" name="Text Box 21">
            <a:extLst>
              <a:ext uri="{FF2B5EF4-FFF2-40B4-BE49-F238E27FC236}">
                <a16:creationId xmlns:a16="http://schemas.microsoft.com/office/drawing/2014/main" id="{7E164E54-B268-A247-AA63-9539F6FF224A}"/>
              </a:ext>
            </a:extLst>
          </p:cNvPr>
          <p:cNvSpPr txBox="1">
            <a:spLocks noChangeArrowheads="1"/>
          </p:cNvSpPr>
          <p:nvPr/>
        </p:nvSpPr>
        <p:spPr bwMode="auto">
          <a:xfrm>
            <a:off x="5560655" y="5312044"/>
            <a:ext cx="742950"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event</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60" name="Text Box 22">
            <a:extLst>
              <a:ext uri="{FF2B5EF4-FFF2-40B4-BE49-F238E27FC236}">
                <a16:creationId xmlns:a16="http://schemas.microsoft.com/office/drawing/2014/main" id="{DE18FED2-1875-864F-91AF-6509DB74229F}"/>
              </a:ext>
            </a:extLst>
          </p:cNvPr>
          <p:cNvSpPr txBox="1">
            <a:spLocks noChangeArrowheads="1"/>
          </p:cNvSpPr>
          <p:nvPr/>
        </p:nvSpPr>
        <p:spPr bwMode="auto">
          <a:xfrm>
            <a:off x="5520967" y="5616844"/>
            <a:ext cx="890588"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actions</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61" name="Line 23">
            <a:extLst>
              <a:ext uri="{FF2B5EF4-FFF2-40B4-BE49-F238E27FC236}">
                <a16:creationId xmlns:a16="http://schemas.microsoft.com/office/drawing/2014/main" id="{F2E746A2-18BE-7647-9805-C4C76DAACB29}"/>
              </a:ext>
            </a:extLst>
          </p:cNvPr>
          <p:cNvSpPr>
            <a:spLocks noChangeShapeType="1"/>
          </p:cNvSpPr>
          <p:nvPr/>
        </p:nvSpPr>
        <p:spPr bwMode="auto">
          <a:xfrm>
            <a:off x="5470167" y="5670819"/>
            <a:ext cx="942975"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3" name="Rectangle 3">
            <a:extLst>
              <a:ext uri="{FF2B5EF4-FFF2-40B4-BE49-F238E27FC236}">
                <a16:creationId xmlns:a16="http://schemas.microsoft.com/office/drawing/2014/main" id="{3081F250-E04F-164D-8093-2C4E84FB9F25}"/>
              </a:ext>
            </a:extLst>
          </p:cNvPr>
          <p:cNvSpPr txBox="1">
            <a:spLocks noChangeArrowheads="1"/>
          </p:cNvSpPr>
          <p:nvPr/>
        </p:nvSpPr>
        <p:spPr bwMode="auto">
          <a:xfrm>
            <a:off x="918939" y="3470275"/>
            <a:ext cx="11056577" cy="542925"/>
          </a:xfrm>
          <a:prstGeom prst="rect">
            <a:avLst/>
          </a:prstGeom>
          <a:noFill/>
          <a:ln>
            <a:noFill/>
          </a:ln>
          <a:effectLst/>
          <a:extLst>
            <a:ext uri="{91240B29-F687-4f45-9708-019B960494DF}">
              <a14:hiddenLine xmlns="" xmlns:a14="http://schemas.microsoft.com/office/drawing/2010/main" w="9525">
                <a:solidFill>
                  <a:srgbClr val="CC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use finite state machines (FSM)  to specify sender, receiver</a:t>
            </a:r>
          </a:p>
        </p:txBody>
      </p:sp>
      <p:sp>
        <p:nvSpPr>
          <p:cNvPr id="22" name="Slide Number Placeholder 2">
            <a:extLst>
              <a:ext uri="{FF2B5EF4-FFF2-40B4-BE49-F238E27FC236}">
                <a16:creationId xmlns:a16="http://schemas.microsoft.com/office/drawing/2014/main" id="{659D8DFE-4F7C-F240-94AE-B357C50605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9</a:t>
            </a:fld>
            <a:endParaRPr lang="en-US" dirty="0"/>
          </a:p>
        </p:txBody>
      </p:sp>
    </p:spTree>
    <p:extLst>
      <p:ext uri="{BB962C8B-B14F-4D97-AF65-F5344CB8AC3E}">
        <p14:creationId xmlns:p14="http://schemas.microsoft.com/office/powerpoint/2010/main" val="159988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dissolve">
                                      <p:cBhvr>
                                        <p:cTn id="7" dur="500"/>
                                        <p:tgtEl>
                                          <p:spTgt spid="19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5"/>
                                        </p:tgtEl>
                                        <p:attrNameLst>
                                          <p:attrName>style.visibility</p:attrName>
                                        </p:attrNameLst>
                                      </p:cBhvr>
                                      <p:to>
                                        <p:strVal val="visible"/>
                                      </p:to>
                                    </p:set>
                                    <p:animEffect transition="in" filter="dissolve">
                                      <p:cBhvr>
                                        <p:cTn id="10" dur="500"/>
                                        <p:tgtEl>
                                          <p:spTgt spid="19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96"/>
                                        </p:tgtEl>
                                        <p:attrNameLst>
                                          <p:attrName>style.visibility</p:attrName>
                                        </p:attrNameLst>
                                      </p:cBhvr>
                                      <p:to>
                                        <p:strVal val="visible"/>
                                      </p:to>
                                    </p:set>
                                    <p:animEffect transition="in" filter="dissolve">
                                      <p:cBhvr>
                                        <p:cTn id="13" dur="500"/>
                                        <p:tgtEl>
                                          <p:spTgt spid="19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34"/>
                                        </p:tgtEl>
                                        <p:attrNameLst>
                                          <p:attrName>style.visibility</p:attrName>
                                        </p:attrNameLst>
                                      </p:cBhvr>
                                      <p:to>
                                        <p:strVal val="visible"/>
                                      </p:to>
                                    </p:set>
                                    <p:animEffect transition="in" filter="dissolve">
                                      <p:cBhvr>
                                        <p:cTn id="16" dur="500"/>
                                        <p:tgtEl>
                                          <p:spTgt spid="234"/>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35"/>
                                        </p:tgtEl>
                                        <p:attrNameLst>
                                          <p:attrName>style.visibility</p:attrName>
                                        </p:attrNameLst>
                                      </p:cBhvr>
                                      <p:to>
                                        <p:strVal val="visible"/>
                                      </p:to>
                                    </p:set>
                                    <p:animEffect transition="in" filter="dissolve">
                                      <p:cBhvr>
                                        <p:cTn id="19" dur="500"/>
                                        <p:tgtEl>
                                          <p:spTgt spid="23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8"/>
                                        </p:tgtEl>
                                        <p:attrNameLst>
                                          <p:attrName>style.visibility</p:attrName>
                                        </p:attrNameLst>
                                      </p:cBhvr>
                                      <p:to>
                                        <p:strVal val="visible"/>
                                      </p:to>
                                    </p:set>
                                    <p:animEffect transition="in" filter="dissolve">
                                      <p:cBhvr>
                                        <p:cTn id="22" dur="500"/>
                                        <p:tgtEl>
                                          <p:spTgt spid="23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39"/>
                                        </p:tgtEl>
                                        <p:attrNameLst>
                                          <p:attrName>style.visibility</p:attrName>
                                        </p:attrNameLst>
                                      </p:cBhvr>
                                      <p:to>
                                        <p:strVal val="visible"/>
                                      </p:to>
                                    </p:set>
                                    <p:animEffect transition="in" filter="dissolve">
                                      <p:cBhvr>
                                        <p:cTn id="25" dur="500"/>
                                        <p:tgtEl>
                                          <p:spTgt spid="23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46"/>
                                        </p:tgtEl>
                                        <p:attrNameLst>
                                          <p:attrName>style.visibility</p:attrName>
                                        </p:attrNameLst>
                                      </p:cBhvr>
                                      <p:to>
                                        <p:strVal val="visible"/>
                                      </p:to>
                                    </p:set>
                                    <p:animEffect transition="in" filter="dissolve">
                                      <p:cBhvr>
                                        <p:cTn id="28" dur="500"/>
                                        <p:tgtEl>
                                          <p:spTgt spid="24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48"/>
                                        </p:tgtEl>
                                        <p:attrNameLst>
                                          <p:attrName>style.visibility</p:attrName>
                                        </p:attrNameLst>
                                      </p:cBhvr>
                                      <p:to>
                                        <p:strVal val="visible"/>
                                      </p:to>
                                    </p:set>
                                    <p:animEffect transition="in" filter="dissolve">
                                      <p:cBhvr>
                                        <p:cTn id="31" dur="500"/>
                                        <p:tgtEl>
                                          <p:spTgt spid="24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54"/>
                                        </p:tgtEl>
                                        <p:attrNameLst>
                                          <p:attrName>style.visibility</p:attrName>
                                        </p:attrNameLst>
                                      </p:cBhvr>
                                      <p:to>
                                        <p:strVal val="visible"/>
                                      </p:to>
                                    </p:set>
                                    <p:animEffect transition="in" filter="dissolve">
                                      <p:cBhvr>
                                        <p:cTn id="34" dur="500"/>
                                        <p:tgtEl>
                                          <p:spTgt spid="254"/>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55"/>
                                        </p:tgtEl>
                                        <p:attrNameLst>
                                          <p:attrName>style.visibility</p:attrName>
                                        </p:attrNameLst>
                                      </p:cBhvr>
                                      <p:to>
                                        <p:strVal val="visible"/>
                                      </p:to>
                                    </p:set>
                                    <p:animEffect transition="in" filter="dissolve">
                                      <p:cBhvr>
                                        <p:cTn id="37" dur="500"/>
                                        <p:tgtEl>
                                          <p:spTgt spid="25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56"/>
                                        </p:tgtEl>
                                        <p:attrNameLst>
                                          <p:attrName>style.visibility</p:attrName>
                                        </p:attrNameLst>
                                      </p:cBhvr>
                                      <p:to>
                                        <p:strVal val="visible"/>
                                      </p:to>
                                    </p:set>
                                    <p:animEffect transition="in" filter="dissolve">
                                      <p:cBhvr>
                                        <p:cTn id="40" dur="500"/>
                                        <p:tgtEl>
                                          <p:spTgt spid="25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57"/>
                                        </p:tgtEl>
                                        <p:attrNameLst>
                                          <p:attrName>style.visibility</p:attrName>
                                        </p:attrNameLst>
                                      </p:cBhvr>
                                      <p:to>
                                        <p:strVal val="visible"/>
                                      </p:to>
                                    </p:set>
                                    <p:animEffect transition="in" filter="dissolve">
                                      <p:cBhvr>
                                        <p:cTn id="43" dur="500"/>
                                        <p:tgtEl>
                                          <p:spTgt spid="25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58"/>
                                        </p:tgtEl>
                                        <p:attrNameLst>
                                          <p:attrName>style.visibility</p:attrName>
                                        </p:attrNameLst>
                                      </p:cBhvr>
                                      <p:to>
                                        <p:strVal val="visible"/>
                                      </p:to>
                                    </p:set>
                                    <p:animEffect transition="in" filter="dissolve">
                                      <p:cBhvr>
                                        <p:cTn id="46" dur="500"/>
                                        <p:tgtEl>
                                          <p:spTgt spid="258"/>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59"/>
                                        </p:tgtEl>
                                        <p:attrNameLst>
                                          <p:attrName>style.visibility</p:attrName>
                                        </p:attrNameLst>
                                      </p:cBhvr>
                                      <p:to>
                                        <p:strVal val="visible"/>
                                      </p:to>
                                    </p:set>
                                    <p:animEffect transition="in" filter="dissolve">
                                      <p:cBhvr>
                                        <p:cTn id="49" dur="500"/>
                                        <p:tgtEl>
                                          <p:spTgt spid="25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60"/>
                                        </p:tgtEl>
                                        <p:attrNameLst>
                                          <p:attrName>style.visibility</p:attrName>
                                        </p:attrNameLst>
                                      </p:cBhvr>
                                      <p:to>
                                        <p:strVal val="visible"/>
                                      </p:to>
                                    </p:set>
                                    <p:animEffect transition="in" filter="dissolve">
                                      <p:cBhvr>
                                        <p:cTn id="52" dur="500"/>
                                        <p:tgtEl>
                                          <p:spTgt spid="26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61"/>
                                        </p:tgtEl>
                                        <p:attrNameLst>
                                          <p:attrName>style.visibility</p:attrName>
                                        </p:attrNameLst>
                                      </p:cBhvr>
                                      <p:to>
                                        <p:strVal val="visible"/>
                                      </p:to>
                                    </p:set>
                                    <p:animEffect transition="in" filter="dissolve">
                                      <p:cBhvr>
                                        <p:cTn id="55" dur="500"/>
                                        <p:tgtEl>
                                          <p:spTgt spid="26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dissolve">
                                      <p:cBhvr>
                                        <p:cTn id="5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animBg="1"/>
      <p:bldP spid="195" grpId="0" animBg="1"/>
      <p:bldP spid="196" grpId="0"/>
      <p:bldP spid="234" grpId="0" animBg="1"/>
      <p:bldP spid="235" grpId="0" animBg="1"/>
      <p:bldP spid="238" grpId="0" animBg="1"/>
      <p:bldP spid="239" grpId="0"/>
      <p:bldP spid="246" grpId="0"/>
      <p:bldP spid="248" grpId="0"/>
      <p:bldP spid="254" grpId="0" animBg="1"/>
      <p:bldP spid="255" grpId="0"/>
      <p:bldP spid="256" grpId="0" animBg="1"/>
      <p:bldP spid="257" grpId="0" animBg="1"/>
      <p:bldP spid="258" grpId="0" animBg="1"/>
      <p:bldP spid="259" grpId="0"/>
      <p:bldP spid="260" grpId="0"/>
      <p:bldP spid="261" grpId="0" animBg="1"/>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rdt1.0: </a:t>
            </a:r>
            <a:r>
              <a:rPr lang="en-US" sz="4400" dirty="0"/>
              <a:t>reliable transfer over a reliable channel</a:t>
            </a:r>
          </a:p>
        </p:txBody>
      </p:sp>
      <p:sp>
        <p:nvSpPr>
          <p:cNvPr id="22" name="Rectangle 3">
            <a:extLst>
              <a:ext uri="{FF2B5EF4-FFF2-40B4-BE49-F238E27FC236}">
                <a16:creationId xmlns:a16="http://schemas.microsoft.com/office/drawing/2014/main" id="{973DDEF7-C28A-F04F-AD65-DE94D6CF205E}"/>
              </a:ext>
            </a:extLst>
          </p:cNvPr>
          <p:cNvSpPr txBox="1">
            <a:spLocks noChangeArrowheads="1"/>
          </p:cNvSpPr>
          <p:nvPr/>
        </p:nvSpPr>
        <p:spPr>
          <a:xfrm>
            <a:off x="798690" y="1370551"/>
            <a:ext cx="7896225" cy="30194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perfectly reliable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no bit errors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no loss of packets</a:t>
            </a:r>
          </a:p>
        </p:txBody>
      </p:sp>
      <p:sp>
        <p:nvSpPr>
          <p:cNvPr id="42" name="Freeform 6">
            <a:extLst>
              <a:ext uri="{FF2B5EF4-FFF2-40B4-BE49-F238E27FC236}">
                <a16:creationId xmlns:a16="http://schemas.microsoft.com/office/drawing/2014/main" id="{72679C5D-F3D6-DB4D-B0B3-7D339F36B74D}"/>
              </a:ext>
            </a:extLst>
          </p:cNvPr>
          <p:cNvSpPr>
            <a:spLocks/>
          </p:cNvSpPr>
          <p:nvPr/>
        </p:nvSpPr>
        <p:spPr bwMode="auto">
          <a:xfrm>
            <a:off x="2850759" y="4627024"/>
            <a:ext cx="611187" cy="1027112"/>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 name="Text Box 7">
            <a:extLst>
              <a:ext uri="{FF2B5EF4-FFF2-40B4-BE49-F238E27FC236}">
                <a16:creationId xmlns:a16="http://schemas.microsoft.com/office/drawing/2014/main" id="{9B9E7156-7163-514D-9217-22616724C466}"/>
              </a:ext>
            </a:extLst>
          </p:cNvPr>
          <p:cNvSpPr txBox="1">
            <a:spLocks noChangeArrowheads="1"/>
          </p:cNvSpPr>
          <p:nvPr/>
        </p:nvSpPr>
        <p:spPr bwMode="auto">
          <a:xfrm>
            <a:off x="3251680" y="5048046"/>
            <a:ext cx="2682875"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make_pkt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nvGrpSpPr>
          <p:cNvPr id="5" name="Group 4">
            <a:extLst>
              <a:ext uri="{FF2B5EF4-FFF2-40B4-BE49-F238E27FC236}">
                <a16:creationId xmlns:a16="http://schemas.microsoft.com/office/drawing/2014/main" id="{C7585234-D59C-0545-841B-A27D389014BC}"/>
              </a:ext>
            </a:extLst>
          </p:cNvPr>
          <p:cNvGrpSpPr/>
          <p:nvPr/>
        </p:nvGrpSpPr>
        <p:grpSpPr>
          <a:xfrm>
            <a:off x="3261921" y="4671474"/>
            <a:ext cx="2255838" cy="428625"/>
            <a:chOff x="3084121" y="4379374"/>
            <a:chExt cx="2255838" cy="428625"/>
          </a:xfrm>
        </p:grpSpPr>
        <p:sp>
          <p:nvSpPr>
            <p:cNvPr id="44" name="Text Box 8">
              <a:extLst>
                <a:ext uri="{FF2B5EF4-FFF2-40B4-BE49-F238E27FC236}">
                  <a16:creationId xmlns:a16="http://schemas.microsoft.com/office/drawing/2014/main" id="{F76E2421-9F9F-FC42-837C-A6C05CDF5A21}"/>
                </a:ext>
              </a:extLst>
            </p:cNvPr>
            <p:cNvSpPr txBox="1">
              <a:spLocks noChangeArrowheads="1"/>
            </p:cNvSpPr>
            <p:nvPr/>
          </p:nvSpPr>
          <p:spPr bwMode="auto">
            <a:xfrm>
              <a:off x="3084121" y="4379374"/>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rdt_send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5" name="Line 9">
              <a:extLst>
                <a:ext uri="{FF2B5EF4-FFF2-40B4-BE49-F238E27FC236}">
                  <a16:creationId xmlns:a16="http://schemas.microsoft.com/office/drawing/2014/main" id="{7D992FAD-AF7B-FB47-8AD1-6805A49B2633}"/>
                </a:ext>
              </a:extLst>
            </p:cNvPr>
            <p:cNvSpPr>
              <a:spLocks noChangeShapeType="1"/>
            </p:cNvSpPr>
            <p:nvPr/>
          </p:nvSpPr>
          <p:spPr bwMode="auto">
            <a:xfrm>
              <a:off x="3184134" y="4722274"/>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7" name="Text Box 11">
            <a:extLst>
              <a:ext uri="{FF2B5EF4-FFF2-40B4-BE49-F238E27FC236}">
                <a16:creationId xmlns:a16="http://schemas.microsoft.com/office/drawing/2014/main" id="{3D37D715-DFFD-D144-86D7-84AAD14254C9}"/>
              </a:ext>
            </a:extLst>
          </p:cNvPr>
          <p:cNvSpPr txBox="1">
            <a:spLocks noChangeArrowheads="1"/>
          </p:cNvSpPr>
          <p:nvPr/>
        </p:nvSpPr>
        <p:spPr bwMode="auto">
          <a:xfrm>
            <a:off x="9581566" y="5063272"/>
            <a:ext cx="24876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extract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packet,data</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0" name="Freeform 14">
            <a:extLst>
              <a:ext uri="{FF2B5EF4-FFF2-40B4-BE49-F238E27FC236}">
                <a16:creationId xmlns:a16="http://schemas.microsoft.com/office/drawing/2014/main" id="{971AF932-17EF-C746-BE92-15D36EC0FFDD}"/>
              </a:ext>
            </a:extLst>
          </p:cNvPr>
          <p:cNvSpPr>
            <a:spLocks/>
          </p:cNvSpPr>
          <p:nvPr/>
        </p:nvSpPr>
        <p:spPr bwMode="auto">
          <a:xfrm>
            <a:off x="9171991" y="4666397"/>
            <a:ext cx="611187" cy="102711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B8AF4F26-5E6F-8F4D-A612-50842B04E515}"/>
              </a:ext>
            </a:extLst>
          </p:cNvPr>
          <p:cNvGrpSpPr/>
          <p:nvPr/>
        </p:nvGrpSpPr>
        <p:grpSpPr>
          <a:xfrm>
            <a:off x="9597441" y="4742597"/>
            <a:ext cx="1541462" cy="336550"/>
            <a:chOff x="9419641" y="4450497"/>
            <a:chExt cx="1541462" cy="336550"/>
          </a:xfrm>
        </p:grpSpPr>
        <p:sp>
          <p:nvSpPr>
            <p:cNvPr id="52" name="Line 16">
              <a:extLst>
                <a:ext uri="{FF2B5EF4-FFF2-40B4-BE49-F238E27FC236}">
                  <a16:creationId xmlns:a16="http://schemas.microsoft.com/office/drawing/2014/main" id="{755DAE31-6FE9-AA43-BE65-0F2D63F3A75D}"/>
                </a:ext>
              </a:extLst>
            </p:cNvPr>
            <p:cNvSpPr>
              <a:spLocks noChangeShapeType="1"/>
            </p:cNvSpPr>
            <p:nvPr/>
          </p:nvSpPr>
          <p:spPr bwMode="auto">
            <a:xfrm>
              <a:off x="9505366" y="4774347"/>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Rectangle 18">
              <a:extLst>
                <a:ext uri="{FF2B5EF4-FFF2-40B4-BE49-F238E27FC236}">
                  <a16:creationId xmlns:a16="http://schemas.microsoft.com/office/drawing/2014/main" id="{CC7E66DF-39CF-1142-BEBC-BFB9E33B62F7}"/>
                </a:ext>
              </a:extLst>
            </p:cNvPr>
            <p:cNvSpPr>
              <a:spLocks noChangeArrowheads="1"/>
            </p:cNvSpPr>
            <p:nvPr/>
          </p:nvSpPr>
          <p:spPr bwMode="auto">
            <a:xfrm>
              <a:off x="9419641" y="4450497"/>
              <a:ext cx="154146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err="1">
                  <a:ln>
                    <a:noFill/>
                  </a:ln>
                  <a:solidFill>
                    <a:srgbClr val="000000"/>
                  </a:solidFill>
                  <a:effectLst/>
                  <a:uLnTx/>
                  <a:uFillTx/>
                  <a:latin typeface="Arial" charset="0"/>
                  <a:ea typeface="ＭＳ Ｐゴシック" charset="0"/>
                  <a:cs typeface="+mn-cs"/>
                </a:rPr>
                <a:t>rdt_rcv</a:t>
              </a: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(packet)</a:t>
              </a:r>
            </a:p>
          </p:txBody>
        </p:sp>
      </p:grpSp>
      <p:grpSp>
        <p:nvGrpSpPr>
          <p:cNvPr id="10" name="Group 9">
            <a:extLst>
              <a:ext uri="{FF2B5EF4-FFF2-40B4-BE49-F238E27FC236}">
                <a16:creationId xmlns:a16="http://schemas.microsoft.com/office/drawing/2014/main" id="{C6A7B144-988F-3142-A53D-2AD67E7E25EE}"/>
              </a:ext>
            </a:extLst>
          </p:cNvPr>
          <p:cNvGrpSpPr/>
          <p:nvPr/>
        </p:nvGrpSpPr>
        <p:grpSpPr>
          <a:xfrm>
            <a:off x="6812375" y="4666397"/>
            <a:ext cx="2496141" cy="1027113"/>
            <a:chOff x="6075775" y="5479197"/>
            <a:chExt cx="2496141" cy="1027113"/>
          </a:xfrm>
        </p:grpSpPr>
        <p:sp>
          <p:nvSpPr>
            <p:cNvPr id="48" name="Oval 12">
              <a:extLst>
                <a:ext uri="{FF2B5EF4-FFF2-40B4-BE49-F238E27FC236}">
                  <a16:creationId xmlns:a16="http://schemas.microsoft.com/office/drawing/2014/main" id="{15A02CFE-8E15-5B47-955E-884B96AD154D}"/>
                </a:ext>
              </a:extLst>
            </p:cNvPr>
            <p:cNvSpPr>
              <a:spLocks noChangeArrowheads="1"/>
            </p:cNvSpPr>
            <p:nvPr/>
          </p:nvSpPr>
          <p:spPr bwMode="auto">
            <a:xfrm>
              <a:off x="7536866" y="5495072"/>
              <a:ext cx="955675" cy="101123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9" name="Text Box 13">
              <a:extLst>
                <a:ext uri="{FF2B5EF4-FFF2-40B4-BE49-F238E27FC236}">
                  <a16:creationId xmlns:a16="http://schemas.microsoft.com/office/drawing/2014/main" id="{CBC9B555-6B5C-7741-88F2-5079C590022D}"/>
                </a:ext>
              </a:extLst>
            </p:cNvPr>
            <p:cNvSpPr txBox="1">
              <a:spLocks noChangeArrowheads="1"/>
            </p:cNvSpPr>
            <p:nvPr/>
          </p:nvSpPr>
          <p:spPr bwMode="auto">
            <a:xfrm>
              <a:off x="7473366" y="5580797"/>
              <a:ext cx="10985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3" name="Line 17">
              <a:extLst>
                <a:ext uri="{FF2B5EF4-FFF2-40B4-BE49-F238E27FC236}">
                  <a16:creationId xmlns:a16="http://schemas.microsoft.com/office/drawing/2014/main" id="{07806C13-AC0C-744F-A689-B195B8638391}"/>
                </a:ext>
              </a:extLst>
            </p:cNvPr>
            <p:cNvSpPr>
              <a:spLocks noChangeShapeType="1"/>
            </p:cNvSpPr>
            <p:nvPr/>
          </p:nvSpPr>
          <p:spPr bwMode="auto">
            <a:xfrm>
              <a:off x="7213016" y="5479197"/>
              <a:ext cx="385762" cy="242888"/>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6" name="Text Box 20">
              <a:extLst>
                <a:ext uri="{FF2B5EF4-FFF2-40B4-BE49-F238E27FC236}">
                  <a16:creationId xmlns:a16="http://schemas.microsoft.com/office/drawing/2014/main" id="{AD290DCB-DA87-BF46-B9F0-5E8404C38FE9}"/>
                </a:ext>
              </a:extLst>
            </p:cNvPr>
            <p:cNvSpPr txBox="1">
              <a:spLocks noChangeArrowheads="1"/>
            </p:cNvSpPr>
            <p:nvPr/>
          </p:nvSpPr>
          <p:spPr bwMode="auto">
            <a:xfrm>
              <a:off x="6075775" y="5745404"/>
              <a:ext cx="124777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grpSp>
      <p:pic>
        <p:nvPicPr>
          <p:cNvPr id="25604" name="Picture 4" descr="Image result for easy button&quot;">
            <a:extLst>
              <a:ext uri="{FF2B5EF4-FFF2-40B4-BE49-F238E27FC236}">
                <a16:creationId xmlns:a16="http://schemas.microsoft.com/office/drawing/2014/main" id="{FD822998-0D59-7945-AC2A-EA37C240B2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7940" y="1871323"/>
            <a:ext cx="2139751" cy="2139751"/>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3">
            <a:extLst>
              <a:ext uri="{FF2B5EF4-FFF2-40B4-BE49-F238E27FC236}">
                <a16:creationId xmlns:a16="http://schemas.microsoft.com/office/drawing/2014/main" id="{85610A16-2670-7448-8F41-F03B9E524F38}"/>
              </a:ext>
            </a:extLst>
          </p:cNvPr>
          <p:cNvSpPr txBox="1">
            <a:spLocks noChangeArrowheads="1"/>
          </p:cNvSpPr>
          <p:nvPr/>
        </p:nvSpPr>
        <p:spPr>
          <a:xfrm>
            <a:off x="798690" y="2794001"/>
            <a:ext cx="7896225" cy="15113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separate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FSMs for sender, receiver: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sender sends data into underlying channel</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reads data from underlying channel</a:t>
            </a:r>
          </a:p>
        </p:txBody>
      </p:sp>
      <p:grpSp>
        <p:nvGrpSpPr>
          <p:cNvPr id="9" name="Group 8">
            <a:extLst>
              <a:ext uri="{FF2B5EF4-FFF2-40B4-BE49-F238E27FC236}">
                <a16:creationId xmlns:a16="http://schemas.microsoft.com/office/drawing/2014/main" id="{7F2EE118-43B6-9B4F-B323-BCE06C274814}"/>
              </a:ext>
            </a:extLst>
          </p:cNvPr>
          <p:cNvGrpSpPr/>
          <p:nvPr/>
        </p:nvGrpSpPr>
        <p:grpSpPr>
          <a:xfrm>
            <a:off x="706840" y="4601624"/>
            <a:ext cx="2271310" cy="1027112"/>
            <a:chOff x="262340" y="5579524"/>
            <a:chExt cx="2271310" cy="1027112"/>
          </a:xfrm>
        </p:grpSpPr>
        <p:grpSp>
          <p:nvGrpSpPr>
            <p:cNvPr id="8" name="Group 7">
              <a:extLst>
                <a:ext uri="{FF2B5EF4-FFF2-40B4-BE49-F238E27FC236}">
                  <a16:creationId xmlns:a16="http://schemas.microsoft.com/office/drawing/2014/main" id="{685AB00B-9A93-AB4E-B61E-272D7AC641F9}"/>
                </a:ext>
              </a:extLst>
            </p:cNvPr>
            <p:cNvGrpSpPr/>
            <p:nvPr/>
          </p:nvGrpSpPr>
          <p:grpSpPr>
            <a:xfrm>
              <a:off x="262340" y="5579524"/>
              <a:ext cx="2201069" cy="1027112"/>
              <a:chOff x="795740" y="4614324"/>
              <a:chExt cx="2201069" cy="1027112"/>
            </a:xfrm>
          </p:grpSpPr>
          <p:sp>
            <p:nvSpPr>
              <p:cNvPr id="46" name="Line 10">
                <a:extLst>
                  <a:ext uri="{FF2B5EF4-FFF2-40B4-BE49-F238E27FC236}">
                    <a16:creationId xmlns:a16="http://schemas.microsoft.com/office/drawing/2014/main" id="{53CBEB33-D2BE-EA4E-9053-8A4F592B82D6}"/>
                  </a:ext>
                </a:extLst>
              </p:cNvPr>
              <p:cNvSpPr>
                <a:spLocks noChangeShapeType="1"/>
              </p:cNvSpPr>
              <p:nvPr/>
            </p:nvSpPr>
            <p:spPr bwMode="auto">
              <a:xfrm>
                <a:off x="1717284" y="4614324"/>
                <a:ext cx="385762" cy="242887"/>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 name="Text Box 19">
                <a:extLst>
                  <a:ext uri="{FF2B5EF4-FFF2-40B4-BE49-F238E27FC236}">
                    <a16:creationId xmlns:a16="http://schemas.microsoft.com/office/drawing/2014/main" id="{16E30F35-9D21-5542-B316-8DC5ACBE27DA}"/>
                  </a:ext>
                </a:extLst>
              </p:cNvPr>
              <p:cNvSpPr txBox="1">
                <a:spLocks noChangeArrowheads="1"/>
              </p:cNvSpPr>
              <p:nvPr/>
            </p:nvSpPr>
            <p:spPr bwMode="auto">
              <a:xfrm>
                <a:off x="795740" y="4985781"/>
                <a:ext cx="1089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40" name="Oval 4">
                <a:extLst>
                  <a:ext uri="{FF2B5EF4-FFF2-40B4-BE49-F238E27FC236}">
                    <a16:creationId xmlns:a16="http://schemas.microsoft.com/office/drawing/2014/main" id="{1B157770-6762-CF45-9B74-7457DBFE2B56}"/>
                  </a:ext>
                </a:extLst>
              </p:cNvPr>
              <p:cNvSpPr>
                <a:spLocks noChangeArrowheads="1"/>
              </p:cNvSpPr>
              <p:nvPr/>
            </p:nvSpPr>
            <p:spPr bwMode="auto">
              <a:xfrm>
                <a:off x="2041134" y="4630199"/>
                <a:ext cx="955675" cy="1011237"/>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1" name="Text Box 5">
              <a:extLst>
                <a:ext uri="{FF2B5EF4-FFF2-40B4-BE49-F238E27FC236}">
                  <a16:creationId xmlns:a16="http://schemas.microsoft.com/office/drawing/2014/main" id="{CE38ECA0-E265-FA4A-950E-CC50EF2CA516}"/>
                </a:ext>
              </a:extLst>
            </p:cNvPr>
            <p:cNvSpPr txBox="1">
              <a:spLocks noChangeArrowheads="1"/>
            </p:cNvSpPr>
            <p:nvPr/>
          </p:nvSpPr>
          <p:spPr bwMode="auto">
            <a:xfrm>
              <a:off x="1435100" y="5693824"/>
              <a:ext cx="109855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27" name="Slide Number Placeholder 2">
            <a:extLst>
              <a:ext uri="{FF2B5EF4-FFF2-40B4-BE49-F238E27FC236}">
                <a16:creationId xmlns:a16="http://schemas.microsoft.com/office/drawing/2014/main" id="{4E6AC2D9-3427-7142-95C3-6DF77122338D}"/>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10</a:t>
            </a:fld>
            <a:endParaRPr lang="en-US" dirty="0"/>
          </a:p>
        </p:txBody>
      </p:sp>
    </p:spTree>
    <p:extLst>
      <p:ext uri="{BB962C8B-B14F-4D97-AF65-F5344CB8AC3E}">
        <p14:creationId xmlns:p14="http://schemas.microsoft.com/office/powerpoint/2010/main" val="85183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dissolve">
                                      <p:cBhvr>
                                        <p:cTn id="17" dur="500"/>
                                        <p:tgtEl>
                                          <p:spTgt spid="42"/>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dissolve">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dissolve">
                                      <p:cBhvr>
                                        <p:cTn id="35" dur="500"/>
                                        <p:tgtEl>
                                          <p:spTgt spid="50"/>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dissolve">
                                      <p:cBhvr>
                                        <p:cTn id="39" dur="500"/>
                                        <p:tgtEl>
                                          <p:spTgt spid="6"/>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dissolve">
                                      <p:cBhvr>
                                        <p:cTn id="43" dur="500"/>
                                        <p:tgtEl>
                                          <p:spTgt spid="47"/>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25604"/>
                                        </p:tgtEl>
                                        <p:attrNameLst>
                                          <p:attrName>style.visibility</p:attrName>
                                        </p:attrNameLst>
                                      </p:cBhvr>
                                      <p:to>
                                        <p:strVal val="visible"/>
                                      </p:to>
                                    </p:set>
                                    <p:animEffect transition="in" filter="dissolve">
                                      <p:cBhvr>
                                        <p:cTn id="48" dur="500"/>
                                        <p:tgtEl>
                                          <p:spTgt spid="2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7" grpId="0"/>
      <p:bldP spid="50" grpId="0" animBg="1"/>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channel with bit errors</a:t>
            </a:r>
            <a:endParaRPr lang="en-US" sz="4400" dirty="0"/>
          </a:p>
        </p:txBody>
      </p:sp>
      <p:sp>
        <p:nvSpPr>
          <p:cNvPr id="23" name="Rectangle 3">
            <a:extLst>
              <a:ext uri="{FF2B5EF4-FFF2-40B4-BE49-F238E27FC236}">
                <a16:creationId xmlns:a16="http://schemas.microsoft.com/office/drawing/2014/main" id="{3E368E9F-FC61-C94B-B4CE-5CA7B0FEB788}"/>
              </a:ext>
            </a:extLst>
          </p:cNvPr>
          <p:cNvSpPr txBox="1">
            <a:spLocks noChangeArrowheads="1"/>
          </p:cNvSpPr>
          <p:nvPr/>
        </p:nvSpPr>
        <p:spPr>
          <a:xfrm>
            <a:off x="673994" y="1482748"/>
            <a:ext cx="11100625" cy="44481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2921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may flip bits in packet</a:t>
            </a:r>
          </a:p>
          <a:p>
            <a:pPr marL="800100" marR="0" lvl="1" indent="-228600" algn="l" defTabSz="914400" rtl="0" eaLnBrk="1" fontAlgn="auto" latinLnBrk="0" hangingPunct="1">
              <a:lnSpc>
                <a:spcPct val="75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checksum (e.g., Internet checksum) to detect bit errors</a:t>
            </a:r>
          </a:p>
          <a:p>
            <a:pPr marL="457200" marR="0" lvl="0" indent="-2921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the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question: how to recover from errors?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Box 10">
            <a:extLst>
              <a:ext uri="{FF2B5EF4-FFF2-40B4-BE49-F238E27FC236}">
                <a16:creationId xmlns:a16="http://schemas.microsoft.com/office/drawing/2014/main" id="{DDD1DAD8-493C-8447-8752-319FA74AD634}"/>
              </a:ext>
            </a:extLst>
          </p:cNvPr>
          <p:cNvSpPr txBox="1">
            <a:spLocks noChangeArrowheads="1"/>
          </p:cNvSpPr>
          <p:nvPr/>
        </p:nvSpPr>
        <p:spPr bwMode="auto">
          <a:xfrm>
            <a:off x="1328236" y="3911182"/>
            <a:ext cx="10041531"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How do humans recover from “</a:t>
            </a:r>
            <a:r>
              <a:rPr kumimoji="0" lang="en-US" altLang="ja-JP"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errors”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during conversation?</a:t>
            </a:r>
          </a:p>
        </p:txBody>
      </p:sp>
      <p:sp>
        <p:nvSpPr>
          <p:cNvPr id="5" name="Slide Number Placeholder 2">
            <a:extLst>
              <a:ext uri="{FF2B5EF4-FFF2-40B4-BE49-F238E27FC236}">
                <a16:creationId xmlns:a16="http://schemas.microsoft.com/office/drawing/2014/main" id="{05B1A153-C333-754C-9249-656206CB5CCF}"/>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11</a:t>
            </a:fld>
            <a:endParaRPr lang="en-US" dirty="0"/>
          </a:p>
        </p:txBody>
      </p:sp>
    </p:spTree>
    <p:extLst>
      <p:ext uri="{BB962C8B-B14F-4D97-AF65-F5344CB8AC3E}">
        <p14:creationId xmlns:p14="http://schemas.microsoft.com/office/powerpoint/2010/main" val="194831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channel with bit errors</a:t>
            </a:r>
            <a:endParaRPr lang="en-US" sz="4400" dirty="0"/>
          </a:p>
        </p:txBody>
      </p:sp>
      <p:sp>
        <p:nvSpPr>
          <p:cNvPr id="23" name="Rectangle 3">
            <a:extLst>
              <a:ext uri="{FF2B5EF4-FFF2-40B4-BE49-F238E27FC236}">
                <a16:creationId xmlns:a16="http://schemas.microsoft.com/office/drawing/2014/main" id="{3E368E9F-FC61-C94B-B4CE-5CA7B0FEB788}"/>
              </a:ext>
            </a:extLst>
          </p:cNvPr>
          <p:cNvSpPr txBox="1">
            <a:spLocks noChangeArrowheads="1"/>
          </p:cNvSpPr>
          <p:nvPr/>
        </p:nvSpPr>
        <p:spPr>
          <a:xfrm>
            <a:off x="673994" y="1274398"/>
            <a:ext cx="11100625" cy="44481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9575" marR="0" lvl="0" indent="-295275"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may flip bits in packet</a:t>
            </a:r>
          </a:p>
          <a:p>
            <a:pPr marL="695325" marR="0" lvl="1" indent="-231775" algn="l" defTabSz="914400" rtl="0" eaLnBrk="1" fontAlgn="auto" latinLnBrk="0" hangingPunct="1">
              <a:lnSpc>
                <a:spcPct val="80000"/>
              </a:lnSpc>
              <a:spcBef>
                <a:spcPts val="8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checksum to detect bit errors</a:t>
            </a:r>
          </a:p>
          <a:p>
            <a:pPr marL="409575" marR="0" lvl="0" indent="-2794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the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question: how to recover from errors?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Rectangle 2">
            <a:extLst>
              <a:ext uri="{FF2B5EF4-FFF2-40B4-BE49-F238E27FC236}">
                <a16:creationId xmlns:a16="http://schemas.microsoft.com/office/drawing/2014/main" id="{6EBA4373-2F4E-9C40-8D34-CD4CD038CE07}"/>
              </a:ext>
            </a:extLst>
          </p:cNvPr>
          <p:cNvSpPr txBox="1">
            <a:spLocks noChangeArrowheads="1"/>
          </p:cNvSpPr>
          <p:nvPr/>
        </p:nvSpPr>
        <p:spPr>
          <a:xfrm>
            <a:off x="662419" y="2680738"/>
            <a:ext cx="11004862" cy="215700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ct val="45000"/>
              </a:spcBef>
              <a:spcAft>
                <a:spcPts val="0"/>
              </a:spcAft>
              <a:buClr>
                <a:srgbClr val="0000A8"/>
              </a:buClr>
              <a:buSzTx/>
              <a:buFont typeface="Arial"/>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acknowledgements (ACKs):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receiver explicitly tells sender that pkt received OK</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negative acknowledgements (NAKs):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receiver explicitly tells sender that pkt had errors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a:t>
            </a: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retransmits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pkt on receipt of NAK</a:t>
            </a:r>
          </a:p>
        </p:txBody>
      </p:sp>
      <p:grpSp>
        <p:nvGrpSpPr>
          <p:cNvPr id="7" name="Group 13">
            <a:extLst>
              <a:ext uri="{FF2B5EF4-FFF2-40B4-BE49-F238E27FC236}">
                <a16:creationId xmlns:a16="http://schemas.microsoft.com/office/drawing/2014/main" id="{0DED2191-7C7B-EA46-AFB1-5A7A4509EEC8}"/>
              </a:ext>
            </a:extLst>
          </p:cNvPr>
          <p:cNvGrpSpPr>
            <a:grpSpLocks/>
          </p:cNvGrpSpPr>
          <p:nvPr/>
        </p:nvGrpSpPr>
        <p:grpSpPr bwMode="auto">
          <a:xfrm>
            <a:off x="937549" y="5087784"/>
            <a:ext cx="10729731" cy="1466850"/>
            <a:chOff x="1552" y="2800"/>
            <a:chExt cx="2578" cy="924"/>
          </a:xfrm>
        </p:grpSpPr>
        <p:sp>
          <p:nvSpPr>
            <p:cNvPr id="8" name="Rectangle 7">
              <a:extLst>
                <a:ext uri="{FF2B5EF4-FFF2-40B4-BE49-F238E27FC236}">
                  <a16:creationId xmlns:a16="http://schemas.microsoft.com/office/drawing/2014/main" id="{CA5C33DB-F1DF-074B-AA2F-B41978703359}"/>
                </a:ext>
              </a:extLst>
            </p:cNvPr>
            <p:cNvSpPr>
              <a:spLocks noChangeArrowheads="1"/>
            </p:cNvSpPr>
            <p:nvPr/>
          </p:nvSpPr>
          <p:spPr bwMode="auto">
            <a:xfrm>
              <a:off x="1552" y="2974"/>
              <a:ext cx="2578" cy="595"/>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9" name="Rectangle 9">
              <a:extLst>
                <a:ext uri="{FF2B5EF4-FFF2-40B4-BE49-F238E27FC236}">
                  <a16:creationId xmlns:a16="http://schemas.microsoft.com/office/drawing/2014/main" id="{CB4139DF-921F-E940-9AD8-677EFA8E24B3}"/>
                </a:ext>
              </a:extLst>
            </p:cNvPr>
            <p:cNvSpPr>
              <a:spLocks noChangeArrowheads="1"/>
            </p:cNvSpPr>
            <p:nvPr/>
          </p:nvSpPr>
          <p:spPr bwMode="auto">
            <a:xfrm>
              <a:off x="2226" y="2864"/>
              <a:ext cx="88" cy="223"/>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 name="Text Box 10">
              <a:extLst>
                <a:ext uri="{FF2B5EF4-FFF2-40B4-BE49-F238E27FC236}">
                  <a16:creationId xmlns:a16="http://schemas.microsoft.com/office/drawing/2014/main" id="{B44BC4A2-14C8-8A47-B1A1-506171B4D389}"/>
                </a:ext>
              </a:extLst>
            </p:cNvPr>
            <p:cNvSpPr txBox="1">
              <a:spLocks noChangeArrowheads="1"/>
            </p:cNvSpPr>
            <p:nvPr/>
          </p:nvSpPr>
          <p:spPr bwMode="auto">
            <a:xfrm>
              <a:off x="1724" y="2800"/>
              <a:ext cx="687" cy="36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stop and wait</a:t>
              </a:r>
            </a:p>
          </p:txBody>
        </p:sp>
        <p:sp>
          <p:nvSpPr>
            <p:cNvPr id="11" name="Text Box 6">
              <a:extLst>
                <a:ext uri="{FF2B5EF4-FFF2-40B4-BE49-F238E27FC236}">
                  <a16:creationId xmlns:a16="http://schemas.microsoft.com/office/drawing/2014/main" id="{EEE47A92-87A4-AD48-8A94-DC9DCFA6DD50}"/>
                </a:ext>
              </a:extLst>
            </p:cNvPr>
            <p:cNvSpPr txBox="1">
              <a:spLocks noChangeArrowheads="1"/>
            </p:cNvSpPr>
            <p:nvPr/>
          </p:nvSpPr>
          <p:spPr bwMode="auto">
            <a:xfrm>
              <a:off x="1678" y="3136"/>
              <a:ext cx="2452" cy="5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CC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sender sends one packet,  then waits for receiver  response</a:t>
              </a:r>
            </a:p>
          </p:txBody>
        </p:sp>
      </p:grpSp>
      <p:sp>
        <p:nvSpPr>
          <p:cNvPr id="12" name="Slide Number Placeholder 2">
            <a:extLst>
              <a:ext uri="{FF2B5EF4-FFF2-40B4-BE49-F238E27FC236}">
                <a16:creationId xmlns:a16="http://schemas.microsoft.com/office/drawing/2014/main" id="{8EDA3199-9071-AC4D-8C68-A368602E92B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12</a:t>
            </a:fld>
            <a:endParaRPr lang="en-US" dirty="0"/>
          </a:p>
        </p:txBody>
      </p:sp>
    </p:spTree>
    <p:extLst>
      <p:ext uri="{BB962C8B-B14F-4D97-AF65-F5344CB8AC3E}">
        <p14:creationId xmlns:p14="http://schemas.microsoft.com/office/powerpoint/2010/main" val="15721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dissolve">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dissolve">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dissolve">
                                      <p:cBhvr>
                                        <p:cTn id="22" dur="500"/>
                                        <p:tgtEl>
                                          <p:spTgt spid="2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Rectangle 168">
            <a:extLst>
              <a:ext uri="{FF2B5EF4-FFF2-40B4-BE49-F238E27FC236}">
                <a16:creationId xmlns:a16="http://schemas.microsoft.com/office/drawing/2014/main" id="{68EB694D-F4ED-0141-BBB1-034CE4FDF113}"/>
              </a:ext>
            </a:extLst>
          </p:cNvPr>
          <p:cNvSpPr/>
          <p:nvPr/>
        </p:nvSpPr>
        <p:spPr>
          <a:xfrm>
            <a:off x="9870220" y="5077299"/>
            <a:ext cx="1669250" cy="31104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Rectangle 167">
            <a:extLst>
              <a:ext uri="{FF2B5EF4-FFF2-40B4-BE49-F238E27FC236}">
                <a16:creationId xmlns:a16="http://schemas.microsoft.com/office/drawing/2014/main" id="{D3935A0A-DEFE-0D4A-A039-8D2F8EDE2B13}"/>
              </a:ext>
            </a:extLst>
          </p:cNvPr>
          <p:cNvSpPr/>
          <p:nvPr/>
        </p:nvSpPr>
        <p:spPr>
          <a:xfrm>
            <a:off x="10103160" y="2734197"/>
            <a:ext cx="1333279" cy="31104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FSM specifications</a:t>
            </a:r>
            <a:endParaRPr lang="en-US" sz="4400" dirty="0"/>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5004826" y="2400535"/>
            <a:ext cx="3673475" cy="919271"/>
            <a:chOff x="5004826" y="2400535"/>
            <a:chExt cx="3673475"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4044388" y="2362543"/>
            <a:ext cx="1074738" cy="962025"/>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9" name="Group 158">
            <a:extLst>
              <a:ext uri="{FF2B5EF4-FFF2-40B4-BE49-F238E27FC236}">
                <a16:creationId xmlns:a16="http://schemas.microsoft.com/office/drawing/2014/main" id="{D0E913FD-5AB0-D647-A2DB-C235CF8D718B}"/>
              </a:ext>
            </a:extLst>
          </p:cNvPr>
          <p:cNvGrpSpPr/>
          <p:nvPr/>
        </p:nvGrpSpPr>
        <p:grpSpPr>
          <a:xfrm>
            <a:off x="8325876" y="2721318"/>
            <a:ext cx="3394075" cy="1036638"/>
            <a:chOff x="8325876" y="2721318"/>
            <a:chExt cx="3394075" cy="1036638"/>
          </a:xfrm>
        </p:grpSpPr>
        <p:grpSp>
          <p:nvGrpSpPr>
            <p:cNvPr id="124" name="Group 18">
              <a:extLst>
                <a:ext uri="{FF2B5EF4-FFF2-40B4-BE49-F238E27FC236}">
                  <a16:creationId xmlns:a16="http://schemas.microsoft.com/office/drawing/2014/main"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udt_send(NAK)</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6" name="Text Box 20">
                <a:extLst>
                  <a:ext uri="{FF2B5EF4-FFF2-40B4-BE49-F238E27FC236}">
                    <a16:creationId xmlns:a16="http://schemas.microsoft.com/office/drawing/2014/main"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7" name="Line 21">
                <a:extLst>
                  <a:ext uri="{FF2B5EF4-FFF2-40B4-BE49-F238E27FC236}">
                    <a16:creationId xmlns:a16="http://schemas.microsoft.com/office/drawing/2014/main"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1" name="Freeform 25">
              <a:extLst>
                <a:ext uri="{FF2B5EF4-FFF2-40B4-BE49-F238E27FC236}">
                  <a16:creationId xmlns:a16="http://schemas.microsoft.com/office/drawing/2014/main"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2" name="Oval 26">
            <a:extLst>
              <a:ext uri="{FF2B5EF4-FFF2-40B4-BE49-F238E27FC236}">
                <a16:creationId xmlns:a16="http://schemas.microsoft.com/office/drawing/2014/main" id="{D886EFDE-A0BD-234F-9505-E1DFE71A45A0}"/>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27">
            <a:extLst>
              <a:ext uri="{FF2B5EF4-FFF2-40B4-BE49-F238E27FC236}">
                <a16:creationId xmlns:a16="http://schemas.microsoft.com/office/drawing/2014/main" id="{7D124EF1-1801-CC41-AA27-4430B21813BF}"/>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64" name="Group 163">
            <a:extLst>
              <a:ext uri="{FF2B5EF4-FFF2-40B4-BE49-F238E27FC236}">
                <a16:creationId xmlns:a16="http://schemas.microsoft.com/office/drawing/2014/main" id="{311BB54D-2176-2D44-BD7F-B18C9C74D8A4}"/>
              </a:ext>
            </a:extLst>
          </p:cNvPr>
          <p:cNvGrpSpPr/>
          <p:nvPr/>
        </p:nvGrpSpPr>
        <p:grpSpPr>
          <a:xfrm>
            <a:off x="8049650" y="4591214"/>
            <a:ext cx="4142349" cy="1379872"/>
            <a:chOff x="8049650" y="4591214"/>
            <a:chExt cx="4142349" cy="1379872"/>
          </a:xfrm>
        </p:grpSpPr>
        <p:grpSp>
          <p:nvGrpSpPr>
            <p:cNvPr id="163" name="Group 162">
              <a:extLst>
                <a:ext uri="{FF2B5EF4-FFF2-40B4-BE49-F238E27FC236}">
                  <a16:creationId xmlns:a16="http://schemas.microsoft.com/office/drawing/2014/main"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4" name="Text Box 8">
                <a:extLst>
                  <a:ext uri="{FF2B5EF4-FFF2-40B4-BE49-F238E27FC236}">
                    <a16:creationId xmlns:a16="http://schemas.microsoft.com/office/drawing/2014/main"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5" name="Line 9">
                <a:extLst>
                  <a:ext uri="{FF2B5EF4-FFF2-40B4-BE49-F238E27FC236}">
                    <a16:creationId xmlns:a16="http://schemas.microsoft.com/office/drawing/2014/main"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Freeform 28">
              <a:extLst>
                <a:ext uri="{FF2B5EF4-FFF2-40B4-BE49-F238E27FC236}">
                  <a16:creationId xmlns:a16="http://schemas.microsoft.com/office/drawing/2014/main"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756926" y="1340193"/>
            <a:ext cx="3643312" cy="1027113"/>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2270357" y="3283338"/>
            <a:ext cx="3548062" cy="989290"/>
            <a:chOff x="2270357" y="3283338"/>
            <a:chExt cx="3548062" cy="989290"/>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26705"/>
              <a:chOff x="2270357" y="3545923"/>
              <a:chExt cx="3548062" cy="726705"/>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62" name="Text Box 20">
            <a:extLst>
              <a:ext uri="{FF2B5EF4-FFF2-40B4-BE49-F238E27FC236}">
                <a16:creationId xmlns:a16="http://schemas.microsoft.com/office/drawing/2014/main" id="{D2BC55B0-1B2D-D346-8B9C-EC274C2EC352}"/>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43" name="Text Box 16">
            <a:extLst>
              <a:ext uri="{FF2B5EF4-FFF2-40B4-BE49-F238E27FC236}">
                <a16:creationId xmlns:a16="http://schemas.microsoft.com/office/drawing/2014/main" id="{99B9B250-0EDF-9940-8119-8A3858DACA6A}"/>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 name="Rectangle 3">
            <a:extLst>
              <a:ext uri="{FF2B5EF4-FFF2-40B4-BE49-F238E27FC236}">
                <a16:creationId xmlns:a16="http://schemas.microsoft.com/office/drawing/2014/main" id="{37A227A0-FE6A-9E43-8D11-7C390E9CA534}"/>
              </a:ext>
            </a:extLst>
          </p:cNvPr>
          <p:cNvSpPr/>
          <p:nvPr/>
        </p:nvSpPr>
        <p:spPr>
          <a:xfrm>
            <a:off x="7841292" y="2480153"/>
            <a:ext cx="4246323" cy="40083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Slide Number Placeholder 2">
            <a:extLst>
              <a:ext uri="{FF2B5EF4-FFF2-40B4-BE49-F238E27FC236}">
                <a16:creationId xmlns:a16="http://schemas.microsoft.com/office/drawing/2014/main" id="{C5DFF1AE-5E68-A349-98EF-93FDA9549036}"/>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13</a:t>
            </a:fld>
            <a:endParaRPr lang="en-US" dirty="0"/>
          </a:p>
        </p:txBody>
      </p:sp>
    </p:spTree>
    <p:extLst>
      <p:ext uri="{BB962C8B-B14F-4D97-AF65-F5344CB8AC3E}">
        <p14:creationId xmlns:p14="http://schemas.microsoft.com/office/powerpoint/2010/main" val="3006643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wipe(left)">
                                      <p:cBhvr>
                                        <p:cTn id="7" dur="500"/>
                                        <p:tgtEl>
                                          <p:spTgt spid="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58"/>
                                        </p:tgtEl>
                                        <p:attrNameLst>
                                          <p:attrName>style.visibility</p:attrName>
                                        </p:attrNameLst>
                                      </p:cBhvr>
                                      <p:to>
                                        <p:strVal val="visible"/>
                                      </p:to>
                                    </p:set>
                                    <p:animEffect transition="in" filter="wipe(right)">
                                      <p:cBhvr>
                                        <p:cTn id="12" dur="500"/>
                                        <p:tgtEl>
                                          <p:spTgt spid="1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6"/>
                                        </p:tgtEl>
                                        <p:attrNameLst>
                                          <p:attrName>style.visibility</p:attrName>
                                        </p:attrNameLst>
                                      </p:cBhvr>
                                      <p:to>
                                        <p:strVal val="visible"/>
                                      </p:to>
                                    </p:set>
                                    <p:animEffect transition="in" filter="wipe(up)">
                                      <p:cBhvr>
                                        <p:cTn id="17" dur="500"/>
                                        <p:tgtEl>
                                          <p:spTgt spid="15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dissolve">
                                      <p:cBhvr>
                                        <p:cTn id="20" dur="500"/>
                                        <p:tgtEl>
                                          <p:spTgt spid="4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grpId="0" nodeType="clickEffect">
                                  <p:stCondLst>
                                    <p:cond delay="0"/>
                                  </p:stCondLst>
                                  <p:childTnLst>
                                    <p:animEffect transition="out" filter="dissolve">
                                      <p:cBhvr>
                                        <p:cTn id="24" dur="500"/>
                                        <p:tgtEl>
                                          <p:spTgt spid="4"/>
                                        </p:tgtEl>
                                      </p:cBhvr>
                                    </p:animEffect>
                                    <p:set>
                                      <p:cBhvr>
                                        <p:cTn id="25" dur="1" fill="hold">
                                          <p:stCondLst>
                                            <p:cond delay="499"/>
                                          </p:stCondLst>
                                        </p:cTn>
                                        <p:tgtEl>
                                          <p:spTgt spid="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59"/>
                                        </p:tgtEl>
                                        <p:attrNameLst>
                                          <p:attrName>style.visibility</p:attrName>
                                        </p:attrNameLst>
                                      </p:cBhvr>
                                      <p:to>
                                        <p:strVal val="visible"/>
                                      </p:to>
                                    </p:set>
                                    <p:animEffect transition="in" filter="wipe(left)">
                                      <p:cBhvr>
                                        <p:cTn id="30" dur="500"/>
                                        <p:tgtEl>
                                          <p:spTgt spid="159"/>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68"/>
                                        </p:tgtEl>
                                        <p:attrNameLst>
                                          <p:attrName>style.visibility</p:attrName>
                                        </p:attrNameLst>
                                      </p:cBhvr>
                                      <p:to>
                                        <p:strVal val="visible"/>
                                      </p:to>
                                    </p:set>
                                    <p:animEffect transition="in" filter="dissolve">
                                      <p:cBhvr>
                                        <p:cTn id="33" dur="500"/>
                                        <p:tgtEl>
                                          <p:spTgt spid="16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64"/>
                                        </p:tgtEl>
                                        <p:attrNameLst>
                                          <p:attrName>style.visibility</p:attrName>
                                        </p:attrNameLst>
                                      </p:cBhvr>
                                      <p:to>
                                        <p:strVal val="visible"/>
                                      </p:to>
                                    </p:set>
                                    <p:animEffect transition="in" filter="wipe(left)">
                                      <p:cBhvr>
                                        <p:cTn id="38" dur="500"/>
                                        <p:tgtEl>
                                          <p:spTgt spid="164"/>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69"/>
                                        </p:tgtEl>
                                        <p:attrNameLst>
                                          <p:attrName>style.visibility</p:attrName>
                                        </p:attrNameLst>
                                      </p:cBhvr>
                                      <p:to>
                                        <p:strVal val="visible"/>
                                      </p:to>
                                    </p:set>
                                    <p:animEffect transition="in" filter="dissolve">
                                      <p:cBhvr>
                                        <p:cTn id="41"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animBg="1"/>
      <p:bldP spid="168" grpId="0" animBg="1"/>
      <p:bldP spid="43" grpId="0"/>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FSM specification</a:t>
            </a:r>
            <a:endParaRPr lang="en-US" sz="4400" dirty="0"/>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5004826" y="2400535"/>
            <a:ext cx="3673475" cy="919271"/>
            <a:chOff x="5004826" y="2400535"/>
            <a:chExt cx="3673475"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4044388" y="2362543"/>
            <a:ext cx="1074738" cy="962025"/>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9" name="Group 158">
            <a:extLst>
              <a:ext uri="{FF2B5EF4-FFF2-40B4-BE49-F238E27FC236}">
                <a16:creationId xmlns:a16="http://schemas.microsoft.com/office/drawing/2014/main" id="{D0E913FD-5AB0-D647-A2DB-C235CF8D718B}"/>
              </a:ext>
            </a:extLst>
          </p:cNvPr>
          <p:cNvGrpSpPr/>
          <p:nvPr/>
        </p:nvGrpSpPr>
        <p:grpSpPr>
          <a:xfrm>
            <a:off x="8325876" y="2721318"/>
            <a:ext cx="3394075" cy="1036638"/>
            <a:chOff x="8325876" y="2721318"/>
            <a:chExt cx="3394075" cy="1036638"/>
          </a:xfrm>
        </p:grpSpPr>
        <p:grpSp>
          <p:nvGrpSpPr>
            <p:cNvPr id="124" name="Group 18">
              <a:extLst>
                <a:ext uri="{FF2B5EF4-FFF2-40B4-BE49-F238E27FC236}">
                  <a16:creationId xmlns:a16="http://schemas.microsoft.com/office/drawing/2014/main"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udt_send(NAK)</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6" name="Text Box 20">
                <a:extLst>
                  <a:ext uri="{FF2B5EF4-FFF2-40B4-BE49-F238E27FC236}">
                    <a16:creationId xmlns:a16="http://schemas.microsoft.com/office/drawing/2014/main"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7" name="Line 21">
                <a:extLst>
                  <a:ext uri="{FF2B5EF4-FFF2-40B4-BE49-F238E27FC236}">
                    <a16:creationId xmlns:a16="http://schemas.microsoft.com/office/drawing/2014/main"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1" name="Freeform 25">
              <a:extLst>
                <a:ext uri="{FF2B5EF4-FFF2-40B4-BE49-F238E27FC236}">
                  <a16:creationId xmlns:a16="http://schemas.microsoft.com/office/drawing/2014/main"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2" name="Oval 26">
            <a:extLst>
              <a:ext uri="{FF2B5EF4-FFF2-40B4-BE49-F238E27FC236}">
                <a16:creationId xmlns:a16="http://schemas.microsoft.com/office/drawing/2014/main" id="{D886EFDE-A0BD-234F-9505-E1DFE71A45A0}"/>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27">
            <a:extLst>
              <a:ext uri="{FF2B5EF4-FFF2-40B4-BE49-F238E27FC236}">
                <a16:creationId xmlns:a16="http://schemas.microsoft.com/office/drawing/2014/main" id="{7D124EF1-1801-CC41-AA27-4430B21813BF}"/>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64" name="Group 163">
            <a:extLst>
              <a:ext uri="{FF2B5EF4-FFF2-40B4-BE49-F238E27FC236}">
                <a16:creationId xmlns:a16="http://schemas.microsoft.com/office/drawing/2014/main" id="{311BB54D-2176-2D44-BD7F-B18C9C74D8A4}"/>
              </a:ext>
            </a:extLst>
          </p:cNvPr>
          <p:cNvGrpSpPr/>
          <p:nvPr/>
        </p:nvGrpSpPr>
        <p:grpSpPr>
          <a:xfrm>
            <a:off x="8049650" y="4591214"/>
            <a:ext cx="4142349" cy="1379872"/>
            <a:chOff x="8049650" y="4591214"/>
            <a:chExt cx="4142349" cy="1379872"/>
          </a:xfrm>
        </p:grpSpPr>
        <p:grpSp>
          <p:nvGrpSpPr>
            <p:cNvPr id="163" name="Group 162">
              <a:extLst>
                <a:ext uri="{FF2B5EF4-FFF2-40B4-BE49-F238E27FC236}">
                  <a16:creationId xmlns:a16="http://schemas.microsoft.com/office/drawing/2014/main"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4" name="Text Box 8">
                <a:extLst>
                  <a:ext uri="{FF2B5EF4-FFF2-40B4-BE49-F238E27FC236}">
                    <a16:creationId xmlns:a16="http://schemas.microsoft.com/office/drawing/2014/main"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5" name="Line 9">
                <a:extLst>
                  <a:ext uri="{FF2B5EF4-FFF2-40B4-BE49-F238E27FC236}">
                    <a16:creationId xmlns:a16="http://schemas.microsoft.com/office/drawing/2014/main"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Freeform 28">
              <a:extLst>
                <a:ext uri="{FF2B5EF4-FFF2-40B4-BE49-F238E27FC236}">
                  <a16:creationId xmlns:a16="http://schemas.microsoft.com/office/drawing/2014/main"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756926" y="1340193"/>
            <a:ext cx="3643312" cy="1027113"/>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2270357" y="3283338"/>
            <a:ext cx="3548062" cy="989290"/>
            <a:chOff x="2270357" y="3283338"/>
            <a:chExt cx="3548062" cy="989290"/>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26705"/>
              <a:chOff x="2270357" y="3545923"/>
              <a:chExt cx="3548062" cy="726705"/>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62" name="Text Box 20">
            <a:extLst>
              <a:ext uri="{FF2B5EF4-FFF2-40B4-BE49-F238E27FC236}">
                <a16:creationId xmlns:a16="http://schemas.microsoft.com/office/drawing/2014/main" id="{D2BC55B0-1B2D-D346-8B9C-EC274C2EC352}"/>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4" name="TextBox 3">
            <a:extLst>
              <a:ext uri="{FF2B5EF4-FFF2-40B4-BE49-F238E27FC236}">
                <a16:creationId xmlns:a16="http://schemas.microsoft.com/office/drawing/2014/main" id="{6FA53170-F7EC-A34D-8A41-984A3AC85C5B}"/>
              </a:ext>
            </a:extLst>
          </p:cNvPr>
          <p:cNvSpPr txBox="1"/>
          <p:nvPr/>
        </p:nvSpPr>
        <p:spPr>
          <a:xfrm>
            <a:off x="965915" y="4680633"/>
            <a:ext cx="6532819"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Note: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“state” of receiver (did the receiver get my message correctly?) isn’t known to sender unless somehow communicated from receiver to sender</a:t>
            </a:r>
          </a:p>
          <a:p>
            <a:pPr marL="342900" marR="0" lvl="0" indent="-228600" algn="l" defTabSz="914400" rtl="0" eaLnBrk="1" fontAlgn="auto" latinLnBrk="0" hangingPunct="1">
              <a:lnSpc>
                <a:spcPct val="100000"/>
              </a:lnSpc>
              <a:spcBef>
                <a:spcPts val="0"/>
              </a:spcBef>
              <a:spcAft>
                <a:spcPts val="0"/>
              </a:spcAft>
              <a:buClr>
                <a:srgbClr val="0000A8"/>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that’s why we need a protocol!</a:t>
            </a:r>
          </a:p>
        </p:txBody>
      </p:sp>
      <p:sp>
        <p:nvSpPr>
          <p:cNvPr id="43" name="Text Box 16">
            <a:extLst>
              <a:ext uri="{FF2B5EF4-FFF2-40B4-BE49-F238E27FC236}">
                <a16:creationId xmlns:a16="http://schemas.microsoft.com/office/drawing/2014/main" id="{ADA65A1F-AF0E-7A4E-89E8-DE7816681B41}"/>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pic>
        <p:nvPicPr>
          <p:cNvPr id="44" name="Picture 43" descr="A shower curtain&#10;&#10;Description automatically generated">
            <a:extLst>
              <a:ext uri="{FF2B5EF4-FFF2-40B4-BE49-F238E27FC236}">
                <a16:creationId xmlns:a16="http://schemas.microsoft.com/office/drawing/2014/main" id="{AC45B1FA-8BA1-4648-AD93-40677902A5F6}"/>
              </a:ext>
            </a:extLst>
          </p:cNvPr>
          <p:cNvPicPr>
            <a:picLocks noChangeAspect="1"/>
          </p:cNvPicPr>
          <p:nvPr/>
        </p:nvPicPr>
        <p:blipFill>
          <a:blip r:embed="rId3"/>
          <a:stretch>
            <a:fillRect/>
          </a:stretch>
        </p:blipFill>
        <p:spPr>
          <a:xfrm>
            <a:off x="7333303" y="2155771"/>
            <a:ext cx="4642797" cy="4579749"/>
          </a:xfrm>
          <a:prstGeom prst="rect">
            <a:avLst/>
          </a:prstGeom>
        </p:spPr>
      </p:pic>
      <p:sp>
        <p:nvSpPr>
          <p:cNvPr id="46" name="Text Box 16">
            <a:extLst>
              <a:ext uri="{FF2B5EF4-FFF2-40B4-BE49-F238E27FC236}">
                <a16:creationId xmlns:a16="http://schemas.microsoft.com/office/drawing/2014/main" id="{D6DB0EA5-C28C-5D47-A606-CB6349A9853F}"/>
              </a:ext>
            </a:extLst>
          </p:cNvPr>
          <p:cNvSpPr txBox="1">
            <a:spLocks noChangeArrowheads="1"/>
          </p:cNvSpPr>
          <p:nvPr/>
        </p:nvSpPr>
        <p:spPr bwMode="auto">
          <a:xfrm>
            <a:off x="5459797" y="2400795"/>
            <a:ext cx="2085975" cy="39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ＭＳ Ｐゴシック" panose="020B0600070205080204" pitchFamily="34" charset="-128"/>
              <a:cs typeface="+mn-cs"/>
            </a:endParaRPr>
          </a:p>
        </p:txBody>
      </p:sp>
      <p:sp>
        <p:nvSpPr>
          <p:cNvPr id="47" name="Text Box 16">
            <a:extLst>
              <a:ext uri="{FF2B5EF4-FFF2-40B4-BE49-F238E27FC236}">
                <a16:creationId xmlns:a16="http://schemas.microsoft.com/office/drawing/2014/main" id="{C8AFC91C-B2AA-274D-BDE6-DBE3D808D252}"/>
              </a:ext>
            </a:extLst>
          </p:cNvPr>
          <p:cNvSpPr txBox="1">
            <a:spLocks noChangeArrowheads="1"/>
          </p:cNvSpPr>
          <p:nvPr/>
        </p:nvSpPr>
        <p:spPr bwMode="auto">
          <a:xfrm>
            <a:off x="3949171" y="3557373"/>
            <a:ext cx="2085975" cy="39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ＭＳ Ｐゴシック" panose="020B0600070205080204" pitchFamily="34" charset="-128"/>
              <a:cs typeface="+mn-cs"/>
            </a:endParaRPr>
          </a:p>
        </p:txBody>
      </p:sp>
      <p:sp>
        <p:nvSpPr>
          <p:cNvPr id="45" name="Slide Number Placeholder 2">
            <a:extLst>
              <a:ext uri="{FF2B5EF4-FFF2-40B4-BE49-F238E27FC236}">
                <a16:creationId xmlns:a16="http://schemas.microsoft.com/office/drawing/2014/main" id="{74821291-B2F1-5248-8BEE-C21E2CB09702}"/>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14</a:t>
            </a:fld>
            <a:endParaRPr lang="en-US" dirty="0"/>
          </a:p>
        </p:txBody>
      </p:sp>
    </p:spTree>
    <p:extLst>
      <p:ext uri="{BB962C8B-B14F-4D97-AF65-F5344CB8AC3E}">
        <p14:creationId xmlns:p14="http://schemas.microsoft.com/office/powerpoint/2010/main" val="157285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10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dissolve">
                                      <p:cBhvr>
                                        <p:cTn id="1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operation with no errors</a:t>
            </a:r>
            <a:endParaRPr lang="en-US" sz="4400" dirty="0"/>
          </a:p>
        </p:txBody>
      </p:sp>
      <p:sp>
        <p:nvSpPr>
          <p:cNvPr id="37" name="Oval 3">
            <a:extLst>
              <a:ext uri="{FF2B5EF4-FFF2-40B4-BE49-F238E27FC236}">
                <a16:creationId xmlns:a16="http://schemas.microsoft.com/office/drawing/2014/main" id="{20368D61-C8F9-C64D-9076-63AF0503E0F6}"/>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38" name="Text Box 4">
            <a:extLst>
              <a:ext uri="{FF2B5EF4-FFF2-40B4-BE49-F238E27FC236}">
                <a16:creationId xmlns:a16="http://schemas.microsoft.com/office/drawing/2014/main" id="{229D572B-0C64-BC4F-9787-CFDFDB4AFDBE}"/>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39" name="Text Box 5">
            <a:extLst>
              <a:ext uri="{FF2B5EF4-FFF2-40B4-BE49-F238E27FC236}">
                <a16:creationId xmlns:a16="http://schemas.microsoft.com/office/drawing/2014/main" id="{7E93FFA4-44C6-0E4F-ABD0-1688475EEC2D}"/>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40" name="Line 6">
            <a:extLst>
              <a:ext uri="{FF2B5EF4-FFF2-40B4-BE49-F238E27FC236}">
                <a16:creationId xmlns:a16="http://schemas.microsoft.com/office/drawing/2014/main" id="{AAE6181D-40C5-4947-8D16-192C2CC21901}"/>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10">
            <a:extLst>
              <a:ext uri="{FF2B5EF4-FFF2-40B4-BE49-F238E27FC236}">
                <a16:creationId xmlns:a16="http://schemas.microsoft.com/office/drawing/2014/main" id="{C49AAF37-6767-EA4A-BCF2-2730B5DAFFCF}"/>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11">
            <a:extLst>
              <a:ext uri="{FF2B5EF4-FFF2-40B4-BE49-F238E27FC236}">
                <a16:creationId xmlns:a16="http://schemas.microsoft.com/office/drawing/2014/main" id="{F2665E42-05D1-2742-9715-0A7AB328CC68}"/>
              </a:ext>
            </a:extLst>
          </p:cNvPr>
          <p:cNvSpPr>
            <a:spLocks/>
          </p:cNvSpPr>
          <p:nvPr/>
        </p:nvSpPr>
        <p:spPr bwMode="auto">
          <a:xfrm>
            <a:off x="2856938" y="328011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14">
            <a:extLst>
              <a:ext uri="{FF2B5EF4-FFF2-40B4-BE49-F238E27FC236}">
                <a16:creationId xmlns:a16="http://schemas.microsoft.com/office/drawing/2014/main" id="{FF5156B3-5F3E-7247-9787-81C01F98AADA}"/>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Box 15">
            <a:extLst>
              <a:ext uri="{FF2B5EF4-FFF2-40B4-BE49-F238E27FC236}">
                <a16:creationId xmlns:a16="http://schemas.microsoft.com/office/drawing/2014/main" id="{2F0C4339-9749-3E4B-AEF3-DFBC5861C0E1}"/>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sndpkt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51" name="Line 17">
            <a:extLst>
              <a:ext uri="{FF2B5EF4-FFF2-40B4-BE49-F238E27FC236}">
                <a16:creationId xmlns:a16="http://schemas.microsoft.com/office/drawing/2014/main" id="{B12405C6-9FEC-A645-ABAA-32067C853440}"/>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2" name="Group 18">
            <a:extLst>
              <a:ext uri="{FF2B5EF4-FFF2-40B4-BE49-F238E27FC236}">
                <a16:creationId xmlns:a16="http://schemas.microsoft.com/office/drawing/2014/main" id="{6469EBCB-9365-8146-9A22-EA4BFBF0E079}"/>
              </a:ext>
            </a:extLst>
          </p:cNvPr>
          <p:cNvGrpSpPr>
            <a:grpSpLocks/>
          </p:cNvGrpSpPr>
          <p:nvPr/>
        </p:nvGrpSpPr>
        <p:grpSpPr bwMode="auto">
          <a:xfrm>
            <a:off x="8325876" y="3094378"/>
            <a:ext cx="1828800" cy="257175"/>
            <a:chOff x="2222" y="3039"/>
            <a:chExt cx="1152" cy="162"/>
          </a:xfrm>
        </p:grpSpPr>
        <p:sp>
          <p:nvSpPr>
            <p:cNvPr id="53" name="Text Box 19">
              <a:extLst>
                <a:ext uri="{FF2B5EF4-FFF2-40B4-BE49-F238E27FC236}">
                  <a16:creationId xmlns:a16="http://schemas.microsoft.com/office/drawing/2014/main" id="{3A6C17B0-3CB8-BD4F-82A3-F8BBBF7760BF}"/>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55" name="Line 21">
              <a:extLst>
                <a:ext uri="{FF2B5EF4-FFF2-40B4-BE49-F238E27FC236}">
                  <a16:creationId xmlns:a16="http://schemas.microsoft.com/office/drawing/2014/main" id="{7262AE28-C6B2-7A4B-B2BF-40A0797B4995}"/>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6" name="Group 22">
            <a:extLst>
              <a:ext uri="{FF2B5EF4-FFF2-40B4-BE49-F238E27FC236}">
                <a16:creationId xmlns:a16="http://schemas.microsoft.com/office/drawing/2014/main" id="{E9E74661-52F5-5E48-982A-52E52A35DC45}"/>
              </a:ext>
            </a:extLst>
          </p:cNvPr>
          <p:cNvGrpSpPr>
            <a:grpSpLocks/>
          </p:cNvGrpSpPr>
          <p:nvPr/>
        </p:nvGrpSpPr>
        <p:grpSpPr bwMode="auto">
          <a:xfrm>
            <a:off x="4044388" y="2362543"/>
            <a:ext cx="1074738" cy="962025"/>
            <a:chOff x="1540" y="2116"/>
            <a:chExt cx="677" cy="606"/>
          </a:xfrm>
        </p:grpSpPr>
        <p:sp>
          <p:nvSpPr>
            <p:cNvPr id="57" name="Oval 23">
              <a:extLst>
                <a:ext uri="{FF2B5EF4-FFF2-40B4-BE49-F238E27FC236}">
                  <a16:creationId xmlns:a16="http://schemas.microsoft.com/office/drawing/2014/main" id="{8D34CBBE-DA94-E64E-9580-4F3F4131C86A}"/>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58" name="Text Box 24">
              <a:extLst>
                <a:ext uri="{FF2B5EF4-FFF2-40B4-BE49-F238E27FC236}">
                  <a16:creationId xmlns:a16="http://schemas.microsoft.com/office/drawing/2014/main" id="{1B4A0021-CFA3-4E40-B284-73C34108A342}"/>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sp>
        <p:nvSpPr>
          <p:cNvPr id="59" name="Freeform 25">
            <a:extLst>
              <a:ext uri="{FF2B5EF4-FFF2-40B4-BE49-F238E27FC236}">
                <a16:creationId xmlns:a16="http://schemas.microsoft.com/office/drawing/2014/main" id="{3DB66570-2E6B-DB42-959E-FB21F91FD83C}"/>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Oval 26">
            <a:extLst>
              <a:ext uri="{FF2B5EF4-FFF2-40B4-BE49-F238E27FC236}">
                <a16:creationId xmlns:a16="http://schemas.microsoft.com/office/drawing/2014/main" id="{8A47B34C-876C-9A40-BB81-39CFF157E854}"/>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61" name="Text Box 27">
            <a:extLst>
              <a:ext uri="{FF2B5EF4-FFF2-40B4-BE49-F238E27FC236}">
                <a16:creationId xmlns:a16="http://schemas.microsoft.com/office/drawing/2014/main" id="{D69029E6-5338-FD44-BC15-0BA8A98F15B0}"/>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2" name="Freeform 28">
            <a:extLst>
              <a:ext uri="{FF2B5EF4-FFF2-40B4-BE49-F238E27FC236}">
                <a16:creationId xmlns:a16="http://schemas.microsoft.com/office/drawing/2014/main" id="{062C8ABB-D477-0442-96DB-AF4A7A380558}"/>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3" name="Group 29">
            <a:extLst>
              <a:ext uri="{FF2B5EF4-FFF2-40B4-BE49-F238E27FC236}">
                <a16:creationId xmlns:a16="http://schemas.microsoft.com/office/drawing/2014/main" id="{824EB22B-3441-BB4C-9908-EA5200566BEF}"/>
              </a:ext>
            </a:extLst>
          </p:cNvPr>
          <p:cNvGrpSpPr>
            <a:grpSpLocks/>
          </p:cNvGrpSpPr>
          <p:nvPr/>
        </p:nvGrpSpPr>
        <p:grpSpPr bwMode="auto">
          <a:xfrm>
            <a:off x="2101288" y="2306981"/>
            <a:ext cx="1333500" cy="1004887"/>
            <a:chOff x="220" y="1365"/>
            <a:chExt cx="840" cy="633"/>
          </a:xfrm>
        </p:grpSpPr>
        <p:sp>
          <p:nvSpPr>
            <p:cNvPr id="64" name="Line 30">
              <a:extLst>
                <a:ext uri="{FF2B5EF4-FFF2-40B4-BE49-F238E27FC236}">
                  <a16:creationId xmlns:a16="http://schemas.microsoft.com/office/drawing/2014/main" id="{E482CA24-27A0-084A-87D9-E941B0A259BA}"/>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Oval 31">
              <a:extLst>
                <a:ext uri="{FF2B5EF4-FFF2-40B4-BE49-F238E27FC236}">
                  <a16:creationId xmlns:a16="http://schemas.microsoft.com/office/drawing/2014/main" id="{B1FC38D6-025E-7842-ADA7-35FDE217EA4E}"/>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grpSp>
        <p:nvGrpSpPr>
          <p:cNvPr id="66" name="Group 32">
            <a:extLst>
              <a:ext uri="{FF2B5EF4-FFF2-40B4-BE49-F238E27FC236}">
                <a16:creationId xmlns:a16="http://schemas.microsoft.com/office/drawing/2014/main" id="{5BBC5929-B4AB-D94E-9C05-8B8E4E50A932}"/>
              </a:ext>
            </a:extLst>
          </p:cNvPr>
          <p:cNvGrpSpPr>
            <a:grpSpLocks/>
          </p:cNvGrpSpPr>
          <p:nvPr/>
        </p:nvGrpSpPr>
        <p:grpSpPr bwMode="auto">
          <a:xfrm>
            <a:off x="8086163" y="3637306"/>
            <a:ext cx="1414463" cy="1033462"/>
            <a:chOff x="3990" y="2203"/>
            <a:chExt cx="891" cy="651"/>
          </a:xfrm>
        </p:grpSpPr>
        <p:sp>
          <p:nvSpPr>
            <p:cNvPr id="67" name="Line 33">
              <a:extLst>
                <a:ext uri="{FF2B5EF4-FFF2-40B4-BE49-F238E27FC236}">
                  <a16:creationId xmlns:a16="http://schemas.microsoft.com/office/drawing/2014/main" id="{C8C95C30-694C-3343-9A2B-29D823BB5369}"/>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Oval 34">
              <a:extLst>
                <a:ext uri="{FF2B5EF4-FFF2-40B4-BE49-F238E27FC236}">
                  <a16:creationId xmlns:a16="http://schemas.microsoft.com/office/drawing/2014/main" id="{9CF26F83-62A4-774B-95EC-D614996A7AD6}"/>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sp>
        <p:nvSpPr>
          <p:cNvPr id="69" name="Text Box 35">
            <a:extLst>
              <a:ext uri="{FF2B5EF4-FFF2-40B4-BE49-F238E27FC236}">
                <a16:creationId xmlns:a16="http://schemas.microsoft.com/office/drawing/2014/main" id="{4F145C19-20CA-7145-8B2A-77BEB54A39E8}"/>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0" name="Line 36">
            <a:extLst>
              <a:ext uri="{FF2B5EF4-FFF2-40B4-BE49-F238E27FC236}">
                <a16:creationId xmlns:a16="http://schemas.microsoft.com/office/drawing/2014/main" id="{26143F76-F1DE-F740-8D25-07F17B3B05D6}"/>
              </a:ext>
            </a:extLst>
          </p:cNvPr>
          <p:cNvSpPr>
            <a:spLocks noChangeShapeType="1"/>
          </p:cNvSpPr>
          <p:nvPr/>
        </p:nvSpPr>
        <p:spPr bwMode="auto">
          <a:xfrm>
            <a:off x="2763276" y="1429093"/>
            <a:ext cx="12700" cy="747713"/>
          </a:xfrm>
          <a:prstGeom prst="line">
            <a:avLst/>
          </a:prstGeom>
          <a:noFill/>
          <a:ln w="762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71" name="Freeform 37">
            <a:extLst>
              <a:ext uri="{FF2B5EF4-FFF2-40B4-BE49-F238E27FC236}">
                <a16:creationId xmlns:a16="http://schemas.microsoft.com/office/drawing/2014/main" id="{58B7878D-57FD-8A41-8E7B-6BF34CB3A771}"/>
              </a:ext>
            </a:extLst>
          </p:cNvPr>
          <p:cNvSpPr>
            <a:spLocks/>
          </p:cNvSpPr>
          <p:nvPr/>
        </p:nvSpPr>
        <p:spPr bwMode="auto">
          <a:xfrm>
            <a:off x="2763276" y="2146642"/>
            <a:ext cx="7148415" cy="2944699"/>
          </a:xfrm>
          <a:custGeom>
            <a:avLst/>
            <a:gdLst>
              <a:gd name="T0" fmla="*/ 0 w 4219"/>
              <a:gd name="T1" fmla="*/ 2147483647 h 1928"/>
              <a:gd name="T2" fmla="*/ 2147483647 w 4219"/>
              <a:gd name="T3" fmla="*/ 0 h 1928"/>
              <a:gd name="T4" fmla="*/ 2147483647 w 4219"/>
              <a:gd name="T5" fmla="*/ 2147483647 h 1928"/>
              <a:gd name="T6" fmla="*/ 2147483647 w 4219"/>
              <a:gd name="T7" fmla="*/ 2147483647 h 1928"/>
              <a:gd name="T8" fmla="*/ 0 60000 65536"/>
              <a:gd name="T9" fmla="*/ 0 60000 65536"/>
              <a:gd name="T10" fmla="*/ 0 60000 65536"/>
              <a:gd name="T11" fmla="*/ 0 60000 65536"/>
              <a:gd name="connsiteX0" fmla="*/ 0 w 10000"/>
              <a:gd name="connsiteY0" fmla="*/ 52 h 10000"/>
              <a:gd name="connsiteX1" fmla="*/ 2377 w 10000"/>
              <a:gd name="connsiteY1" fmla="*/ 0 h 10000"/>
              <a:gd name="connsiteX2" fmla="*/ 8009 w 10000"/>
              <a:gd name="connsiteY2" fmla="*/ 9621 h 10000"/>
              <a:gd name="connsiteX3" fmla="*/ 10000 w 10000"/>
              <a:gd name="connsiteY3" fmla="*/ 10000 h 10000"/>
              <a:gd name="connsiteX0" fmla="*/ 0 w 10673"/>
              <a:gd name="connsiteY0" fmla="*/ 52 h 9621"/>
              <a:gd name="connsiteX1" fmla="*/ 2377 w 10673"/>
              <a:gd name="connsiteY1" fmla="*/ 0 h 9621"/>
              <a:gd name="connsiteX2" fmla="*/ 8009 w 10673"/>
              <a:gd name="connsiteY2" fmla="*/ 9621 h 9621"/>
              <a:gd name="connsiteX3" fmla="*/ 10673 w 10673"/>
              <a:gd name="connsiteY3" fmla="*/ 9621 h 9621"/>
            </a:gdLst>
            <a:ahLst/>
            <a:cxnLst>
              <a:cxn ang="0">
                <a:pos x="connsiteX0" y="connsiteY0"/>
              </a:cxn>
              <a:cxn ang="0">
                <a:pos x="connsiteX1" y="connsiteY1"/>
              </a:cxn>
              <a:cxn ang="0">
                <a:pos x="connsiteX2" y="connsiteY2"/>
              </a:cxn>
              <a:cxn ang="0">
                <a:pos x="connsiteX3" y="connsiteY3"/>
              </a:cxn>
            </a:cxnLst>
            <a:rect l="l" t="t" r="r" b="b"/>
            <a:pathLst>
              <a:path w="10673" h="9621">
                <a:moveTo>
                  <a:pt x="0" y="52"/>
                </a:moveTo>
                <a:lnTo>
                  <a:pt x="2377" y="0"/>
                </a:lnTo>
                <a:lnTo>
                  <a:pt x="8009" y="9621"/>
                </a:lnTo>
                <a:lnTo>
                  <a:pt x="10673" y="9621"/>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72" name="Group 38">
            <a:extLst>
              <a:ext uri="{FF2B5EF4-FFF2-40B4-BE49-F238E27FC236}">
                <a16:creationId xmlns:a16="http://schemas.microsoft.com/office/drawing/2014/main" id="{81979E69-43B0-224E-AEE7-932D8FB25EC5}"/>
              </a:ext>
            </a:extLst>
          </p:cNvPr>
          <p:cNvGrpSpPr>
            <a:grpSpLocks/>
          </p:cNvGrpSpPr>
          <p:nvPr/>
        </p:nvGrpSpPr>
        <p:grpSpPr bwMode="auto">
          <a:xfrm>
            <a:off x="2099701" y="2306981"/>
            <a:ext cx="1333500" cy="1004887"/>
            <a:chOff x="220" y="1365"/>
            <a:chExt cx="840" cy="633"/>
          </a:xfrm>
        </p:grpSpPr>
        <p:sp>
          <p:nvSpPr>
            <p:cNvPr id="73" name="Line 39">
              <a:extLst>
                <a:ext uri="{FF2B5EF4-FFF2-40B4-BE49-F238E27FC236}">
                  <a16:creationId xmlns:a16="http://schemas.microsoft.com/office/drawing/2014/main" id="{021756D2-A025-CF41-A055-C96F4929A19F}"/>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val 40">
              <a:extLst>
                <a:ext uri="{FF2B5EF4-FFF2-40B4-BE49-F238E27FC236}">
                  <a16:creationId xmlns:a16="http://schemas.microsoft.com/office/drawing/2014/main" id="{34F50062-00A1-4541-B9F4-BEF323F05F2D}"/>
                </a:ext>
              </a:extLst>
            </p:cNvPr>
            <p:cNvSpPr>
              <a:spLocks noChangeArrowheads="1"/>
            </p:cNvSpPr>
            <p:nvPr/>
          </p:nvSpPr>
          <p:spPr bwMode="auto">
            <a:xfrm>
              <a:off x="439" y="1392"/>
              <a:ext cx="621" cy="606"/>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sp>
        <p:nvSpPr>
          <p:cNvPr id="108" name="Oval 41">
            <a:extLst>
              <a:ext uri="{FF2B5EF4-FFF2-40B4-BE49-F238E27FC236}">
                <a16:creationId xmlns:a16="http://schemas.microsoft.com/office/drawing/2014/main" id="{9AEB6601-DAB8-A041-9DF0-30C886DDBE6D}"/>
              </a:ext>
            </a:extLst>
          </p:cNvPr>
          <p:cNvSpPr>
            <a:spLocks noChangeArrowheads="1"/>
          </p:cNvSpPr>
          <p:nvPr/>
        </p:nvSpPr>
        <p:spPr bwMode="auto">
          <a:xfrm>
            <a:off x="4084076" y="2362543"/>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09" name="Line 42">
            <a:extLst>
              <a:ext uri="{FF2B5EF4-FFF2-40B4-BE49-F238E27FC236}">
                <a16:creationId xmlns:a16="http://schemas.microsoft.com/office/drawing/2014/main" id="{2CE2B382-7E31-324B-8E6C-07DE61767B89}"/>
              </a:ext>
            </a:extLst>
          </p:cNvPr>
          <p:cNvSpPr>
            <a:spLocks noChangeShapeType="1"/>
          </p:cNvSpPr>
          <p:nvPr/>
        </p:nvSpPr>
        <p:spPr bwMode="auto">
          <a:xfrm flipH="1">
            <a:off x="8013138" y="5042243"/>
            <a:ext cx="12700" cy="1193800"/>
          </a:xfrm>
          <a:prstGeom prst="line">
            <a:avLst/>
          </a:prstGeom>
          <a:noFill/>
          <a:ln w="762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0" name="Freeform 43">
            <a:extLst>
              <a:ext uri="{FF2B5EF4-FFF2-40B4-BE49-F238E27FC236}">
                <a16:creationId xmlns:a16="http://schemas.microsoft.com/office/drawing/2014/main" id="{A4E624BD-18B7-E144-8B12-E9F34C001BC1}"/>
              </a:ext>
            </a:extLst>
          </p:cNvPr>
          <p:cNvSpPr>
            <a:spLocks/>
          </p:cNvSpPr>
          <p:nvPr/>
        </p:nvSpPr>
        <p:spPr bwMode="auto">
          <a:xfrm>
            <a:off x="2122306" y="3871617"/>
            <a:ext cx="7452932" cy="2415225"/>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 name="connsiteX0" fmla="*/ 10000 w 10000"/>
              <a:gd name="connsiteY0" fmla="*/ 10684 h 10684"/>
              <a:gd name="connsiteX1" fmla="*/ 7676 w 10000"/>
              <a:gd name="connsiteY1" fmla="*/ 10684 h 10684"/>
              <a:gd name="connsiteX2" fmla="*/ 4167 w 10000"/>
              <a:gd name="connsiteY2" fmla="*/ 0 h 10684"/>
              <a:gd name="connsiteX3" fmla="*/ 0 w 10000"/>
              <a:gd name="connsiteY3" fmla="*/ 684 h 10684"/>
              <a:gd name="connsiteX0" fmla="*/ 11178 w 11178"/>
              <a:gd name="connsiteY0" fmla="*/ 10684 h 10684"/>
              <a:gd name="connsiteX1" fmla="*/ 8854 w 11178"/>
              <a:gd name="connsiteY1" fmla="*/ 10684 h 10684"/>
              <a:gd name="connsiteX2" fmla="*/ 5345 w 11178"/>
              <a:gd name="connsiteY2" fmla="*/ 0 h 10684"/>
              <a:gd name="connsiteX3" fmla="*/ 0 w 11178"/>
              <a:gd name="connsiteY3" fmla="*/ 0 h 10684"/>
            </a:gdLst>
            <a:ahLst/>
            <a:cxnLst>
              <a:cxn ang="0">
                <a:pos x="connsiteX0" y="connsiteY0"/>
              </a:cxn>
              <a:cxn ang="0">
                <a:pos x="connsiteX1" y="connsiteY1"/>
              </a:cxn>
              <a:cxn ang="0">
                <a:pos x="connsiteX2" y="connsiteY2"/>
              </a:cxn>
              <a:cxn ang="0">
                <a:pos x="connsiteX3" y="connsiteY3"/>
              </a:cxn>
            </a:cxnLst>
            <a:rect l="l" t="t" r="r" b="b"/>
            <a:pathLst>
              <a:path w="11178" h="10684">
                <a:moveTo>
                  <a:pt x="11178" y="10684"/>
                </a:moveTo>
                <a:lnTo>
                  <a:pt x="8854" y="10684"/>
                </a:lnTo>
                <a:lnTo>
                  <a:pt x="5345"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1" name="Group 44">
            <a:extLst>
              <a:ext uri="{FF2B5EF4-FFF2-40B4-BE49-F238E27FC236}">
                <a16:creationId xmlns:a16="http://schemas.microsoft.com/office/drawing/2014/main" id="{433B53F6-3987-AD43-823C-811301531A05}"/>
              </a:ext>
            </a:extLst>
          </p:cNvPr>
          <p:cNvGrpSpPr>
            <a:grpSpLocks/>
          </p:cNvGrpSpPr>
          <p:nvPr/>
        </p:nvGrpSpPr>
        <p:grpSpPr bwMode="auto">
          <a:xfrm>
            <a:off x="2099701" y="2306981"/>
            <a:ext cx="1333500" cy="1004887"/>
            <a:chOff x="220" y="1365"/>
            <a:chExt cx="840" cy="633"/>
          </a:xfrm>
        </p:grpSpPr>
        <p:sp>
          <p:nvSpPr>
            <p:cNvPr id="112" name="Line 45">
              <a:extLst>
                <a:ext uri="{FF2B5EF4-FFF2-40B4-BE49-F238E27FC236}">
                  <a16:creationId xmlns:a16="http://schemas.microsoft.com/office/drawing/2014/main" id="{4591E5D8-8C29-B847-85FE-27EBA5053B7E}"/>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Oval 46">
              <a:extLst>
                <a:ext uri="{FF2B5EF4-FFF2-40B4-BE49-F238E27FC236}">
                  <a16:creationId xmlns:a16="http://schemas.microsoft.com/office/drawing/2014/main" id="{611A2C5D-AEE6-DD42-9AF5-7922552584D9}"/>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sp>
        <p:nvSpPr>
          <p:cNvPr id="114" name="Oval 47">
            <a:extLst>
              <a:ext uri="{FF2B5EF4-FFF2-40B4-BE49-F238E27FC236}">
                <a16:creationId xmlns:a16="http://schemas.microsoft.com/office/drawing/2014/main" id="{14740803-52CF-044E-A44B-1C3382FD69A9}"/>
              </a:ext>
            </a:extLst>
          </p:cNvPr>
          <p:cNvSpPr>
            <a:spLocks noChangeArrowheads="1"/>
          </p:cNvSpPr>
          <p:nvPr/>
        </p:nvSpPr>
        <p:spPr bwMode="auto">
          <a:xfrm>
            <a:off x="4080901" y="2367306"/>
            <a:ext cx="985837" cy="9620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7" name="Text Box 16">
            <a:extLst>
              <a:ext uri="{FF2B5EF4-FFF2-40B4-BE49-F238E27FC236}">
                <a16:creationId xmlns:a16="http://schemas.microsoft.com/office/drawing/2014/main" id="{4960424F-A39C-9F48-B10B-6B92058EBF5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8" name="Text Box 20">
            <a:extLst>
              <a:ext uri="{FF2B5EF4-FFF2-40B4-BE49-F238E27FC236}">
                <a16:creationId xmlns:a16="http://schemas.microsoft.com/office/drawing/2014/main" id="{F83C8E12-3B9E-D846-B39E-2D62F350B930}"/>
              </a:ext>
            </a:extLst>
          </p:cNvPr>
          <p:cNvSpPr txBox="1">
            <a:spLocks noChangeArrowheads="1"/>
          </p:cNvSpPr>
          <p:nvPr/>
        </p:nvSpPr>
        <p:spPr bwMode="auto">
          <a:xfrm>
            <a:off x="8327563" y="2720534"/>
            <a:ext cx="338931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24" name="Group 123">
            <a:extLst>
              <a:ext uri="{FF2B5EF4-FFF2-40B4-BE49-F238E27FC236}">
                <a16:creationId xmlns:a16="http://schemas.microsoft.com/office/drawing/2014/main" id="{CC5AC3F7-1DB3-CE4F-B0C7-F20072FBA703}"/>
              </a:ext>
            </a:extLst>
          </p:cNvPr>
          <p:cNvGrpSpPr/>
          <p:nvPr/>
        </p:nvGrpSpPr>
        <p:grpSpPr>
          <a:xfrm>
            <a:off x="2271408" y="3285357"/>
            <a:ext cx="3548062" cy="989290"/>
            <a:chOff x="2270357" y="3283338"/>
            <a:chExt cx="3548062" cy="989290"/>
          </a:xfrm>
        </p:grpSpPr>
        <p:sp>
          <p:nvSpPr>
            <p:cNvPr id="125" name="Freeform 11">
              <a:extLst>
                <a:ext uri="{FF2B5EF4-FFF2-40B4-BE49-F238E27FC236}">
                  <a16:creationId xmlns:a16="http://schemas.microsoft.com/office/drawing/2014/main" id="{1ECBB11C-9731-AE49-85C4-CC54A9C37108}"/>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26" name="Group 125">
              <a:extLst>
                <a:ext uri="{FF2B5EF4-FFF2-40B4-BE49-F238E27FC236}">
                  <a16:creationId xmlns:a16="http://schemas.microsoft.com/office/drawing/2014/main" id="{803199FB-D06E-3542-B988-7EB9CD9168D8}"/>
                </a:ext>
              </a:extLst>
            </p:cNvPr>
            <p:cNvGrpSpPr/>
            <p:nvPr/>
          </p:nvGrpSpPr>
          <p:grpSpPr>
            <a:xfrm>
              <a:off x="2270357" y="3545923"/>
              <a:ext cx="3548062" cy="726705"/>
              <a:chOff x="2270357" y="3545923"/>
              <a:chExt cx="3548062" cy="726705"/>
            </a:xfrm>
          </p:grpSpPr>
          <p:sp>
            <p:nvSpPr>
              <p:cNvPr id="127" name="Text Box 12">
                <a:extLst>
                  <a:ext uri="{FF2B5EF4-FFF2-40B4-BE49-F238E27FC236}">
                    <a16:creationId xmlns:a16="http://schemas.microsoft.com/office/drawing/2014/main" id="{E0CFEDE3-2A91-2845-ABA4-C03E7492EE81}"/>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8" name="Line 13">
                <a:extLst>
                  <a:ext uri="{FF2B5EF4-FFF2-40B4-BE49-F238E27FC236}">
                    <a16:creationId xmlns:a16="http://schemas.microsoft.com/office/drawing/2014/main" id="{332EC257-20A6-9B48-A641-8E69142E58DC}"/>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Text Box 48">
                <a:extLst>
                  <a:ext uri="{FF2B5EF4-FFF2-40B4-BE49-F238E27FC236}">
                    <a16:creationId xmlns:a16="http://schemas.microsoft.com/office/drawing/2014/main" id="{BC7A4A01-571A-C94B-BAEC-EA73E5A39295}"/>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grpSp>
        <p:nvGrpSpPr>
          <p:cNvPr id="130" name="Group 129">
            <a:extLst>
              <a:ext uri="{FF2B5EF4-FFF2-40B4-BE49-F238E27FC236}">
                <a16:creationId xmlns:a16="http://schemas.microsoft.com/office/drawing/2014/main" id="{5E324CA8-B37F-8C4E-9533-D4557801C16E}"/>
              </a:ext>
            </a:extLst>
          </p:cNvPr>
          <p:cNvGrpSpPr/>
          <p:nvPr/>
        </p:nvGrpSpPr>
        <p:grpSpPr>
          <a:xfrm>
            <a:off x="8049650" y="5037504"/>
            <a:ext cx="4142349" cy="933582"/>
            <a:chOff x="8049650" y="5037504"/>
            <a:chExt cx="4142349" cy="933582"/>
          </a:xfrm>
        </p:grpSpPr>
        <p:sp>
          <p:nvSpPr>
            <p:cNvPr id="131" name="Text Box 7">
              <a:extLst>
                <a:ext uri="{FF2B5EF4-FFF2-40B4-BE49-F238E27FC236}">
                  <a16:creationId xmlns:a16="http://schemas.microsoft.com/office/drawing/2014/main" id="{723DBA89-E099-1146-9344-FD97D358659B}"/>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2" name="Text Box 8">
              <a:extLst>
                <a:ext uri="{FF2B5EF4-FFF2-40B4-BE49-F238E27FC236}">
                  <a16:creationId xmlns:a16="http://schemas.microsoft.com/office/drawing/2014/main" id="{05CEFA42-064E-3142-841C-4AC47C36BCC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3" name="Line 9">
              <a:extLst>
                <a:ext uri="{FF2B5EF4-FFF2-40B4-BE49-F238E27FC236}">
                  <a16:creationId xmlns:a16="http://schemas.microsoft.com/office/drawing/2014/main" id="{0872816E-A3BC-B14C-B375-097293AE6178}"/>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Text Box 19">
            <a:extLst>
              <a:ext uri="{FF2B5EF4-FFF2-40B4-BE49-F238E27FC236}">
                <a16:creationId xmlns:a16="http://schemas.microsoft.com/office/drawing/2014/main" id="{55D8DBB5-D62B-EB4E-B678-676582C50DB5}"/>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35" name="Text Box 20">
            <a:extLst>
              <a:ext uri="{FF2B5EF4-FFF2-40B4-BE49-F238E27FC236}">
                <a16:creationId xmlns:a16="http://schemas.microsoft.com/office/drawing/2014/main" id="{6A4DBB19-70E8-BE4F-86ED-46D7FF5489BB}"/>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74" name="Text Box 16">
            <a:extLst>
              <a:ext uri="{FF2B5EF4-FFF2-40B4-BE49-F238E27FC236}">
                <a16:creationId xmlns:a16="http://schemas.microsoft.com/office/drawing/2014/main" id="{312C203B-3A0A-BD4E-8578-6F37A2E7EB80}"/>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 name="Slide Number Placeholder 2">
            <a:extLst>
              <a:ext uri="{FF2B5EF4-FFF2-40B4-BE49-F238E27FC236}">
                <a16:creationId xmlns:a16="http://schemas.microsoft.com/office/drawing/2014/main" id="{70847C17-240C-8943-BAC9-8DEDA07FFF5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15</a:t>
            </a:fld>
            <a:endParaRPr lang="en-US" dirty="0"/>
          </a:p>
        </p:txBody>
      </p:sp>
    </p:spTree>
    <p:extLst>
      <p:ext uri="{BB962C8B-B14F-4D97-AF65-F5344CB8AC3E}">
        <p14:creationId xmlns:p14="http://schemas.microsoft.com/office/powerpoint/2010/main" val="74147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dissolve">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dissolve">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wipe(up)">
                                      <p:cBhvr>
                                        <p:cTn id="17" dur="1000"/>
                                        <p:tgtEl>
                                          <p:spTgt spid="70"/>
                                        </p:tgtEl>
                                      </p:cBhvr>
                                    </p:animEffect>
                                  </p:childTnLst>
                                  <p:subTnLst>
                                    <p:set>
                                      <p:cBhvr override="childStyle">
                                        <p:cTn dur="1" fill="hold" display="0" masterRel="nextClick" afterEffect="1"/>
                                        <p:tgtEl>
                                          <p:spTgt spid="70"/>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left)">
                                      <p:cBhvr>
                                        <p:cTn id="22" dur="1000"/>
                                        <p:tgtEl>
                                          <p:spTgt spid="71"/>
                                        </p:tgtEl>
                                      </p:cBhvr>
                                    </p:animEffect>
                                  </p:childTnLst>
                                  <p:subTnLst>
                                    <p:set>
                                      <p:cBhvr override="childStyle">
                                        <p:cTn dur="1" fill="hold" display="0" masterRel="nextClick" afterEffect="1"/>
                                        <p:tgtEl>
                                          <p:spTgt spid="71"/>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09"/>
                                        </p:tgtEl>
                                        <p:attrNameLst>
                                          <p:attrName>style.visibility</p:attrName>
                                        </p:attrNameLst>
                                      </p:cBhvr>
                                      <p:to>
                                        <p:strVal val="visible"/>
                                      </p:to>
                                    </p:set>
                                    <p:animEffect transition="in" filter="wipe(up)">
                                      <p:cBhvr>
                                        <p:cTn id="31" dur="1000"/>
                                        <p:tgtEl>
                                          <p:spTgt spid="109"/>
                                        </p:tgtEl>
                                      </p:cBhvr>
                                    </p:animEffect>
                                  </p:childTnLst>
                                  <p:subTnLst>
                                    <p:set>
                                      <p:cBhvr override="childStyle">
                                        <p:cTn dur="1" fill="hold" display="0" masterRel="nextClick" afterEffect="1"/>
                                        <p:tgtEl>
                                          <p:spTgt spid="109"/>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10"/>
                                        </p:tgtEl>
                                        <p:attrNameLst>
                                          <p:attrName>style.visibility</p:attrName>
                                        </p:attrNameLst>
                                      </p:cBhvr>
                                      <p:to>
                                        <p:strVal val="visible"/>
                                      </p:to>
                                    </p:set>
                                    <p:animEffect transition="in" filter="wipe(right)">
                                      <p:cBhvr>
                                        <p:cTn id="36" dur="1000"/>
                                        <p:tgtEl>
                                          <p:spTgt spid="110"/>
                                        </p:tgtEl>
                                      </p:cBhvr>
                                    </p:animEffect>
                                  </p:childTnLst>
                                  <p:subTnLst>
                                    <p:set>
                                      <p:cBhvr override="childStyle">
                                        <p:cTn dur="1" fill="hold" display="0" masterRel="sameClick" afterEffect="1">
                                          <p:stCondLst>
                                            <p:cond evt="end" delay="0">
                                              <p:tn val="34"/>
                                            </p:cond>
                                          </p:stCondLst>
                                        </p:cTn>
                                        <p:tgtEl>
                                          <p:spTgt spid="110"/>
                                        </p:tgtEl>
                                        <p:attrNameLst>
                                          <p:attrName>style.visibility</p:attrName>
                                        </p:attrNameLst>
                                      </p:cBhvr>
                                      <p:to>
                                        <p:strVal val="hidden"/>
                                      </p:to>
                                    </p:set>
                                  </p:subTnLst>
                                </p:cTn>
                              </p:par>
                            </p:childTnLst>
                          </p:cTn>
                        </p:par>
                        <p:par>
                          <p:cTn id="37" fill="hold">
                            <p:stCondLst>
                              <p:cond delay="1000"/>
                            </p:stCondLst>
                            <p:childTnLst>
                              <p:par>
                                <p:cTn id="38" presetID="1" presetClass="entr" presetSubtype="0" fill="hold" nodeType="afterEffect">
                                  <p:stCondLst>
                                    <p:cond delay="0"/>
                                  </p:stCondLst>
                                  <p:childTnLst>
                                    <p:set>
                                      <p:cBhvr>
                                        <p:cTn id="39" dur="1" fill="hold">
                                          <p:stCondLst>
                                            <p:cond delay="0"/>
                                          </p:stCondLst>
                                        </p:cTn>
                                        <p:tgtEl>
                                          <p:spTgt spid="11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14"/>
                                        </p:tgtEl>
                                        <p:attrNameLst>
                                          <p:attrName>style.visibility</p:attrName>
                                        </p:attrNameLst>
                                      </p:cBhvr>
                                      <p:to>
                                        <p:strVal val="visible"/>
                                      </p:to>
                                    </p:set>
                                  </p:childTnLst>
                                </p:cTn>
                              </p:par>
                              <p:par>
                                <p:cTn id="42" presetID="1" presetClass="entr" presetSubtype="0" fill="hold" grpId="1" nodeType="withEffect">
                                  <p:stCondLst>
                                    <p:cond delay="0"/>
                                  </p:stCondLst>
                                  <p:childTnLst>
                                    <p:set>
                                      <p:cBhvr>
                                        <p:cTn id="43"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14" grpId="0" animBg="1"/>
      <p:bldP spid="114"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corrupted packet scenario</a:t>
            </a:r>
            <a:endParaRPr lang="en-US" sz="4400" dirty="0"/>
          </a:p>
        </p:txBody>
      </p:sp>
      <p:sp>
        <p:nvSpPr>
          <p:cNvPr id="133" name="Oval 3">
            <a:extLst>
              <a:ext uri="{FF2B5EF4-FFF2-40B4-BE49-F238E27FC236}">
                <a16:creationId xmlns:a16="http://schemas.microsoft.com/office/drawing/2014/main" id="{69A00FB9-348A-D448-9793-795F22B57161}"/>
              </a:ext>
            </a:extLst>
          </p:cNvPr>
          <p:cNvSpPr>
            <a:spLocks noChangeArrowheads="1"/>
          </p:cNvSpPr>
          <p:nvPr/>
        </p:nvSpPr>
        <p:spPr bwMode="auto">
          <a:xfrm>
            <a:off x="2448440"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4" name="Text Box 4">
            <a:extLst>
              <a:ext uri="{FF2B5EF4-FFF2-40B4-BE49-F238E27FC236}">
                <a16:creationId xmlns:a16="http://schemas.microsoft.com/office/drawing/2014/main" id="{77096BA8-8AE7-EA4F-B0FD-7469803EAB64}"/>
              </a:ext>
            </a:extLst>
          </p:cNvPr>
          <p:cNvSpPr txBox="1">
            <a:spLocks noChangeArrowheads="1"/>
          </p:cNvSpPr>
          <p:nvPr/>
        </p:nvSpPr>
        <p:spPr bwMode="auto">
          <a:xfrm>
            <a:off x="2346840"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35" name="Text Box 5">
            <a:extLst>
              <a:ext uri="{FF2B5EF4-FFF2-40B4-BE49-F238E27FC236}">
                <a16:creationId xmlns:a16="http://schemas.microsoft.com/office/drawing/2014/main" id="{D6DC2F34-5901-DE44-A6E9-F9649709412A}"/>
              </a:ext>
            </a:extLst>
          </p:cNvPr>
          <p:cNvSpPr txBox="1">
            <a:spLocks noChangeArrowheads="1"/>
          </p:cNvSpPr>
          <p:nvPr/>
        </p:nvSpPr>
        <p:spPr bwMode="auto">
          <a:xfrm>
            <a:off x="2756415"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36" name="Line 6">
            <a:extLst>
              <a:ext uri="{FF2B5EF4-FFF2-40B4-BE49-F238E27FC236}">
                <a16:creationId xmlns:a16="http://schemas.microsoft.com/office/drawing/2014/main" id="{D357F502-19B9-7A40-B1E5-CD7250CA97C6}"/>
              </a:ext>
            </a:extLst>
          </p:cNvPr>
          <p:cNvSpPr>
            <a:spLocks noChangeShapeType="1"/>
          </p:cNvSpPr>
          <p:nvPr/>
        </p:nvSpPr>
        <p:spPr bwMode="auto">
          <a:xfrm>
            <a:off x="2861190"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0" name="Freeform 10">
            <a:extLst>
              <a:ext uri="{FF2B5EF4-FFF2-40B4-BE49-F238E27FC236}">
                <a16:creationId xmlns:a16="http://schemas.microsoft.com/office/drawing/2014/main" id="{3ADC35A3-77A4-3D42-9882-FB506CCCFA61}"/>
              </a:ext>
            </a:extLst>
          </p:cNvPr>
          <p:cNvSpPr>
            <a:spLocks/>
          </p:cNvSpPr>
          <p:nvPr/>
        </p:nvSpPr>
        <p:spPr bwMode="auto">
          <a:xfrm flipV="1">
            <a:off x="2808802"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1" name="Freeform 11">
            <a:extLst>
              <a:ext uri="{FF2B5EF4-FFF2-40B4-BE49-F238E27FC236}">
                <a16:creationId xmlns:a16="http://schemas.microsoft.com/office/drawing/2014/main" id="{3907903E-8186-0B48-B29F-40C6FD559F99}"/>
              </a:ext>
            </a:extLst>
          </p:cNvPr>
          <p:cNvSpPr>
            <a:spLocks/>
          </p:cNvSpPr>
          <p:nvPr/>
        </p:nvSpPr>
        <p:spPr bwMode="auto">
          <a:xfrm>
            <a:off x="2856427" y="328011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4" name="Freeform 14">
            <a:extLst>
              <a:ext uri="{FF2B5EF4-FFF2-40B4-BE49-F238E27FC236}">
                <a16:creationId xmlns:a16="http://schemas.microsoft.com/office/drawing/2014/main" id="{C5D67D61-82E5-5642-B2D5-452A20671145}"/>
              </a:ext>
            </a:extLst>
          </p:cNvPr>
          <p:cNvSpPr>
            <a:spLocks/>
          </p:cNvSpPr>
          <p:nvPr/>
        </p:nvSpPr>
        <p:spPr bwMode="auto">
          <a:xfrm>
            <a:off x="5004315"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Text Box 15">
            <a:extLst>
              <a:ext uri="{FF2B5EF4-FFF2-40B4-BE49-F238E27FC236}">
                <a16:creationId xmlns:a16="http://schemas.microsoft.com/office/drawing/2014/main" id="{7BABC5B8-9BD6-F145-8E9A-0912B8AEEF10}"/>
              </a:ext>
            </a:extLst>
          </p:cNvPr>
          <p:cNvSpPr txBox="1">
            <a:spLocks noChangeArrowheads="1"/>
          </p:cNvSpPr>
          <p:nvPr/>
        </p:nvSpPr>
        <p:spPr bwMode="auto">
          <a:xfrm>
            <a:off x="5313877"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Text Box 16">
            <a:extLst>
              <a:ext uri="{FF2B5EF4-FFF2-40B4-BE49-F238E27FC236}">
                <a16:creationId xmlns:a16="http://schemas.microsoft.com/office/drawing/2014/main" id="{BE38BF73-5EF1-6B42-B012-9E244200F5F0}"/>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17">
            <a:extLst>
              <a:ext uri="{FF2B5EF4-FFF2-40B4-BE49-F238E27FC236}">
                <a16:creationId xmlns:a16="http://schemas.microsoft.com/office/drawing/2014/main" id="{6082D473-667E-D744-BD55-1C35E0FE8710}"/>
              </a:ext>
            </a:extLst>
          </p:cNvPr>
          <p:cNvSpPr>
            <a:spLocks noChangeShapeType="1"/>
          </p:cNvSpPr>
          <p:nvPr/>
        </p:nvSpPr>
        <p:spPr bwMode="auto">
          <a:xfrm>
            <a:off x="5407540"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2" name="Group 22">
            <a:extLst>
              <a:ext uri="{FF2B5EF4-FFF2-40B4-BE49-F238E27FC236}">
                <a16:creationId xmlns:a16="http://schemas.microsoft.com/office/drawing/2014/main" id="{DCE40CB4-F0AE-734E-AA44-08F29CD02D52}"/>
              </a:ext>
            </a:extLst>
          </p:cNvPr>
          <p:cNvGrpSpPr>
            <a:grpSpLocks/>
          </p:cNvGrpSpPr>
          <p:nvPr/>
        </p:nvGrpSpPr>
        <p:grpSpPr bwMode="auto">
          <a:xfrm>
            <a:off x="4043877" y="2362543"/>
            <a:ext cx="1074738" cy="962025"/>
            <a:chOff x="1540" y="2116"/>
            <a:chExt cx="677" cy="606"/>
          </a:xfrm>
        </p:grpSpPr>
        <p:sp>
          <p:nvSpPr>
            <p:cNvPr id="153" name="Oval 23">
              <a:extLst>
                <a:ext uri="{FF2B5EF4-FFF2-40B4-BE49-F238E27FC236}">
                  <a16:creationId xmlns:a16="http://schemas.microsoft.com/office/drawing/2014/main" id="{D3BB9C31-5D9C-684A-BB70-14F20480A9BA}"/>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4" name="Text Box 24">
              <a:extLst>
                <a:ext uri="{FF2B5EF4-FFF2-40B4-BE49-F238E27FC236}">
                  <a16:creationId xmlns:a16="http://schemas.microsoft.com/office/drawing/2014/main" id="{7290D8CF-233C-DA4F-8144-17F1D181B533}"/>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155" name="Freeform 25">
            <a:extLst>
              <a:ext uri="{FF2B5EF4-FFF2-40B4-BE49-F238E27FC236}">
                <a16:creationId xmlns:a16="http://schemas.microsoft.com/office/drawing/2014/main" id="{1FC9F4AC-60DA-664B-8892-94963AC43A62}"/>
              </a:ext>
            </a:extLst>
          </p:cNvPr>
          <p:cNvSpPr>
            <a:spLocks/>
          </p:cNvSpPr>
          <p:nvPr/>
        </p:nvSpPr>
        <p:spPr bwMode="auto">
          <a:xfrm>
            <a:off x="8423790"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Oval 26">
            <a:extLst>
              <a:ext uri="{FF2B5EF4-FFF2-40B4-BE49-F238E27FC236}">
                <a16:creationId xmlns:a16="http://schemas.microsoft.com/office/drawing/2014/main" id="{C6A7C088-049A-2642-9A7F-7E6B3149EB38}"/>
              </a:ext>
            </a:extLst>
          </p:cNvPr>
          <p:cNvSpPr>
            <a:spLocks noChangeArrowheads="1"/>
          </p:cNvSpPr>
          <p:nvPr/>
        </p:nvSpPr>
        <p:spPr bwMode="auto">
          <a:xfrm>
            <a:off x="8515865"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7" name="Text Box 27">
            <a:extLst>
              <a:ext uri="{FF2B5EF4-FFF2-40B4-BE49-F238E27FC236}">
                <a16:creationId xmlns:a16="http://schemas.microsoft.com/office/drawing/2014/main" id="{579E5E2D-B23D-BF43-A731-1D8C59C74825}"/>
              </a:ext>
            </a:extLst>
          </p:cNvPr>
          <p:cNvSpPr txBox="1">
            <a:spLocks noChangeArrowheads="1"/>
          </p:cNvSpPr>
          <p:nvPr/>
        </p:nvSpPr>
        <p:spPr bwMode="auto">
          <a:xfrm>
            <a:off x="8428552"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8" name="Freeform 28">
            <a:extLst>
              <a:ext uri="{FF2B5EF4-FFF2-40B4-BE49-F238E27FC236}">
                <a16:creationId xmlns:a16="http://schemas.microsoft.com/office/drawing/2014/main" id="{82DEFCAC-19A6-8E44-8FD1-83883629ABA7}"/>
              </a:ext>
            </a:extLst>
          </p:cNvPr>
          <p:cNvSpPr>
            <a:spLocks/>
          </p:cNvSpPr>
          <p:nvPr/>
        </p:nvSpPr>
        <p:spPr bwMode="auto">
          <a:xfrm flipV="1">
            <a:off x="8436490"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9" name="Group 29">
            <a:extLst>
              <a:ext uri="{FF2B5EF4-FFF2-40B4-BE49-F238E27FC236}">
                <a16:creationId xmlns:a16="http://schemas.microsoft.com/office/drawing/2014/main" id="{C486E2AA-5514-8349-8774-4B86574332CB}"/>
              </a:ext>
            </a:extLst>
          </p:cNvPr>
          <p:cNvGrpSpPr>
            <a:grpSpLocks/>
          </p:cNvGrpSpPr>
          <p:nvPr/>
        </p:nvGrpSpPr>
        <p:grpSpPr bwMode="auto">
          <a:xfrm>
            <a:off x="2100777" y="2306981"/>
            <a:ext cx="1333500" cy="1004887"/>
            <a:chOff x="220" y="1365"/>
            <a:chExt cx="840" cy="633"/>
          </a:xfrm>
        </p:grpSpPr>
        <p:sp>
          <p:nvSpPr>
            <p:cNvPr id="160" name="Line 30">
              <a:extLst>
                <a:ext uri="{FF2B5EF4-FFF2-40B4-BE49-F238E27FC236}">
                  <a16:creationId xmlns:a16="http://schemas.microsoft.com/office/drawing/2014/main" id="{C0CC58D1-8C84-3E47-909F-D82E63AA1223}"/>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1" name="Oval 31">
              <a:extLst>
                <a:ext uri="{FF2B5EF4-FFF2-40B4-BE49-F238E27FC236}">
                  <a16:creationId xmlns:a16="http://schemas.microsoft.com/office/drawing/2014/main" id="{852C29BD-DA30-1D45-9733-0851CEB0A1B7}"/>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2" name="Group 32">
            <a:extLst>
              <a:ext uri="{FF2B5EF4-FFF2-40B4-BE49-F238E27FC236}">
                <a16:creationId xmlns:a16="http://schemas.microsoft.com/office/drawing/2014/main" id="{A05DCA54-BB9F-EB48-8E9C-19DBD5FE15BE}"/>
              </a:ext>
            </a:extLst>
          </p:cNvPr>
          <p:cNvGrpSpPr>
            <a:grpSpLocks/>
          </p:cNvGrpSpPr>
          <p:nvPr/>
        </p:nvGrpSpPr>
        <p:grpSpPr bwMode="auto">
          <a:xfrm>
            <a:off x="8085652" y="3637306"/>
            <a:ext cx="1414463" cy="1033462"/>
            <a:chOff x="3990" y="2203"/>
            <a:chExt cx="891" cy="651"/>
          </a:xfrm>
        </p:grpSpPr>
        <p:sp>
          <p:nvSpPr>
            <p:cNvPr id="163" name="Line 33">
              <a:extLst>
                <a:ext uri="{FF2B5EF4-FFF2-40B4-BE49-F238E27FC236}">
                  <a16:creationId xmlns:a16="http://schemas.microsoft.com/office/drawing/2014/main" id="{E80E2DDF-EEB5-964A-90BC-641CEA2AE378}"/>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4" name="Oval 34">
              <a:extLst>
                <a:ext uri="{FF2B5EF4-FFF2-40B4-BE49-F238E27FC236}">
                  <a16:creationId xmlns:a16="http://schemas.microsoft.com/office/drawing/2014/main" id="{1AD65A4C-E940-0B4D-BFA8-963C7F4DFAD4}"/>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65" name="Text Box 35">
            <a:extLst>
              <a:ext uri="{FF2B5EF4-FFF2-40B4-BE49-F238E27FC236}">
                <a16:creationId xmlns:a16="http://schemas.microsoft.com/office/drawing/2014/main" id="{EB12FDE8-F0FD-FF44-9743-6CC34031C13C}"/>
              </a:ext>
            </a:extLst>
          </p:cNvPr>
          <p:cNvSpPr txBox="1">
            <a:spLocks noChangeArrowheads="1"/>
          </p:cNvSpPr>
          <p:nvPr/>
        </p:nvSpPr>
        <p:spPr bwMode="auto">
          <a:xfrm>
            <a:off x="2781815"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6" name="Line 36">
            <a:extLst>
              <a:ext uri="{FF2B5EF4-FFF2-40B4-BE49-F238E27FC236}">
                <a16:creationId xmlns:a16="http://schemas.microsoft.com/office/drawing/2014/main" id="{EC5F8159-C72E-AD42-9E10-261F73F1A7D7}"/>
              </a:ext>
            </a:extLst>
          </p:cNvPr>
          <p:cNvSpPr>
            <a:spLocks noChangeShapeType="1"/>
          </p:cNvSpPr>
          <p:nvPr/>
        </p:nvSpPr>
        <p:spPr bwMode="auto">
          <a:xfrm>
            <a:off x="2762765" y="1429093"/>
            <a:ext cx="12700" cy="747713"/>
          </a:xfrm>
          <a:prstGeom prst="line">
            <a:avLst/>
          </a:prstGeom>
          <a:noFill/>
          <a:ln w="762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7" name="Freeform 37">
            <a:extLst>
              <a:ext uri="{FF2B5EF4-FFF2-40B4-BE49-F238E27FC236}">
                <a16:creationId xmlns:a16="http://schemas.microsoft.com/office/drawing/2014/main" id="{35077D8E-9690-5846-914B-870B57CBFFC1}"/>
              </a:ext>
            </a:extLst>
          </p:cNvPr>
          <p:cNvSpPr>
            <a:spLocks/>
          </p:cNvSpPr>
          <p:nvPr/>
        </p:nvSpPr>
        <p:spPr bwMode="auto">
          <a:xfrm>
            <a:off x="2762765" y="2146643"/>
            <a:ext cx="6940550" cy="654050"/>
          </a:xfrm>
          <a:custGeom>
            <a:avLst/>
            <a:gdLst>
              <a:gd name="T0" fmla="*/ 0 w 4372"/>
              <a:gd name="T1" fmla="*/ 2147483647 h 412"/>
              <a:gd name="T2" fmla="*/ 2147483647 w 4372"/>
              <a:gd name="T3" fmla="*/ 0 h 412"/>
              <a:gd name="T4" fmla="*/ 2147483647 w 4372"/>
              <a:gd name="T5" fmla="*/ 2147483647 h 412"/>
              <a:gd name="T6" fmla="*/ 2147483647 w 4372"/>
              <a:gd name="T7" fmla="*/ 2147483647 h 4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72" h="412">
                <a:moveTo>
                  <a:pt x="0" y="10"/>
                </a:moveTo>
                <a:lnTo>
                  <a:pt x="1003" y="0"/>
                </a:lnTo>
                <a:lnTo>
                  <a:pt x="3508" y="412"/>
                </a:lnTo>
                <a:lnTo>
                  <a:pt x="4372" y="412"/>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8" name="Group 38">
            <a:extLst>
              <a:ext uri="{FF2B5EF4-FFF2-40B4-BE49-F238E27FC236}">
                <a16:creationId xmlns:a16="http://schemas.microsoft.com/office/drawing/2014/main" id="{39365D95-8B18-AE4F-9CEC-9330CADCC26B}"/>
              </a:ext>
            </a:extLst>
          </p:cNvPr>
          <p:cNvGrpSpPr>
            <a:grpSpLocks/>
          </p:cNvGrpSpPr>
          <p:nvPr/>
        </p:nvGrpSpPr>
        <p:grpSpPr bwMode="auto">
          <a:xfrm>
            <a:off x="2099190" y="2306981"/>
            <a:ext cx="1333500" cy="1004887"/>
            <a:chOff x="220" y="1365"/>
            <a:chExt cx="840" cy="633"/>
          </a:xfrm>
        </p:grpSpPr>
        <p:sp>
          <p:nvSpPr>
            <p:cNvPr id="169" name="Line 39">
              <a:extLst>
                <a:ext uri="{FF2B5EF4-FFF2-40B4-BE49-F238E27FC236}">
                  <a16:creationId xmlns:a16="http://schemas.microsoft.com/office/drawing/2014/main" id="{68593BDB-565B-C544-A698-EAB1100890B7}"/>
                </a:ext>
              </a:extLst>
            </p:cNvPr>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Oval 40">
              <a:extLst>
                <a:ext uri="{FF2B5EF4-FFF2-40B4-BE49-F238E27FC236}">
                  <a16:creationId xmlns:a16="http://schemas.microsoft.com/office/drawing/2014/main" id="{99432816-2BCC-7742-BBCC-636611297B08}"/>
                </a:ext>
              </a:extLst>
            </p:cNvPr>
            <p:cNvSpPr>
              <a:spLocks noChangeArrowheads="1"/>
            </p:cNvSpPr>
            <p:nvPr/>
          </p:nvSpPr>
          <p:spPr bwMode="auto">
            <a:xfrm>
              <a:off x="439" y="1392"/>
              <a:ext cx="621" cy="606"/>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71" name="Oval 41">
            <a:extLst>
              <a:ext uri="{FF2B5EF4-FFF2-40B4-BE49-F238E27FC236}">
                <a16:creationId xmlns:a16="http://schemas.microsoft.com/office/drawing/2014/main" id="{2992E4B8-7EF2-1A40-9095-9F4F00D2899A}"/>
              </a:ext>
            </a:extLst>
          </p:cNvPr>
          <p:cNvSpPr>
            <a:spLocks noChangeArrowheads="1"/>
          </p:cNvSpPr>
          <p:nvPr/>
        </p:nvSpPr>
        <p:spPr bwMode="auto">
          <a:xfrm>
            <a:off x="4083565" y="2362543"/>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2" name="Line 42">
            <a:extLst>
              <a:ext uri="{FF2B5EF4-FFF2-40B4-BE49-F238E27FC236}">
                <a16:creationId xmlns:a16="http://schemas.microsoft.com/office/drawing/2014/main" id="{FBE55EA3-B145-414B-A6FF-0F0EE400CF3B}"/>
              </a:ext>
            </a:extLst>
          </p:cNvPr>
          <p:cNvSpPr>
            <a:spLocks noChangeShapeType="1"/>
          </p:cNvSpPr>
          <p:nvPr/>
        </p:nvSpPr>
        <p:spPr bwMode="auto">
          <a:xfrm flipH="1">
            <a:off x="8012627" y="5042243"/>
            <a:ext cx="12700" cy="1193800"/>
          </a:xfrm>
          <a:prstGeom prst="line">
            <a:avLst/>
          </a:prstGeom>
          <a:noFill/>
          <a:ln w="762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3" name="Freeform 43">
            <a:extLst>
              <a:ext uri="{FF2B5EF4-FFF2-40B4-BE49-F238E27FC236}">
                <a16:creationId xmlns:a16="http://schemas.microsoft.com/office/drawing/2014/main" id="{59879249-0649-F24B-B236-6C80F47AAC2E}"/>
              </a:ext>
            </a:extLst>
          </p:cNvPr>
          <p:cNvSpPr>
            <a:spLocks/>
          </p:cNvSpPr>
          <p:nvPr/>
        </p:nvSpPr>
        <p:spPr bwMode="auto">
          <a:xfrm>
            <a:off x="2353297" y="3858893"/>
            <a:ext cx="7272844" cy="2363522"/>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 name="connsiteX0" fmla="*/ 10000 w 10000"/>
              <a:gd name="connsiteY0" fmla="*/ 10000 h 10000"/>
              <a:gd name="connsiteX1" fmla="*/ 7637 w 10000"/>
              <a:gd name="connsiteY1" fmla="*/ 9715 h 10000"/>
              <a:gd name="connsiteX2" fmla="*/ 4476 w 10000"/>
              <a:gd name="connsiteY2" fmla="*/ 0 h 10000"/>
              <a:gd name="connsiteX3" fmla="*/ 0 w 10000"/>
              <a:gd name="connsiteY3" fmla="*/ 0 h 10000"/>
              <a:gd name="connsiteX0" fmla="*/ 10058 w 10058"/>
              <a:gd name="connsiteY0" fmla="*/ 9601 h 9715"/>
              <a:gd name="connsiteX1" fmla="*/ 7637 w 10058"/>
              <a:gd name="connsiteY1" fmla="*/ 9715 h 9715"/>
              <a:gd name="connsiteX2" fmla="*/ 4476 w 10058"/>
              <a:gd name="connsiteY2" fmla="*/ 0 h 9715"/>
              <a:gd name="connsiteX3" fmla="*/ 0 w 10058"/>
              <a:gd name="connsiteY3" fmla="*/ 0 h 9715"/>
              <a:gd name="connsiteX0" fmla="*/ 10000 w 10000"/>
              <a:gd name="connsiteY0" fmla="*/ 10059 h 10059"/>
              <a:gd name="connsiteX1" fmla="*/ 7593 w 10000"/>
              <a:gd name="connsiteY1" fmla="*/ 10000 h 10059"/>
              <a:gd name="connsiteX2" fmla="*/ 4450 w 10000"/>
              <a:gd name="connsiteY2" fmla="*/ 0 h 10059"/>
              <a:gd name="connsiteX3" fmla="*/ 0 w 10000"/>
              <a:gd name="connsiteY3" fmla="*/ 0 h 10059"/>
              <a:gd name="connsiteX0" fmla="*/ 10019 w 10019"/>
              <a:gd name="connsiteY0" fmla="*/ 10000 h 10000"/>
              <a:gd name="connsiteX1" fmla="*/ 7593 w 10019"/>
              <a:gd name="connsiteY1" fmla="*/ 10000 h 10000"/>
              <a:gd name="connsiteX2" fmla="*/ 4450 w 10019"/>
              <a:gd name="connsiteY2" fmla="*/ 0 h 10000"/>
              <a:gd name="connsiteX3" fmla="*/ 0 w 10019"/>
              <a:gd name="connsiteY3" fmla="*/ 0 h 10000"/>
              <a:gd name="connsiteX0" fmla="*/ 10019 w 10019"/>
              <a:gd name="connsiteY0" fmla="*/ 10586 h 10586"/>
              <a:gd name="connsiteX1" fmla="*/ 7593 w 10019"/>
              <a:gd name="connsiteY1" fmla="*/ 10586 h 10586"/>
              <a:gd name="connsiteX2" fmla="*/ 3989 w 10019"/>
              <a:gd name="connsiteY2" fmla="*/ 0 h 10586"/>
              <a:gd name="connsiteX3" fmla="*/ 0 w 10019"/>
              <a:gd name="connsiteY3" fmla="*/ 586 h 10586"/>
              <a:gd name="connsiteX0" fmla="*/ 10845 w 10845"/>
              <a:gd name="connsiteY0" fmla="*/ 10762 h 10762"/>
              <a:gd name="connsiteX1" fmla="*/ 8419 w 10845"/>
              <a:gd name="connsiteY1" fmla="*/ 10762 h 10762"/>
              <a:gd name="connsiteX2" fmla="*/ 4815 w 10845"/>
              <a:gd name="connsiteY2" fmla="*/ 176 h 10762"/>
              <a:gd name="connsiteX3" fmla="*/ 0 w 10845"/>
              <a:gd name="connsiteY3" fmla="*/ 0 h 10762"/>
              <a:gd name="connsiteX0" fmla="*/ 10845 w 10845"/>
              <a:gd name="connsiteY0" fmla="*/ 10762 h 10762"/>
              <a:gd name="connsiteX1" fmla="*/ 8419 w 10845"/>
              <a:gd name="connsiteY1" fmla="*/ 10762 h 10762"/>
              <a:gd name="connsiteX2" fmla="*/ 4911 w 10845"/>
              <a:gd name="connsiteY2" fmla="*/ 0 h 10762"/>
              <a:gd name="connsiteX3" fmla="*/ 0 w 10845"/>
              <a:gd name="connsiteY3" fmla="*/ 0 h 10762"/>
            </a:gdLst>
            <a:ahLst/>
            <a:cxnLst>
              <a:cxn ang="0">
                <a:pos x="connsiteX0" y="connsiteY0"/>
              </a:cxn>
              <a:cxn ang="0">
                <a:pos x="connsiteX1" y="connsiteY1"/>
              </a:cxn>
              <a:cxn ang="0">
                <a:pos x="connsiteX2" y="connsiteY2"/>
              </a:cxn>
              <a:cxn ang="0">
                <a:pos x="connsiteX3" y="connsiteY3"/>
              </a:cxn>
            </a:cxnLst>
            <a:rect l="l" t="t" r="r" b="b"/>
            <a:pathLst>
              <a:path w="10845" h="10762">
                <a:moveTo>
                  <a:pt x="10845" y="10762"/>
                </a:moveTo>
                <a:lnTo>
                  <a:pt x="8419" y="10762"/>
                </a:lnTo>
                <a:lnTo>
                  <a:pt x="4911"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4" name="Group 44">
            <a:extLst>
              <a:ext uri="{FF2B5EF4-FFF2-40B4-BE49-F238E27FC236}">
                <a16:creationId xmlns:a16="http://schemas.microsoft.com/office/drawing/2014/main" id="{4CB3F7B7-A92F-9B44-92D1-D6DEC5F500AB}"/>
              </a:ext>
            </a:extLst>
          </p:cNvPr>
          <p:cNvGrpSpPr>
            <a:grpSpLocks/>
          </p:cNvGrpSpPr>
          <p:nvPr/>
        </p:nvGrpSpPr>
        <p:grpSpPr bwMode="auto">
          <a:xfrm>
            <a:off x="2099190" y="2306981"/>
            <a:ext cx="1333500" cy="1004887"/>
            <a:chOff x="220" y="1365"/>
            <a:chExt cx="840" cy="633"/>
          </a:xfrm>
        </p:grpSpPr>
        <p:sp>
          <p:nvSpPr>
            <p:cNvPr id="175" name="Line 45">
              <a:extLst>
                <a:ext uri="{FF2B5EF4-FFF2-40B4-BE49-F238E27FC236}">
                  <a16:creationId xmlns:a16="http://schemas.microsoft.com/office/drawing/2014/main" id="{DA8F54E3-D3E2-5B44-B37B-20E7E272BF11}"/>
                </a:ext>
              </a:extLst>
            </p:cNvPr>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Oval 46">
              <a:extLst>
                <a:ext uri="{FF2B5EF4-FFF2-40B4-BE49-F238E27FC236}">
                  <a16:creationId xmlns:a16="http://schemas.microsoft.com/office/drawing/2014/main" id="{33BDD6FC-64CC-2347-921C-94F2A9140CAE}"/>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77" name="Oval 47">
            <a:extLst>
              <a:ext uri="{FF2B5EF4-FFF2-40B4-BE49-F238E27FC236}">
                <a16:creationId xmlns:a16="http://schemas.microsoft.com/office/drawing/2014/main" id="{2345AD26-ED57-8F45-B85E-B4144CC9753D}"/>
              </a:ext>
            </a:extLst>
          </p:cNvPr>
          <p:cNvSpPr>
            <a:spLocks noChangeArrowheads="1"/>
          </p:cNvSpPr>
          <p:nvPr/>
        </p:nvSpPr>
        <p:spPr bwMode="auto">
          <a:xfrm>
            <a:off x="4080390" y="2367306"/>
            <a:ext cx="985837" cy="962025"/>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8" name="Line 48">
            <a:extLst>
              <a:ext uri="{FF2B5EF4-FFF2-40B4-BE49-F238E27FC236}">
                <a16:creationId xmlns:a16="http://schemas.microsoft.com/office/drawing/2014/main" id="{99C86BB6-8396-7A4F-A95C-226EFE593D74}"/>
              </a:ext>
            </a:extLst>
          </p:cNvPr>
          <p:cNvSpPr>
            <a:spLocks noChangeShapeType="1"/>
          </p:cNvSpPr>
          <p:nvPr/>
        </p:nvSpPr>
        <p:spPr bwMode="auto">
          <a:xfrm>
            <a:off x="8304727" y="2634006"/>
            <a:ext cx="0" cy="817562"/>
          </a:xfrm>
          <a:prstGeom prst="line">
            <a:avLst/>
          </a:prstGeom>
          <a:noFill/>
          <a:ln w="762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9" name="Freeform 49">
            <a:extLst>
              <a:ext uri="{FF2B5EF4-FFF2-40B4-BE49-F238E27FC236}">
                <a16:creationId xmlns:a16="http://schemas.microsoft.com/office/drawing/2014/main" id="{A524866B-F3C3-0047-A24A-49C2FB7D032D}"/>
              </a:ext>
            </a:extLst>
          </p:cNvPr>
          <p:cNvSpPr>
            <a:spLocks/>
          </p:cNvSpPr>
          <p:nvPr/>
        </p:nvSpPr>
        <p:spPr bwMode="auto">
          <a:xfrm>
            <a:off x="5409127" y="2356193"/>
            <a:ext cx="4378325" cy="1025525"/>
          </a:xfrm>
          <a:custGeom>
            <a:avLst/>
            <a:gdLst>
              <a:gd name="T0" fmla="*/ 2147483647 w 2758"/>
              <a:gd name="T1" fmla="*/ 2147483647 h 646"/>
              <a:gd name="T2" fmla="*/ 2147483647 w 2758"/>
              <a:gd name="T3" fmla="*/ 2147483647 h 646"/>
              <a:gd name="T4" fmla="*/ 2147483647 w 2758"/>
              <a:gd name="T5" fmla="*/ 0 h 646"/>
              <a:gd name="T6" fmla="*/ 0 w 2758"/>
              <a:gd name="T7" fmla="*/ 0 h 6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58" h="646">
                <a:moveTo>
                  <a:pt x="2758" y="646"/>
                </a:moveTo>
                <a:lnTo>
                  <a:pt x="1763" y="629"/>
                </a:lnTo>
                <a:lnTo>
                  <a:pt x="1039"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0" name="Line 50">
            <a:extLst>
              <a:ext uri="{FF2B5EF4-FFF2-40B4-BE49-F238E27FC236}">
                <a16:creationId xmlns:a16="http://schemas.microsoft.com/office/drawing/2014/main" id="{E379A4B3-232E-9D4E-A4C6-40DC647EE314}"/>
              </a:ext>
            </a:extLst>
          </p:cNvPr>
          <p:cNvSpPr>
            <a:spLocks noChangeShapeType="1"/>
          </p:cNvSpPr>
          <p:nvPr/>
        </p:nvSpPr>
        <p:spPr bwMode="auto">
          <a:xfrm>
            <a:off x="5299590" y="2230781"/>
            <a:ext cx="0" cy="846137"/>
          </a:xfrm>
          <a:prstGeom prst="line">
            <a:avLst/>
          </a:prstGeom>
          <a:noFill/>
          <a:ln w="762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81" name="Freeform 51">
            <a:extLst>
              <a:ext uri="{FF2B5EF4-FFF2-40B4-BE49-F238E27FC236}">
                <a16:creationId xmlns:a16="http://schemas.microsoft.com/office/drawing/2014/main" id="{7739BB93-5816-A945-B555-C2290DB78FDA}"/>
              </a:ext>
            </a:extLst>
          </p:cNvPr>
          <p:cNvSpPr>
            <a:spLocks/>
          </p:cNvSpPr>
          <p:nvPr/>
        </p:nvSpPr>
        <p:spPr bwMode="auto">
          <a:xfrm>
            <a:off x="5394840" y="3091206"/>
            <a:ext cx="5464750" cy="1966367"/>
          </a:xfrm>
          <a:custGeom>
            <a:avLst/>
            <a:gdLst>
              <a:gd name="T0" fmla="*/ 0 w 2566"/>
              <a:gd name="T1" fmla="*/ 0 h 1344"/>
              <a:gd name="T2" fmla="*/ 2147483647 w 2566"/>
              <a:gd name="T3" fmla="*/ 0 h 1344"/>
              <a:gd name="T4" fmla="*/ 2147483647 w 2566"/>
              <a:gd name="T5" fmla="*/ 2147483647 h 1344"/>
              <a:gd name="T6" fmla="*/ 2147483647 w 2566"/>
              <a:gd name="T7" fmla="*/ 2147483647 h 1344"/>
              <a:gd name="T8" fmla="*/ 0 60000 65536"/>
              <a:gd name="T9" fmla="*/ 0 60000 65536"/>
              <a:gd name="T10" fmla="*/ 0 60000 65536"/>
              <a:gd name="T11" fmla="*/ 0 60000 65536"/>
              <a:gd name="connsiteX0" fmla="*/ 0 w 10000"/>
              <a:gd name="connsiteY0" fmla="*/ 0 h 10000"/>
              <a:gd name="connsiteX1" fmla="*/ 3948 w 10000"/>
              <a:gd name="connsiteY1" fmla="*/ 0 h 10000"/>
              <a:gd name="connsiteX2" fmla="*/ 6367 w 10000"/>
              <a:gd name="connsiteY2" fmla="*/ 9215 h 10000"/>
              <a:gd name="connsiteX3" fmla="*/ 10000 w 10000"/>
              <a:gd name="connsiteY3" fmla="*/ 10000 h 10000"/>
              <a:gd name="connsiteX0" fmla="*/ 0 w 13541"/>
              <a:gd name="connsiteY0" fmla="*/ 0 h 9215"/>
              <a:gd name="connsiteX1" fmla="*/ 3948 w 13541"/>
              <a:gd name="connsiteY1" fmla="*/ 0 h 9215"/>
              <a:gd name="connsiteX2" fmla="*/ 6367 w 13541"/>
              <a:gd name="connsiteY2" fmla="*/ 9215 h 9215"/>
              <a:gd name="connsiteX3" fmla="*/ 13541 w 13541"/>
              <a:gd name="connsiteY3" fmla="*/ 9155 h 9215"/>
              <a:gd name="connsiteX0" fmla="*/ 0 w 9977"/>
              <a:gd name="connsiteY0" fmla="*/ 0 h 10132"/>
              <a:gd name="connsiteX1" fmla="*/ 2916 w 9977"/>
              <a:gd name="connsiteY1" fmla="*/ 0 h 10132"/>
              <a:gd name="connsiteX2" fmla="*/ 4702 w 9977"/>
              <a:gd name="connsiteY2" fmla="*/ 10000 h 10132"/>
              <a:gd name="connsiteX3" fmla="*/ 9977 w 9977"/>
              <a:gd name="connsiteY3" fmla="*/ 10132 h 10132"/>
              <a:gd name="connsiteX0" fmla="*/ 0 w 9930"/>
              <a:gd name="connsiteY0" fmla="*/ 0 h 9871"/>
              <a:gd name="connsiteX1" fmla="*/ 2923 w 9930"/>
              <a:gd name="connsiteY1" fmla="*/ 0 h 9871"/>
              <a:gd name="connsiteX2" fmla="*/ 4713 w 9930"/>
              <a:gd name="connsiteY2" fmla="*/ 9870 h 9871"/>
              <a:gd name="connsiteX3" fmla="*/ 9930 w 9930"/>
              <a:gd name="connsiteY3" fmla="*/ 9871 h 9871"/>
            </a:gdLst>
            <a:ahLst/>
            <a:cxnLst>
              <a:cxn ang="0">
                <a:pos x="connsiteX0" y="connsiteY0"/>
              </a:cxn>
              <a:cxn ang="0">
                <a:pos x="connsiteX1" y="connsiteY1"/>
              </a:cxn>
              <a:cxn ang="0">
                <a:pos x="connsiteX2" y="connsiteY2"/>
              </a:cxn>
              <a:cxn ang="0">
                <a:pos x="connsiteX3" y="connsiteY3"/>
              </a:cxn>
            </a:cxnLst>
            <a:rect l="l" t="t" r="r" b="b"/>
            <a:pathLst>
              <a:path w="9930" h="9871">
                <a:moveTo>
                  <a:pt x="0" y="0"/>
                </a:moveTo>
                <a:lnTo>
                  <a:pt x="2923" y="0"/>
                </a:lnTo>
                <a:lnTo>
                  <a:pt x="4713" y="9870"/>
                </a:lnTo>
                <a:lnTo>
                  <a:pt x="9930" y="9871"/>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3" name="Group 18">
            <a:extLst>
              <a:ext uri="{FF2B5EF4-FFF2-40B4-BE49-F238E27FC236}">
                <a16:creationId xmlns:a16="http://schemas.microsoft.com/office/drawing/2014/main" id="{E284CB69-9F56-5447-BEF7-41A6F2097E8E}"/>
              </a:ext>
            </a:extLst>
          </p:cNvPr>
          <p:cNvGrpSpPr>
            <a:grpSpLocks/>
          </p:cNvGrpSpPr>
          <p:nvPr/>
        </p:nvGrpSpPr>
        <p:grpSpPr bwMode="auto">
          <a:xfrm>
            <a:off x="8325876" y="3094378"/>
            <a:ext cx="1828800" cy="257175"/>
            <a:chOff x="2222" y="3039"/>
            <a:chExt cx="1152" cy="162"/>
          </a:xfrm>
        </p:grpSpPr>
        <p:sp>
          <p:nvSpPr>
            <p:cNvPr id="184" name="Text Box 19">
              <a:extLst>
                <a:ext uri="{FF2B5EF4-FFF2-40B4-BE49-F238E27FC236}">
                  <a16:creationId xmlns:a16="http://schemas.microsoft.com/office/drawing/2014/main" id="{678874A7-3358-5245-A855-DD7E0879D4F7}"/>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Line 21">
              <a:extLst>
                <a:ext uri="{FF2B5EF4-FFF2-40B4-BE49-F238E27FC236}">
                  <a16:creationId xmlns:a16="http://schemas.microsoft.com/office/drawing/2014/main" id="{56F7C457-03D8-8D48-AA90-B8A469907EAC}"/>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6" name="Text Box 20">
            <a:extLst>
              <a:ext uri="{FF2B5EF4-FFF2-40B4-BE49-F238E27FC236}">
                <a16:creationId xmlns:a16="http://schemas.microsoft.com/office/drawing/2014/main" id="{69FC3B3A-305F-9B42-8C7E-1C83075E3B36}"/>
              </a:ext>
            </a:extLst>
          </p:cNvPr>
          <p:cNvSpPr txBox="1">
            <a:spLocks noChangeArrowheads="1"/>
          </p:cNvSpPr>
          <p:nvPr/>
        </p:nvSpPr>
        <p:spPr bwMode="auto">
          <a:xfrm>
            <a:off x="8327563" y="2720534"/>
            <a:ext cx="338931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87" name="Group 186">
            <a:extLst>
              <a:ext uri="{FF2B5EF4-FFF2-40B4-BE49-F238E27FC236}">
                <a16:creationId xmlns:a16="http://schemas.microsoft.com/office/drawing/2014/main" id="{5E98E9E8-48DD-2748-A76A-B86C9C5E697C}"/>
              </a:ext>
            </a:extLst>
          </p:cNvPr>
          <p:cNvGrpSpPr/>
          <p:nvPr/>
        </p:nvGrpSpPr>
        <p:grpSpPr>
          <a:xfrm>
            <a:off x="8049650" y="5037504"/>
            <a:ext cx="4142349" cy="933582"/>
            <a:chOff x="8049650" y="5037504"/>
            <a:chExt cx="4142349" cy="933582"/>
          </a:xfrm>
        </p:grpSpPr>
        <p:sp>
          <p:nvSpPr>
            <p:cNvPr id="188" name="Text Box 7">
              <a:extLst>
                <a:ext uri="{FF2B5EF4-FFF2-40B4-BE49-F238E27FC236}">
                  <a16:creationId xmlns:a16="http://schemas.microsoft.com/office/drawing/2014/main" id="{547ACF72-ABFE-F64D-A037-06CF279C9791}"/>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9" name="Text Box 8">
              <a:extLst>
                <a:ext uri="{FF2B5EF4-FFF2-40B4-BE49-F238E27FC236}">
                  <a16:creationId xmlns:a16="http://schemas.microsoft.com/office/drawing/2014/main" id="{ECD6AB09-3FC5-E94A-8358-34E4DEA2C45B}"/>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90" name="Line 9">
              <a:extLst>
                <a:ext uri="{FF2B5EF4-FFF2-40B4-BE49-F238E27FC236}">
                  <a16:creationId xmlns:a16="http://schemas.microsoft.com/office/drawing/2014/main" id="{7D4185C1-C6BE-C246-B80B-AE0463D5FBCE}"/>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2" name="Group 191">
            <a:extLst>
              <a:ext uri="{FF2B5EF4-FFF2-40B4-BE49-F238E27FC236}">
                <a16:creationId xmlns:a16="http://schemas.microsoft.com/office/drawing/2014/main" id="{72958F88-7074-B842-A46E-481DB4E01207}"/>
              </a:ext>
            </a:extLst>
          </p:cNvPr>
          <p:cNvGrpSpPr/>
          <p:nvPr/>
        </p:nvGrpSpPr>
        <p:grpSpPr>
          <a:xfrm>
            <a:off x="2271408" y="3285357"/>
            <a:ext cx="3548062" cy="989290"/>
            <a:chOff x="2270357" y="3283338"/>
            <a:chExt cx="3548062" cy="989290"/>
          </a:xfrm>
        </p:grpSpPr>
        <p:sp>
          <p:nvSpPr>
            <p:cNvPr id="193" name="Freeform 11">
              <a:extLst>
                <a:ext uri="{FF2B5EF4-FFF2-40B4-BE49-F238E27FC236}">
                  <a16:creationId xmlns:a16="http://schemas.microsoft.com/office/drawing/2014/main" id="{52733FCF-77DF-9549-96B3-58AA1212641C}"/>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94" name="Group 193">
              <a:extLst>
                <a:ext uri="{FF2B5EF4-FFF2-40B4-BE49-F238E27FC236}">
                  <a16:creationId xmlns:a16="http://schemas.microsoft.com/office/drawing/2014/main" id="{C96D5C38-D258-7844-A167-A26AFEEF24DC}"/>
                </a:ext>
              </a:extLst>
            </p:cNvPr>
            <p:cNvGrpSpPr/>
            <p:nvPr/>
          </p:nvGrpSpPr>
          <p:grpSpPr>
            <a:xfrm>
              <a:off x="2270357" y="3545923"/>
              <a:ext cx="3548062" cy="726705"/>
              <a:chOff x="2270357" y="3545923"/>
              <a:chExt cx="3548062" cy="726705"/>
            </a:xfrm>
          </p:grpSpPr>
          <p:sp>
            <p:nvSpPr>
              <p:cNvPr id="195" name="Text Box 12">
                <a:extLst>
                  <a:ext uri="{FF2B5EF4-FFF2-40B4-BE49-F238E27FC236}">
                    <a16:creationId xmlns:a16="http://schemas.microsoft.com/office/drawing/2014/main" id="{3746DB42-5771-AD4D-9F11-055A2239F8E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96" name="Line 13">
                <a:extLst>
                  <a:ext uri="{FF2B5EF4-FFF2-40B4-BE49-F238E27FC236}">
                    <a16:creationId xmlns:a16="http://schemas.microsoft.com/office/drawing/2014/main" id="{F8840150-1E50-BA43-88E4-6F9188C56B55}"/>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Text Box 48">
                <a:extLst>
                  <a:ext uri="{FF2B5EF4-FFF2-40B4-BE49-F238E27FC236}">
                    <a16:creationId xmlns:a16="http://schemas.microsoft.com/office/drawing/2014/main" id="{13B3F6FD-1B58-2540-B908-71B7D9EFB8FD}"/>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98" name="Text Box 19">
            <a:extLst>
              <a:ext uri="{FF2B5EF4-FFF2-40B4-BE49-F238E27FC236}">
                <a16:creationId xmlns:a16="http://schemas.microsoft.com/office/drawing/2014/main" id="{A11F89D9-6E4B-F142-B680-CA9246FEB5B1}"/>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99" name="Text Box 20">
            <a:extLst>
              <a:ext uri="{FF2B5EF4-FFF2-40B4-BE49-F238E27FC236}">
                <a16:creationId xmlns:a16="http://schemas.microsoft.com/office/drawing/2014/main" id="{F9D8503E-DBC4-144B-9DCA-064A69A8F4DF}"/>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59" name="Slide Number Placeholder 2">
            <a:extLst>
              <a:ext uri="{FF2B5EF4-FFF2-40B4-BE49-F238E27FC236}">
                <a16:creationId xmlns:a16="http://schemas.microsoft.com/office/drawing/2014/main" id="{4C651C60-2DE4-0846-A035-0E312850CE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16</a:t>
            </a:fld>
            <a:endParaRPr lang="en-US" dirty="0"/>
          </a:p>
        </p:txBody>
      </p:sp>
    </p:spTree>
    <p:extLst>
      <p:ext uri="{BB962C8B-B14F-4D97-AF65-F5344CB8AC3E}">
        <p14:creationId xmlns:p14="http://schemas.microsoft.com/office/powerpoint/2010/main" val="381530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dissolve">
                                      <p:cBhvr>
                                        <p:cTn id="7" dur="500"/>
                                        <p:tgtEl>
                                          <p:spTgt spid="15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2"/>
                                        </p:tgtEl>
                                        <p:attrNameLst>
                                          <p:attrName>style.visibility</p:attrName>
                                        </p:attrNameLst>
                                      </p:cBhvr>
                                      <p:to>
                                        <p:strVal val="visible"/>
                                      </p:to>
                                    </p:set>
                                    <p:animEffect transition="in" filter="dissolve">
                                      <p:cBhvr>
                                        <p:cTn id="12" dur="500"/>
                                        <p:tgtEl>
                                          <p:spTgt spid="1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66"/>
                                        </p:tgtEl>
                                        <p:attrNameLst>
                                          <p:attrName>style.visibility</p:attrName>
                                        </p:attrNameLst>
                                      </p:cBhvr>
                                      <p:to>
                                        <p:strVal val="visible"/>
                                      </p:to>
                                    </p:set>
                                    <p:animEffect transition="in" filter="wipe(up)">
                                      <p:cBhvr>
                                        <p:cTn id="17" dur="1000"/>
                                        <p:tgtEl>
                                          <p:spTgt spid="166"/>
                                        </p:tgtEl>
                                      </p:cBhvr>
                                    </p:animEffect>
                                  </p:childTnLst>
                                  <p:subTnLst>
                                    <p:set>
                                      <p:cBhvr override="childStyle">
                                        <p:cTn dur="1" fill="hold" display="0" masterRel="nextClick" afterEffect="1"/>
                                        <p:tgtEl>
                                          <p:spTgt spid="16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7"/>
                                        </p:tgtEl>
                                        <p:attrNameLst>
                                          <p:attrName>style.visibility</p:attrName>
                                        </p:attrNameLst>
                                      </p:cBhvr>
                                      <p:to>
                                        <p:strVal val="visible"/>
                                      </p:to>
                                    </p:set>
                                    <p:animEffect transition="in" filter="wipe(left)">
                                      <p:cBhvr>
                                        <p:cTn id="22" dur="1000"/>
                                        <p:tgtEl>
                                          <p:spTgt spid="167"/>
                                        </p:tgtEl>
                                      </p:cBhvr>
                                    </p:animEffect>
                                  </p:childTnLst>
                                  <p:subTnLst>
                                    <p:set>
                                      <p:cBhvr override="childStyle">
                                        <p:cTn dur="1" fill="hold" display="0" masterRel="nextClick" afterEffect="1"/>
                                        <p:tgtEl>
                                          <p:spTgt spid="167"/>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16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78"/>
                                        </p:tgtEl>
                                        <p:attrNameLst>
                                          <p:attrName>style.visibility</p:attrName>
                                        </p:attrNameLst>
                                      </p:cBhvr>
                                      <p:to>
                                        <p:strVal val="visible"/>
                                      </p:to>
                                    </p:set>
                                    <p:animEffect transition="in" filter="wipe(up)">
                                      <p:cBhvr>
                                        <p:cTn id="31" dur="1000"/>
                                        <p:tgtEl>
                                          <p:spTgt spid="178"/>
                                        </p:tgtEl>
                                      </p:cBhvr>
                                    </p:animEffect>
                                  </p:childTnLst>
                                  <p:subTnLst>
                                    <p:set>
                                      <p:cBhvr override="childStyle">
                                        <p:cTn dur="1" fill="hold" display="0" masterRel="nextClick" afterEffect="1"/>
                                        <p:tgtEl>
                                          <p:spTgt spid="178"/>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79"/>
                                        </p:tgtEl>
                                        <p:attrNameLst>
                                          <p:attrName>style.visibility</p:attrName>
                                        </p:attrNameLst>
                                      </p:cBhvr>
                                      <p:to>
                                        <p:strVal val="visible"/>
                                      </p:to>
                                    </p:set>
                                    <p:animEffect transition="in" filter="wipe(right)">
                                      <p:cBhvr>
                                        <p:cTn id="36" dur="1000"/>
                                        <p:tgtEl>
                                          <p:spTgt spid="179"/>
                                        </p:tgtEl>
                                      </p:cBhvr>
                                    </p:animEffect>
                                  </p:childTnLst>
                                  <p:subTnLst>
                                    <p:set>
                                      <p:cBhvr override="childStyle">
                                        <p:cTn dur="1" fill="hold" display="0" masterRel="nextClick" afterEffect="1"/>
                                        <p:tgtEl>
                                          <p:spTgt spid="179"/>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80"/>
                                        </p:tgtEl>
                                        <p:attrNameLst>
                                          <p:attrName>style.visibility</p:attrName>
                                        </p:attrNameLst>
                                      </p:cBhvr>
                                      <p:to>
                                        <p:strVal val="visible"/>
                                      </p:to>
                                    </p:set>
                                    <p:animEffect transition="in" filter="wipe(up)">
                                      <p:cBhvr>
                                        <p:cTn id="41" dur="1000"/>
                                        <p:tgtEl>
                                          <p:spTgt spid="180"/>
                                        </p:tgtEl>
                                      </p:cBhvr>
                                    </p:animEffect>
                                  </p:childTnLst>
                                  <p:subTnLst>
                                    <p:set>
                                      <p:cBhvr override="childStyle">
                                        <p:cTn dur="1" fill="hold" display="0" masterRel="nextClick" afterEffect="1"/>
                                        <p:tgtEl>
                                          <p:spTgt spid="180"/>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81"/>
                                        </p:tgtEl>
                                        <p:attrNameLst>
                                          <p:attrName>style.visibility</p:attrName>
                                        </p:attrNameLst>
                                      </p:cBhvr>
                                      <p:to>
                                        <p:strVal val="visible"/>
                                      </p:to>
                                    </p:set>
                                    <p:animEffect transition="in" filter="wipe(left)">
                                      <p:cBhvr>
                                        <p:cTn id="46" dur="2000"/>
                                        <p:tgtEl>
                                          <p:spTgt spid="181"/>
                                        </p:tgtEl>
                                      </p:cBhvr>
                                    </p:animEffect>
                                  </p:childTnLst>
                                  <p:subTnLst>
                                    <p:set>
                                      <p:cBhvr override="childStyle">
                                        <p:cTn dur="1" fill="hold" display="0" masterRel="nextClick" afterEffect="1"/>
                                        <p:tgtEl>
                                          <p:spTgt spid="181"/>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72"/>
                                        </p:tgtEl>
                                        <p:attrNameLst>
                                          <p:attrName>style.visibility</p:attrName>
                                        </p:attrNameLst>
                                      </p:cBhvr>
                                      <p:to>
                                        <p:strVal val="visible"/>
                                      </p:to>
                                    </p:set>
                                    <p:animEffect transition="in" filter="wipe(up)">
                                      <p:cBhvr>
                                        <p:cTn id="51" dur="1000"/>
                                        <p:tgtEl>
                                          <p:spTgt spid="172"/>
                                        </p:tgtEl>
                                      </p:cBhvr>
                                    </p:animEffect>
                                  </p:childTnLst>
                                  <p:subTnLst>
                                    <p:set>
                                      <p:cBhvr override="childStyle">
                                        <p:cTn dur="1" fill="hold" display="0" masterRel="nextClick" afterEffect="1"/>
                                        <p:tgtEl>
                                          <p:spTgt spid="172"/>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73"/>
                                        </p:tgtEl>
                                        <p:attrNameLst>
                                          <p:attrName>style.visibility</p:attrName>
                                        </p:attrNameLst>
                                      </p:cBhvr>
                                      <p:to>
                                        <p:strVal val="visible"/>
                                      </p:to>
                                    </p:set>
                                    <p:animEffect transition="in" filter="wipe(down)">
                                      <p:cBhvr>
                                        <p:cTn id="56" dur="1000"/>
                                        <p:tgtEl>
                                          <p:spTgt spid="173"/>
                                        </p:tgtEl>
                                      </p:cBhvr>
                                    </p:animEffect>
                                  </p:childTnLst>
                                </p:cTn>
                              </p:par>
                            </p:childTnLst>
                          </p:cTn>
                        </p:par>
                        <p:par>
                          <p:cTn id="57" fill="hold">
                            <p:stCondLst>
                              <p:cond delay="1000"/>
                            </p:stCondLst>
                            <p:childTnLst>
                              <p:par>
                                <p:cTn id="58" presetID="1" presetClass="entr" presetSubtype="0" fill="hold" nodeType="afterEffect">
                                  <p:stCondLst>
                                    <p:cond delay="0"/>
                                  </p:stCondLst>
                                  <p:childTnLst>
                                    <p:set>
                                      <p:cBhvr>
                                        <p:cTn id="59" dur="1" fill="hold">
                                          <p:stCondLst>
                                            <p:cond delay="0"/>
                                          </p:stCondLst>
                                        </p:cTn>
                                        <p:tgtEl>
                                          <p:spTgt spid="174"/>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77"/>
                                        </p:tgtEl>
                                        <p:attrNameLst>
                                          <p:attrName>style.visibility</p:attrName>
                                        </p:attrNameLst>
                                      </p:cBhvr>
                                      <p:to>
                                        <p:strVal val="visible"/>
                                      </p:to>
                                    </p:set>
                                  </p:childTnLst>
                                </p:cTn>
                              </p:par>
                              <p:par>
                                <p:cTn id="62" presetID="1" presetClass="entr" presetSubtype="0" fill="hold" grpId="1" nodeType="withEffect">
                                  <p:stCondLst>
                                    <p:cond delay="0"/>
                                  </p:stCondLst>
                                  <p:childTnLst>
                                    <p:set>
                                      <p:cBhvr>
                                        <p:cTn id="63"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animBg="1"/>
      <p:bldP spid="177" grpId="0" animBg="1"/>
      <p:bldP spid="177"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a:t>Questions</a:t>
            </a:r>
            <a:endParaRPr lang="en-US" dirty="0"/>
          </a:p>
        </p:txBody>
      </p:sp>
      <p:sp>
        <p:nvSpPr>
          <p:cNvPr id="7" name="Subtitle 6"/>
          <p:cNvSpPr>
            <a:spLocks noGrp="1"/>
          </p:cNvSpPr>
          <p:nvPr>
            <p:ph type="subTitle" idx="1"/>
          </p:nvPr>
        </p:nvSpPr>
        <p:spPr/>
        <p:txBody>
          <a:bodyPr/>
          <a:lstStyle/>
          <a:p>
            <a:endParaRPr lang="en-US"/>
          </a:p>
        </p:txBody>
      </p:sp>
      <p:sp>
        <p:nvSpPr>
          <p:cNvPr id="5" name="Slide Number Placeholder 4"/>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17</a:t>
            </a:fld>
            <a:endParaRPr lang="en-US" dirty="0"/>
          </a:p>
        </p:txBody>
      </p:sp>
    </p:spTree>
    <p:extLst>
      <p:ext uri="{BB962C8B-B14F-4D97-AF65-F5344CB8AC3E}">
        <p14:creationId xmlns:p14="http://schemas.microsoft.com/office/powerpoint/2010/main" val="3954814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1828</Words>
  <Application>Microsoft Office PowerPoint</Application>
  <PresentationFormat>Widescreen</PresentationFormat>
  <Paragraphs>312</Paragraphs>
  <Slides>17</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Calibri Light</vt:lpstr>
      <vt:lpstr>Courier</vt:lpstr>
      <vt:lpstr>Symbol</vt:lpstr>
      <vt:lpstr>Tahoma</vt:lpstr>
      <vt:lpstr>Times New Roman</vt:lpstr>
      <vt:lpstr>Wingdings</vt:lpstr>
      <vt:lpstr>Office Theme</vt:lpstr>
      <vt:lpstr>PowerPoint Presentation</vt:lpstr>
      <vt:lpstr>Chapter 3: roadmap</vt:lpstr>
      <vt:lpstr>What is meant by reliable data transfer?</vt:lpstr>
      <vt:lpstr>Principles of reliable data transfer </vt:lpstr>
      <vt:lpstr>Principles of reliable data transfer </vt:lpstr>
      <vt:lpstr>Principles of reliable data transfer </vt:lpstr>
      <vt:lpstr>Principles of reliable data transfer </vt:lpstr>
      <vt:lpstr>Reliable data transfer protocol (rdt): interfaces</vt:lpstr>
      <vt:lpstr>Reliable data transfer: getting started</vt:lpstr>
      <vt:lpstr>rdt1.0: reliable transfer over a reliable channel</vt:lpstr>
      <vt:lpstr>rdt2.0: channel with bit errors</vt:lpstr>
      <vt:lpstr>rdt2.0: channel with bit errors</vt:lpstr>
      <vt:lpstr>rdt2.0: FSM specifications</vt:lpstr>
      <vt:lpstr>rdt2.0: FSM specification</vt:lpstr>
      <vt:lpstr>rdt2.0: operation with no errors</vt:lpstr>
      <vt:lpstr>rdt2.0: corrupted packet scenario</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sana razzaq</dc:creator>
  <cp:lastModifiedBy>sana razzaq</cp:lastModifiedBy>
  <cp:revision>1</cp:revision>
  <dcterms:created xsi:type="dcterms:W3CDTF">2024-08-13T06:51:47Z</dcterms:created>
  <dcterms:modified xsi:type="dcterms:W3CDTF">2024-08-13T06:52:39Z</dcterms:modified>
</cp:coreProperties>
</file>