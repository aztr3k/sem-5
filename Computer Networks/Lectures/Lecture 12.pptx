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960" r:id="rId2"/>
    <p:sldId id="1043" r:id="rId3"/>
    <p:sldId id="1209" r:id="rId4"/>
    <p:sldId id="1210" r:id="rId5"/>
    <p:sldId id="1211" r:id="rId6"/>
    <p:sldId id="1212" r:id="rId7"/>
    <p:sldId id="1213" r:id="rId8"/>
    <p:sldId id="1214" r:id="rId9"/>
    <p:sldId id="1215" r:id="rId10"/>
    <p:sldId id="1070" r:id="rId11"/>
    <p:sldId id="1071" r:id="rId12"/>
    <p:sldId id="1072" r:id="rId13"/>
    <p:sldId id="1073" r:id="rId14"/>
    <p:sldId id="1074" r:id="rId15"/>
    <p:sldId id="1075" r:id="rId16"/>
    <p:sldId id="1076" r:id="rId17"/>
    <p:sldId id="1204" r:id="rId18"/>
    <p:sldId id="1103" r:id="rId19"/>
    <p:sldId id="1205" r:id="rId20"/>
    <p:sldId id="1078" r:id="rId21"/>
    <p:sldId id="1079" r:id="rId22"/>
    <p:sldId id="1080" r:id="rId23"/>
    <p:sldId id="1082" r:id="rId24"/>
    <p:sldId id="1206" r:id="rId25"/>
    <p:sldId id="1081" r:id="rId26"/>
    <p:sldId id="1207" r:id="rId27"/>
    <p:sldId id="120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F4C57-9F7E-42F9-A444-402D9CABEB9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7EAAE1-69BC-41CE-9C21-C4C99F46B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89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(April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added new  8</a:t>
            </a:r>
            <a:r>
              <a:rPr lang="en-US" baseline="30000" dirty="0"/>
              <a:t>th</a:t>
            </a:r>
            <a:r>
              <a:rPr lang="en-US" dirty="0"/>
              <a:t> edition material on QUIC, CUBIC, delay-based congestion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17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We’ll start with the simplest case possible - an unreliable channel that is, in fact perfect – no segments are lost, corrupted, </a:t>
            </a:r>
            <a:r>
              <a:rPr lang="en-US" dirty="0" err="1"/>
              <a:t>dupplicated</a:t>
            </a:r>
            <a:r>
              <a:rPr lang="en-US" dirty="0"/>
              <a:t> or reordered.  The sender just sends and it pops out the other side(perhaps after some delay) perfectly.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135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35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8594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607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690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034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185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924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446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3015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6009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915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98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8674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029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see the familiar four state sender from our </a:t>
            </a:r>
            <a:r>
              <a:rPr lang="en-US" dirty="0" err="1"/>
              <a:t>rdt</a:t>
            </a:r>
            <a:r>
              <a:rPr lang="en-US" dirty="0"/>
              <a:t> 2.1 and 2.2 protocols. Top two states when sending packet with zero seq # and bottom two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2053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see the familiar four state sender from our </a:t>
            </a:r>
            <a:r>
              <a:rPr lang="en-US" dirty="0" err="1"/>
              <a:t>rdt</a:t>
            </a:r>
            <a:r>
              <a:rPr lang="en-US" dirty="0"/>
              <a:t> 2.1 and 2.2 protocols. Top two states when sending packet with zero seq # and bottom two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8835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91548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294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if RTT=30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msec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, 1KB pkt every 30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msec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: 33kB/sec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thruput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 over 1 Gbps link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ＭＳ Ｐゴシック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network protocol limits use of physical resources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ＭＳ Ｐゴシック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Let’s develop a formula for utilization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ＭＳ Ｐゴシック" charset="0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2625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27997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6030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7885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two generic forms of pipelined protocols: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go-Back-N, selective repeat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122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D2C0E-D150-443C-AC62-94B4C4F8D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7712D-A3C9-533D-E9F3-45285386B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2226D-CC25-83E2-FDE0-9C48E962E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853E1-880E-03A1-8C3D-BB8B36D3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BA814-34C0-35DD-FC06-2CA45EFB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3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3070-D977-C007-158A-156D93A39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07D3E-B9B5-82D6-C3CE-FDD6182F0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83A88-7BE6-6E5E-374A-985BBE5E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BA347-D284-EE83-C5E4-A41EA06D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05B8E-296E-D1B4-A964-0FF87E36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7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4B092-97B1-9E2A-1BF9-688FF7B92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3D1A2-91C8-9608-5037-DCCECC311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1C9EE-DD0D-6F7A-FEA6-F51659F0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867A0-4C1C-90DB-1F97-8890C4A9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847A6-1D23-8CAE-7E31-213FBD791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6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D70B7-FB95-ADCC-1262-6E64B418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66138-C711-68CC-BE5E-43467E2A1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43EC3-0020-9FFC-E7DB-5E47BDD27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5467E-C840-84F5-F975-ABF197ADB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394CC-BD0B-4C72-B2F6-9A68CB766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CDA15-7E36-50EC-5E83-9303E9A0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15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BA1CB-71CF-1D86-9738-9D7F30A3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065E9-ED78-48B8-022D-7FCD2C5F3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25051-AA27-5787-F3D6-BF1A4A16C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E2347-24F7-6D61-4849-95740C324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BB3936-D43F-AFB2-A85B-DD03F680E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C0FDAF-126A-EC3A-690E-2151E109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9D736-7EB7-84DE-DC51-AAD40F9B6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EA8140-DDF5-E881-E50D-B5B0307C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9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C79AA-A411-0841-C27E-C835B255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00B1C-E3F4-58F3-918B-EC08953B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AD9E3-6116-C648-17DA-16758094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CAC2E-ACD3-F3A9-2E5E-4C0EB0159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9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95A58A-5B77-21CD-B52D-73CA4989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105ACA-34AA-DA00-AC19-0C9E0950A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C0EC7-F80B-0FB4-48F3-D33366959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45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61040-395A-2AAB-75C0-CCD5CD7F1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F9CAD-10D7-9980-7C9F-95485BB3B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39852-674D-21B8-94C5-D02B62344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109A2-1535-93D2-48DA-0A8E740BE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C91F7-A26E-468C-1409-F46CFB6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50D4E-E252-93CF-C5EC-D31EDF31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51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D0214-55A3-16C4-3BDF-D9ED3A36F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2E32AF-95FA-FC23-C116-F0A1DF163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E8866-ABE2-B507-4715-A4CB8CD4A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27207-D585-053B-CDBF-C06E04504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C617F-98C4-0575-6434-ED8701C7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86C2A-878C-7EDD-F27E-B1559BDF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C777-0B11-13E8-DEAE-087DFDD94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43DE6-0F85-E63E-0577-DA2902840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F9469-244C-70C2-92EA-CC120C98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40954-7843-43F9-56FD-4C295211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A9703-7F56-1AA7-FD00-40AED814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39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146131-EC62-069D-8177-9AF2B2CF4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D9778-76CD-FA4B-0B0A-F9CB78AE7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0C89D-C04C-6C0D-68C9-B1FAE8CDB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236EC-BA08-F19E-7A2E-E69FAB81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8622C-4B7E-DF43-D5B4-C804D6DA2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68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6213C-310D-6805-729C-D80B1A93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5A1B1-8543-36A2-C7A6-37EBADD5C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DAF5E-7395-0B8F-CE6C-8E2B762AF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9B397-9172-4026-92B3-54293165CE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2584D-C57E-97C9-4D44-6EA66A298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88C34-63F8-101D-3806-B93D18694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79264-AC75-4EF5-B98B-28A7E9309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9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664" y="2227489"/>
            <a:ext cx="5052616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3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Transport Layer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6B45F3-5B52-354C-801C-007B1F521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15" y="515257"/>
            <a:ext cx="3338286" cy="417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rgbClr val="010086"/>
              </a:buClr>
            </a:pPr>
            <a:r>
              <a:rPr lang="en-US" altLang="en-US" sz="3200" dirty="0"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Evolution of transport-layer functionality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D691E7-EAAE-3346-9874-13E19E433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C958F9-547C-2644-99EE-6ECDE636E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24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rdt1.0: </a:t>
            </a:r>
            <a:r>
              <a:rPr lang="en-US" sz="4400" dirty="0"/>
              <a:t>reliable transfer over a reliable channel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973DDEF7-C28A-F04F-AD65-DE94D6CF205E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370551"/>
            <a:ext cx="7896225" cy="3019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underlying channel perfectly reliable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bit errors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loss of packets</a:t>
            </a:r>
          </a:p>
        </p:txBody>
      </p:sp>
      <p:sp>
        <p:nvSpPr>
          <p:cNvPr id="42" name="Freeform 6">
            <a:extLst>
              <a:ext uri="{FF2B5EF4-FFF2-40B4-BE49-F238E27FC236}">
                <a16:creationId xmlns:a16="http://schemas.microsoft.com/office/drawing/2014/main" id="{72679C5D-F3D6-DB4D-B0B3-7D339F36B74D}"/>
              </a:ext>
            </a:extLst>
          </p:cNvPr>
          <p:cNvSpPr>
            <a:spLocks/>
          </p:cNvSpPr>
          <p:nvPr/>
        </p:nvSpPr>
        <p:spPr bwMode="auto">
          <a:xfrm>
            <a:off x="2850759" y="4627024"/>
            <a:ext cx="611187" cy="1027112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" name="Text Box 7">
            <a:extLst>
              <a:ext uri="{FF2B5EF4-FFF2-40B4-BE49-F238E27FC236}">
                <a16:creationId xmlns:a16="http://schemas.microsoft.com/office/drawing/2014/main" id="{9B9E7156-7163-514D-9217-22616724C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680" y="5048046"/>
            <a:ext cx="2682875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packet =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make_pkt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(data)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udt_send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(packet)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585234-D59C-0545-841B-A27D389014BC}"/>
              </a:ext>
            </a:extLst>
          </p:cNvPr>
          <p:cNvGrpSpPr/>
          <p:nvPr/>
        </p:nvGrpSpPr>
        <p:grpSpPr>
          <a:xfrm>
            <a:off x="3261921" y="4671474"/>
            <a:ext cx="2255838" cy="428625"/>
            <a:chOff x="3084121" y="4379374"/>
            <a:chExt cx="2255838" cy="428625"/>
          </a:xfrm>
        </p:grpSpPr>
        <p:sp>
          <p:nvSpPr>
            <p:cNvPr id="44" name="Text Box 8">
              <a:extLst>
                <a:ext uri="{FF2B5EF4-FFF2-40B4-BE49-F238E27FC236}">
                  <a16:creationId xmlns:a16="http://schemas.microsoft.com/office/drawing/2014/main" id="{F76E2421-9F9F-FC42-837C-A6C05CDF5A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121" y="4379374"/>
              <a:ext cx="2255838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rdt_send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(data)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Line 9">
              <a:extLst>
                <a:ext uri="{FF2B5EF4-FFF2-40B4-BE49-F238E27FC236}">
                  <a16:creationId xmlns:a16="http://schemas.microsoft.com/office/drawing/2014/main" id="{7D992FAD-AF7B-FB47-8AD1-6805A49B2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4134" y="4722274"/>
              <a:ext cx="12969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7" name="Text Box 11">
            <a:extLst>
              <a:ext uri="{FF2B5EF4-FFF2-40B4-BE49-F238E27FC236}">
                <a16:creationId xmlns:a16="http://schemas.microsoft.com/office/drawing/2014/main" id="{3D37D715-DFFD-D144-86D7-84AAD1425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1566" y="5063272"/>
            <a:ext cx="24876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extract 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packet,data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deliver_data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(data)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" name="Freeform 14">
            <a:extLst>
              <a:ext uri="{FF2B5EF4-FFF2-40B4-BE49-F238E27FC236}">
                <a16:creationId xmlns:a16="http://schemas.microsoft.com/office/drawing/2014/main" id="{971AF932-17EF-C746-BE92-15D36EC0FFDD}"/>
              </a:ext>
            </a:extLst>
          </p:cNvPr>
          <p:cNvSpPr>
            <a:spLocks/>
          </p:cNvSpPr>
          <p:nvPr/>
        </p:nvSpPr>
        <p:spPr bwMode="auto">
          <a:xfrm>
            <a:off x="9171991" y="4666397"/>
            <a:ext cx="611187" cy="1027113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AF4F26-5E6F-8F4D-A612-50842B04E515}"/>
              </a:ext>
            </a:extLst>
          </p:cNvPr>
          <p:cNvGrpSpPr/>
          <p:nvPr/>
        </p:nvGrpSpPr>
        <p:grpSpPr>
          <a:xfrm>
            <a:off x="9597441" y="4742597"/>
            <a:ext cx="1541462" cy="336550"/>
            <a:chOff x="9419641" y="4450497"/>
            <a:chExt cx="1541462" cy="336550"/>
          </a:xfrm>
        </p:grpSpPr>
        <p:sp>
          <p:nvSpPr>
            <p:cNvPr id="52" name="Line 16">
              <a:extLst>
                <a:ext uri="{FF2B5EF4-FFF2-40B4-BE49-F238E27FC236}">
                  <a16:creationId xmlns:a16="http://schemas.microsoft.com/office/drawing/2014/main" id="{755DAE31-6FE9-AA43-BE65-0F2D63F3A7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05366" y="4774347"/>
              <a:ext cx="12969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Rectangle 18">
              <a:extLst>
                <a:ext uri="{FF2B5EF4-FFF2-40B4-BE49-F238E27FC236}">
                  <a16:creationId xmlns:a16="http://schemas.microsoft.com/office/drawing/2014/main" id="{CC7E66DF-39CF-1142-BEBC-BFB9E33B6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9641" y="4450497"/>
              <a:ext cx="15414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rdt_rcv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(packet)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A7B144-988F-3142-A53D-2AD67E7E25EE}"/>
              </a:ext>
            </a:extLst>
          </p:cNvPr>
          <p:cNvGrpSpPr/>
          <p:nvPr/>
        </p:nvGrpSpPr>
        <p:grpSpPr>
          <a:xfrm>
            <a:off x="6812375" y="4666397"/>
            <a:ext cx="2496141" cy="1027113"/>
            <a:chOff x="6075775" y="5479197"/>
            <a:chExt cx="2496141" cy="1027113"/>
          </a:xfrm>
        </p:grpSpPr>
        <p:sp>
          <p:nvSpPr>
            <p:cNvPr id="48" name="Oval 12">
              <a:extLst>
                <a:ext uri="{FF2B5EF4-FFF2-40B4-BE49-F238E27FC236}">
                  <a16:creationId xmlns:a16="http://schemas.microsoft.com/office/drawing/2014/main" id="{15A02CFE-8E15-5B47-955E-884B96AD1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6866" y="5495072"/>
              <a:ext cx="955675" cy="101123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Text Box 13">
              <a:extLst>
                <a:ext uri="{FF2B5EF4-FFF2-40B4-BE49-F238E27FC236}">
                  <a16:creationId xmlns:a16="http://schemas.microsoft.com/office/drawing/2014/main" id="{CBC9B555-6B5C-7741-88F2-5079C5900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3366" y="5580797"/>
              <a:ext cx="1098550" cy="912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call from below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Line 17">
              <a:extLst>
                <a:ext uri="{FF2B5EF4-FFF2-40B4-BE49-F238E27FC236}">
                  <a16:creationId xmlns:a16="http://schemas.microsoft.com/office/drawing/2014/main" id="{07806C13-AC0C-744F-A689-B195B8638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3016" y="5479197"/>
              <a:ext cx="385762" cy="2428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Text Box 20">
              <a:extLst>
                <a:ext uri="{FF2B5EF4-FFF2-40B4-BE49-F238E27FC236}">
                  <a16:creationId xmlns:a16="http://schemas.microsoft.com/office/drawing/2014/main" id="{AD290DCB-DA87-BF46-B9F0-5E8404C38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5775" y="5745404"/>
              <a:ext cx="12477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</a:t>
              </a:r>
            </a:p>
          </p:txBody>
        </p:sp>
      </p:grpSp>
      <p:pic>
        <p:nvPicPr>
          <p:cNvPr id="25604" name="Picture 4" descr="Image result for easy button&quot;">
            <a:extLst>
              <a:ext uri="{FF2B5EF4-FFF2-40B4-BE49-F238E27FC236}">
                <a16:creationId xmlns:a16="http://schemas.microsoft.com/office/drawing/2014/main" id="{FD822998-0D59-7945-AC2A-EA37C240B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940" y="1871323"/>
            <a:ext cx="2139751" cy="213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3">
            <a:extLst>
              <a:ext uri="{FF2B5EF4-FFF2-40B4-BE49-F238E27FC236}">
                <a16:creationId xmlns:a16="http://schemas.microsoft.com/office/drawing/2014/main" id="{85610A16-2670-7448-8F41-F03B9E524F38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2794001"/>
            <a:ext cx="7896225" cy="1511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separate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FSMs for sender, receiver: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sends data into underlying channel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receiver reads data from underlying channel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F2EE118-43B6-9B4F-B323-BCE06C274814}"/>
              </a:ext>
            </a:extLst>
          </p:cNvPr>
          <p:cNvGrpSpPr/>
          <p:nvPr/>
        </p:nvGrpSpPr>
        <p:grpSpPr>
          <a:xfrm>
            <a:off x="706840" y="4601624"/>
            <a:ext cx="2271310" cy="1027112"/>
            <a:chOff x="262340" y="5579524"/>
            <a:chExt cx="2271310" cy="102711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85AB00B-9A93-AB4E-B61E-272D7AC641F9}"/>
                </a:ext>
              </a:extLst>
            </p:cNvPr>
            <p:cNvGrpSpPr/>
            <p:nvPr/>
          </p:nvGrpSpPr>
          <p:grpSpPr>
            <a:xfrm>
              <a:off x="262340" y="5579524"/>
              <a:ext cx="2201069" cy="1027112"/>
              <a:chOff x="795740" y="4614324"/>
              <a:chExt cx="2201069" cy="1027112"/>
            </a:xfrm>
          </p:grpSpPr>
          <p:sp>
            <p:nvSpPr>
              <p:cNvPr id="46" name="Line 10">
                <a:extLst>
                  <a:ext uri="{FF2B5EF4-FFF2-40B4-BE49-F238E27FC236}">
                    <a16:creationId xmlns:a16="http://schemas.microsoft.com/office/drawing/2014/main" id="{53CBEB33-D2BE-EA4E-9053-8A4F592B82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7284" y="4614324"/>
                <a:ext cx="385762" cy="2428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5" name="Text Box 19">
                <a:extLst>
                  <a:ext uri="{FF2B5EF4-FFF2-40B4-BE49-F238E27FC236}">
                    <a16:creationId xmlns:a16="http://schemas.microsoft.com/office/drawing/2014/main" id="{16E30F35-9D21-5542-B316-8DC5ACBE2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5740" y="4985781"/>
                <a:ext cx="1089025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sender</a:t>
                </a:r>
              </a:p>
            </p:txBody>
          </p:sp>
          <p:sp>
            <p:nvSpPr>
              <p:cNvPr id="40" name="Oval 4">
                <a:extLst>
                  <a:ext uri="{FF2B5EF4-FFF2-40B4-BE49-F238E27FC236}">
                    <a16:creationId xmlns:a16="http://schemas.microsoft.com/office/drawing/2014/main" id="{1B157770-6762-CF45-9B74-7457DBFE2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134" y="4630199"/>
                <a:ext cx="955675" cy="1011237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" name="Text Box 5">
              <a:extLst>
                <a:ext uri="{FF2B5EF4-FFF2-40B4-BE49-F238E27FC236}">
                  <a16:creationId xmlns:a16="http://schemas.microsoft.com/office/drawing/2014/main" id="{CE38ECA0-E265-FA4A-950E-CC50EF2CA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5100" y="5693824"/>
              <a:ext cx="1098550" cy="912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call from above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4E6AC2D9-3427-7142-95C3-6DF771223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2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7" grpId="0"/>
      <p:bldP spid="50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rdt2.0: channel with bit errors</a:t>
            </a:r>
            <a:endParaRPr lang="en-US" sz="4400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3E368E9F-FC61-C94B-B4CE-5CA7B0FEB788}"/>
              </a:ext>
            </a:extLst>
          </p:cNvPr>
          <p:cNvSpPr txBox="1">
            <a:spLocks noChangeArrowheads="1"/>
          </p:cNvSpPr>
          <p:nvPr/>
        </p:nvSpPr>
        <p:spPr>
          <a:xfrm>
            <a:off x="673994" y="1482748"/>
            <a:ext cx="11100625" cy="4448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9210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underlying channel may flip bits in packet</a:t>
            </a:r>
          </a:p>
          <a:p>
            <a:pPr marL="800100" marR="0" lvl="1" indent="-228600" algn="l" defTabSz="914400" rtl="0" eaLnBrk="1" fontAlgn="auto" latinLnBrk="0" hangingPunct="1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checksum (e.g., Internet checksum) to detect bit errors</a:t>
            </a:r>
          </a:p>
          <a:p>
            <a:pPr marL="457200" marR="0" lvl="0" indent="-29210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question: how to recover from errors?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DDD1DAD8-493C-8447-8752-319FA74AD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236" y="3911182"/>
            <a:ext cx="100415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How do humans recover from “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errors”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during conversation?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5B1A153-C333-754C-9249-656206CB5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61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rdt2.0: channel with bit errors</a:t>
            </a:r>
            <a:endParaRPr lang="en-US" sz="4400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3E368E9F-FC61-C94B-B4CE-5CA7B0FEB788}"/>
              </a:ext>
            </a:extLst>
          </p:cNvPr>
          <p:cNvSpPr txBox="1">
            <a:spLocks noChangeArrowheads="1"/>
          </p:cNvSpPr>
          <p:nvPr/>
        </p:nvSpPr>
        <p:spPr>
          <a:xfrm>
            <a:off x="673994" y="1274398"/>
            <a:ext cx="11100625" cy="4448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marR="0" lvl="0" indent="-295275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underlying channel may flip bits in packet</a:t>
            </a:r>
          </a:p>
          <a:p>
            <a:pPr marL="695325" marR="0" lvl="1" indent="-231775" algn="l" defTabSz="914400" rtl="0" eaLnBrk="1" fontAlgn="auto" latinLnBrk="0" hangingPunct="1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checksum to detect bit errors</a:t>
            </a:r>
          </a:p>
          <a:p>
            <a:pPr marL="409575" marR="0" lvl="0" indent="-27940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question: how to recover from errors?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6EBA4373-2F4E-9C40-8D34-CD4CD038CE07}"/>
              </a:ext>
            </a:extLst>
          </p:cNvPr>
          <p:cNvSpPr txBox="1">
            <a:spLocks noChangeArrowheads="1"/>
          </p:cNvSpPr>
          <p:nvPr/>
        </p:nvSpPr>
        <p:spPr>
          <a:xfrm>
            <a:off x="662419" y="2680738"/>
            <a:ext cx="11004862" cy="2157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ct val="450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acknowledgements (ACKs):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receiver explicitly tells sender that pkt received OK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negative acknowledgements (NAKs):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receiver explicitly tells sender that pkt had errors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retransmits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pkt on receipt of NAK</a:t>
            </a:r>
          </a:p>
        </p:txBody>
      </p:sp>
      <p:grpSp>
        <p:nvGrpSpPr>
          <p:cNvPr id="7" name="Group 13">
            <a:extLst>
              <a:ext uri="{FF2B5EF4-FFF2-40B4-BE49-F238E27FC236}">
                <a16:creationId xmlns:a16="http://schemas.microsoft.com/office/drawing/2014/main" id="{0DED2191-7C7B-EA46-AFB1-5A7A4509EEC8}"/>
              </a:ext>
            </a:extLst>
          </p:cNvPr>
          <p:cNvGrpSpPr>
            <a:grpSpLocks/>
          </p:cNvGrpSpPr>
          <p:nvPr/>
        </p:nvGrpSpPr>
        <p:grpSpPr bwMode="auto">
          <a:xfrm>
            <a:off x="937549" y="5087784"/>
            <a:ext cx="10729731" cy="1466850"/>
            <a:chOff x="1552" y="2800"/>
            <a:chExt cx="2578" cy="92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A5C33DB-F1DF-074B-AA2F-B41978703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2" y="2974"/>
              <a:ext cx="2578" cy="595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CB4139DF-921F-E940-9AD8-677EFA8E2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6" y="2864"/>
              <a:ext cx="88" cy="2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44BC4A2-14C8-8A47-B1A1-506171B4D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4" y="2800"/>
              <a:ext cx="687" cy="3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stop and wait</a:t>
              </a:r>
            </a:p>
          </p:txBody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EEE47A92-87A4-AD48-8A94-DC9DCFA6D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8" y="3136"/>
              <a:ext cx="2452" cy="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sender sends one packet,  then waits for receiver  response</a:t>
              </a:r>
            </a:p>
          </p:txBody>
        </p:sp>
      </p:grp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8EDA3199-9071-AC4D-8C68-A368602E9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07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68">
            <a:extLst>
              <a:ext uri="{FF2B5EF4-FFF2-40B4-BE49-F238E27FC236}">
                <a16:creationId xmlns:a16="http://schemas.microsoft.com/office/drawing/2014/main" id="{68EB694D-F4ED-0141-BBB1-034CE4FDF113}"/>
              </a:ext>
            </a:extLst>
          </p:cNvPr>
          <p:cNvSpPr/>
          <p:nvPr/>
        </p:nvSpPr>
        <p:spPr>
          <a:xfrm>
            <a:off x="9870220" y="5077299"/>
            <a:ext cx="1669250" cy="31104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3935A0A-DEFE-0D4A-A039-8D2F8EDE2B13}"/>
              </a:ext>
            </a:extLst>
          </p:cNvPr>
          <p:cNvSpPr/>
          <p:nvPr/>
        </p:nvSpPr>
        <p:spPr>
          <a:xfrm>
            <a:off x="10103160" y="2734197"/>
            <a:ext cx="1333279" cy="31104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rdt2.0: FSM specifications</a:t>
            </a:r>
            <a:endParaRPr lang="en-US" sz="4400" dirty="0"/>
          </a:p>
        </p:txBody>
      </p:sp>
      <p:sp>
        <p:nvSpPr>
          <p:cNvPr id="109" name="Oval 3">
            <a:extLst>
              <a:ext uri="{FF2B5EF4-FFF2-40B4-BE49-F238E27FC236}">
                <a16:creationId xmlns:a16="http://schemas.microsoft.com/office/drawing/2014/main" id="{606B9A69-736A-BE4F-8E57-1E4DD86AD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8951" y="2349843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0" name="Text Box 4">
            <a:extLst>
              <a:ext uri="{FF2B5EF4-FFF2-40B4-BE49-F238E27FC236}">
                <a16:creationId xmlns:a16="http://schemas.microsoft.com/office/drawing/2014/main" id="{9158E582-2053-DB47-8544-5430174AA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351" y="2433981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Wait for call from above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A819A83-E50E-0842-8735-DFC0B065BABA}"/>
              </a:ext>
            </a:extLst>
          </p:cNvPr>
          <p:cNvGrpSpPr/>
          <p:nvPr/>
        </p:nvGrpSpPr>
        <p:grpSpPr>
          <a:xfrm>
            <a:off x="5004826" y="2400535"/>
            <a:ext cx="3673475" cy="919271"/>
            <a:chOff x="5004826" y="2400535"/>
            <a:chExt cx="3673475" cy="919271"/>
          </a:xfrm>
        </p:grpSpPr>
        <p:sp>
          <p:nvSpPr>
            <p:cNvPr id="120" name="Freeform 14">
              <a:extLst>
                <a:ext uri="{FF2B5EF4-FFF2-40B4-BE49-F238E27FC236}">
                  <a16:creationId xmlns:a16="http://schemas.microsoft.com/office/drawing/2014/main" id="{6794142E-E5B8-3F45-81C1-8A8F8E602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4826" y="2426043"/>
              <a:ext cx="466725" cy="893763"/>
            </a:xfrm>
            <a:custGeom>
              <a:avLst/>
              <a:gdLst>
                <a:gd name="T0" fmla="*/ 0 w 735"/>
                <a:gd name="T1" fmla="*/ 2147483647 h 1080"/>
                <a:gd name="T2" fmla="*/ 0 w 735"/>
                <a:gd name="T3" fmla="*/ 2147483647 h 10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Text Box 15">
              <a:extLst>
                <a:ext uri="{FF2B5EF4-FFF2-40B4-BE49-F238E27FC236}">
                  <a16:creationId xmlns:a16="http://schemas.microsoft.com/office/drawing/2014/main" id="{EBF1463C-CBD7-1049-80A6-FED400C12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4388" y="2740368"/>
              <a:ext cx="17637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Text Box 16">
              <a:extLst>
                <a:ext uri="{FF2B5EF4-FFF2-40B4-BE49-F238E27FC236}">
                  <a16:creationId xmlns:a16="http://schemas.microsoft.com/office/drawing/2014/main" id="{C1489951-F533-6243-BF54-F4FB19251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988" y="2400535"/>
              <a:ext cx="3389313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Line 17">
              <a:extLst>
                <a:ext uri="{FF2B5EF4-FFF2-40B4-BE49-F238E27FC236}">
                  <a16:creationId xmlns:a16="http://schemas.microsoft.com/office/drawing/2014/main" id="{E7CC9AD6-FAA9-474E-B46B-1E603A7D16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8051" y="2740368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8" name="Group 22">
            <a:extLst>
              <a:ext uri="{FF2B5EF4-FFF2-40B4-BE49-F238E27FC236}">
                <a16:creationId xmlns:a16="http://schemas.microsoft.com/office/drawing/2014/main" id="{6E4E03EB-86D3-824C-9C7B-D6204AA45EF1}"/>
              </a:ext>
            </a:extLst>
          </p:cNvPr>
          <p:cNvGrpSpPr>
            <a:grpSpLocks/>
          </p:cNvGrpSpPr>
          <p:nvPr/>
        </p:nvGrpSpPr>
        <p:grpSpPr bwMode="auto">
          <a:xfrm>
            <a:off x="4044388" y="2362543"/>
            <a:ext cx="1074738" cy="962025"/>
            <a:chOff x="1540" y="2116"/>
            <a:chExt cx="677" cy="606"/>
          </a:xfrm>
        </p:grpSpPr>
        <p:sp>
          <p:nvSpPr>
            <p:cNvPr id="129" name="Oval 23">
              <a:extLst>
                <a:ext uri="{FF2B5EF4-FFF2-40B4-BE49-F238E27FC236}">
                  <a16:creationId xmlns:a16="http://schemas.microsoft.com/office/drawing/2014/main" id="{290478B3-253F-D048-8DE9-187624FD0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0" name="Text Box 24">
              <a:extLst>
                <a:ext uri="{FF2B5EF4-FFF2-40B4-BE49-F238E27FC236}">
                  <a16:creationId xmlns:a16="http://schemas.microsoft.com/office/drawing/2014/main" id="{33128FC3-7340-2B43-998B-4D14B544C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ACK or NAK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0E913FD-5AB0-D647-A2DB-C235CF8D718B}"/>
              </a:ext>
            </a:extLst>
          </p:cNvPr>
          <p:cNvGrpSpPr/>
          <p:nvPr/>
        </p:nvGrpSpPr>
        <p:grpSpPr>
          <a:xfrm>
            <a:off x="8325876" y="2721318"/>
            <a:ext cx="3394075" cy="1036638"/>
            <a:chOff x="8325876" y="2721318"/>
            <a:chExt cx="3394075" cy="1036638"/>
          </a:xfrm>
        </p:grpSpPr>
        <p:grpSp>
          <p:nvGrpSpPr>
            <p:cNvPr id="124" name="Group 18">
              <a:extLst>
                <a:ext uri="{FF2B5EF4-FFF2-40B4-BE49-F238E27FC236}">
                  <a16:creationId xmlns:a16="http://schemas.microsoft.com/office/drawing/2014/main" id="{1FD009B5-82D3-A54A-A742-8202ED8CE7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5876" y="2721318"/>
              <a:ext cx="3394075" cy="630238"/>
              <a:chOff x="2222" y="2804"/>
              <a:chExt cx="2138" cy="397"/>
            </a:xfrm>
          </p:grpSpPr>
          <p:sp>
            <p:nvSpPr>
              <p:cNvPr id="125" name="Text Box 19">
                <a:extLst>
                  <a:ext uri="{FF2B5EF4-FFF2-40B4-BE49-F238E27FC236}">
                    <a16:creationId xmlns:a16="http://schemas.microsoft.com/office/drawing/2014/main" id="{A317A424-F2E1-824F-B626-E01E0E2404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2" y="3039"/>
                <a:ext cx="1152" cy="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udt_send(NAK)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6" name="Text Box 20">
                <a:extLst>
                  <a:ext uri="{FF2B5EF4-FFF2-40B4-BE49-F238E27FC236}">
                    <a16:creationId xmlns:a16="http://schemas.microsoft.com/office/drawing/2014/main" id="{F3C2F2D4-E406-8746-8990-3E5ED0A5CA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5" y="2804"/>
                <a:ext cx="2135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rdt_rcv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 &amp;&amp; corrupt(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7" name="Line 21">
                <a:extLst>
                  <a:ext uri="{FF2B5EF4-FFF2-40B4-BE49-F238E27FC236}">
                    <a16:creationId xmlns:a16="http://schemas.microsoft.com/office/drawing/2014/main" id="{BE673EC8-DD07-7A43-8EF8-4AF46E325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5" y="3040"/>
                <a:ext cx="62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31" name="Freeform 25">
              <a:extLst>
                <a:ext uri="{FF2B5EF4-FFF2-40B4-BE49-F238E27FC236}">
                  <a16:creationId xmlns:a16="http://schemas.microsoft.com/office/drawing/2014/main" id="{0EE6DE3B-8CC5-4840-9E43-E2F13B451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4301" y="3288056"/>
              <a:ext cx="1257300" cy="469900"/>
            </a:xfrm>
            <a:custGeom>
              <a:avLst/>
              <a:gdLst>
                <a:gd name="T0" fmla="*/ 2147483647 w 1500"/>
                <a:gd name="T1" fmla="*/ 2147483647 h 740"/>
                <a:gd name="T2" fmla="*/ 2147483647 w 1500"/>
                <a:gd name="T3" fmla="*/ 2147483647 h 7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2" name="Oval 26">
            <a:extLst>
              <a:ext uri="{FF2B5EF4-FFF2-40B4-BE49-F238E27FC236}">
                <a16:creationId xmlns:a16="http://schemas.microsoft.com/office/drawing/2014/main" id="{D886EFDE-A0BD-234F-9505-E1DFE71A4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6376" y="3708743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" name="Text Box 27">
            <a:extLst>
              <a:ext uri="{FF2B5EF4-FFF2-40B4-BE49-F238E27FC236}">
                <a16:creationId xmlns:a16="http://schemas.microsoft.com/office/drawing/2014/main" id="{7D124EF1-1801-CC41-AA27-4430B2181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063" y="3792881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Wait for call from below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11BB54D-2176-2D44-BD7F-B18C9C74D8A4}"/>
              </a:ext>
            </a:extLst>
          </p:cNvPr>
          <p:cNvGrpSpPr/>
          <p:nvPr/>
        </p:nvGrpSpPr>
        <p:grpSpPr>
          <a:xfrm>
            <a:off x="8049650" y="4591214"/>
            <a:ext cx="4142349" cy="1379872"/>
            <a:chOff x="8049650" y="4591214"/>
            <a:chExt cx="4142349" cy="1379872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182C09B-F3FC-C340-BB16-737F51CA96BE}"/>
                </a:ext>
              </a:extLst>
            </p:cNvPr>
            <p:cNvGrpSpPr/>
            <p:nvPr/>
          </p:nvGrpSpPr>
          <p:grpSpPr>
            <a:xfrm>
              <a:off x="8049650" y="5037504"/>
              <a:ext cx="4142349" cy="933582"/>
              <a:chOff x="8049650" y="5037504"/>
              <a:chExt cx="4142349" cy="933582"/>
            </a:xfrm>
          </p:grpSpPr>
          <p:sp>
            <p:nvSpPr>
              <p:cNvPr id="113" name="Text Box 7">
                <a:extLst>
                  <a:ext uri="{FF2B5EF4-FFF2-40B4-BE49-F238E27FC236}">
                    <a16:creationId xmlns:a16="http://schemas.microsoft.com/office/drawing/2014/main" id="{60B53257-B255-5D45-9C56-20A5CE5DE7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71876" y="5351961"/>
                <a:ext cx="2143125" cy="619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extract(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rcvpkt,data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deliver_data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(data)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udt_send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(ACK)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4" name="Text Box 8">
                <a:extLst>
                  <a:ext uri="{FF2B5EF4-FFF2-40B4-BE49-F238E27FC236}">
                    <a16:creationId xmlns:a16="http://schemas.microsoft.com/office/drawing/2014/main" id="{2151DB25-A53F-EF4A-BDBD-C8DD839A62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9650" y="5037504"/>
                <a:ext cx="4142349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rdt_rcv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 &amp;&amp;  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notcorrupt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Line 9">
                <a:extLst>
                  <a:ext uri="{FF2B5EF4-FFF2-40B4-BE49-F238E27FC236}">
                    <a16:creationId xmlns:a16="http://schemas.microsoft.com/office/drawing/2014/main" id="{4797C970-D2E8-AA47-91A6-90DF435C0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71888" y="5407524"/>
                <a:ext cx="148907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34" name="Freeform 28">
              <a:extLst>
                <a:ext uri="{FF2B5EF4-FFF2-40B4-BE49-F238E27FC236}">
                  <a16:creationId xmlns:a16="http://schemas.microsoft.com/office/drawing/2014/main" id="{8D9E8E7D-01E2-7040-828E-B4AD37E6C50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437001" y="4591214"/>
              <a:ext cx="1257300" cy="469900"/>
            </a:xfrm>
            <a:custGeom>
              <a:avLst/>
              <a:gdLst>
                <a:gd name="T0" fmla="*/ 2147483647 w 1500"/>
                <a:gd name="T1" fmla="*/ 2147483647 h 740"/>
                <a:gd name="T2" fmla="*/ 2147483647 w 1500"/>
                <a:gd name="T3" fmla="*/ 2147483647 h 7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CAE8B13-78CF-DD4C-AD79-FE70F24547E0}"/>
              </a:ext>
            </a:extLst>
          </p:cNvPr>
          <p:cNvGrpSpPr/>
          <p:nvPr/>
        </p:nvGrpSpPr>
        <p:grpSpPr>
          <a:xfrm>
            <a:off x="2756926" y="1340193"/>
            <a:ext cx="3643312" cy="1027113"/>
            <a:chOff x="2756926" y="1340193"/>
            <a:chExt cx="3643312" cy="1027113"/>
          </a:xfrm>
        </p:grpSpPr>
        <p:sp>
          <p:nvSpPr>
            <p:cNvPr id="111" name="Text Box 5">
              <a:extLst>
                <a:ext uri="{FF2B5EF4-FFF2-40B4-BE49-F238E27FC236}">
                  <a16:creationId xmlns:a16="http://schemas.microsoft.com/office/drawing/2014/main" id="{B4419231-71F9-2847-A8A7-8F91C3BFAD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6926" y="1630706"/>
              <a:ext cx="36433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snkpkt = make_pkt(data, checksum)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2" name="Line 6">
              <a:extLst>
                <a:ext uri="{FF2B5EF4-FFF2-40B4-BE49-F238E27FC236}">
                  <a16:creationId xmlns:a16="http://schemas.microsoft.com/office/drawing/2014/main" id="{9D8A7D98-AFD4-AA49-B033-1C3F29FDF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1701" y="1675156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 10">
              <a:extLst>
                <a:ext uri="{FF2B5EF4-FFF2-40B4-BE49-F238E27FC236}">
                  <a16:creationId xmlns:a16="http://schemas.microsoft.com/office/drawing/2014/main" id="{C65AC33D-DAC6-0248-903C-715D380A05C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809313" y="2119656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Text Box 35">
              <a:extLst>
                <a:ext uri="{FF2B5EF4-FFF2-40B4-BE49-F238E27FC236}">
                  <a16:creationId xmlns:a16="http://schemas.microsoft.com/office/drawing/2014/main" id="{8B2CC675-7409-974B-A183-2AC7E249C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2326" y="1340193"/>
              <a:ext cx="2255837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rdt_send(data)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2805388-DFB1-CA42-9623-430C96CD0F0B}"/>
              </a:ext>
            </a:extLst>
          </p:cNvPr>
          <p:cNvGrpSpPr/>
          <p:nvPr/>
        </p:nvGrpSpPr>
        <p:grpSpPr>
          <a:xfrm>
            <a:off x="2270357" y="3283338"/>
            <a:ext cx="3548062" cy="989290"/>
            <a:chOff x="2270357" y="3283338"/>
            <a:chExt cx="3548062" cy="989290"/>
          </a:xfrm>
        </p:grpSpPr>
        <p:sp>
          <p:nvSpPr>
            <p:cNvPr id="117" name="Freeform 11">
              <a:extLst>
                <a:ext uri="{FF2B5EF4-FFF2-40B4-BE49-F238E27FC236}">
                  <a16:creationId xmlns:a16="http://schemas.microsoft.com/office/drawing/2014/main" id="{A19E971B-C68E-A549-8D13-4C8364D2B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338" y="3283338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BF189C5-1BB2-BC42-81CE-EEB51DB2B907}"/>
                </a:ext>
              </a:extLst>
            </p:cNvPr>
            <p:cNvGrpSpPr/>
            <p:nvPr/>
          </p:nvGrpSpPr>
          <p:grpSpPr>
            <a:xfrm>
              <a:off x="2270357" y="3545923"/>
              <a:ext cx="3548062" cy="726705"/>
              <a:chOff x="2270357" y="3545923"/>
              <a:chExt cx="3548062" cy="726705"/>
            </a:xfrm>
          </p:grpSpPr>
          <p:sp>
            <p:nvSpPr>
              <p:cNvPr id="118" name="Text Box 12">
                <a:extLst>
                  <a:ext uri="{FF2B5EF4-FFF2-40B4-BE49-F238E27FC236}">
                    <a16:creationId xmlns:a16="http://schemas.microsoft.com/office/drawing/2014/main" id="{FCE2965F-754F-364F-B14F-750853FEF2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0357" y="3545923"/>
                <a:ext cx="3548062" cy="285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rdt_rcv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 &amp;&amp; 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isACK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Line 13">
                <a:extLst>
                  <a:ext uri="{FF2B5EF4-FFF2-40B4-BE49-F238E27FC236}">
                    <a16:creationId xmlns:a16="http://schemas.microsoft.com/office/drawing/2014/main" id="{0299AD54-1602-364D-808A-ECEE022223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0476" y="3919619"/>
                <a:ext cx="9906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Text Box 48">
                <a:extLst>
                  <a:ext uri="{FF2B5EF4-FFF2-40B4-BE49-F238E27FC236}">
                    <a16:creationId xmlns:a16="http://schemas.microsoft.com/office/drawing/2014/main" id="{1FB61FFA-0819-7D46-887F-D92660FD92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5151" y="3936078"/>
                <a:ext cx="32385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</a:p>
            </p:txBody>
          </p:sp>
        </p:grpSp>
      </p:grpSp>
      <p:sp>
        <p:nvSpPr>
          <p:cNvPr id="161" name="Text Box 19">
            <a:extLst>
              <a:ext uri="{FF2B5EF4-FFF2-40B4-BE49-F238E27FC236}">
                <a16:creationId xmlns:a16="http://schemas.microsoft.com/office/drawing/2014/main" id="{E3EA8A75-DE92-3B4A-9ED1-2A5CE8EFB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066" y="2517724"/>
            <a:ext cx="1089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sender</a:t>
            </a:r>
          </a:p>
        </p:txBody>
      </p:sp>
      <p:sp>
        <p:nvSpPr>
          <p:cNvPr id="162" name="Text Box 20">
            <a:extLst>
              <a:ext uri="{FF2B5EF4-FFF2-40B4-BE49-F238E27FC236}">
                <a16:creationId xmlns:a16="http://schemas.microsoft.com/office/drawing/2014/main" id="{D2BC55B0-1B2D-D346-8B9C-EC274C2EC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0963" y="3961155"/>
            <a:ext cx="1247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</a:t>
            </a:r>
          </a:p>
        </p:txBody>
      </p:sp>
      <p:sp>
        <p:nvSpPr>
          <p:cNvPr id="43" name="Text Box 16">
            <a:extLst>
              <a:ext uri="{FF2B5EF4-FFF2-40B4-BE49-F238E27FC236}">
                <a16:creationId xmlns:a16="http://schemas.microsoft.com/office/drawing/2014/main" id="{99B9B250-0EDF-9940-8119-8A3858DAC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477" y="2154581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rdt_rcv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 &amp;&amp;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isNAK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A227A0-FE6A-9E43-8D11-7C390E9CA534}"/>
              </a:ext>
            </a:extLst>
          </p:cNvPr>
          <p:cNvSpPr/>
          <p:nvPr/>
        </p:nvSpPr>
        <p:spPr>
          <a:xfrm>
            <a:off x="7841292" y="2480153"/>
            <a:ext cx="4246323" cy="4008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C5DFF1AE-5E68-A349-98EF-93FDA9549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07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animBg="1"/>
      <p:bldP spid="168" grpId="0" animBg="1"/>
      <p:bldP spid="43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rdt2.0: FSM specification</a:t>
            </a:r>
            <a:endParaRPr lang="en-US" sz="4400" dirty="0"/>
          </a:p>
        </p:txBody>
      </p:sp>
      <p:sp>
        <p:nvSpPr>
          <p:cNvPr id="109" name="Oval 3">
            <a:extLst>
              <a:ext uri="{FF2B5EF4-FFF2-40B4-BE49-F238E27FC236}">
                <a16:creationId xmlns:a16="http://schemas.microsoft.com/office/drawing/2014/main" id="{606B9A69-736A-BE4F-8E57-1E4DD86AD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8951" y="2349843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0" name="Text Box 4">
            <a:extLst>
              <a:ext uri="{FF2B5EF4-FFF2-40B4-BE49-F238E27FC236}">
                <a16:creationId xmlns:a16="http://schemas.microsoft.com/office/drawing/2014/main" id="{9158E582-2053-DB47-8544-5430174AA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351" y="2433981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Wait for call from above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A819A83-E50E-0842-8735-DFC0B065BABA}"/>
              </a:ext>
            </a:extLst>
          </p:cNvPr>
          <p:cNvGrpSpPr/>
          <p:nvPr/>
        </p:nvGrpSpPr>
        <p:grpSpPr>
          <a:xfrm>
            <a:off x="5004826" y="2400535"/>
            <a:ext cx="3673475" cy="919271"/>
            <a:chOff x="5004826" y="2400535"/>
            <a:chExt cx="3673475" cy="919271"/>
          </a:xfrm>
        </p:grpSpPr>
        <p:sp>
          <p:nvSpPr>
            <p:cNvPr id="120" name="Freeform 14">
              <a:extLst>
                <a:ext uri="{FF2B5EF4-FFF2-40B4-BE49-F238E27FC236}">
                  <a16:creationId xmlns:a16="http://schemas.microsoft.com/office/drawing/2014/main" id="{6794142E-E5B8-3F45-81C1-8A8F8E602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4826" y="2426043"/>
              <a:ext cx="466725" cy="893763"/>
            </a:xfrm>
            <a:custGeom>
              <a:avLst/>
              <a:gdLst>
                <a:gd name="T0" fmla="*/ 0 w 735"/>
                <a:gd name="T1" fmla="*/ 2147483647 h 1080"/>
                <a:gd name="T2" fmla="*/ 0 w 735"/>
                <a:gd name="T3" fmla="*/ 2147483647 h 10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Text Box 15">
              <a:extLst>
                <a:ext uri="{FF2B5EF4-FFF2-40B4-BE49-F238E27FC236}">
                  <a16:creationId xmlns:a16="http://schemas.microsoft.com/office/drawing/2014/main" id="{EBF1463C-CBD7-1049-80A6-FED400C12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4388" y="2740368"/>
              <a:ext cx="17637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" name="Text Box 16">
              <a:extLst>
                <a:ext uri="{FF2B5EF4-FFF2-40B4-BE49-F238E27FC236}">
                  <a16:creationId xmlns:a16="http://schemas.microsoft.com/office/drawing/2014/main" id="{C1489951-F533-6243-BF54-F4FB19251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988" y="2400535"/>
              <a:ext cx="3389313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Line 17">
              <a:extLst>
                <a:ext uri="{FF2B5EF4-FFF2-40B4-BE49-F238E27FC236}">
                  <a16:creationId xmlns:a16="http://schemas.microsoft.com/office/drawing/2014/main" id="{E7CC9AD6-FAA9-474E-B46B-1E603A7D16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8051" y="2740368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8" name="Group 22">
            <a:extLst>
              <a:ext uri="{FF2B5EF4-FFF2-40B4-BE49-F238E27FC236}">
                <a16:creationId xmlns:a16="http://schemas.microsoft.com/office/drawing/2014/main" id="{6E4E03EB-86D3-824C-9C7B-D6204AA45EF1}"/>
              </a:ext>
            </a:extLst>
          </p:cNvPr>
          <p:cNvGrpSpPr>
            <a:grpSpLocks/>
          </p:cNvGrpSpPr>
          <p:nvPr/>
        </p:nvGrpSpPr>
        <p:grpSpPr bwMode="auto">
          <a:xfrm>
            <a:off x="4044388" y="2362543"/>
            <a:ext cx="1074738" cy="962025"/>
            <a:chOff x="1540" y="2116"/>
            <a:chExt cx="677" cy="606"/>
          </a:xfrm>
        </p:grpSpPr>
        <p:sp>
          <p:nvSpPr>
            <p:cNvPr id="129" name="Oval 23">
              <a:extLst>
                <a:ext uri="{FF2B5EF4-FFF2-40B4-BE49-F238E27FC236}">
                  <a16:creationId xmlns:a16="http://schemas.microsoft.com/office/drawing/2014/main" id="{290478B3-253F-D048-8DE9-187624FD0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0" name="Text Box 24">
              <a:extLst>
                <a:ext uri="{FF2B5EF4-FFF2-40B4-BE49-F238E27FC236}">
                  <a16:creationId xmlns:a16="http://schemas.microsoft.com/office/drawing/2014/main" id="{33128FC3-7340-2B43-998B-4D14B544C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ACK or NAK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0E913FD-5AB0-D647-A2DB-C235CF8D718B}"/>
              </a:ext>
            </a:extLst>
          </p:cNvPr>
          <p:cNvGrpSpPr/>
          <p:nvPr/>
        </p:nvGrpSpPr>
        <p:grpSpPr>
          <a:xfrm>
            <a:off x="8325876" y="2721318"/>
            <a:ext cx="3394075" cy="1036638"/>
            <a:chOff x="8325876" y="2721318"/>
            <a:chExt cx="3394075" cy="1036638"/>
          </a:xfrm>
        </p:grpSpPr>
        <p:grpSp>
          <p:nvGrpSpPr>
            <p:cNvPr id="124" name="Group 18">
              <a:extLst>
                <a:ext uri="{FF2B5EF4-FFF2-40B4-BE49-F238E27FC236}">
                  <a16:creationId xmlns:a16="http://schemas.microsoft.com/office/drawing/2014/main" id="{1FD009B5-82D3-A54A-A742-8202ED8CE7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5876" y="2721318"/>
              <a:ext cx="3394075" cy="630238"/>
              <a:chOff x="2222" y="2804"/>
              <a:chExt cx="2138" cy="397"/>
            </a:xfrm>
          </p:grpSpPr>
          <p:sp>
            <p:nvSpPr>
              <p:cNvPr id="125" name="Text Box 19">
                <a:extLst>
                  <a:ext uri="{FF2B5EF4-FFF2-40B4-BE49-F238E27FC236}">
                    <a16:creationId xmlns:a16="http://schemas.microsoft.com/office/drawing/2014/main" id="{A317A424-F2E1-824F-B626-E01E0E2404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2" y="3039"/>
                <a:ext cx="1152" cy="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udt_send(NAK)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6" name="Text Box 20">
                <a:extLst>
                  <a:ext uri="{FF2B5EF4-FFF2-40B4-BE49-F238E27FC236}">
                    <a16:creationId xmlns:a16="http://schemas.microsoft.com/office/drawing/2014/main" id="{F3C2F2D4-E406-8746-8990-3E5ED0A5CA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5" y="2804"/>
                <a:ext cx="2135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rdt_rcv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 &amp;&amp; corrupt(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7" name="Line 21">
                <a:extLst>
                  <a:ext uri="{FF2B5EF4-FFF2-40B4-BE49-F238E27FC236}">
                    <a16:creationId xmlns:a16="http://schemas.microsoft.com/office/drawing/2014/main" id="{BE673EC8-DD07-7A43-8EF8-4AF46E325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5" y="3040"/>
                <a:ext cx="62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31" name="Freeform 25">
              <a:extLst>
                <a:ext uri="{FF2B5EF4-FFF2-40B4-BE49-F238E27FC236}">
                  <a16:creationId xmlns:a16="http://schemas.microsoft.com/office/drawing/2014/main" id="{0EE6DE3B-8CC5-4840-9E43-E2F13B451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4301" y="3288056"/>
              <a:ext cx="1257300" cy="469900"/>
            </a:xfrm>
            <a:custGeom>
              <a:avLst/>
              <a:gdLst>
                <a:gd name="T0" fmla="*/ 2147483647 w 1500"/>
                <a:gd name="T1" fmla="*/ 2147483647 h 740"/>
                <a:gd name="T2" fmla="*/ 2147483647 w 1500"/>
                <a:gd name="T3" fmla="*/ 2147483647 h 7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2" name="Oval 26">
            <a:extLst>
              <a:ext uri="{FF2B5EF4-FFF2-40B4-BE49-F238E27FC236}">
                <a16:creationId xmlns:a16="http://schemas.microsoft.com/office/drawing/2014/main" id="{D886EFDE-A0BD-234F-9505-E1DFE71A4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6376" y="3708743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" name="Text Box 27">
            <a:extLst>
              <a:ext uri="{FF2B5EF4-FFF2-40B4-BE49-F238E27FC236}">
                <a16:creationId xmlns:a16="http://schemas.microsoft.com/office/drawing/2014/main" id="{7D124EF1-1801-CC41-AA27-4430B2181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063" y="3792881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Wait for call from below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11BB54D-2176-2D44-BD7F-B18C9C74D8A4}"/>
              </a:ext>
            </a:extLst>
          </p:cNvPr>
          <p:cNvGrpSpPr/>
          <p:nvPr/>
        </p:nvGrpSpPr>
        <p:grpSpPr>
          <a:xfrm>
            <a:off x="8049650" y="4591214"/>
            <a:ext cx="4142349" cy="1379872"/>
            <a:chOff x="8049650" y="4591214"/>
            <a:chExt cx="4142349" cy="1379872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182C09B-F3FC-C340-BB16-737F51CA96BE}"/>
                </a:ext>
              </a:extLst>
            </p:cNvPr>
            <p:cNvGrpSpPr/>
            <p:nvPr/>
          </p:nvGrpSpPr>
          <p:grpSpPr>
            <a:xfrm>
              <a:off x="8049650" y="5037504"/>
              <a:ext cx="4142349" cy="933582"/>
              <a:chOff x="8049650" y="5037504"/>
              <a:chExt cx="4142349" cy="933582"/>
            </a:xfrm>
          </p:grpSpPr>
          <p:sp>
            <p:nvSpPr>
              <p:cNvPr id="113" name="Text Box 7">
                <a:extLst>
                  <a:ext uri="{FF2B5EF4-FFF2-40B4-BE49-F238E27FC236}">
                    <a16:creationId xmlns:a16="http://schemas.microsoft.com/office/drawing/2014/main" id="{60B53257-B255-5D45-9C56-20A5CE5DE7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71876" y="5351961"/>
                <a:ext cx="2143125" cy="619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extract(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rcvpkt,data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deliver_data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(data)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udt_send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(ACK)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4" name="Text Box 8">
                <a:extLst>
                  <a:ext uri="{FF2B5EF4-FFF2-40B4-BE49-F238E27FC236}">
                    <a16:creationId xmlns:a16="http://schemas.microsoft.com/office/drawing/2014/main" id="{2151DB25-A53F-EF4A-BDBD-C8DD839A62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9650" y="5037504"/>
                <a:ext cx="4142349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rdt_rcv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 &amp;&amp;  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notcorrupt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Line 9">
                <a:extLst>
                  <a:ext uri="{FF2B5EF4-FFF2-40B4-BE49-F238E27FC236}">
                    <a16:creationId xmlns:a16="http://schemas.microsoft.com/office/drawing/2014/main" id="{4797C970-D2E8-AA47-91A6-90DF435C0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71888" y="5407524"/>
                <a:ext cx="148907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34" name="Freeform 28">
              <a:extLst>
                <a:ext uri="{FF2B5EF4-FFF2-40B4-BE49-F238E27FC236}">
                  <a16:creationId xmlns:a16="http://schemas.microsoft.com/office/drawing/2014/main" id="{8D9E8E7D-01E2-7040-828E-B4AD37E6C50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437001" y="4591214"/>
              <a:ext cx="1257300" cy="469900"/>
            </a:xfrm>
            <a:custGeom>
              <a:avLst/>
              <a:gdLst>
                <a:gd name="T0" fmla="*/ 2147483647 w 1500"/>
                <a:gd name="T1" fmla="*/ 2147483647 h 740"/>
                <a:gd name="T2" fmla="*/ 2147483647 w 1500"/>
                <a:gd name="T3" fmla="*/ 2147483647 h 7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CAE8B13-78CF-DD4C-AD79-FE70F24547E0}"/>
              </a:ext>
            </a:extLst>
          </p:cNvPr>
          <p:cNvGrpSpPr/>
          <p:nvPr/>
        </p:nvGrpSpPr>
        <p:grpSpPr>
          <a:xfrm>
            <a:off x="2756926" y="1340193"/>
            <a:ext cx="3643312" cy="1027113"/>
            <a:chOff x="2756926" y="1340193"/>
            <a:chExt cx="3643312" cy="1027113"/>
          </a:xfrm>
        </p:grpSpPr>
        <p:sp>
          <p:nvSpPr>
            <p:cNvPr id="111" name="Text Box 5">
              <a:extLst>
                <a:ext uri="{FF2B5EF4-FFF2-40B4-BE49-F238E27FC236}">
                  <a16:creationId xmlns:a16="http://schemas.microsoft.com/office/drawing/2014/main" id="{B4419231-71F9-2847-A8A7-8F91C3BFAD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6926" y="1630706"/>
              <a:ext cx="36433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snkpkt = make_pkt(data, checksum)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2" name="Line 6">
              <a:extLst>
                <a:ext uri="{FF2B5EF4-FFF2-40B4-BE49-F238E27FC236}">
                  <a16:creationId xmlns:a16="http://schemas.microsoft.com/office/drawing/2014/main" id="{9D8A7D98-AFD4-AA49-B033-1C3F29FDF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1701" y="1675156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 10">
              <a:extLst>
                <a:ext uri="{FF2B5EF4-FFF2-40B4-BE49-F238E27FC236}">
                  <a16:creationId xmlns:a16="http://schemas.microsoft.com/office/drawing/2014/main" id="{C65AC33D-DAC6-0248-903C-715D380A05C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809313" y="2119656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Text Box 35">
              <a:extLst>
                <a:ext uri="{FF2B5EF4-FFF2-40B4-BE49-F238E27FC236}">
                  <a16:creationId xmlns:a16="http://schemas.microsoft.com/office/drawing/2014/main" id="{8B2CC675-7409-974B-A183-2AC7E249C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2326" y="1340193"/>
              <a:ext cx="2255837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rdt_send(data)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2805388-DFB1-CA42-9623-430C96CD0F0B}"/>
              </a:ext>
            </a:extLst>
          </p:cNvPr>
          <p:cNvGrpSpPr/>
          <p:nvPr/>
        </p:nvGrpSpPr>
        <p:grpSpPr>
          <a:xfrm>
            <a:off x="2270357" y="3283338"/>
            <a:ext cx="3548062" cy="989290"/>
            <a:chOff x="2270357" y="3283338"/>
            <a:chExt cx="3548062" cy="989290"/>
          </a:xfrm>
        </p:grpSpPr>
        <p:sp>
          <p:nvSpPr>
            <p:cNvPr id="117" name="Freeform 11">
              <a:extLst>
                <a:ext uri="{FF2B5EF4-FFF2-40B4-BE49-F238E27FC236}">
                  <a16:creationId xmlns:a16="http://schemas.microsoft.com/office/drawing/2014/main" id="{A19E971B-C68E-A549-8D13-4C8364D2B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338" y="3283338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BF189C5-1BB2-BC42-81CE-EEB51DB2B907}"/>
                </a:ext>
              </a:extLst>
            </p:cNvPr>
            <p:cNvGrpSpPr/>
            <p:nvPr/>
          </p:nvGrpSpPr>
          <p:grpSpPr>
            <a:xfrm>
              <a:off x="2270357" y="3545923"/>
              <a:ext cx="3548062" cy="726705"/>
              <a:chOff x="2270357" y="3545923"/>
              <a:chExt cx="3548062" cy="726705"/>
            </a:xfrm>
          </p:grpSpPr>
          <p:sp>
            <p:nvSpPr>
              <p:cNvPr id="118" name="Text Box 12">
                <a:extLst>
                  <a:ext uri="{FF2B5EF4-FFF2-40B4-BE49-F238E27FC236}">
                    <a16:creationId xmlns:a16="http://schemas.microsoft.com/office/drawing/2014/main" id="{FCE2965F-754F-364F-B14F-750853FEF2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0357" y="3545923"/>
                <a:ext cx="3548062" cy="285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rdt_rcv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 &amp;&amp; 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isACK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Line 13">
                <a:extLst>
                  <a:ext uri="{FF2B5EF4-FFF2-40B4-BE49-F238E27FC236}">
                    <a16:creationId xmlns:a16="http://schemas.microsoft.com/office/drawing/2014/main" id="{0299AD54-1602-364D-808A-ECEE022223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0476" y="3919619"/>
                <a:ext cx="9906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Text Box 48">
                <a:extLst>
                  <a:ext uri="{FF2B5EF4-FFF2-40B4-BE49-F238E27FC236}">
                    <a16:creationId xmlns:a16="http://schemas.microsoft.com/office/drawing/2014/main" id="{1FB61FFA-0819-7D46-887F-D92660FD92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5151" y="3936078"/>
                <a:ext cx="32385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</a:p>
            </p:txBody>
          </p:sp>
        </p:grpSp>
      </p:grpSp>
      <p:sp>
        <p:nvSpPr>
          <p:cNvPr id="161" name="Text Box 19">
            <a:extLst>
              <a:ext uri="{FF2B5EF4-FFF2-40B4-BE49-F238E27FC236}">
                <a16:creationId xmlns:a16="http://schemas.microsoft.com/office/drawing/2014/main" id="{E3EA8A75-DE92-3B4A-9ED1-2A5CE8EFB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066" y="2517724"/>
            <a:ext cx="1089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sender</a:t>
            </a:r>
          </a:p>
        </p:txBody>
      </p:sp>
      <p:sp>
        <p:nvSpPr>
          <p:cNvPr id="162" name="Text Box 20">
            <a:extLst>
              <a:ext uri="{FF2B5EF4-FFF2-40B4-BE49-F238E27FC236}">
                <a16:creationId xmlns:a16="http://schemas.microsoft.com/office/drawing/2014/main" id="{D2BC55B0-1B2D-D346-8B9C-EC274C2EC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0963" y="3961155"/>
            <a:ext cx="1247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A53170-F7EC-A34D-8A41-984A3AC85C5B}"/>
              </a:ext>
            </a:extLst>
          </p:cNvPr>
          <p:cNvSpPr txBox="1"/>
          <p:nvPr/>
        </p:nvSpPr>
        <p:spPr>
          <a:xfrm>
            <a:off x="965915" y="4680633"/>
            <a:ext cx="65328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“state” of receiver (did the receiver get my message correctly?) isn’t known to sender unless somehow communicated from receiver to sender</a:t>
            </a:r>
          </a:p>
          <a:p>
            <a:pPr marL="3429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that’s why we need a protocol!</a:t>
            </a:r>
          </a:p>
        </p:txBody>
      </p:sp>
      <p:sp>
        <p:nvSpPr>
          <p:cNvPr id="43" name="Text Box 16">
            <a:extLst>
              <a:ext uri="{FF2B5EF4-FFF2-40B4-BE49-F238E27FC236}">
                <a16:creationId xmlns:a16="http://schemas.microsoft.com/office/drawing/2014/main" id="{ADA65A1F-AF0E-7A4E-89E8-DE7816681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477" y="2154581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rdt_rcv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 &amp;&amp;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isNAK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44" name="Picture 43" descr="A shower curtain&#10;&#10;Description automatically generated">
            <a:extLst>
              <a:ext uri="{FF2B5EF4-FFF2-40B4-BE49-F238E27FC236}">
                <a16:creationId xmlns:a16="http://schemas.microsoft.com/office/drawing/2014/main" id="{AC45B1FA-8BA1-4648-AD93-40677902A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303" y="2155771"/>
            <a:ext cx="4642797" cy="4579749"/>
          </a:xfrm>
          <a:prstGeom prst="rect">
            <a:avLst/>
          </a:prstGeom>
        </p:spPr>
      </p:pic>
      <p:sp>
        <p:nvSpPr>
          <p:cNvPr id="46" name="Text Box 16">
            <a:extLst>
              <a:ext uri="{FF2B5EF4-FFF2-40B4-BE49-F238E27FC236}">
                <a16:creationId xmlns:a16="http://schemas.microsoft.com/office/drawing/2014/main" id="{D6DB0EA5-C28C-5D47-A606-CB6349A98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797" y="2400795"/>
            <a:ext cx="2085975" cy="398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isNAK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" name="Text Box 16">
            <a:extLst>
              <a:ext uri="{FF2B5EF4-FFF2-40B4-BE49-F238E27FC236}">
                <a16:creationId xmlns:a16="http://schemas.microsoft.com/office/drawing/2014/main" id="{C8AFC91C-B2AA-274D-BDE6-DBE3D808D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171" y="3557373"/>
            <a:ext cx="2085975" cy="398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isACK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5" name="Slide Number Placeholder 2">
            <a:extLst>
              <a:ext uri="{FF2B5EF4-FFF2-40B4-BE49-F238E27FC236}">
                <a16:creationId xmlns:a16="http://schemas.microsoft.com/office/drawing/2014/main" id="{74821291-B2F1-5248-8BEE-C21E2CB09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4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rdt2.0: operation with no errors</a:t>
            </a:r>
            <a:endParaRPr lang="en-US" sz="4400" dirty="0"/>
          </a:p>
        </p:txBody>
      </p:sp>
      <p:sp>
        <p:nvSpPr>
          <p:cNvPr id="37" name="Oval 3">
            <a:extLst>
              <a:ext uri="{FF2B5EF4-FFF2-40B4-BE49-F238E27FC236}">
                <a16:creationId xmlns:a16="http://schemas.microsoft.com/office/drawing/2014/main" id="{20368D61-C8F9-C64D-9076-63AF0503E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8951" y="2349843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" name="Text Box 4">
            <a:extLst>
              <a:ext uri="{FF2B5EF4-FFF2-40B4-BE49-F238E27FC236}">
                <a16:creationId xmlns:a16="http://schemas.microsoft.com/office/drawing/2014/main" id="{229D572B-0C64-BC4F-9787-CFDFDB4AF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351" y="2433981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Wait for call from above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" name="Text Box 5">
            <a:extLst>
              <a:ext uri="{FF2B5EF4-FFF2-40B4-BE49-F238E27FC236}">
                <a16:creationId xmlns:a16="http://schemas.microsoft.com/office/drawing/2014/main" id="{7E93FFA4-44C6-0E4F-ABD0-1688475EE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6926" y="1630706"/>
            <a:ext cx="3643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snkpkt = make_pkt(data, checksum)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udt_send(sndpkt)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" name="Line 6">
            <a:extLst>
              <a:ext uri="{FF2B5EF4-FFF2-40B4-BE49-F238E27FC236}">
                <a16:creationId xmlns:a16="http://schemas.microsoft.com/office/drawing/2014/main" id="{AAE6181D-40C5-4947-8D16-192C2CC21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1701" y="1675156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Freeform 10">
            <a:extLst>
              <a:ext uri="{FF2B5EF4-FFF2-40B4-BE49-F238E27FC236}">
                <a16:creationId xmlns:a16="http://schemas.microsoft.com/office/drawing/2014/main" id="{C49AAF37-6767-EA4A-BCF2-2730B5DAFFCF}"/>
              </a:ext>
            </a:extLst>
          </p:cNvPr>
          <p:cNvSpPr>
            <a:spLocks/>
          </p:cNvSpPr>
          <p:nvPr/>
        </p:nvSpPr>
        <p:spPr bwMode="auto">
          <a:xfrm flipV="1">
            <a:off x="2809313" y="2119656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F2665E42-05D1-2742-9715-0A7AB328CC68}"/>
              </a:ext>
            </a:extLst>
          </p:cNvPr>
          <p:cNvSpPr>
            <a:spLocks/>
          </p:cNvSpPr>
          <p:nvPr/>
        </p:nvSpPr>
        <p:spPr bwMode="auto">
          <a:xfrm>
            <a:off x="2856938" y="3280118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 14">
            <a:extLst>
              <a:ext uri="{FF2B5EF4-FFF2-40B4-BE49-F238E27FC236}">
                <a16:creationId xmlns:a16="http://schemas.microsoft.com/office/drawing/2014/main" id="{FF5156B3-5F3E-7247-9787-81C01F98AADA}"/>
              </a:ext>
            </a:extLst>
          </p:cNvPr>
          <p:cNvSpPr>
            <a:spLocks/>
          </p:cNvSpPr>
          <p:nvPr/>
        </p:nvSpPr>
        <p:spPr bwMode="auto">
          <a:xfrm>
            <a:off x="5004826" y="2426043"/>
            <a:ext cx="466725" cy="893763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Box 15">
            <a:extLst>
              <a:ext uri="{FF2B5EF4-FFF2-40B4-BE49-F238E27FC236}">
                <a16:creationId xmlns:a16="http://schemas.microsoft.com/office/drawing/2014/main" id="{2F0C4339-9749-3E4B-AEF3-DFBC5861C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388" y="2740368"/>
            <a:ext cx="1763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udt_send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sndpkt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Line 17">
            <a:extLst>
              <a:ext uri="{FF2B5EF4-FFF2-40B4-BE49-F238E27FC236}">
                <a16:creationId xmlns:a16="http://schemas.microsoft.com/office/drawing/2014/main" id="{B12405C6-9FEC-A645-ABAA-32067C853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8051" y="2740368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2" name="Group 18">
            <a:extLst>
              <a:ext uri="{FF2B5EF4-FFF2-40B4-BE49-F238E27FC236}">
                <a16:creationId xmlns:a16="http://schemas.microsoft.com/office/drawing/2014/main" id="{6469EBCB-9365-8146-9A22-EA4BFBF0E079}"/>
              </a:ext>
            </a:extLst>
          </p:cNvPr>
          <p:cNvGrpSpPr>
            <a:grpSpLocks/>
          </p:cNvGrpSpPr>
          <p:nvPr/>
        </p:nvGrpSpPr>
        <p:grpSpPr bwMode="auto">
          <a:xfrm>
            <a:off x="8325876" y="3094378"/>
            <a:ext cx="1828800" cy="257175"/>
            <a:chOff x="2222" y="3039"/>
            <a:chExt cx="1152" cy="162"/>
          </a:xfrm>
        </p:grpSpPr>
        <p:sp>
          <p:nvSpPr>
            <p:cNvPr id="53" name="Text Box 19">
              <a:extLst>
                <a:ext uri="{FF2B5EF4-FFF2-40B4-BE49-F238E27FC236}">
                  <a16:creationId xmlns:a16="http://schemas.microsoft.com/office/drawing/2014/main" id="{3A6C17B0-3CB8-BD4F-82A3-F8BBBF776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3039"/>
              <a:ext cx="115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(NAK)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Line 21">
              <a:extLst>
                <a:ext uri="{FF2B5EF4-FFF2-40B4-BE49-F238E27FC236}">
                  <a16:creationId xmlns:a16="http://schemas.microsoft.com/office/drawing/2014/main" id="{7262AE28-C6B2-7A4B-B2BF-40A0797B4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5" y="3040"/>
              <a:ext cx="6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6" name="Group 22">
            <a:extLst>
              <a:ext uri="{FF2B5EF4-FFF2-40B4-BE49-F238E27FC236}">
                <a16:creationId xmlns:a16="http://schemas.microsoft.com/office/drawing/2014/main" id="{E9E74661-52F5-5E48-982A-52E52A35DC45}"/>
              </a:ext>
            </a:extLst>
          </p:cNvPr>
          <p:cNvGrpSpPr>
            <a:grpSpLocks/>
          </p:cNvGrpSpPr>
          <p:nvPr/>
        </p:nvGrpSpPr>
        <p:grpSpPr bwMode="auto">
          <a:xfrm>
            <a:off x="4044388" y="2362543"/>
            <a:ext cx="1074738" cy="962025"/>
            <a:chOff x="1540" y="2116"/>
            <a:chExt cx="677" cy="606"/>
          </a:xfrm>
        </p:grpSpPr>
        <p:sp>
          <p:nvSpPr>
            <p:cNvPr id="57" name="Oval 23">
              <a:extLst>
                <a:ext uri="{FF2B5EF4-FFF2-40B4-BE49-F238E27FC236}">
                  <a16:creationId xmlns:a16="http://schemas.microsoft.com/office/drawing/2014/main" id="{8D34CBBE-DA94-E64E-9580-4F3F4131C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Text Box 24">
              <a:extLst>
                <a:ext uri="{FF2B5EF4-FFF2-40B4-BE49-F238E27FC236}">
                  <a16:creationId xmlns:a16="http://schemas.microsoft.com/office/drawing/2014/main" id="{1B4A0021-CFA3-4E40-B284-73C34108A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ACK or NAK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" name="Freeform 25">
            <a:extLst>
              <a:ext uri="{FF2B5EF4-FFF2-40B4-BE49-F238E27FC236}">
                <a16:creationId xmlns:a16="http://schemas.microsoft.com/office/drawing/2014/main" id="{3DB66570-2E6B-DB42-959E-FB21F91FD83C}"/>
              </a:ext>
            </a:extLst>
          </p:cNvPr>
          <p:cNvSpPr>
            <a:spLocks/>
          </p:cNvSpPr>
          <p:nvPr/>
        </p:nvSpPr>
        <p:spPr bwMode="auto">
          <a:xfrm>
            <a:off x="8424301" y="3288056"/>
            <a:ext cx="1257300" cy="469900"/>
          </a:xfrm>
          <a:custGeom>
            <a:avLst/>
            <a:gdLst>
              <a:gd name="T0" fmla="*/ 2147483647 w 1500"/>
              <a:gd name="T1" fmla="*/ 2147483647 h 740"/>
              <a:gd name="T2" fmla="*/ 2147483647 w 1500"/>
              <a:gd name="T3" fmla="*/ 2147483647 h 74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Oval 26">
            <a:extLst>
              <a:ext uri="{FF2B5EF4-FFF2-40B4-BE49-F238E27FC236}">
                <a16:creationId xmlns:a16="http://schemas.microsoft.com/office/drawing/2014/main" id="{8A47B34C-876C-9A40-BB81-39CFF157E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6376" y="3708743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1" name="Text Box 27">
            <a:extLst>
              <a:ext uri="{FF2B5EF4-FFF2-40B4-BE49-F238E27FC236}">
                <a16:creationId xmlns:a16="http://schemas.microsoft.com/office/drawing/2014/main" id="{D69029E6-5338-FD44-BC15-0BA8A98F1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063" y="3792881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Wait for call from below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" name="Freeform 28">
            <a:extLst>
              <a:ext uri="{FF2B5EF4-FFF2-40B4-BE49-F238E27FC236}">
                <a16:creationId xmlns:a16="http://schemas.microsoft.com/office/drawing/2014/main" id="{062C8ABB-D477-0442-96DB-AF4A7A380558}"/>
              </a:ext>
            </a:extLst>
          </p:cNvPr>
          <p:cNvSpPr>
            <a:spLocks/>
          </p:cNvSpPr>
          <p:nvPr/>
        </p:nvSpPr>
        <p:spPr bwMode="auto">
          <a:xfrm flipV="1">
            <a:off x="8437001" y="4591214"/>
            <a:ext cx="1257300" cy="469900"/>
          </a:xfrm>
          <a:custGeom>
            <a:avLst/>
            <a:gdLst>
              <a:gd name="T0" fmla="*/ 2147483647 w 1500"/>
              <a:gd name="T1" fmla="*/ 2147483647 h 740"/>
              <a:gd name="T2" fmla="*/ 2147483647 w 1500"/>
              <a:gd name="T3" fmla="*/ 2147483647 h 74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3" name="Group 29">
            <a:extLst>
              <a:ext uri="{FF2B5EF4-FFF2-40B4-BE49-F238E27FC236}">
                <a16:creationId xmlns:a16="http://schemas.microsoft.com/office/drawing/2014/main" id="{824EB22B-3441-BB4C-9908-EA5200566BEF}"/>
              </a:ext>
            </a:extLst>
          </p:cNvPr>
          <p:cNvGrpSpPr>
            <a:grpSpLocks/>
          </p:cNvGrpSpPr>
          <p:nvPr/>
        </p:nvGrpSpPr>
        <p:grpSpPr bwMode="auto">
          <a:xfrm>
            <a:off x="2101288" y="2306981"/>
            <a:ext cx="1333500" cy="1004887"/>
            <a:chOff x="220" y="1365"/>
            <a:chExt cx="840" cy="633"/>
          </a:xfrm>
        </p:grpSpPr>
        <p:sp>
          <p:nvSpPr>
            <p:cNvPr id="64" name="Line 30">
              <a:extLst>
                <a:ext uri="{FF2B5EF4-FFF2-40B4-BE49-F238E27FC236}">
                  <a16:creationId xmlns:a16="http://schemas.microsoft.com/office/drawing/2014/main" id="{E482CA24-27A0-084A-87D9-E941B0A25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val 31">
              <a:extLst>
                <a:ext uri="{FF2B5EF4-FFF2-40B4-BE49-F238E27FC236}">
                  <a16:creationId xmlns:a16="http://schemas.microsoft.com/office/drawing/2014/main" id="{B1FC38D6-025E-7842-ADA7-35FDE217E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32">
            <a:extLst>
              <a:ext uri="{FF2B5EF4-FFF2-40B4-BE49-F238E27FC236}">
                <a16:creationId xmlns:a16="http://schemas.microsoft.com/office/drawing/2014/main" id="{5BBC5929-B4AB-D94E-9C05-8B8E4E50A932}"/>
              </a:ext>
            </a:extLst>
          </p:cNvPr>
          <p:cNvGrpSpPr>
            <a:grpSpLocks/>
          </p:cNvGrpSpPr>
          <p:nvPr/>
        </p:nvGrpSpPr>
        <p:grpSpPr bwMode="auto">
          <a:xfrm>
            <a:off x="8086163" y="3637306"/>
            <a:ext cx="1414463" cy="1033462"/>
            <a:chOff x="3990" y="2203"/>
            <a:chExt cx="891" cy="651"/>
          </a:xfrm>
        </p:grpSpPr>
        <p:sp>
          <p:nvSpPr>
            <p:cNvPr id="67" name="Line 33">
              <a:extLst>
                <a:ext uri="{FF2B5EF4-FFF2-40B4-BE49-F238E27FC236}">
                  <a16:creationId xmlns:a16="http://schemas.microsoft.com/office/drawing/2014/main" id="{C8C95C30-694C-3343-9A2B-29D823BB5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" y="2203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Oval 34">
              <a:extLst>
                <a:ext uri="{FF2B5EF4-FFF2-40B4-BE49-F238E27FC236}">
                  <a16:creationId xmlns:a16="http://schemas.microsoft.com/office/drawing/2014/main" id="{9CF26F83-62A4-774B-95EC-D614996A7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" y="2248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9" name="Text Box 35">
            <a:extLst>
              <a:ext uri="{FF2B5EF4-FFF2-40B4-BE49-F238E27FC236}">
                <a16:creationId xmlns:a16="http://schemas.microsoft.com/office/drawing/2014/main" id="{4F145C19-20CA-7145-8B2A-77BEB54A3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326" y="1340193"/>
            <a:ext cx="225583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rdt_send(data)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0" name="Line 36">
            <a:extLst>
              <a:ext uri="{FF2B5EF4-FFF2-40B4-BE49-F238E27FC236}">
                <a16:creationId xmlns:a16="http://schemas.microsoft.com/office/drawing/2014/main" id="{26143F76-F1DE-F740-8D25-07F17B3B0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3276" y="1429093"/>
            <a:ext cx="12700" cy="7477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1" name="Freeform 37">
            <a:extLst>
              <a:ext uri="{FF2B5EF4-FFF2-40B4-BE49-F238E27FC236}">
                <a16:creationId xmlns:a16="http://schemas.microsoft.com/office/drawing/2014/main" id="{58B7878D-57FD-8A41-8E7B-6BF34CB3A771}"/>
              </a:ext>
            </a:extLst>
          </p:cNvPr>
          <p:cNvSpPr>
            <a:spLocks/>
          </p:cNvSpPr>
          <p:nvPr/>
        </p:nvSpPr>
        <p:spPr bwMode="auto">
          <a:xfrm>
            <a:off x="2763276" y="2146642"/>
            <a:ext cx="7148415" cy="2944699"/>
          </a:xfrm>
          <a:custGeom>
            <a:avLst/>
            <a:gdLst>
              <a:gd name="T0" fmla="*/ 0 w 4219"/>
              <a:gd name="T1" fmla="*/ 2147483647 h 1928"/>
              <a:gd name="T2" fmla="*/ 2147483647 w 4219"/>
              <a:gd name="T3" fmla="*/ 0 h 1928"/>
              <a:gd name="T4" fmla="*/ 2147483647 w 4219"/>
              <a:gd name="T5" fmla="*/ 2147483647 h 1928"/>
              <a:gd name="T6" fmla="*/ 2147483647 w 4219"/>
              <a:gd name="T7" fmla="*/ 2147483647 h 1928"/>
              <a:gd name="T8" fmla="*/ 0 60000 65536"/>
              <a:gd name="T9" fmla="*/ 0 60000 65536"/>
              <a:gd name="T10" fmla="*/ 0 60000 65536"/>
              <a:gd name="T11" fmla="*/ 0 60000 65536"/>
              <a:gd name="connsiteX0" fmla="*/ 0 w 10000"/>
              <a:gd name="connsiteY0" fmla="*/ 52 h 10000"/>
              <a:gd name="connsiteX1" fmla="*/ 2377 w 10000"/>
              <a:gd name="connsiteY1" fmla="*/ 0 h 10000"/>
              <a:gd name="connsiteX2" fmla="*/ 8009 w 10000"/>
              <a:gd name="connsiteY2" fmla="*/ 9621 h 10000"/>
              <a:gd name="connsiteX3" fmla="*/ 10000 w 10000"/>
              <a:gd name="connsiteY3" fmla="*/ 10000 h 10000"/>
              <a:gd name="connsiteX0" fmla="*/ 0 w 10673"/>
              <a:gd name="connsiteY0" fmla="*/ 52 h 9621"/>
              <a:gd name="connsiteX1" fmla="*/ 2377 w 10673"/>
              <a:gd name="connsiteY1" fmla="*/ 0 h 9621"/>
              <a:gd name="connsiteX2" fmla="*/ 8009 w 10673"/>
              <a:gd name="connsiteY2" fmla="*/ 9621 h 9621"/>
              <a:gd name="connsiteX3" fmla="*/ 10673 w 10673"/>
              <a:gd name="connsiteY3" fmla="*/ 9621 h 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73" h="9621">
                <a:moveTo>
                  <a:pt x="0" y="52"/>
                </a:moveTo>
                <a:lnTo>
                  <a:pt x="2377" y="0"/>
                </a:lnTo>
                <a:lnTo>
                  <a:pt x="8009" y="9621"/>
                </a:lnTo>
                <a:lnTo>
                  <a:pt x="10673" y="9621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2" name="Group 38">
            <a:extLst>
              <a:ext uri="{FF2B5EF4-FFF2-40B4-BE49-F238E27FC236}">
                <a16:creationId xmlns:a16="http://schemas.microsoft.com/office/drawing/2014/main" id="{81979E69-43B0-224E-AEE7-932D8FB25EC5}"/>
              </a:ext>
            </a:extLst>
          </p:cNvPr>
          <p:cNvGrpSpPr>
            <a:grpSpLocks/>
          </p:cNvGrpSpPr>
          <p:nvPr/>
        </p:nvGrpSpPr>
        <p:grpSpPr bwMode="auto">
          <a:xfrm>
            <a:off x="2099701" y="2306981"/>
            <a:ext cx="1333500" cy="1004887"/>
            <a:chOff x="220" y="1365"/>
            <a:chExt cx="840" cy="633"/>
          </a:xfrm>
        </p:grpSpPr>
        <p:sp>
          <p:nvSpPr>
            <p:cNvPr id="73" name="Line 39">
              <a:extLst>
                <a:ext uri="{FF2B5EF4-FFF2-40B4-BE49-F238E27FC236}">
                  <a16:creationId xmlns:a16="http://schemas.microsoft.com/office/drawing/2014/main" id="{021756D2-A025-CF41-A055-C96F4929A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Oval 40">
              <a:extLst>
                <a:ext uri="{FF2B5EF4-FFF2-40B4-BE49-F238E27FC236}">
                  <a16:creationId xmlns:a16="http://schemas.microsoft.com/office/drawing/2014/main" id="{34F50062-00A1-4541-B9F4-BEF323F05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8" name="Oval 41">
            <a:extLst>
              <a:ext uri="{FF2B5EF4-FFF2-40B4-BE49-F238E27FC236}">
                <a16:creationId xmlns:a16="http://schemas.microsoft.com/office/drawing/2014/main" id="{9AEB6601-DAB8-A041-9DF0-30C886DDB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076" y="2362543"/>
            <a:ext cx="985837" cy="9620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9" name="Line 42">
            <a:extLst>
              <a:ext uri="{FF2B5EF4-FFF2-40B4-BE49-F238E27FC236}">
                <a16:creationId xmlns:a16="http://schemas.microsoft.com/office/drawing/2014/main" id="{2CE2B382-7E31-324B-8E6C-07DE61767B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3138" y="5042243"/>
            <a:ext cx="12700" cy="11938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10" name="Freeform 43">
            <a:extLst>
              <a:ext uri="{FF2B5EF4-FFF2-40B4-BE49-F238E27FC236}">
                <a16:creationId xmlns:a16="http://schemas.microsoft.com/office/drawing/2014/main" id="{A4E624BD-18B7-E144-8B12-E9F34C001BC1}"/>
              </a:ext>
            </a:extLst>
          </p:cNvPr>
          <p:cNvSpPr>
            <a:spLocks/>
          </p:cNvSpPr>
          <p:nvPr/>
        </p:nvSpPr>
        <p:spPr bwMode="auto">
          <a:xfrm>
            <a:off x="2122306" y="3871617"/>
            <a:ext cx="7452932" cy="2415225"/>
          </a:xfrm>
          <a:custGeom>
            <a:avLst/>
            <a:gdLst>
              <a:gd name="T0" fmla="*/ 2147483647 w 4200"/>
              <a:gd name="T1" fmla="*/ 2147483647 h 1424"/>
              <a:gd name="T2" fmla="*/ 2147483647 w 4200"/>
              <a:gd name="T3" fmla="*/ 2147483647 h 1424"/>
              <a:gd name="T4" fmla="*/ 2147483647 w 4200"/>
              <a:gd name="T5" fmla="*/ 0 h 1424"/>
              <a:gd name="T6" fmla="*/ 0 w 4200"/>
              <a:gd name="T7" fmla="*/ 0 h 1424"/>
              <a:gd name="T8" fmla="*/ 0 60000 65536"/>
              <a:gd name="T9" fmla="*/ 0 60000 65536"/>
              <a:gd name="T10" fmla="*/ 0 60000 65536"/>
              <a:gd name="T11" fmla="*/ 0 60000 65536"/>
              <a:gd name="connsiteX0" fmla="*/ 10000 w 10000"/>
              <a:gd name="connsiteY0" fmla="*/ 10684 h 10684"/>
              <a:gd name="connsiteX1" fmla="*/ 7676 w 10000"/>
              <a:gd name="connsiteY1" fmla="*/ 10684 h 10684"/>
              <a:gd name="connsiteX2" fmla="*/ 4167 w 10000"/>
              <a:gd name="connsiteY2" fmla="*/ 0 h 10684"/>
              <a:gd name="connsiteX3" fmla="*/ 0 w 10000"/>
              <a:gd name="connsiteY3" fmla="*/ 684 h 10684"/>
              <a:gd name="connsiteX0" fmla="*/ 11178 w 11178"/>
              <a:gd name="connsiteY0" fmla="*/ 10684 h 10684"/>
              <a:gd name="connsiteX1" fmla="*/ 8854 w 11178"/>
              <a:gd name="connsiteY1" fmla="*/ 10684 h 10684"/>
              <a:gd name="connsiteX2" fmla="*/ 5345 w 11178"/>
              <a:gd name="connsiteY2" fmla="*/ 0 h 10684"/>
              <a:gd name="connsiteX3" fmla="*/ 0 w 11178"/>
              <a:gd name="connsiteY3" fmla="*/ 0 h 1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8" h="10684">
                <a:moveTo>
                  <a:pt x="11178" y="10684"/>
                </a:moveTo>
                <a:lnTo>
                  <a:pt x="8854" y="10684"/>
                </a:lnTo>
                <a:lnTo>
                  <a:pt x="5345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433B53F6-3987-AD43-823C-811301531A05}"/>
              </a:ext>
            </a:extLst>
          </p:cNvPr>
          <p:cNvGrpSpPr>
            <a:grpSpLocks/>
          </p:cNvGrpSpPr>
          <p:nvPr/>
        </p:nvGrpSpPr>
        <p:grpSpPr bwMode="auto">
          <a:xfrm>
            <a:off x="2099701" y="2306981"/>
            <a:ext cx="1333500" cy="1004887"/>
            <a:chOff x="220" y="1365"/>
            <a:chExt cx="840" cy="633"/>
          </a:xfrm>
        </p:grpSpPr>
        <p:sp>
          <p:nvSpPr>
            <p:cNvPr id="112" name="Line 45">
              <a:extLst>
                <a:ext uri="{FF2B5EF4-FFF2-40B4-BE49-F238E27FC236}">
                  <a16:creationId xmlns:a16="http://schemas.microsoft.com/office/drawing/2014/main" id="{4591E5D8-8C29-B847-85FE-27EBA5053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Oval 46">
              <a:extLst>
                <a:ext uri="{FF2B5EF4-FFF2-40B4-BE49-F238E27FC236}">
                  <a16:creationId xmlns:a16="http://schemas.microsoft.com/office/drawing/2014/main" id="{611A2C5D-AEE6-DD42-9AF5-792255258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14" name="Oval 47">
            <a:extLst>
              <a:ext uri="{FF2B5EF4-FFF2-40B4-BE49-F238E27FC236}">
                <a16:creationId xmlns:a16="http://schemas.microsoft.com/office/drawing/2014/main" id="{14740803-52CF-044E-A44B-1C3382FD6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901" y="2367306"/>
            <a:ext cx="985837" cy="9620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7" name="Text Box 16">
            <a:extLst>
              <a:ext uri="{FF2B5EF4-FFF2-40B4-BE49-F238E27FC236}">
                <a16:creationId xmlns:a16="http://schemas.microsoft.com/office/drawing/2014/main" id="{4960424F-A39C-9F48-B10B-6B92058EB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988" y="2400535"/>
            <a:ext cx="3389313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" name="Text Box 20">
            <a:extLst>
              <a:ext uri="{FF2B5EF4-FFF2-40B4-BE49-F238E27FC236}">
                <a16:creationId xmlns:a16="http://schemas.microsoft.com/office/drawing/2014/main" id="{F83C8E12-3B9E-D846-B39E-2D62F350B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7563" y="2720534"/>
            <a:ext cx="3389313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rdt_rcv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 &amp;&amp; corrupt(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C5AC3F7-1DB3-CE4F-B0C7-F20072FBA703}"/>
              </a:ext>
            </a:extLst>
          </p:cNvPr>
          <p:cNvGrpSpPr/>
          <p:nvPr/>
        </p:nvGrpSpPr>
        <p:grpSpPr>
          <a:xfrm>
            <a:off x="2271408" y="3285357"/>
            <a:ext cx="3548062" cy="989290"/>
            <a:chOff x="2270357" y="3283338"/>
            <a:chExt cx="3548062" cy="989290"/>
          </a:xfrm>
        </p:grpSpPr>
        <p:sp>
          <p:nvSpPr>
            <p:cNvPr id="125" name="Freeform 11">
              <a:extLst>
                <a:ext uri="{FF2B5EF4-FFF2-40B4-BE49-F238E27FC236}">
                  <a16:creationId xmlns:a16="http://schemas.microsoft.com/office/drawing/2014/main" id="{1ECBB11C-9731-AE49-85C4-CC54A9C37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338" y="3283338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803199FB-D06E-3542-B988-7EB9CD9168D8}"/>
                </a:ext>
              </a:extLst>
            </p:cNvPr>
            <p:cNvGrpSpPr/>
            <p:nvPr/>
          </p:nvGrpSpPr>
          <p:grpSpPr>
            <a:xfrm>
              <a:off x="2270357" y="3545923"/>
              <a:ext cx="3548062" cy="726705"/>
              <a:chOff x="2270357" y="3545923"/>
              <a:chExt cx="3548062" cy="726705"/>
            </a:xfrm>
          </p:grpSpPr>
          <p:sp>
            <p:nvSpPr>
              <p:cNvPr id="127" name="Text Box 12">
                <a:extLst>
                  <a:ext uri="{FF2B5EF4-FFF2-40B4-BE49-F238E27FC236}">
                    <a16:creationId xmlns:a16="http://schemas.microsoft.com/office/drawing/2014/main" id="{E0CFEDE3-2A91-2845-ABA4-C03E7492EE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0357" y="3545923"/>
                <a:ext cx="3548062" cy="285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rdt_rcv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 &amp;&amp; 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isACK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8" name="Line 13">
                <a:extLst>
                  <a:ext uri="{FF2B5EF4-FFF2-40B4-BE49-F238E27FC236}">
                    <a16:creationId xmlns:a16="http://schemas.microsoft.com/office/drawing/2014/main" id="{332EC257-20A6-9B48-A641-8E69142E58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0476" y="3919619"/>
                <a:ext cx="9906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Text Box 48">
                <a:extLst>
                  <a:ext uri="{FF2B5EF4-FFF2-40B4-BE49-F238E27FC236}">
                    <a16:creationId xmlns:a16="http://schemas.microsoft.com/office/drawing/2014/main" id="{BC7A4A01-571A-C94B-BAEC-EA73E5A392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5151" y="3936078"/>
                <a:ext cx="32385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E324CA8-B37F-8C4E-9533-D4557801C16E}"/>
              </a:ext>
            </a:extLst>
          </p:cNvPr>
          <p:cNvGrpSpPr/>
          <p:nvPr/>
        </p:nvGrpSpPr>
        <p:grpSpPr>
          <a:xfrm>
            <a:off x="8049650" y="5037504"/>
            <a:ext cx="4142349" cy="933582"/>
            <a:chOff x="8049650" y="5037504"/>
            <a:chExt cx="4142349" cy="933582"/>
          </a:xfrm>
        </p:grpSpPr>
        <p:sp>
          <p:nvSpPr>
            <p:cNvPr id="131" name="Text Box 7">
              <a:extLst>
                <a:ext uri="{FF2B5EF4-FFF2-40B4-BE49-F238E27FC236}">
                  <a16:creationId xmlns:a16="http://schemas.microsoft.com/office/drawing/2014/main" id="{723DBA89-E099-1146-9344-FD97D3586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1876" y="5351961"/>
              <a:ext cx="2143125" cy="619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extract(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rcvpkt,data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deliver_data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(data)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(ACK)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" name="Text Box 8">
              <a:extLst>
                <a:ext uri="{FF2B5EF4-FFF2-40B4-BE49-F238E27FC236}">
                  <a16:creationId xmlns:a16="http://schemas.microsoft.com/office/drawing/2014/main" id="{05CEFA42-064E-3142-841C-4AC47C36B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9650" y="5037504"/>
              <a:ext cx="4142349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&amp;&amp;  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notcorrupt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3" name="Line 9">
              <a:extLst>
                <a:ext uri="{FF2B5EF4-FFF2-40B4-BE49-F238E27FC236}">
                  <a16:creationId xmlns:a16="http://schemas.microsoft.com/office/drawing/2014/main" id="{0872816E-A3BC-B14C-B375-097293AE6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1888" y="5407524"/>
              <a:ext cx="14890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4" name="Text Box 19">
            <a:extLst>
              <a:ext uri="{FF2B5EF4-FFF2-40B4-BE49-F238E27FC236}">
                <a16:creationId xmlns:a16="http://schemas.microsoft.com/office/drawing/2014/main" id="{55D8DBB5-D62B-EB4E-B678-676582C50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066" y="2517724"/>
            <a:ext cx="1089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sender</a:t>
            </a:r>
          </a:p>
        </p:txBody>
      </p:sp>
      <p:sp>
        <p:nvSpPr>
          <p:cNvPr id="135" name="Text Box 20">
            <a:extLst>
              <a:ext uri="{FF2B5EF4-FFF2-40B4-BE49-F238E27FC236}">
                <a16:creationId xmlns:a16="http://schemas.microsoft.com/office/drawing/2014/main" id="{6A4DBB19-70E8-BE4F-86ED-46D7FF548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0963" y="3961155"/>
            <a:ext cx="1247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</a:t>
            </a:r>
          </a:p>
        </p:txBody>
      </p:sp>
      <p:sp>
        <p:nvSpPr>
          <p:cNvPr id="74" name="Text Box 16">
            <a:extLst>
              <a:ext uri="{FF2B5EF4-FFF2-40B4-BE49-F238E27FC236}">
                <a16:creationId xmlns:a16="http://schemas.microsoft.com/office/drawing/2014/main" id="{312C203B-3A0A-BD4E-8578-6F37A2E7E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477" y="2154581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rdt_rcv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 &amp;&amp;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isNAK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Slide Number Placeholder 2">
            <a:extLst>
              <a:ext uri="{FF2B5EF4-FFF2-40B4-BE49-F238E27FC236}">
                <a16:creationId xmlns:a16="http://schemas.microsoft.com/office/drawing/2014/main" id="{70847C17-240C-8943-BAC9-8DEDA07FF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87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4"/>
                                            </p:cond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14" grpId="0" animBg="1"/>
      <p:bldP spid="11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rdt2.0: corrupted packet scenario</a:t>
            </a:r>
            <a:endParaRPr lang="en-US" sz="4400" dirty="0"/>
          </a:p>
        </p:txBody>
      </p:sp>
      <p:sp>
        <p:nvSpPr>
          <p:cNvPr id="133" name="Oval 3">
            <a:extLst>
              <a:ext uri="{FF2B5EF4-FFF2-40B4-BE49-F238E27FC236}">
                <a16:creationId xmlns:a16="http://schemas.microsoft.com/office/drawing/2014/main" id="{69A00FB9-348A-D448-9793-795F22B57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8440" y="2349843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4" name="Text Box 4">
            <a:extLst>
              <a:ext uri="{FF2B5EF4-FFF2-40B4-BE49-F238E27FC236}">
                <a16:creationId xmlns:a16="http://schemas.microsoft.com/office/drawing/2014/main" id="{77096BA8-8AE7-EA4F-B0FD-7469803EA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840" y="2433981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Wait for call from above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5" name="Text Box 5">
            <a:extLst>
              <a:ext uri="{FF2B5EF4-FFF2-40B4-BE49-F238E27FC236}">
                <a16:creationId xmlns:a16="http://schemas.microsoft.com/office/drawing/2014/main" id="{D6DC2F34-5901-DE44-A6E9-F96497094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6415" y="1630706"/>
            <a:ext cx="3643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snkpkt = make_pkt(data, checksum)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udt_send(sndpkt)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6" name="Line 6">
            <a:extLst>
              <a:ext uri="{FF2B5EF4-FFF2-40B4-BE49-F238E27FC236}">
                <a16:creationId xmlns:a16="http://schemas.microsoft.com/office/drawing/2014/main" id="{D357F502-19B9-7A40-B1E5-CD7250CA9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1190" y="1675156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0" name="Freeform 10">
            <a:extLst>
              <a:ext uri="{FF2B5EF4-FFF2-40B4-BE49-F238E27FC236}">
                <a16:creationId xmlns:a16="http://schemas.microsoft.com/office/drawing/2014/main" id="{3ADC35A3-77A4-3D42-9882-FB506CCCFA61}"/>
              </a:ext>
            </a:extLst>
          </p:cNvPr>
          <p:cNvSpPr>
            <a:spLocks/>
          </p:cNvSpPr>
          <p:nvPr/>
        </p:nvSpPr>
        <p:spPr bwMode="auto">
          <a:xfrm flipV="1">
            <a:off x="2808802" y="2119656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1" name="Freeform 11">
            <a:extLst>
              <a:ext uri="{FF2B5EF4-FFF2-40B4-BE49-F238E27FC236}">
                <a16:creationId xmlns:a16="http://schemas.microsoft.com/office/drawing/2014/main" id="{3907903E-8186-0B48-B29F-40C6FD559F99}"/>
              </a:ext>
            </a:extLst>
          </p:cNvPr>
          <p:cNvSpPr>
            <a:spLocks/>
          </p:cNvSpPr>
          <p:nvPr/>
        </p:nvSpPr>
        <p:spPr bwMode="auto">
          <a:xfrm>
            <a:off x="2856427" y="3280118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4" name="Freeform 14">
            <a:extLst>
              <a:ext uri="{FF2B5EF4-FFF2-40B4-BE49-F238E27FC236}">
                <a16:creationId xmlns:a16="http://schemas.microsoft.com/office/drawing/2014/main" id="{C5D67D61-82E5-5642-B2D5-452A20671145}"/>
              </a:ext>
            </a:extLst>
          </p:cNvPr>
          <p:cNvSpPr>
            <a:spLocks/>
          </p:cNvSpPr>
          <p:nvPr/>
        </p:nvSpPr>
        <p:spPr bwMode="auto">
          <a:xfrm>
            <a:off x="5004315" y="2426043"/>
            <a:ext cx="466725" cy="893763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5" name="Text Box 15">
            <a:extLst>
              <a:ext uri="{FF2B5EF4-FFF2-40B4-BE49-F238E27FC236}">
                <a16:creationId xmlns:a16="http://schemas.microsoft.com/office/drawing/2014/main" id="{7BABC5B8-9BD6-F145-8E9A-0912B8AEE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3877" y="2740368"/>
            <a:ext cx="1763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udt_send(sndpkt)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Text Box 16">
            <a:extLst>
              <a:ext uri="{FF2B5EF4-FFF2-40B4-BE49-F238E27FC236}">
                <a16:creationId xmlns:a16="http://schemas.microsoft.com/office/drawing/2014/main" id="{BE38BF73-5EF1-6B42-B012-9E244200F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477" y="2154581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rdt_rcv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 &amp;&amp;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isNAK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Line 17">
            <a:extLst>
              <a:ext uri="{FF2B5EF4-FFF2-40B4-BE49-F238E27FC236}">
                <a16:creationId xmlns:a16="http://schemas.microsoft.com/office/drawing/2014/main" id="{6082D473-667E-D744-BD55-1C35E0FE87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7540" y="2740368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2" name="Group 22">
            <a:extLst>
              <a:ext uri="{FF2B5EF4-FFF2-40B4-BE49-F238E27FC236}">
                <a16:creationId xmlns:a16="http://schemas.microsoft.com/office/drawing/2014/main" id="{DCE40CB4-F0AE-734E-AA44-08F29CD02D52}"/>
              </a:ext>
            </a:extLst>
          </p:cNvPr>
          <p:cNvGrpSpPr>
            <a:grpSpLocks/>
          </p:cNvGrpSpPr>
          <p:nvPr/>
        </p:nvGrpSpPr>
        <p:grpSpPr bwMode="auto">
          <a:xfrm>
            <a:off x="4043877" y="2362543"/>
            <a:ext cx="1074738" cy="962025"/>
            <a:chOff x="1540" y="2116"/>
            <a:chExt cx="677" cy="606"/>
          </a:xfrm>
        </p:grpSpPr>
        <p:sp>
          <p:nvSpPr>
            <p:cNvPr id="153" name="Oval 23">
              <a:extLst>
                <a:ext uri="{FF2B5EF4-FFF2-40B4-BE49-F238E27FC236}">
                  <a16:creationId xmlns:a16="http://schemas.microsoft.com/office/drawing/2014/main" id="{D3BB9C31-5D9C-684A-BB70-14F20480A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4" name="Text Box 24">
              <a:extLst>
                <a:ext uri="{FF2B5EF4-FFF2-40B4-BE49-F238E27FC236}">
                  <a16:creationId xmlns:a16="http://schemas.microsoft.com/office/drawing/2014/main" id="{7290D8CF-233C-DA4F-8144-17F1D181B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ACK or NAK</a:t>
              </a: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55" name="Freeform 25">
            <a:extLst>
              <a:ext uri="{FF2B5EF4-FFF2-40B4-BE49-F238E27FC236}">
                <a16:creationId xmlns:a16="http://schemas.microsoft.com/office/drawing/2014/main" id="{1FC9F4AC-60DA-664B-8892-94963AC43A62}"/>
              </a:ext>
            </a:extLst>
          </p:cNvPr>
          <p:cNvSpPr>
            <a:spLocks/>
          </p:cNvSpPr>
          <p:nvPr/>
        </p:nvSpPr>
        <p:spPr bwMode="auto">
          <a:xfrm>
            <a:off x="8423790" y="3288056"/>
            <a:ext cx="1257300" cy="469900"/>
          </a:xfrm>
          <a:custGeom>
            <a:avLst/>
            <a:gdLst>
              <a:gd name="T0" fmla="*/ 2147483647 w 1500"/>
              <a:gd name="T1" fmla="*/ 2147483647 h 740"/>
              <a:gd name="T2" fmla="*/ 2147483647 w 1500"/>
              <a:gd name="T3" fmla="*/ 2147483647 h 74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6" name="Oval 26">
            <a:extLst>
              <a:ext uri="{FF2B5EF4-FFF2-40B4-BE49-F238E27FC236}">
                <a16:creationId xmlns:a16="http://schemas.microsoft.com/office/drawing/2014/main" id="{C6A7C088-049A-2642-9A7F-7E6B3149E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865" y="3708743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7" name="Text Box 27">
            <a:extLst>
              <a:ext uri="{FF2B5EF4-FFF2-40B4-BE49-F238E27FC236}">
                <a16:creationId xmlns:a16="http://schemas.microsoft.com/office/drawing/2014/main" id="{579E5E2D-B23D-BF43-A731-1D8C59C74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8552" y="3792881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Wait for call from below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8" name="Freeform 28">
            <a:extLst>
              <a:ext uri="{FF2B5EF4-FFF2-40B4-BE49-F238E27FC236}">
                <a16:creationId xmlns:a16="http://schemas.microsoft.com/office/drawing/2014/main" id="{82DEFCAC-19A6-8E44-8FD1-83883629ABA7}"/>
              </a:ext>
            </a:extLst>
          </p:cNvPr>
          <p:cNvSpPr>
            <a:spLocks/>
          </p:cNvSpPr>
          <p:nvPr/>
        </p:nvSpPr>
        <p:spPr bwMode="auto">
          <a:xfrm flipV="1">
            <a:off x="8436490" y="4591214"/>
            <a:ext cx="1257300" cy="469900"/>
          </a:xfrm>
          <a:custGeom>
            <a:avLst/>
            <a:gdLst>
              <a:gd name="T0" fmla="*/ 2147483647 w 1500"/>
              <a:gd name="T1" fmla="*/ 2147483647 h 740"/>
              <a:gd name="T2" fmla="*/ 2147483647 w 1500"/>
              <a:gd name="T3" fmla="*/ 2147483647 h 74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9" name="Group 29">
            <a:extLst>
              <a:ext uri="{FF2B5EF4-FFF2-40B4-BE49-F238E27FC236}">
                <a16:creationId xmlns:a16="http://schemas.microsoft.com/office/drawing/2014/main" id="{C486E2AA-5514-8349-8774-4B86574332CB}"/>
              </a:ext>
            </a:extLst>
          </p:cNvPr>
          <p:cNvGrpSpPr>
            <a:grpSpLocks/>
          </p:cNvGrpSpPr>
          <p:nvPr/>
        </p:nvGrpSpPr>
        <p:grpSpPr bwMode="auto">
          <a:xfrm>
            <a:off x="2100777" y="2306981"/>
            <a:ext cx="1333500" cy="1004887"/>
            <a:chOff x="220" y="1365"/>
            <a:chExt cx="840" cy="633"/>
          </a:xfrm>
        </p:grpSpPr>
        <p:sp>
          <p:nvSpPr>
            <p:cNvPr id="160" name="Line 30">
              <a:extLst>
                <a:ext uri="{FF2B5EF4-FFF2-40B4-BE49-F238E27FC236}">
                  <a16:creationId xmlns:a16="http://schemas.microsoft.com/office/drawing/2014/main" id="{C0CC58D1-8C84-3E47-909F-D82E63AA1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1" name="Oval 31">
              <a:extLst>
                <a:ext uri="{FF2B5EF4-FFF2-40B4-BE49-F238E27FC236}">
                  <a16:creationId xmlns:a16="http://schemas.microsoft.com/office/drawing/2014/main" id="{852C29BD-DA30-1D45-9733-0851CEB0A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2" name="Group 32">
            <a:extLst>
              <a:ext uri="{FF2B5EF4-FFF2-40B4-BE49-F238E27FC236}">
                <a16:creationId xmlns:a16="http://schemas.microsoft.com/office/drawing/2014/main" id="{A05DCA54-BB9F-EB48-8E9C-19DBD5FE15BE}"/>
              </a:ext>
            </a:extLst>
          </p:cNvPr>
          <p:cNvGrpSpPr>
            <a:grpSpLocks/>
          </p:cNvGrpSpPr>
          <p:nvPr/>
        </p:nvGrpSpPr>
        <p:grpSpPr bwMode="auto">
          <a:xfrm>
            <a:off x="8085652" y="3637306"/>
            <a:ext cx="1414463" cy="1033462"/>
            <a:chOff x="3990" y="2203"/>
            <a:chExt cx="891" cy="651"/>
          </a:xfrm>
        </p:grpSpPr>
        <p:sp>
          <p:nvSpPr>
            <p:cNvPr id="163" name="Line 33">
              <a:extLst>
                <a:ext uri="{FF2B5EF4-FFF2-40B4-BE49-F238E27FC236}">
                  <a16:creationId xmlns:a16="http://schemas.microsoft.com/office/drawing/2014/main" id="{E80E2DDF-EEB5-964A-90BC-641CEA2AE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" y="2203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4" name="Oval 34">
              <a:extLst>
                <a:ext uri="{FF2B5EF4-FFF2-40B4-BE49-F238E27FC236}">
                  <a16:creationId xmlns:a16="http://schemas.microsoft.com/office/drawing/2014/main" id="{1AD65A4C-E940-0B4D-BFA8-963C7F4DF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" y="2248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5" name="Text Box 35">
            <a:extLst>
              <a:ext uri="{FF2B5EF4-FFF2-40B4-BE49-F238E27FC236}">
                <a16:creationId xmlns:a16="http://schemas.microsoft.com/office/drawing/2014/main" id="{EB12FDE8-F0FD-FF44-9743-6CC34031C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815" y="1340193"/>
            <a:ext cx="225583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rdt_send(data)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Line 36">
            <a:extLst>
              <a:ext uri="{FF2B5EF4-FFF2-40B4-BE49-F238E27FC236}">
                <a16:creationId xmlns:a16="http://schemas.microsoft.com/office/drawing/2014/main" id="{EC5F8159-C72E-AD42-9E10-261F73F1A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2765" y="1429093"/>
            <a:ext cx="12700" cy="7477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67" name="Freeform 37">
            <a:extLst>
              <a:ext uri="{FF2B5EF4-FFF2-40B4-BE49-F238E27FC236}">
                <a16:creationId xmlns:a16="http://schemas.microsoft.com/office/drawing/2014/main" id="{35077D8E-9690-5846-914B-870B57CBFFC1}"/>
              </a:ext>
            </a:extLst>
          </p:cNvPr>
          <p:cNvSpPr>
            <a:spLocks/>
          </p:cNvSpPr>
          <p:nvPr/>
        </p:nvSpPr>
        <p:spPr bwMode="auto">
          <a:xfrm>
            <a:off x="2762765" y="2146643"/>
            <a:ext cx="6940550" cy="654050"/>
          </a:xfrm>
          <a:custGeom>
            <a:avLst/>
            <a:gdLst>
              <a:gd name="T0" fmla="*/ 0 w 4372"/>
              <a:gd name="T1" fmla="*/ 2147483647 h 412"/>
              <a:gd name="T2" fmla="*/ 2147483647 w 4372"/>
              <a:gd name="T3" fmla="*/ 0 h 412"/>
              <a:gd name="T4" fmla="*/ 2147483647 w 4372"/>
              <a:gd name="T5" fmla="*/ 2147483647 h 412"/>
              <a:gd name="T6" fmla="*/ 2147483647 w 4372"/>
              <a:gd name="T7" fmla="*/ 2147483647 h 4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72" h="412">
                <a:moveTo>
                  <a:pt x="0" y="10"/>
                </a:moveTo>
                <a:lnTo>
                  <a:pt x="1003" y="0"/>
                </a:lnTo>
                <a:lnTo>
                  <a:pt x="3508" y="412"/>
                </a:lnTo>
                <a:lnTo>
                  <a:pt x="4372" y="412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8" name="Group 38">
            <a:extLst>
              <a:ext uri="{FF2B5EF4-FFF2-40B4-BE49-F238E27FC236}">
                <a16:creationId xmlns:a16="http://schemas.microsoft.com/office/drawing/2014/main" id="{39365D95-8B18-AE4F-9CEC-9330CADCC26B}"/>
              </a:ext>
            </a:extLst>
          </p:cNvPr>
          <p:cNvGrpSpPr>
            <a:grpSpLocks/>
          </p:cNvGrpSpPr>
          <p:nvPr/>
        </p:nvGrpSpPr>
        <p:grpSpPr bwMode="auto">
          <a:xfrm>
            <a:off x="2099190" y="2306981"/>
            <a:ext cx="1333500" cy="1004887"/>
            <a:chOff x="220" y="1365"/>
            <a:chExt cx="840" cy="633"/>
          </a:xfrm>
        </p:grpSpPr>
        <p:sp>
          <p:nvSpPr>
            <p:cNvPr id="169" name="Line 39">
              <a:extLst>
                <a:ext uri="{FF2B5EF4-FFF2-40B4-BE49-F238E27FC236}">
                  <a16:creationId xmlns:a16="http://schemas.microsoft.com/office/drawing/2014/main" id="{68593BDB-565B-C544-A698-EAB110089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Oval 40">
              <a:extLst>
                <a:ext uri="{FF2B5EF4-FFF2-40B4-BE49-F238E27FC236}">
                  <a16:creationId xmlns:a16="http://schemas.microsoft.com/office/drawing/2014/main" id="{99432816-2BCC-7742-BBCC-636611297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1" name="Oval 41">
            <a:extLst>
              <a:ext uri="{FF2B5EF4-FFF2-40B4-BE49-F238E27FC236}">
                <a16:creationId xmlns:a16="http://schemas.microsoft.com/office/drawing/2014/main" id="{2992E4B8-7EF2-1A40-9095-9F4F00D28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565" y="2362543"/>
            <a:ext cx="985837" cy="9620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Line 42">
            <a:extLst>
              <a:ext uri="{FF2B5EF4-FFF2-40B4-BE49-F238E27FC236}">
                <a16:creationId xmlns:a16="http://schemas.microsoft.com/office/drawing/2014/main" id="{FBE55EA3-B145-414B-A6FF-0F0EE400CF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627" y="5042243"/>
            <a:ext cx="12700" cy="11938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3" name="Freeform 43">
            <a:extLst>
              <a:ext uri="{FF2B5EF4-FFF2-40B4-BE49-F238E27FC236}">
                <a16:creationId xmlns:a16="http://schemas.microsoft.com/office/drawing/2014/main" id="{59879249-0649-F24B-B236-6C80F47AAC2E}"/>
              </a:ext>
            </a:extLst>
          </p:cNvPr>
          <p:cNvSpPr>
            <a:spLocks/>
          </p:cNvSpPr>
          <p:nvPr/>
        </p:nvSpPr>
        <p:spPr bwMode="auto">
          <a:xfrm>
            <a:off x="2353297" y="3858893"/>
            <a:ext cx="7272844" cy="2363522"/>
          </a:xfrm>
          <a:custGeom>
            <a:avLst/>
            <a:gdLst>
              <a:gd name="T0" fmla="*/ 2147483647 w 4200"/>
              <a:gd name="T1" fmla="*/ 2147483647 h 1424"/>
              <a:gd name="T2" fmla="*/ 2147483647 w 4200"/>
              <a:gd name="T3" fmla="*/ 2147483647 h 1424"/>
              <a:gd name="T4" fmla="*/ 2147483647 w 4200"/>
              <a:gd name="T5" fmla="*/ 0 h 1424"/>
              <a:gd name="T6" fmla="*/ 0 w 4200"/>
              <a:gd name="T7" fmla="*/ 0 h 1424"/>
              <a:gd name="T8" fmla="*/ 0 60000 65536"/>
              <a:gd name="T9" fmla="*/ 0 60000 65536"/>
              <a:gd name="T10" fmla="*/ 0 60000 65536"/>
              <a:gd name="T11" fmla="*/ 0 60000 65536"/>
              <a:gd name="connsiteX0" fmla="*/ 10000 w 10000"/>
              <a:gd name="connsiteY0" fmla="*/ 10000 h 10000"/>
              <a:gd name="connsiteX1" fmla="*/ 7637 w 10000"/>
              <a:gd name="connsiteY1" fmla="*/ 9715 h 10000"/>
              <a:gd name="connsiteX2" fmla="*/ 4476 w 10000"/>
              <a:gd name="connsiteY2" fmla="*/ 0 h 10000"/>
              <a:gd name="connsiteX3" fmla="*/ 0 w 10000"/>
              <a:gd name="connsiteY3" fmla="*/ 0 h 10000"/>
              <a:gd name="connsiteX0" fmla="*/ 10058 w 10058"/>
              <a:gd name="connsiteY0" fmla="*/ 9601 h 9715"/>
              <a:gd name="connsiteX1" fmla="*/ 7637 w 10058"/>
              <a:gd name="connsiteY1" fmla="*/ 9715 h 9715"/>
              <a:gd name="connsiteX2" fmla="*/ 4476 w 10058"/>
              <a:gd name="connsiteY2" fmla="*/ 0 h 9715"/>
              <a:gd name="connsiteX3" fmla="*/ 0 w 10058"/>
              <a:gd name="connsiteY3" fmla="*/ 0 h 9715"/>
              <a:gd name="connsiteX0" fmla="*/ 10000 w 10000"/>
              <a:gd name="connsiteY0" fmla="*/ 10059 h 10059"/>
              <a:gd name="connsiteX1" fmla="*/ 7593 w 10000"/>
              <a:gd name="connsiteY1" fmla="*/ 10000 h 10059"/>
              <a:gd name="connsiteX2" fmla="*/ 4450 w 10000"/>
              <a:gd name="connsiteY2" fmla="*/ 0 h 10059"/>
              <a:gd name="connsiteX3" fmla="*/ 0 w 10000"/>
              <a:gd name="connsiteY3" fmla="*/ 0 h 10059"/>
              <a:gd name="connsiteX0" fmla="*/ 10019 w 10019"/>
              <a:gd name="connsiteY0" fmla="*/ 10000 h 10000"/>
              <a:gd name="connsiteX1" fmla="*/ 7593 w 10019"/>
              <a:gd name="connsiteY1" fmla="*/ 10000 h 10000"/>
              <a:gd name="connsiteX2" fmla="*/ 4450 w 10019"/>
              <a:gd name="connsiteY2" fmla="*/ 0 h 10000"/>
              <a:gd name="connsiteX3" fmla="*/ 0 w 10019"/>
              <a:gd name="connsiteY3" fmla="*/ 0 h 10000"/>
              <a:gd name="connsiteX0" fmla="*/ 10019 w 10019"/>
              <a:gd name="connsiteY0" fmla="*/ 10586 h 10586"/>
              <a:gd name="connsiteX1" fmla="*/ 7593 w 10019"/>
              <a:gd name="connsiteY1" fmla="*/ 10586 h 10586"/>
              <a:gd name="connsiteX2" fmla="*/ 3989 w 10019"/>
              <a:gd name="connsiteY2" fmla="*/ 0 h 10586"/>
              <a:gd name="connsiteX3" fmla="*/ 0 w 10019"/>
              <a:gd name="connsiteY3" fmla="*/ 586 h 10586"/>
              <a:gd name="connsiteX0" fmla="*/ 10845 w 10845"/>
              <a:gd name="connsiteY0" fmla="*/ 10762 h 10762"/>
              <a:gd name="connsiteX1" fmla="*/ 8419 w 10845"/>
              <a:gd name="connsiteY1" fmla="*/ 10762 h 10762"/>
              <a:gd name="connsiteX2" fmla="*/ 4815 w 10845"/>
              <a:gd name="connsiteY2" fmla="*/ 176 h 10762"/>
              <a:gd name="connsiteX3" fmla="*/ 0 w 10845"/>
              <a:gd name="connsiteY3" fmla="*/ 0 h 10762"/>
              <a:gd name="connsiteX0" fmla="*/ 10845 w 10845"/>
              <a:gd name="connsiteY0" fmla="*/ 10762 h 10762"/>
              <a:gd name="connsiteX1" fmla="*/ 8419 w 10845"/>
              <a:gd name="connsiteY1" fmla="*/ 10762 h 10762"/>
              <a:gd name="connsiteX2" fmla="*/ 4911 w 10845"/>
              <a:gd name="connsiteY2" fmla="*/ 0 h 10762"/>
              <a:gd name="connsiteX3" fmla="*/ 0 w 10845"/>
              <a:gd name="connsiteY3" fmla="*/ 0 h 10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45" h="10762">
                <a:moveTo>
                  <a:pt x="10845" y="10762"/>
                </a:moveTo>
                <a:lnTo>
                  <a:pt x="8419" y="10762"/>
                </a:lnTo>
                <a:lnTo>
                  <a:pt x="4911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4" name="Group 44">
            <a:extLst>
              <a:ext uri="{FF2B5EF4-FFF2-40B4-BE49-F238E27FC236}">
                <a16:creationId xmlns:a16="http://schemas.microsoft.com/office/drawing/2014/main" id="{4CB3F7B7-A92F-9B44-92D1-D6DEC5F500AB}"/>
              </a:ext>
            </a:extLst>
          </p:cNvPr>
          <p:cNvGrpSpPr>
            <a:grpSpLocks/>
          </p:cNvGrpSpPr>
          <p:nvPr/>
        </p:nvGrpSpPr>
        <p:grpSpPr bwMode="auto">
          <a:xfrm>
            <a:off x="2099190" y="2306981"/>
            <a:ext cx="1333500" cy="1004887"/>
            <a:chOff x="220" y="1365"/>
            <a:chExt cx="840" cy="633"/>
          </a:xfrm>
        </p:grpSpPr>
        <p:sp>
          <p:nvSpPr>
            <p:cNvPr id="175" name="Line 45">
              <a:extLst>
                <a:ext uri="{FF2B5EF4-FFF2-40B4-BE49-F238E27FC236}">
                  <a16:creationId xmlns:a16="http://schemas.microsoft.com/office/drawing/2014/main" id="{DA8F54E3-D3E2-5B44-B37B-20E7E272B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Oval 46">
              <a:extLst>
                <a:ext uri="{FF2B5EF4-FFF2-40B4-BE49-F238E27FC236}">
                  <a16:creationId xmlns:a16="http://schemas.microsoft.com/office/drawing/2014/main" id="{33BDD6FC-64CC-2347-921C-94F2A9140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7" name="Oval 47">
            <a:extLst>
              <a:ext uri="{FF2B5EF4-FFF2-40B4-BE49-F238E27FC236}">
                <a16:creationId xmlns:a16="http://schemas.microsoft.com/office/drawing/2014/main" id="{2345AD26-ED57-8F45-B85E-B4144CC97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390" y="2367306"/>
            <a:ext cx="985837" cy="962025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48">
            <a:extLst>
              <a:ext uri="{FF2B5EF4-FFF2-40B4-BE49-F238E27FC236}">
                <a16:creationId xmlns:a16="http://schemas.microsoft.com/office/drawing/2014/main" id="{99C86BB6-8396-7A4F-A95C-226EFE593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4727" y="2634006"/>
            <a:ext cx="0" cy="81756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9" name="Freeform 49">
            <a:extLst>
              <a:ext uri="{FF2B5EF4-FFF2-40B4-BE49-F238E27FC236}">
                <a16:creationId xmlns:a16="http://schemas.microsoft.com/office/drawing/2014/main" id="{A524866B-F3C3-0047-A24A-49C2FB7D032D}"/>
              </a:ext>
            </a:extLst>
          </p:cNvPr>
          <p:cNvSpPr>
            <a:spLocks/>
          </p:cNvSpPr>
          <p:nvPr/>
        </p:nvSpPr>
        <p:spPr bwMode="auto">
          <a:xfrm>
            <a:off x="5409127" y="2356193"/>
            <a:ext cx="4378325" cy="1025525"/>
          </a:xfrm>
          <a:custGeom>
            <a:avLst/>
            <a:gdLst>
              <a:gd name="T0" fmla="*/ 2147483647 w 2758"/>
              <a:gd name="T1" fmla="*/ 2147483647 h 646"/>
              <a:gd name="T2" fmla="*/ 2147483647 w 2758"/>
              <a:gd name="T3" fmla="*/ 2147483647 h 646"/>
              <a:gd name="T4" fmla="*/ 2147483647 w 2758"/>
              <a:gd name="T5" fmla="*/ 0 h 646"/>
              <a:gd name="T6" fmla="*/ 0 w 2758"/>
              <a:gd name="T7" fmla="*/ 0 h 6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758" h="646">
                <a:moveTo>
                  <a:pt x="2758" y="646"/>
                </a:moveTo>
                <a:lnTo>
                  <a:pt x="1763" y="629"/>
                </a:lnTo>
                <a:lnTo>
                  <a:pt x="1039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0" name="Line 50">
            <a:extLst>
              <a:ext uri="{FF2B5EF4-FFF2-40B4-BE49-F238E27FC236}">
                <a16:creationId xmlns:a16="http://schemas.microsoft.com/office/drawing/2014/main" id="{E379A4B3-232E-9D4E-A4C6-40DC647EE3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9590" y="2230781"/>
            <a:ext cx="0" cy="84613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81" name="Freeform 51">
            <a:extLst>
              <a:ext uri="{FF2B5EF4-FFF2-40B4-BE49-F238E27FC236}">
                <a16:creationId xmlns:a16="http://schemas.microsoft.com/office/drawing/2014/main" id="{7739BB93-5816-A945-B555-C2290DB78FDA}"/>
              </a:ext>
            </a:extLst>
          </p:cNvPr>
          <p:cNvSpPr>
            <a:spLocks/>
          </p:cNvSpPr>
          <p:nvPr/>
        </p:nvSpPr>
        <p:spPr bwMode="auto">
          <a:xfrm>
            <a:off x="5394840" y="3091206"/>
            <a:ext cx="5464750" cy="1966367"/>
          </a:xfrm>
          <a:custGeom>
            <a:avLst/>
            <a:gdLst>
              <a:gd name="T0" fmla="*/ 0 w 2566"/>
              <a:gd name="T1" fmla="*/ 0 h 1344"/>
              <a:gd name="T2" fmla="*/ 2147483647 w 2566"/>
              <a:gd name="T3" fmla="*/ 0 h 1344"/>
              <a:gd name="T4" fmla="*/ 2147483647 w 2566"/>
              <a:gd name="T5" fmla="*/ 2147483647 h 1344"/>
              <a:gd name="T6" fmla="*/ 2147483647 w 2566"/>
              <a:gd name="T7" fmla="*/ 2147483647 h 1344"/>
              <a:gd name="T8" fmla="*/ 0 60000 65536"/>
              <a:gd name="T9" fmla="*/ 0 60000 65536"/>
              <a:gd name="T10" fmla="*/ 0 60000 65536"/>
              <a:gd name="T11" fmla="*/ 0 60000 65536"/>
              <a:gd name="connsiteX0" fmla="*/ 0 w 10000"/>
              <a:gd name="connsiteY0" fmla="*/ 0 h 10000"/>
              <a:gd name="connsiteX1" fmla="*/ 3948 w 10000"/>
              <a:gd name="connsiteY1" fmla="*/ 0 h 10000"/>
              <a:gd name="connsiteX2" fmla="*/ 6367 w 10000"/>
              <a:gd name="connsiteY2" fmla="*/ 9215 h 10000"/>
              <a:gd name="connsiteX3" fmla="*/ 10000 w 10000"/>
              <a:gd name="connsiteY3" fmla="*/ 10000 h 10000"/>
              <a:gd name="connsiteX0" fmla="*/ 0 w 13541"/>
              <a:gd name="connsiteY0" fmla="*/ 0 h 9215"/>
              <a:gd name="connsiteX1" fmla="*/ 3948 w 13541"/>
              <a:gd name="connsiteY1" fmla="*/ 0 h 9215"/>
              <a:gd name="connsiteX2" fmla="*/ 6367 w 13541"/>
              <a:gd name="connsiteY2" fmla="*/ 9215 h 9215"/>
              <a:gd name="connsiteX3" fmla="*/ 13541 w 13541"/>
              <a:gd name="connsiteY3" fmla="*/ 9155 h 9215"/>
              <a:gd name="connsiteX0" fmla="*/ 0 w 9977"/>
              <a:gd name="connsiteY0" fmla="*/ 0 h 10132"/>
              <a:gd name="connsiteX1" fmla="*/ 2916 w 9977"/>
              <a:gd name="connsiteY1" fmla="*/ 0 h 10132"/>
              <a:gd name="connsiteX2" fmla="*/ 4702 w 9977"/>
              <a:gd name="connsiteY2" fmla="*/ 10000 h 10132"/>
              <a:gd name="connsiteX3" fmla="*/ 9977 w 9977"/>
              <a:gd name="connsiteY3" fmla="*/ 10132 h 10132"/>
              <a:gd name="connsiteX0" fmla="*/ 0 w 9930"/>
              <a:gd name="connsiteY0" fmla="*/ 0 h 9871"/>
              <a:gd name="connsiteX1" fmla="*/ 2923 w 9930"/>
              <a:gd name="connsiteY1" fmla="*/ 0 h 9871"/>
              <a:gd name="connsiteX2" fmla="*/ 4713 w 9930"/>
              <a:gd name="connsiteY2" fmla="*/ 9870 h 9871"/>
              <a:gd name="connsiteX3" fmla="*/ 9930 w 9930"/>
              <a:gd name="connsiteY3" fmla="*/ 9871 h 9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0" h="9871">
                <a:moveTo>
                  <a:pt x="0" y="0"/>
                </a:moveTo>
                <a:lnTo>
                  <a:pt x="2923" y="0"/>
                </a:lnTo>
                <a:lnTo>
                  <a:pt x="4713" y="9870"/>
                </a:lnTo>
                <a:lnTo>
                  <a:pt x="9930" y="9871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3" name="Group 18">
            <a:extLst>
              <a:ext uri="{FF2B5EF4-FFF2-40B4-BE49-F238E27FC236}">
                <a16:creationId xmlns:a16="http://schemas.microsoft.com/office/drawing/2014/main" id="{E284CB69-9F56-5447-BEF7-41A6F2097E8E}"/>
              </a:ext>
            </a:extLst>
          </p:cNvPr>
          <p:cNvGrpSpPr>
            <a:grpSpLocks/>
          </p:cNvGrpSpPr>
          <p:nvPr/>
        </p:nvGrpSpPr>
        <p:grpSpPr bwMode="auto">
          <a:xfrm>
            <a:off x="8325876" y="3094378"/>
            <a:ext cx="1828800" cy="257175"/>
            <a:chOff x="2222" y="3039"/>
            <a:chExt cx="1152" cy="162"/>
          </a:xfrm>
        </p:grpSpPr>
        <p:sp>
          <p:nvSpPr>
            <p:cNvPr id="184" name="Text Box 19">
              <a:extLst>
                <a:ext uri="{FF2B5EF4-FFF2-40B4-BE49-F238E27FC236}">
                  <a16:creationId xmlns:a16="http://schemas.microsoft.com/office/drawing/2014/main" id="{678874A7-3358-5245-A855-DD7E0879D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3039"/>
              <a:ext cx="115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(NAK)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Line 21">
              <a:extLst>
                <a:ext uri="{FF2B5EF4-FFF2-40B4-BE49-F238E27FC236}">
                  <a16:creationId xmlns:a16="http://schemas.microsoft.com/office/drawing/2014/main" id="{56F7C457-03D8-8D48-AA90-B8A469907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5" y="3040"/>
              <a:ext cx="6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6" name="Text Box 20">
            <a:extLst>
              <a:ext uri="{FF2B5EF4-FFF2-40B4-BE49-F238E27FC236}">
                <a16:creationId xmlns:a16="http://schemas.microsoft.com/office/drawing/2014/main" id="{69FC3B3A-305F-9B42-8C7E-1C83075E3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7563" y="2720534"/>
            <a:ext cx="3389313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rdt_rcv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 &amp;&amp; corrupt(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E98E9E8-48DD-2748-A76A-B86C9C5E697C}"/>
              </a:ext>
            </a:extLst>
          </p:cNvPr>
          <p:cNvGrpSpPr/>
          <p:nvPr/>
        </p:nvGrpSpPr>
        <p:grpSpPr>
          <a:xfrm>
            <a:off x="8049650" y="5037504"/>
            <a:ext cx="4142349" cy="933582"/>
            <a:chOff x="8049650" y="5037504"/>
            <a:chExt cx="4142349" cy="933582"/>
          </a:xfrm>
        </p:grpSpPr>
        <p:sp>
          <p:nvSpPr>
            <p:cNvPr id="188" name="Text Box 7">
              <a:extLst>
                <a:ext uri="{FF2B5EF4-FFF2-40B4-BE49-F238E27FC236}">
                  <a16:creationId xmlns:a16="http://schemas.microsoft.com/office/drawing/2014/main" id="{547ACF72-ABFE-F64D-A037-06CF279C9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1876" y="5351961"/>
              <a:ext cx="2143125" cy="619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extract(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rcvpkt,data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deliver_data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(data)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(ACK)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Text Box 8">
              <a:extLst>
                <a:ext uri="{FF2B5EF4-FFF2-40B4-BE49-F238E27FC236}">
                  <a16:creationId xmlns:a16="http://schemas.microsoft.com/office/drawing/2014/main" id="{ECD6AB09-3FC5-E94A-8358-34E4DEA2C4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9650" y="5037504"/>
              <a:ext cx="4142349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&amp;&amp;  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notcorrupt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9">
              <a:extLst>
                <a:ext uri="{FF2B5EF4-FFF2-40B4-BE49-F238E27FC236}">
                  <a16:creationId xmlns:a16="http://schemas.microsoft.com/office/drawing/2014/main" id="{7D4185C1-C6BE-C246-B80B-AE0463D5FB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1888" y="5407524"/>
              <a:ext cx="14890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72958F88-7074-B842-A46E-481DB4E01207}"/>
              </a:ext>
            </a:extLst>
          </p:cNvPr>
          <p:cNvGrpSpPr/>
          <p:nvPr/>
        </p:nvGrpSpPr>
        <p:grpSpPr>
          <a:xfrm>
            <a:off x="2271408" y="3285357"/>
            <a:ext cx="3548062" cy="989290"/>
            <a:chOff x="2270357" y="3283338"/>
            <a:chExt cx="3548062" cy="989290"/>
          </a:xfrm>
        </p:grpSpPr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52733FCF-77DF-9549-96B3-58AA12126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338" y="3283338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C96D5C38-D258-7844-A167-A26AFEEF24DC}"/>
                </a:ext>
              </a:extLst>
            </p:cNvPr>
            <p:cNvGrpSpPr/>
            <p:nvPr/>
          </p:nvGrpSpPr>
          <p:grpSpPr>
            <a:xfrm>
              <a:off x="2270357" y="3545923"/>
              <a:ext cx="3548062" cy="726705"/>
              <a:chOff x="2270357" y="3545923"/>
              <a:chExt cx="3548062" cy="726705"/>
            </a:xfrm>
          </p:grpSpPr>
          <p:sp>
            <p:nvSpPr>
              <p:cNvPr id="195" name="Text Box 12">
                <a:extLst>
                  <a:ext uri="{FF2B5EF4-FFF2-40B4-BE49-F238E27FC236}">
                    <a16:creationId xmlns:a16="http://schemas.microsoft.com/office/drawing/2014/main" id="{3746DB42-5771-AD4D-9F11-055A2239F8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0357" y="3545923"/>
                <a:ext cx="3548062" cy="285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rdt_rcv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 &amp;&amp; 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isACK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6" name="Line 13">
                <a:extLst>
                  <a:ext uri="{FF2B5EF4-FFF2-40B4-BE49-F238E27FC236}">
                    <a16:creationId xmlns:a16="http://schemas.microsoft.com/office/drawing/2014/main" id="{F8840150-1E50-BA43-88E4-6F9188C56B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0476" y="3919619"/>
                <a:ext cx="9906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Text Box 48">
                <a:extLst>
                  <a:ext uri="{FF2B5EF4-FFF2-40B4-BE49-F238E27FC236}">
                    <a16:creationId xmlns:a16="http://schemas.microsoft.com/office/drawing/2014/main" id="{13B3F6FD-1B58-2540-B908-71B7D9EFB8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5151" y="3936078"/>
                <a:ext cx="32385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</a:p>
            </p:txBody>
          </p:sp>
        </p:grpSp>
      </p:grpSp>
      <p:sp>
        <p:nvSpPr>
          <p:cNvPr id="198" name="Text Box 19">
            <a:extLst>
              <a:ext uri="{FF2B5EF4-FFF2-40B4-BE49-F238E27FC236}">
                <a16:creationId xmlns:a16="http://schemas.microsoft.com/office/drawing/2014/main" id="{A11F89D9-6E4B-F142-B680-CA9246FEB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066" y="2517724"/>
            <a:ext cx="1089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sender</a:t>
            </a:r>
          </a:p>
        </p:txBody>
      </p:sp>
      <p:sp>
        <p:nvSpPr>
          <p:cNvPr id="199" name="Text Box 20">
            <a:extLst>
              <a:ext uri="{FF2B5EF4-FFF2-40B4-BE49-F238E27FC236}">
                <a16:creationId xmlns:a16="http://schemas.microsoft.com/office/drawing/2014/main" id="{F9D8503E-DBC4-144B-9DCA-064A69A8F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0963" y="3961155"/>
            <a:ext cx="1247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</a:t>
            </a:r>
          </a:p>
        </p:txBody>
      </p: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4C651C60-2DE4-0846-A035-0E312850C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91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177" grpId="0" animBg="1"/>
      <p:bldP spid="17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rdt2.0 has a fatal flaw!</a:t>
            </a:r>
            <a:endParaRPr lang="en-US" sz="4400" dirty="0"/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24A7E6D3-44BD-F44B-9E30-860EE5046FF6}"/>
              </a:ext>
            </a:extLst>
          </p:cNvPr>
          <p:cNvSpPr txBox="1">
            <a:spLocks noChangeArrowheads="1"/>
          </p:cNvSpPr>
          <p:nvPr/>
        </p:nvSpPr>
        <p:spPr>
          <a:xfrm>
            <a:off x="691480" y="1384568"/>
            <a:ext cx="582523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happens if ACK/NAK corrupted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?</a:t>
            </a:r>
          </a:p>
          <a:p>
            <a:pPr marL="460375" marR="0" lvl="0" indent="-217488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doesn’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know what happened at receiver!</a:t>
            </a:r>
          </a:p>
          <a:p>
            <a:pPr marL="460375" marR="0" lvl="0" indent="-217488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just retransmit: possible duplicate</a:t>
            </a:r>
            <a:endParaRPr kumimoji="0" lang="en-US" altLang="ja-JP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ct val="6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" name="Rectangle 4">
            <a:extLst>
              <a:ext uri="{FF2B5EF4-FFF2-40B4-BE49-F238E27FC236}">
                <a16:creationId xmlns:a16="http://schemas.microsoft.com/office/drawing/2014/main" id="{A5980F19-9541-754D-B1F9-A97DD6E77B8E}"/>
              </a:ext>
            </a:extLst>
          </p:cNvPr>
          <p:cNvSpPr txBox="1">
            <a:spLocks noChangeArrowheads="1"/>
          </p:cNvSpPr>
          <p:nvPr/>
        </p:nvSpPr>
        <p:spPr>
          <a:xfrm>
            <a:off x="6207334" y="1371689"/>
            <a:ext cx="5293186" cy="30638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handling duplicates</a:t>
            </a:r>
            <a:r>
              <a:rPr kumimoji="0" lang="en-US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</a:t>
            </a:r>
          </a:p>
          <a:p>
            <a:pPr marL="4603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retransmits current pkt if ACK/NAK corrupted</a:t>
            </a:r>
          </a:p>
          <a:p>
            <a:pPr marL="4603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adds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sequence number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to each pkt</a:t>
            </a:r>
          </a:p>
          <a:p>
            <a:pPr marL="4603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receiver discards (doesn’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deliver up) duplicate pkt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6" name="Group 13">
            <a:extLst>
              <a:ext uri="{FF2B5EF4-FFF2-40B4-BE49-F238E27FC236}">
                <a16:creationId xmlns:a16="http://schemas.microsoft.com/office/drawing/2014/main" id="{DD203542-E210-7447-A332-31A71101B61E}"/>
              </a:ext>
            </a:extLst>
          </p:cNvPr>
          <p:cNvGrpSpPr>
            <a:grpSpLocks/>
          </p:cNvGrpSpPr>
          <p:nvPr/>
        </p:nvGrpSpPr>
        <p:grpSpPr bwMode="auto">
          <a:xfrm>
            <a:off x="3103667" y="4578498"/>
            <a:ext cx="5984666" cy="1603375"/>
            <a:chOff x="1552" y="2800"/>
            <a:chExt cx="2578" cy="1010"/>
          </a:xfrm>
        </p:grpSpPr>
        <p:sp>
          <p:nvSpPr>
            <p:cNvPr id="57" name="Rectangle 7">
              <a:extLst>
                <a:ext uri="{FF2B5EF4-FFF2-40B4-BE49-F238E27FC236}">
                  <a16:creationId xmlns:a16="http://schemas.microsoft.com/office/drawing/2014/main" id="{7263B3B4-235C-B144-9AEF-471ED41D1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2" y="2974"/>
              <a:ext cx="2578" cy="836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" name="Rectangle 9">
              <a:extLst>
                <a:ext uri="{FF2B5EF4-FFF2-40B4-BE49-F238E27FC236}">
                  <a16:creationId xmlns:a16="http://schemas.microsoft.com/office/drawing/2014/main" id="{2C183582-BCD6-964F-9986-EC99BBA65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6" y="2864"/>
              <a:ext cx="596" cy="2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" name="Text Box 10">
              <a:extLst>
                <a:ext uri="{FF2B5EF4-FFF2-40B4-BE49-F238E27FC236}">
                  <a16:creationId xmlns:a16="http://schemas.microsoft.com/office/drawing/2014/main" id="{51B6B572-EC0D-AF4F-816C-095262254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4" y="2800"/>
              <a:ext cx="1052" cy="3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stop and wait</a:t>
              </a:r>
            </a:p>
          </p:txBody>
        </p:sp>
        <p:sp>
          <p:nvSpPr>
            <p:cNvPr id="60" name="Text Box 6">
              <a:extLst>
                <a:ext uri="{FF2B5EF4-FFF2-40B4-BE49-F238E27FC236}">
                  <a16:creationId xmlns:a16="http://schemas.microsoft.com/office/drawing/2014/main" id="{76C910B9-5EA9-F245-95E8-43CDADF70A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8" y="3136"/>
              <a:ext cx="2452" cy="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sender sends one packet,  then waits for receiver  response</a:t>
              </a:r>
            </a:p>
          </p:txBody>
        </p:sp>
      </p:grp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5301A5D-98A1-5549-8702-D978C38EA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30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rdt2.1: sender, handling garbled ACK/NAKs</a:t>
            </a:r>
            <a:endParaRPr lang="en-US" sz="4400" dirty="0"/>
          </a:p>
        </p:txBody>
      </p:sp>
      <p:sp>
        <p:nvSpPr>
          <p:cNvPr id="47" name="Oval 3">
            <a:extLst>
              <a:ext uri="{FF2B5EF4-FFF2-40B4-BE49-F238E27FC236}">
                <a16:creationId xmlns:a16="http://schemas.microsoft.com/office/drawing/2014/main" id="{F4C9F03D-E67B-234E-BA55-D7E8F7DDD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8777" y="2435427"/>
            <a:ext cx="901700" cy="8366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Text Box 4">
            <a:extLst>
              <a:ext uri="{FF2B5EF4-FFF2-40B4-BE49-F238E27FC236}">
                <a16:creationId xmlns:a16="http://schemas.microsoft.com/office/drawing/2014/main" id="{512826EB-423D-0E49-8FDB-270557859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752" y="2511448"/>
            <a:ext cx="10906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Wait for call 0 from above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Line 8">
            <a:extLst>
              <a:ext uri="{FF2B5EF4-FFF2-40B4-BE49-F238E27FC236}">
                <a16:creationId xmlns:a16="http://schemas.microsoft.com/office/drawing/2014/main" id="{6251CAAF-59B3-6049-8269-0136EB3BA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4139" y="2390977"/>
            <a:ext cx="377825" cy="19050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1" name="Group 10">
            <a:extLst>
              <a:ext uri="{FF2B5EF4-FFF2-40B4-BE49-F238E27FC236}">
                <a16:creationId xmlns:a16="http://schemas.microsoft.com/office/drawing/2014/main" id="{BA1E332A-47D4-2B43-8C9F-38C21B1C7E8C}"/>
              </a:ext>
            </a:extLst>
          </p:cNvPr>
          <p:cNvGrpSpPr>
            <a:grpSpLocks/>
          </p:cNvGrpSpPr>
          <p:nvPr/>
        </p:nvGrpSpPr>
        <p:grpSpPr bwMode="auto">
          <a:xfrm>
            <a:off x="6492339" y="2383039"/>
            <a:ext cx="1089025" cy="865188"/>
            <a:chOff x="2848" y="1499"/>
            <a:chExt cx="660" cy="510"/>
          </a:xfrm>
        </p:grpSpPr>
        <p:sp>
          <p:nvSpPr>
            <p:cNvPr id="62" name="Oval 11">
              <a:extLst>
                <a:ext uri="{FF2B5EF4-FFF2-40B4-BE49-F238E27FC236}">
                  <a16:creationId xmlns:a16="http://schemas.microsoft.com/office/drawing/2014/main" id="{9DE4F784-AF0C-E34C-81A2-913DC58F1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3" y="1499"/>
              <a:ext cx="568" cy="51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Text Box 12">
              <a:extLst>
                <a:ext uri="{FF2B5EF4-FFF2-40B4-BE49-F238E27FC236}">
                  <a16:creationId xmlns:a16="http://schemas.microsoft.com/office/drawing/2014/main" id="{0E862915-5D53-444E-973B-D7C43BF97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8" y="1551"/>
              <a:ext cx="66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ACK or NAK 0</a:t>
              </a: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BA1DA02-294B-934E-8385-25257F63BA6D}"/>
              </a:ext>
            </a:extLst>
          </p:cNvPr>
          <p:cNvGrpSpPr/>
          <p:nvPr/>
        </p:nvGrpSpPr>
        <p:grpSpPr>
          <a:xfrm>
            <a:off x="4914364" y="1394027"/>
            <a:ext cx="3694113" cy="1087437"/>
            <a:chOff x="4914364" y="1394027"/>
            <a:chExt cx="3694113" cy="1087437"/>
          </a:xfrm>
        </p:grpSpPr>
        <p:sp>
          <p:nvSpPr>
            <p:cNvPr id="49" name="Text Box 5">
              <a:extLst>
                <a:ext uri="{FF2B5EF4-FFF2-40B4-BE49-F238E27FC236}">
                  <a16:creationId xmlns:a16="http://schemas.microsoft.com/office/drawing/2014/main" id="{87E331C0-8956-B94A-9617-A05FF5ABF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364" y="1706764"/>
              <a:ext cx="36941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= 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make_pkt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(0, data, checksum)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70C87B1-30A2-CF4B-8F5E-B415D876E20D}"/>
                </a:ext>
              </a:extLst>
            </p:cNvPr>
            <p:cNvGrpSpPr/>
            <p:nvPr/>
          </p:nvGrpSpPr>
          <p:grpSpPr>
            <a:xfrm>
              <a:off x="4928652" y="1394027"/>
              <a:ext cx="2852737" cy="1087437"/>
              <a:chOff x="4928652" y="1394027"/>
              <a:chExt cx="2852737" cy="1087437"/>
            </a:xfrm>
          </p:grpSpPr>
          <p:sp>
            <p:nvSpPr>
              <p:cNvPr id="50" name="Text Box 6">
                <a:extLst>
                  <a:ext uri="{FF2B5EF4-FFF2-40B4-BE49-F238E27FC236}">
                    <a16:creationId xmlns:a16="http://schemas.microsoft.com/office/drawing/2014/main" id="{8B74C9CA-A3E5-1442-BBC9-D8DC3707E2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8652" y="1394027"/>
                <a:ext cx="2111375" cy="300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rdt_send(data)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" name="Line 7">
                <a:extLst>
                  <a:ext uri="{FF2B5EF4-FFF2-40B4-BE49-F238E27FC236}">
                    <a16:creationId xmlns:a16="http://schemas.microsoft.com/office/drawing/2014/main" id="{70072A5C-7BD3-1347-8EE9-8CEAFBB1A8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6127" y="1759152"/>
                <a:ext cx="273526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4" name="Freeform 13">
                <a:extLst>
                  <a:ext uri="{FF2B5EF4-FFF2-40B4-BE49-F238E27FC236}">
                    <a16:creationId xmlns:a16="http://schemas.microsoft.com/office/drawing/2014/main" id="{0B9BE592-AD70-2042-904B-EEC5293B290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5215989" y="2260802"/>
                <a:ext cx="1482725" cy="220662"/>
              </a:xfrm>
              <a:custGeom>
                <a:avLst/>
                <a:gdLst>
                  <a:gd name="T0" fmla="*/ 0 w 2835"/>
                  <a:gd name="T1" fmla="*/ 0 h 525"/>
                  <a:gd name="T2" fmla="*/ 2147483647 w 2835"/>
                  <a:gd name="T3" fmla="*/ 0 h 52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35" h="525">
                    <a:moveTo>
                      <a:pt x="0" y="0"/>
                    </a:moveTo>
                    <a:cubicBezTo>
                      <a:pt x="60" y="525"/>
                      <a:pt x="2835" y="495"/>
                      <a:pt x="2835" y="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9449F5B-E30E-EB4E-8D88-CA2F8497E472}"/>
              </a:ext>
            </a:extLst>
          </p:cNvPr>
          <p:cNvGrpSpPr/>
          <p:nvPr/>
        </p:nvGrpSpPr>
        <p:grpSpPr>
          <a:xfrm>
            <a:off x="7379752" y="1999849"/>
            <a:ext cx="3513428" cy="1207103"/>
            <a:chOff x="7379752" y="1999849"/>
            <a:chExt cx="3513428" cy="1207103"/>
          </a:xfrm>
        </p:grpSpPr>
        <p:sp>
          <p:nvSpPr>
            <p:cNvPr id="65" name="Freeform 14">
              <a:extLst>
                <a:ext uri="{FF2B5EF4-FFF2-40B4-BE49-F238E27FC236}">
                  <a16:creationId xmlns:a16="http://schemas.microsoft.com/office/drawing/2014/main" id="{441BD95E-662D-EC44-934A-74A441B70166}"/>
                </a:ext>
              </a:extLst>
            </p:cNvPr>
            <p:cNvSpPr>
              <a:spLocks/>
            </p:cNvSpPr>
            <p:nvPr/>
          </p:nvSpPr>
          <p:spPr bwMode="auto">
            <a:xfrm rot="20242820">
              <a:off x="7379752" y="2244927"/>
              <a:ext cx="466725" cy="685800"/>
            </a:xfrm>
            <a:custGeom>
              <a:avLst/>
              <a:gdLst>
                <a:gd name="T0" fmla="*/ 0 w 735"/>
                <a:gd name="T1" fmla="*/ 2147483647 h 1080"/>
                <a:gd name="T2" fmla="*/ 0 w 735"/>
                <a:gd name="T3" fmla="*/ 2147483647 h 10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Text Box 15">
              <a:extLst>
                <a:ext uri="{FF2B5EF4-FFF2-40B4-BE49-F238E27FC236}">
                  <a16:creationId xmlns:a16="http://schemas.microsoft.com/office/drawing/2014/main" id="{4B2E9E68-BA62-3348-B352-724365F81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2239" y="2806902"/>
              <a:ext cx="226218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Text Box 16">
              <a:extLst>
                <a:ext uri="{FF2B5EF4-FFF2-40B4-BE49-F238E27FC236}">
                  <a16:creationId xmlns:a16="http://schemas.microsoft.com/office/drawing/2014/main" id="{8B1473FF-396D-124F-BBF5-94242E43A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4671" y="1999849"/>
              <a:ext cx="3178509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&amp;&amp;  (corrupt(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||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isNAK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Line 17">
              <a:extLst>
                <a:ext uri="{FF2B5EF4-FFF2-40B4-BE49-F238E27FC236}">
                  <a16:creationId xmlns:a16="http://schemas.microsoft.com/office/drawing/2014/main" id="{9508C46B-C13D-114D-A7F0-B06456265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35364" y="2846589"/>
              <a:ext cx="143351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D86620-4FC8-1B4F-B3F3-482BB43DB050}"/>
              </a:ext>
            </a:extLst>
          </p:cNvPr>
          <p:cNvGrpSpPr/>
          <p:nvPr/>
        </p:nvGrpSpPr>
        <p:grpSpPr>
          <a:xfrm>
            <a:off x="5155664" y="4908752"/>
            <a:ext cx="3763963" cy="984250"/>
            <a:chOff x="5155664" y="4908752"/>
            <a:chExt cx="3763963" cy="984250"/>
          </a:xfrm>
        </p:grpSpPr>
        <p:sp>
          <p:nvSpPr>
            <p:cNvPr id="70" name="Freeform 19">
              <a:extLst>
                <a:ext uri="{FF2B5EF4-FFF2-40B4-BE49-F238E27FC236}">
                  <a16:creationId xmlns:a16="http://schemas.microsoft.com/office/drawing/2014/main" id="{BD6C0BB1-99C8-4749-986C-88E4780E3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0614" y="4908752"/>
              <a:ext cx="1606550" cy="247650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Text Box 21">
              <a:extLst>
                <a:ext uri="{FF2B5EF4-FFF2-40B4-BE49-F238E27FC236}">
                  <a16:creationId xmlns:a16="http://schemas.microsoft.com/office/drawing/2014/main" id="{71FAC561-AE6B-3048-917F-15508B28AA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5664" y="5492952"/>
              <a:ext cx="37639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 = make_pkt(1, data, checksum)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Text Box 22">
              <a:extLst>
                <a:ext uri="{FF2B5EF4-FFF2-40B4-BE49-F238E27FC236}">
                  <a16:creationId xmlns:a16="http://schemas.microsoft.com/office/drawing/2014/main" id="{15BBCB1C-B6A9-344E-9CA2-0BBB0CAD2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514" y="5154814"/>
              <a:ext cx="238918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rdt_send(data)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Line 23">
              <a:extLst>
                <a:ext uri="{FF2B5EF4-FFF2-40B4-BE49-F238E27FC236}">
                  <a16:creationId xmlns:a16="http://schemas.microsoft.com/office/drawing/2014/main" id="{0C2DB497-B042-9046-9811-10519C1E7B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3139" y="5507239"/>
              <a:ext cx="29035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CECDF8-D246-4049-B950-BA60CB64C4FE}"/>
              </a:ext>
            </a:extLst>
          </p:cNvPr>
          <p:cNvGrpSpPr/>
          <p:nvPr/>
        </p:nvGrpSpPr>
        <p:grpSpPr>
          <a:xfrm>
            <a:off x="1859796" y="4491239"/>
            <a:ext cx="2821206" cy="1349375"/>
            <a:chOff x="1859796" y="4491239"/>
            <a:chExt cx="2821206" cy="1349375"/>
          </a:xfrm>
        </p:grpSpPr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5AA1EA36-A375-E043-A8A6-573B3CDB17AB}"/>
                </a:ext>
              </a:extLst>
            </p:cNvPr>
            <p:cNvSpPr>
              <a:spLocks/>
            </p:cNvSpPr>
            <p:nvPr/>
          </p:nvSpPr>
          <p:spPr bwMode="auto">
            <a:xfrm rot="14610547">
              <a:off x="3969802" y="4732539"/>
              <a:ext cx="952500" cy="469900"/>
            </a:xfrm>
            <a:custGeom>
              <a:avLst/>
              <a:gdLst>
                <a:gd name="T0" fmla="*/ 2147483647 w 1500"/>
                <a:gd name="T1" fmla="*/ 2147483647 h 740"/>
                <a:gd name="T2" fmla="*/ 2147483647 w 1500"/>
                <a:gd name="T3" fmla="*/ 2147483647 h 7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Text Box 26">
              <a:extLst>
                <a:ext uri="{FF2B5EF4-FFF2-40B4-BE49-F238E27FC236}">
                  <a16:creationId xmlns:a16="http://schemas.microsoft.com/office/drawing/2014/main" id="{C0C2767A-6838-D340-B9F9-D72D920A7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0889" y="5564389"/>
              <a:ext cx="181927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7">
              <a:extLst>
                <a:ext uri="{FF2B5EF4-FFF2-40B4-BE49-F238E27FC236}">
                  <a16:creationId xmlns:a16="http://schemas.microsoft.com/office/drawing/2014/main" id="{28A57471-B5B0-D741-A10E-89210112F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9796" y="4726939"/>
              <a:ext cx="2391034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(corrupt(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||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isNAK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8">
              <a:extLst>
                <a:ext uri="{FF2B5EF4-FFF2-40B4-BE49-F238E27FC236}">
                  <a16:creationId xmlns:a16="http://schemas.microsoft.com/office/drawing/2014/main" id="{5E70559D-E25D-834D-BB11-04C3EEB77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377" y="5572327"/>
              <a:ext cx="155733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2" name="Group 31">
            <a:extLst>
              <a:ext uri="{FF2B5EF4-FFF2-40B4-BE49-F238E27FC236}">
                <a16:creationId xmlns:a16="http://schemas.microsoft.com/office/drawing/2014/main" id="{81C031FC-110D-E943-BFA4-8F8C747060C6}"/>
              </a:ext>
            </a:extLst>
          </p:cNvPr>
          <p:cNvGrpSpPr>
            <a:grpSpLocks/>
          </p:cNvGrpSpPr>
          <p:nvPr/>
        </p:nvGrpSpPr>
        <p:grpSpPr bwMode="auto">
          <a:xfrm>
            <a:off x="6643152" y="4329314"/>
            <a:ext cx="1117600" cy="823913"/>
            <a:chOff x="4156" y="2812"/>
            <a:chExt cx="704" cy="519"/>
          </a:xfrm>
        </p:grpSpPr>
        <p:sp>
          <p:nvSpPr>
            <p:cNvPr id="83" name="Oval 32">
              <a:extLst>
                <a:ext uri="{FF2B5EF4-FFF2-40B4-BE49-F238E27FC236}">
                  <a16:creationId xmlns:a16="http://schemas.microsoft.com/office/drawing/2014/main" id="{DBC13DE2-6448-6042-A76F-1AA9FA583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2" y="2812"/>
              <a:ext cx="567" cy="51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Text Box 33">
              <a:extLst>
                <a:ext uri="{FF2B5EF4-FFF2-40B4-BE49-F238E27FC236}">
                  <a16:creationId xmlns:a16="http://schemas.microsoft.com/office/drawing/2014/main" id="{E29BDAD6-5FEC-F24F-BE6F-CD21C3CA8F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" y="2870"/>
              <a:ext cx="7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call 1 from above</a:t>
              </a: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5" name="Group 34">
            <a:extLst>
              <a:ext uri="{FF2B5EF4-FFF2-40B4-BE49-F238E27FC236}">
                <a16:creationId xmlns:a16="http://schemas.microsoft.com/office/drawing/2014/main" id="{A719D103-2F81-5E46-A5A0-A41FEB02DBAE}"/>
              </a:ext>
            </a:extLst>
          </p:cNvPr>
          <p:cNvGrpSpPr>
            <a:grpSpLocks/>
          </p:cNvGrpSpPr>
          <p:nvPr/>
        </p:nvGrpSpPr>
        <p:grpSpPr bwMode="auto">
          <a:xfrm>
            <a:off x="4453989" y="4275339"/>
            <a:ext cx="1046163" cy="823913"/>
            <a:chOff x="4916" y="3266"/>
            <a:chExt cx="659" cy="519"/>
          </a:xfrm>
        </p:grpSpPr>
        <p:sp>
          <p:nvSpPr>
            <p:cNvPr id="86" name="Oval 35">
              <a:extLst>
                <a:ext uri="{FF2B5EF4-FFF2-40B4-BE49-F238E27FC236}">
                  <a16:creationId xmlns:a16="http://schemas.microsoft.com/office/drawing/2014/main" id="{452B4C18-F351-424F-9F61-578D01454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" y="3266"/>
              <a:ext cx="567" cy="51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36">
              <a:extLst>
                <a:ext uri="{FF2B5EF4-FFF2-40B4-BE49-F238E27FC236}">
                  <a16:creationId xmlns:a16="http://schemas.microsoft.com/office/drawing/2014/main" id="{6D1F24C4-2629-794A-B55E-60C945FDC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6" y="3319"/>
              <a:ext cx="65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ACK or NAK 1</a:t>
              </a: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A5D53C9-4BB8-5043-8DC5-F0E5CF4CABAD}"/>
              </a:ext>
            </a:extLst>
          </p:cNvPr>
          <p:cNvGrpSpPr/>
          <p:nvPr/>
        </p:nvGrpSpPr>
        <p:grpSpPr>
          <a:xfrm>
            <a:off x="7340064" y="2989464"/>
            <a:ext cx="3184984" cy="1470025"/>
            <a:chOff x="7340064" y="2989464"/>
            <a:chExt cx="3184984" cy="1470025"/>
          </a:xfrm>
        </p:grpSpPr>
        <p:sp>
          <p:nvSpPr>
            <p:cNvPr id="71" name="Freeform 20">
              <a:extLst>
                <a:ext uri="{FF2B5EF4-FFF2-40B4-BE49-F238E27FC236}">
                  <a16:creationId xmlns:a16="http://schemas.microsoft.com/office/drawing/2014/main" id="{9CD05C47-D1BA-A640-9C82-600A98940CDA}"/>
                </a:ext>
              </a:extLst>
            </p:cNvPr>
            <p:cNvSpPr>
              <a:spLocks/>
            </p:cNvSpPr>
            <p:nvPr/>
          </p:nvSpPr>
          <p:spPr bwMode="auto">
            <a:xfrm rot="5400000" flipH="1" flipV="1">
              <a:off x="6760626" y="3568902"/>
              <a:ext cx="1363663" cy="204788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Text Box 24">
              <a:extLst>
                <a:ext uri="{FF2B5EF4-FFF2-40B4-BE49-F238E27FC236}">
                  <a16:creationId xmlns:a16="http://schemas.microsoft.com/office/drawing/2014/main" id="{F253FA80-34F7-E440-9662-0A8A9E206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9435" y="3255707"/>
              <a:ext cx="2995613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 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notcorrupt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isACK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</a:t>
              </a:r>
            </a:p>
          </p:txBody>
        </p:sp>
        <p:sp>
          <p:nvSpPr>
            <p:cNvPr id="76" name="Line 25">
              <a:extLst>
                <a:ext uri="{FF2B5EF4-FFF2-40B4-BE49-F238E27FC236}">
                  <a16:creationId xmlns:a16="http://schemas.microsoft.com/office/drawing/2014/main" id="{66DBD07B-79D8-0F4A-A6FF-59EB09F77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11527" y="4113414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Text Box 37">
              <a:extLst>
                <a:ext uri="{FF2B5EF4-FFF2-40B4-BE49-F238E27FC236}">
                  <a16:creationId xmlns:a16="http://schemas.microsoft.com/office/drawing/2014/main" id="{3EF62ED3-CC68-F04E-85DE-74B808ECD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4114" y="4122939"/>
              <a:ext cx="3238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D39DAE-4584-FA45-975F-927834C99F4E}"/>
              </a:ext>
            </a:extLst>
          </p:cNvPr>
          <p:cNvGrpSpPr/>
          <p:nvPr/>
        </p:nvGrpSpPr>
        <p:grpSpPr>
          <a:xfrm>
            <a:off x="768495" y="3049789"/>
            <a:ext cx="3918857" cy="1284288"/>
            <a:chOff x="768495" y="3049789"/>
            <a:chExt cx="3918857" cy="1284288"/>
          </a:xfrm>
        </p:grpSpPr>
        <p:sp>
          <p:nvSpPr>
            <p:cNvPr id="69" name="Freeform 18">
              <a:extLst>
                <a:ext uri="{FF2B5EF4-FFF2-40B4-BE49-F238E27FC236}">
                  <a16:creationId xmlns:a16="http://schemas.microsoft.com/office/drawing/2014/main" id="{E4C63A38-513E-6D46-AD73-8B315DEB4A90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3992027" y="3621289"/>
              <a:ext cx="1266825" cy="123825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9">
              <a:extLst>
                <a:ext uri="{FF2B5EF4-FFF2-40B4-BE49-F238E27FC236}">
                  <a16:creationId xmlns:a16="http://schemas.microsoft.com/office/drawing/2014/main" id="{10C84F04-9916-C447-98C1-9B431D5078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495" y="3141125"/>
              <a:ext cx="3623727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 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notcorrupt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&amp;&amp; 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isACK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Line 30">
              <a:extLst>
                <a:ext uri="{FF2B5EF4-FFF2-40B4-BE49-F238E27FC236}">
                  <a16:creationId xmlns:a16="http://schemas.microsoft.com/office/drawing/2014/main" id="{3CE13E4F-EE16-CD4F-B855-807B9A4D3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802" y="3983239"/>
              <a:ext cx="173831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9" name="Text Box 38">
              <a:extLst>
                <a:ext uri="{FF2B5EF4-FFF2-40B4-BE49-F238E27FC236}">
                  <a16:creationId xmlns:a16="http://schemas.microsoft.com/office/drawing/2014/main" id="{82E244E2-C5AE-4445-BF1E-C90A2091B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302" y="3997527"/>
              <a:ext cx="3238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</a:p>
          </p:txBody>
        </p:sp>
      </p:grpSp>
      <p:sp>
        <p:nvSpPr>
          <p:cNvPr id="46" name="Slide Number Placeholder 2">
            <a:extLst>
              <a:ext uri="{FF2B5EF4-FFF2-40B4-BE49-F238E27FC236}">
                <a16:creationId xmlns:a16="http://schemas.microsoft.com/office/drawing/2014/main" id="{B69BA466-748A-4F41-808A-2B33C515B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01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rdt2.1: receiver, handling garbled ACK/NAKs</a:t>
            </a:r>
            <a:endParaRPr lang="en-US" sz="4400" dirty="0"/>
          </a:p>
        </p:txBody>
      </p:sp>
      <p:grpSp>
        <p:nvGrpSpPr>
          <p:cNvPr id="138" name="Group 3">
            <a:extLst>
              <a:ext uri="{FF2B5EF4-FFF2-40B4-BE49-F238E27FC236}">
                <a16:creationId xmlns:a16="http://schemas.microsoft.com/office/drawing/2014/main" id="{C1CD05A1-04E4-FC48-B0C5-45F2AACDECEF}"/>
              </a:ext>
            </a:extLst>
          </p:cNvPr>
          <p:cNvGrpSpPr>
            <a:grpSpLocks/>
          </p:cNvGrpSpPr>
          <p:nvPr/>
        </p:nvGrpSpPr>
        <p:grpSpPr bwMode="auto">
          <a:xfrm>
            <a:off x="4764244" y="3345999"/>
            <a:ext cx="817563" cy="795338"/>
            <a:chOff x="963" y="1131"/>
            <a:chExt cx="515" cy="501"/>
          </a:xfrm>
        </p:grpSpPr>
        <p:sp>
          <p:nvSpPr>
            <p:cNvPr id="139" name="Oval 4">
              <a:extLst>
                <a:ext uri="{FF2B5EF4-FFF2-40B4-BE49-F238E27FC236}">
                  <a16:creationId xmlns:a16="http://schemas.microsoft.com/office/drawing/2014/main" id="{1AA1B3B3-9BE5-B941-861C-6A95AE615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1131"/>
              <a:ext cx="490" cy="50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0" name="Text Box 5">
              <a:extLst>
                <a:ext uri="{FF2B5EF4-FFF2-40B4-BE49-F238E27FC236}">
                  <a16:creationId xmlns:a16="http://schemas.microsoft.com/office/drawing/2014/main" id="{E4E7D8C2-369B-AA4D-BFEC-61A1CB9BB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" y="1153"/>
              <a:ext cx="5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 from below</a:t>
              </a: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41" name="Line 6">
            <a:extLst>
              <a:ext uri="{FF2B5EF4-FFF2-40B4-BE49-F238E27FC236}">
                <a16:creationId xmlns:a16="http://schemas.microsoft.com/office/drawing/2014/main" id="{8BBFC15E-678E-0147-A56E-4A3A32B91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0732" y="2276024"/>
            <a:ext cx="419100" cy="107950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FABB75-14DE-C74F-9D57-A9DEB7587596}"/>
              </a:ext>
            </a:extLst>
          </p:cNvPr>
          <p:cNvGrpSpPr/>
          <p:nvPr/>
        </p:nvGrpSpPr>
        <p:grpSpPr>
          <a:xfrm>
            <a:off x="4688044" y="4161974"/>
            <a:ext cx="3862388" cy="2187575"/>
            <a:chOff x="4688044" y="4161974"/>
            <a:chExt cx="3862388" cy="2187575"/>
          </a:xfrm>
        </p:grpSpPr>
        <p:sp>
          <p:nvSpPr>
            <p:cNvPr id="146" name="Freeform 11">
              <a:extLst>
                <a:ext uri="{FF2B5EF4-FFF2-40B4-BE49-F238E27FC236}">
                  <a16:creationId xmlns:a16="http://schemas.microsoft.com/office/drawing/2014/main" id="{57F6D8C5-C177-EA4A-8A0D-C9ECA2E44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9232" y="4161974"/>
              <a:ext cx="1590675" cy="688975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Text Box 12">
              <a:extLst>
                <a:ext uri="{FF2B5EF4-FFF2-40B4-BE49-F238E27FC236}">
                  <a16:creationId xmlns:a16="http://schemas.microsoft.com/office/drawing/2014/main" id="{39FBA62B-425E-884D-B8D0-53837C719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8044" y="4742999"/>
              <a:ext cx="3581400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&amp;&amp; notcorrupt(rcvpkt)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&amp;&amp; has_seq1(rcvpkt)</a:t>
              </a: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Line 13">
              <a:extLst>
                <a:ext uri="{FF2B5EF4-FFF2-40B4-BE49-F238E27FC236}">
                  <a16:creationId xmlns:a16="http://schemas.microsoft.com/office/drawing/2014/main" id="{1082C30A-F447-2048-A881-DB90328221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4719" y="5300212"/>
              <a:ext cx="28987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9" name="Text Box 14">
              <a:extLst>
                <a:ext uri="{FF2B5EF4-FFF2-40B4-BE49-F238E27FC236}">
                  <a16:creationId xmlns:a16="http://schemas.microsoft.com/office/drawing/2014/main" id="{29182A79-7B96-1B4E-B5FE-E02DEA7CE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7569" y="5355774"/>
              <a:ext cx="3852863" cy="993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extract(rcvpkt,data)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deliver_data(data)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 = make_pkt(ACK, chksum)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0" name="Group 15">
            <a:extLst>
              <a:ext uri="{FF2B5EF4-FFF2-40B4-BE49-F238E27FC236}">
                <a16:creationId xmlns:a16="http://schemas.microsoft.com/office/drawing/2014/main" id="{A479FFEA-FE33-2B4E-8918-3A674DE0585E}"/>
              </a:ext>
            </a:extLst>
          </p:cNvPr>
          <p:cNvGrpSpPr>
            <a:grpSpLocks/>
          </p:cNvGrpSpPr>
          <p:nvPr/>
        </p:nvGrpSpPr>
        <p:grpSpPr bwMode="auto">
          <a:xfrm>
            <a:off x="6462869" y="3380924"/>
            <a:ext cx="825500" cy="796925"/>
            <a:chOff x="4398" y="3133"/>
            <a:chExt cx="520" cy="502"/>
          </a:xfrm>
        </p:grpSpPr>
        <p:sp>
          <p:nvSpPr>
            <p:cNvPr id="151" name="Oval 16">
              <a:extLst>
                <a:ext uri="{FF2B5EF4-FFF2-40B4-BE49-F238E27FC236}">
                  <a16:creationId xmlns:a16="http://schemas.microsoft.com/office/drawing/2014/main" id="{6D36849B-325C-BB44-97CF-6F19DE4D9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3133"/>
              <a:ext cx="507" cy="50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2" name="Text Box 17">
              <a:extLst>
                <a:ext uri="{FF2B5EF4-FFF2-40B4-BE49-F238E27FC236}">
                  <a16:creationId xmlns:a16="http://schemas.microsoft.com/office/drawing/2014/main" id="{B8F092A3-F065-5542-858A-5CCD86506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4" y="3163"/>
              <a:ext cx="5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 from below</a:t>
              </a: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B3EE5B1-79C6-6A42-B7CC-0473574A8080}"/>
              </a:ext>
            </a:extLst>
          </p:cNvPr>
          <p:cNvGrpSpPr/>
          <p:nvPr/>
        </p:nvGrpSpPr>
        <p:grpSpPr>
          <a:xfrm>
            <a:off x="4849969" y="1277487"/>
            <a:ext cx="3981450" cy="2101850"/>
            <a:chOff x="4849969" y="1277487"/>
            <a:chExt cx="3981450" cy="2101850"/>
          </a:xfrm>
        </p:grpSpPr>
        <p:sp>
          <p:nvSpPr>
            <p:cNvPr id="142" name="Freeform 7">
              <a:extLst>
                <a:ext uri="{FF2B5EF4-FFF2-40B4-BE49-F238E27FC236}">
                  <a16:creationId xmlns:a16="http://schemas.microsoft.com/office/drawing/2014/main" id="{5956BEBC-4701-3244-B0E2-D13AA47CCD9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281769" y="2593524"/>
              <a:ext cx="1590675" cy="785813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F2A2B9E-82C1-DF40-942B-E0130357CCCD}"/>
                </a:ext>
              </a:extLst>
            </p:cNvPr>
            <p:cNvGrpSpPr/>
            <p:nvPr/>
          </p:nvGrpSpPr>
          <p:grpSpPr>
            <a:xfrm>
              <a:off x="4849969" y="1277487"/>
              <a:ext cx="3981450" cy="1231900"/>
              <a:chOff x="4849969" y="1277487"/>
              <a:chExt cx="3981450" cy="1231900"/>
            </a:xfrm>
          </p:grpSpPr>
          <p:sp>
            <p:nvSpPr>
              <p:cNvPr id="154" name="Text Box 19">
                <a:extLst>
                  <a:ext uri="{FF2B5EF4-FFF2-40B4-BE49-F238E27FC236}">
                    <a16:creationId xmlns:a16="http://schemas.microsoft.com/office/drawing/2014/main" id="{CCF30C45-BBF0-FD4D-9104-16CC43E990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9969" y="1277487"/>
                <a:ext cx="3981450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rdt_rcv(rcvpkt) &amp;&amp; notcorrupt(rcvpkt)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  &amp;&amp; has_seq0(rcvpkt) </a:t>
                </a:r>
                <a:endPara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5" name="Line 20">
                <a:extLst>
                  <a:ext uri="{FF2B5EF4-FFF2-40B4-BE49-F238E27FC236}">
                    <a16:creationId xmlns:a16="http://schemas.microsoft.com/office/drawing/2014/main" id="{C92F6C31-A846-0748-B2A3-BB4C9B5195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9507" y="1847399"/>
                <a:ext cx="191452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6" name="Text Box 21">
                <a:extLst>
                  <a:ext uri="{FF2B5EF4-FFF2-40B4-BE49-F238E27FC236}">
                    <a16:creationId xmlns:a16="http://schemas.microsoft.com/office/drawing/2014/main" id="{2563B9BF-FC09-7947-B99A-A4DD70E1D7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2669" y="1804537"/>
                <a:ext cx="3475038" cy="704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extract(</a:t>
                </a:r>
                <a:r>
                  <a:rPr kumimoji="0" lang="en-US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rcvpkt,data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deliver_data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(data)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sndpkt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 = </a:t>
                </a:r>
                <a:r>
                  <a:rPr kumimoji="0" lang="en-US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make_pkt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(ACK, </a:t>
                </a:r>
                <a:r>
                  <a:rPr kumimoji="0" lang="en-US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chksum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udt_send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sndpkt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  <a:endPara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2B61178-E4F0-604F-AB5E-F5831FB7128A}"/>
              </a:ext>
            </a:extLst>
          </p:cNvPr>
          <p:cNvGrpSpPr/>
          <p:nvPr/>
        </p:nvGrpSpPr>
        <p:grpSpPr>
          <a:xfrm>
            <a:off x="7162957" y="2655437"/>
            <a:ext cx="3706812" cy="1181100"/>
            <a:chOff x="7162957" y="2655437"/>
            <a:chExt cx="3706812" cy="1181100"/>
          </a:xfrm>
        </p:grpSpPr>
        <p:sp>
          <p:nvSpPr>
            <p:cNvPr id="143" name="Text Box 8">
              <a:extLst>
                <a:ext uri="{FF2B5EF4-FFF2-40B4-BE49-F238E27FC236}">
                  <a16:creationId xmlns:a16="http://schemas.microsoft.com/office/drawing/2014/main" id="{A21CD6E7-B2BE-A349-915D-B57A679048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2407" y="2952299"/>
              <a:ext cx="3027362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 = make_pkt(NAK, chksum)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3" name="Freeform 18">
              <a:extLst>
                <a:ext uri="{FF2B5EF4-FFF2-40B4-BE49-F238E27FC236}">
                  <a16:creationId xmlns:a16="http://schemas.microsoft.com/office/drawing/2014/main" id="{3D087F38-543B-C34D-B7BE-6B89BE2E7B5B}"/>
                </a:ext>
              </a:extLst>
            </p:cNvPr>
            <p:cNvSpPr>
              <a:spLocks/>
            </p:cNvSpPr>
            <p:nvPr/>
          </p:nvSpPr>
          <p:spPr bwMode="auto">
            <a:xfrm rot="20238987">
              <a:off x="7162957" y="2972937"/>
              <a:ext cx="839787" cy="863600"/>
            </a:xfrm>
            <a:custGeom>
              <a:avLst/>
              <a:gdLst>
                <a:gd name="T0" fmla="*/ 2147483647 w 619"/>
                <a:gd name="T1" fmla="*/ 2147483647 h 1815"/>
                <a:gd name="T2" fmla="*/ 0 w 619"/>
                <a:gd name="T3" fmla="*/ 2147483647 h 18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" h="1815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8" name="Text Box 23">
              <a:extLst>
                <a:ext uri="{FF2B5EF4-FFF2-40B4-BE49-F238E27FC236}">
                  <a16:creationId xmlns:a16="http://schemas.microsoft.com/office/drawing/2014/main" id="{DDF68430-2E9C-884F-8086-CA60927C1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3194" y="2655437"/>
              <a:ext cx="2871788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&amp;&amp; (corrupt(rcvpkt)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9" name="Line 24">
              <a:extLst>
                <a:ext uri="{FF2B5EF4-FFF2-40B4-BE49-F238E27FC236}">
                  <a16:creationId xmlns:a16="http://schemas.microsoft.com/office/drawing/2014/main" id="{D2CC787C-2255-A845-AD3E-70CEB47CF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1307" y="2966587"/>
              <a:ext cx="193833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76F6D3B-6D30-394F-ADF3-836AA573CD16}"/>
              </a:ext>
            </a:extLst>
          </p:cNvPr>
          <p:cNvGrpSpPr/>
          <p:nvPr/>
        </p:nvGrpSpPr>
        <p:grpSpPr>
          <a:xfrm>
            <a:off x="7186769" y="3665087"/>
            <a:ext cx="3554413" cy="1162050"/>
            <a:chOff x="7186769" y="3665087"/>
            <a:chExt cx="3554413" cy="1162050"/>
          </a:xfrm>
        </p:grpSpPr>
        <p:sp>
          <p:nvSpPr>
            <p:cNvPr id="144" name="Text Box 9">
              <a:extLst>
                <a:ext uri="{FF2B5EF4-FFF2-40B4-BE49-F238E27FC236}">
                  <a16:creationId xmlns:a16="http://schemas.microsoft.com/office/drawing/2014/main" id="{863BE306-B92E-0D41-8022-3AC94A1F0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5582" y="3665087"/>
              <a:ext cx="2624137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&amp;&amp;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not corrupt(rcvpkt) &amp;&amp;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has_seq0(rcvpkt)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Line 10">
              <a:extLst>
                <a:ext uri="{FF2B5EF4-FFF2-40B4-BE49-F238E27FC236}">
                  <a16:creationId xmlns:a16="http://schemas.microsoft.com/office/drawing/2014/main" id="{4D8DB833-9730-9A45-AE05-260A7F50D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9719" y="4363587"/>
              <a:ext cx="19383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7" name="Freeform 22">
              <a:extLst>
                <a:ext uri="{FF2B5EF4-FFF2-40B4-BE49-F238E27FC236}">
                  <a16:creationId xmlns:a16="http://schemas.microsoft.com/office/drawing/2014/main" id="{44226EF2-4DB5-4A44-84C3-50A9A97F405E}"/>
                </a:ext>
              </a:extLst>
            </p:cNvPr>
            <p:cNvSpPr>
              <a:spLocks/>
            </p:cNvSpPr>
            <p:nvPr/>
          </p:nvSpPr>
          <p:spPr bwMode="auto">
            <a:xfrm rot="1020547">
              <a:off x="7186769" y="3696837"/>
              <a:ext cx="839788" cy="863600"/>
            </a:xfrm>
            <a:custGeom>
              <a:avLst/>
              <a:gdLst>
                <a:gd name="T0" fmla="*/ 2147483647 w 619"/>
                <a:gd name="T1" fmla="*/ 2147483647 h 1815"/>
                <a:gd name="T2" fmla="*/ 0 w 619"/>
                <a:gd name="T3" fmla="*/ 2147483647 h 18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" h="1815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0" name="Text Box 25">
              <a:extLst>
                <a:ext uri="{FF2B5EF4-FFF2-40B4-BE49-F238E27FC236}">
                  <a16:creationId xmlns:a16="http://schemas.microsoft.com/office/drawing/2014/main" id="{389C4316-C6A1-6149-8DFC-130B841DA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1132" y="4417562"/>
              <a:ext cx="294005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 = make_pkt(ACK, chksum)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8256823-0B67-DD4E-A7B9-605255FA34C2}"/>
              </a:ext>
            </a:extLst>
          </p:cNvPr>
          <p:cNvGrpSpPr/>
          <p:nvPr/>
        </p:nvGrpSpPr>
        <p:grpSpPr>
          <a:xfrm>
            <a:off x="1919444" y="3633337"/>
            <a:ext cx="2971800" cy="1150937"/>
            <a:chOff x="1919444" y="3633337"/>
            <a:chExt cx="2971800" cy="1150937"/>
          </a:xfrm>
        </p:grpSpPr>
        <p:sp>
          <p:nvSpPr>
            <p:cNvPr id="161" name="Text Box 26">
              <a:extLst>
                <a:ext uri="{FF2B5EF4-FFF2-40B4-BE49-F238E27FC236}">
                  <a16:creationId xmlns:a16="http://schemas.microsoft.com/office/drawing/2014/main" id="{ACB1E596-56BD-034F-BB66-4DA583949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444" y="3644449"/>
              <a:ext cx="2624138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&amp;&amp;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not corrupt(rcvpkt) &amp;&amp;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has_seq1(rcvpkt)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2" name="Line 27">
              <a:extLst>
                <a:ext uri="{FF2B5EF4-FFF2-40B4-BE49-F238E27FC236}">
                  <a16:creationId xmlns:a16="http://schemas.microsoft.com/office/drawing/2014/main" id="{67A0F00F-84BF-E042-8147-9C34AABEE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582" y="4352474"/>
              <a:ext cx="193833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5" name="Text Box 30">
              <a:extLst>
                <a:ext uri="{FF2B5EF4-FFF2-40B4-BE49-F238E27FC236}">
                  <a16:creationId xmlns:a16="http://schemas.microsoft.com/office/drawing/2014/main" id="{2795743C-B771-D245-AED8-771117828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1194" y="4374699"/>
              <a:ext cx="294005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 = make_pkt(ACK, chksum)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Freeform 32">
              <a:extLst>
                <a:ext uri="{FF2B5EF4-FFF2-40B4-BE49-F238E27FC236}">
                  <a16:creationId xmlns:a16="http://schemas.microsoft.com/office/drawing/2014/main" id="{1E683D9A-8417-BA48-A53B-EEFB96D0B5CE}"/>
                </a:ext>
              </a:extLst>
            </p:cNvPr>
            <p:cNvSpPr>
              <a:spLocks/>
            </p:cNvSpPr>
            <p:nvPr/>
          </p:nvSpPr>
          <p:spPr bwMode="auto">
            <a:xfrm rot="20579453" flipH="1">
              <a:off x="3960969" y="3633337"/>
              <a:ext cx="839788" cy="863600"/>
            </a:xfrm>
            <a:custGeom>
              <a:avLst/>
              <a:gdLst>
                <a:gd name="T0" fmla="*/ 2147483647 w 619"/>
                <a:gd name="T1" fmla="*/ 2147483647 h 1815"/>
                <a:gd name="T2" fmla="*/ 0 w 619"/>
                <a:gd name="T3" fmla="*/ 2147483647 h 18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" h="1815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1AF017-5F2C-A146-BF02-EC8C570DCE87}"/>
              </a:ext>
            </a:extLst>
          </p:cNvPr>
          <p:cNvGrpSpPr/>
          <p:nvPr/>
        </p:nvGrpSpPr>
        <p:grpSpPr>
          <a:xfrm>
            <a:off x="1867057" y="2591937"/>
            <a:ext cx="3087687" cy="1257300"/>
            <a:chOff x="1867057" y="2591937"/>
            <a:chExt cx="3087687" cy="1257300"/>
          </a:xfrm>
        </p:grpSpPr>
        <p:sp>
          <p:nvSpPr>
            <p:cNvPr id="163" name="Text Box 28">
              <a:extLst>
                <a:ext uri="{FF2B5EF4-FFF2-40B4-BE49-F238E27FC236}">
                  <a16:creationId xmlns:a16="http://schemas.microsoft.com/office/drawing/2014/main" id="{9D2A8CCC-BEB9-A242-89C2-1A10D7FDB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057" y="2591937"/>
              <a:ext cx="2871787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&amp;&amp; (corrupt(rcvpkt)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4" name="Line 29">
              <a:extLst>
                <a:ext uri="{FF2B5EF4-FFF2-40B4-BE49-F238E27FC236}">
                  <a16:creationId xmlns:a16="http://schemas.microsoft.com/office/drawing/2014/main" id="{78EDC414-17DA-964B-A17F-A1BDC2DCE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5169" y="2966587"/>
              <a:ext cx="19383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Text Box 31">
              <a:extLst>
                <a:ext uri="{FF2B5EF4-FFF2-40B4-BE49-F238E27FC236}">
                  <a16:creationId xmlns:a16="http://schemas.microsoft.com/office/drawing/2014/main" id="{CAC3A516-419E-4F4A-95ED-4CF413F4D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382" y="2933249"/>
              <a:ext cx="3027362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 = make_pkt(NAK, chksum)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Freeform 33">
              <a:extLst>
                <a:ext uri="{FF2B5EF4-FFF2-40B4-BE49-F238E27FC236}">
                  <a16:creationId xmlns:a16="http://schemas.microsoft.com/office/drawing/2014/main" id="{C9A1B12C-9183-8C4D-9DF0-A7E0C472A15B}"/>
                </a:ext>
              </a:extLst>
            </p:cNvPr>
            <p:cNvSpPr>
              <a:spLocks/>
            </p:cNvSpPr>
            <p:nvPr/>
          </p:nvSpPr>
          <p:spPr bwMode="auto">
            <a:xfrm rot="1361013" flipH="1">
              <a:off x="3948269" y="2985637"/>
              <a:ext cx="839788" cy="863600"/>
            </a:xfrm>
            <a:custGeom>
              <a:avLst/>
              <a:gdLst>
                <a:gd name="T0" fmla="*/ 2147483647 w 619"/>
                <a:gd name="T1" fmla="*/ 2147483647 h 1815"/>
                <a:gd name="T2" fmla="*/ 0 w 619"/>
                <a:gd name="T3" fmla="*/ 2147483647 h 18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" h="1815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1" name="Slide Number Placeholder 2">
            <a:extLst>
              <a:ext uri="{FF2B5EF4-FFF2-40B4-BE49-F238E27FC236}">
                <a16:creationId xmlns:a16="http://schemas.microsoft.com/office/drawing/2014/main" id="{AEE3DD85-1A48-8443-9ED5-CEDD24C7F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4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rdt2.1: discussion</a:t>
            </a:r>
            <a:endParaRPr lang="en-US" sz="4400" dirty="0"/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4DBF4802-B282-F141-BA7A-BF4F98FB2E8F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355502"/>
            <a:ext cx="529731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sender: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seq # added to pkt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two seq. #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(0,1) will suffice.  Why?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must check if received ACK/NAK corrupted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twice as many states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state must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remember” whether “expected” pkt should have seq # of 0 or 1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BEBB060B-A254-E240-9526-00C3EB96E136}"/>
              </a:ext>
            </a:extLst>
          </p:cNvPr>
          <p:cNvSpPr txBox="1">
            <a:spLocks noChangeArrowheads="1"/>
          </p:cNvSpPr>
          <p:nvPr/>
        </p:nvSpPr>
        <p:spPr>
          <a:xfrm>
            <a:off x="6543540" y="1355502"/>
            <a:ext cx="484976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receiver: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must check if received packet is duplicate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 indicates whether 0 or 1 is expected pkt seq #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receiver can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know if its last ACK/NAK received OK at sender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BE880F-C2E4-0642-AE62-E70C2E899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00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rdt2.2: a NAK-free protocol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BA8C5E8-28A5-424A-B91B-D36BE3AFCEC5}"/>
              </a:ext>
            </a:extLst>
          </p:cNvPr>
          <p:cNvSpPr txBox="1">
            <a:spLocks noChangeArrowheads="1"/>
          </p:cNvSpPr>
          <p:nvPr/>
        </p:nvSpPr>
        <p:spPr>
          <a:xfrm>
            <a:off x="606648" y="1714500"/>
            <a:ext cx="10978703" cy="3385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same functionality as rdt2.1, using ACKs only</a:t>
            </a:r>
          </a:p>
          <a:p>
            <a:pPr marL="4603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instead of NAK, receiver sends ACK for last pkt received OK</a:t>
            </a:r>
          </a:p>
          <a:p>
            <a:pPr marL="808038" marR="0" lvl="1" indent="-2190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receiver must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explicitly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include seq # of pkt being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ACKed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4603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duplicate ACK at sender results in same action as NAK: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retransmit current pkt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719ED-B423-3644-A6E8-F9BF7FA75BB0}"/>
              </a:ext>
            </a:extLst>
          </p:cNvPr>
          <p:cNvSpPr txBox="1"/>
          <p:nvPr/>
        </p:nvSpPr>
        <p:spPr>
          <a:xfrm>
            <a:off x="798690" y="4623515"/>
            <a:ext cx="90637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we will see, TCP uses this approach to be NAK-free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7705518-50B7-6645-9746-6EF1FD05E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636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rdt2.2: sender, receiver fragments</a:t>
            </a:r>
            <a:endParaRPr lang="en-US" sz="4400" dirty="0"/>
          </a:p>
        </p:txBody>
      </p:sp>
      <p:grpSp>
        <p:nvGrpSpPr>
          <p:cNvPr id="45" name="Group 3">
            <a:extLst>
              <a:ext uri="{FF2B5EF4-FFF2-40B4-BE49-F238E27FC236}">
                <a16:creationId xmlns:a16="http://schemas.microsoft.com/office/drawing/2014/main" id="{44C8BE99-8D47-E84F-BBFA-C24F85149C9B}"/>
              </a:ext>
            </a:extLst>
          </p:cNvPr>
          <p:cNvGrpSpPr>
            <a:grpSpLocks/>
          </p:cNvGrpSpPr>
          <p:nvPr/>
        </p:nvGrpSpPr>
        <p:grpSpPr bwMode="auto">
          <a:xfrm>
            <a:off x="3740933" y="1183947"/>
            <a:ext cx="6508750" cy="2841625"/>
            <a:chOff x="1529" y="780"/>
            <a:chExt cx="4100" cy="1790"/>
          </a:xfrm>
        </p:grpSpPr>
        <p:grpSp>
          <p:nvGrpSpPr>
            <p:cNvPr id="46" name="Group 4">
              <a:extLst>
                <a:ext uri="{FF2B5EF4-FFF2-40B4-BE49-F238E27FC236}">
                  <a16:creationId xmlns:a16="http://schemas.microsoft.com/office/drawing/2014/main" id="{B559F62B-A8CC-314C-9FFF-E4BE95186D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1" y="1399"/>
              <a:ext cx="669" cy="528"/>
              <a:chOff x="1441" y="2062"/>
              <a:chExt cx="669" cy="528"/>
            </a:xfrm>
          </p:grpSpPr>
          <p:sp>
            <p:nvSpPr>
              <p:cNvPr id="63" name="Oval 5">
                <a:extLst>
                  <a:ext uri="{FF2B5EF4-FFF2-40B4-BE49-F238E27FC236}">
                    <a16:creationId xmlns:a16="http://schemas.microsoft.com/office/drawing/2014/main" id="{62508AC8-0382-1842-A725-28AD6849B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4" name="Text Box 6">
                <a:extLst>
                  <a:ext uri="{FF2B5EF4-FFF2-40B4-BE49-F238E27FC236}">
                    <a16:creationId xmlns:a16="http://schemas.microsoft.com/office/drawing/2014/main" id="{1C6CF7DE-4208-0546-B6D6-E989103871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1" y="2110"/>
                <a:ext cx="66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Wait for call 0 from above</a:t>
                </a: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7" name="Text Box 7">
              <a:extLst>
                <a:ext uri="{FF2B5EF4-FFF2-40B4-BE49-F238E27FC236}">
                  <a16:creationId xmlns:a16="http://schemas.microsoft.com/office/drawing/2014/main" id="{487FB5C4-F933-D746-9E6B-EB36683D9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" y="957"/>
              <a:ext cx="234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 = make_pkt(0, data, checksum)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Text Box 8">
              <a:extLst>
                <a:ext uri="{FF2B5EF4-FFF2-40B4-BE49-F238E27FC236}">
                  <a16:creationId xmlns:a16="http://schemas.microsoft.com/office/drawing/2014/main" id="{3AA6880E-F456-D948-8214-9C93DC52D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1" y="780"/>
              <a:ext cx="1086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rdt_send(data)</a:t>
              </a: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7356AE7C-383F-CD4D-A8D4-0D863BECC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0" y="992"/>
              <a:ext cx="22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ABAA468-88B5-FD4A-933F-BEE3E0E80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1313"/>
              <a:ext cx="264" cy="1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1B01ED8E-ABE5-DB46-A6A7-6A5FF2599E9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96" y="1272"/>
              <a:ext cx="1195" cy="130"/>
            </a:xfrm>
            <a:custGeom>
              <a:avLst/>
              <a:gdLst>
                <a:gd name="T0" fmla="*/ 0 w 2835"/>
                <a:gd name="T1" fmla="*/ 0 h 525"/>
                <a:gd name="T2" fmla="*/ 0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09A24A5A-3284-ED40-94E5-9F6FD9D580F8}"/>
                </a:ext>
              </a:extLst>
            </p:cNvPr>
            <p:cNvSpPr>
              <a:spLocks/>
            </p:cNvSpPr>
            <p:nvPr/>
          </p:nvSpPr>
          <p:spPr bwMode="auto">
            <a:xfrm rot="-1357180">
              <a:off x="3655" y="1225"/>
              <a:ext cx="285" cy="542"/>
            </a:xfrm>
            <a:custGeom>
              <a:avLst/>
              <a:gdLst>
                <a:gd name="T0" fmla="*/ 0 w 735"/>
                <a:gd name="T1" fmla="*/ 1 h 1080"/>
                <a:gd name="T2" fmla="*/ 0 w 735"/>
                <a:gd name="T3" fmla="*/ 1 h 10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Text Box 13">
              <a:extLst>
                <a:ext uri="{FF2B5EF4-FFF2-40B4-BE49-F238E27FC236}">
                  <a16:creationId xmlns:a16="http://schemas.microsoft.com/office/drawing/2014/main" id="{735F1B93-CE98-BB48-B7B4-F46E52A4B8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8" y="1670"/>
              <a:ext cx="133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Text Box 14">
              <a:extLst>
                <a:ext uri="{FF2B5EF4-FFF2-40B4-BE49-F238E27FC236}">
                  <a16:creationId xmlns:a16="http://schemas.microsoft.com/office/drawing/2014/main" id="{1358189F-C49B-9547-B76A-603CC6295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7" y="1174"/>
              <a:ext cx="1712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&amp;&amp; 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 corrupt(rcvpkt) ||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</a:t>
              </a:r>
              <a:r>
                <a:rPr kumimoji="0" lang="en-US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isACK(rcvpkt,1)</a:t>
              </a: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)</a:t>
              </a: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Line 15">
              <a:extLst>
                <a:ext uri="{FF2B5EF4-FFF2-40B4-BE49-F238E27FC236}">
                  <a16:creationId xmlns:a16="http://schemas.microsoft.com/office/drawing/2014/main" id="{96FCE930-1E3E-9749-A456-2BE07EE342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3" y="1666"/>
              <a:ext cx="89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FF0C2363-5AAB-A541-81DC-66A163930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1792"/>
              <a:ext cx="128" cy="774"/>
            </a:xfrm>
            <a:custGeom>
              <a:avLst/>
              <a:gdLst>
                <a:gd name="T0" fmla="*/ 67 w 128"/>
                <a:gd name="T1" fmla="*/ 774 h 774"/>
                <a:gd name="T2" fmla="*/ 0 w 128"/>
                <a:gd name="T3" fmla="*/ 0 h 77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8" h="774">
                  <a:moveTo>
                    <a:pt x="67" y="774"/>
                  </a:moveTo>
                  <a:cubicBezTo>
                    <a:pt x="128" y="425"/>
                    <a:pt x="81" y="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" name="Text Box 17">
              <a:extLst>
                <a:ext uri="{FF2B5EF4-FFF2-40B4-BE49-F238E27FC236}">
                  <a16:creationId xmlns:a16="http://schemas.microsoft.com/office/drawing/2014/main" id="{A50A3675-BB4B-2C49-9E0C-E3B6864FC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8" y="2051"/>
              <a:ext cx="15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 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notcorrupt(rcvpkt)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</a:t>
              </a:r>
              <a:r>
                <a:rPr kumimoji="0" lang="en-US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isACK(rcvpkt,0)</a:t>
              </a:r>
              <a:r>
                <a:rPr kumimoji="0" lang="en-US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Line 18">
              <a:extLst>
                <a:ext uri="{FF2B5EF4-FFF2-40B4-BE49-F238E27FC236}">
                  <a16:creationId xmlns:a16="http://schemas.microsoft.com/office/drawing/2014/main" id="{398A4307-79FC-E54C-B8A4-CCE6DE226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4" y="2570"/>
              <a:ext cx="117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9" name="Group 19">
              <a:extLst>
                <a:ext uri="{FF2B5EF4-FFF2-40B4-BE49-F238E27FC236}">
                  <a16:creationId xmlns:a16="http://schemas.microsoft.com/office/drawing/2014/main" id="{C0094035-BD90-5741-A641-F8D8DD3C7B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5" y="1365"/>
              <a:ext cx="669" cy="528"/>
              <a:chOff x="1441" y="2062"/>
              <a:chExt cx="669" cy="528"/>
            </a:xfrm>
          </p:grpSpPr>
          <p:sp>
            <p:nvSpPr>
              <p:cNvPr id="61" name="Oval 20">
                <a:extLst>
                  <a:ext uri="{FF2B5EF4-FFF2-40B4-BE49-F238E27FC236}">
                    <a16:creationId xmlns:a16="http://schemas.microsoft.com/office/drawing/2014/main" id="{86E2B18C-13F1-BA46-BE50-CDE79E0D4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Text Box 21">
                <a:extLst>
                  <a:ext uri="{FF2B5EF4-FFF2-40B4-BE49-F238E27FC236}">
                    <a16:creationId xmlns:a16="http://schemas.microsoft.com/office/drawing/2014/main" id="{26734C2A-3109-3D4C-BAB8-AB1B111CE9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1" y="2110"/>
                <a:ext cx="66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Wait for ACK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0</a:t>
                </a: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0" name="Text Box 22">
              <a:extLst>
                <a:ext uri="{FF2B5EF4-FFF2-40B4-BE49-F238E27FC236}">
                  <a16:creationId xmlns:a16="http://schemas.microsoft.com/office/drawing/2014/main" id="{A3A125D1-1D1E-2E4D-AE79-0DE766971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3" y="1810"/>
              <a:ext cx="935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sender FSM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fragment</a:t>
              </a:r>
            </a:p>
          </p:txBody>
        </p:sp>
      </p:grpSp>
      <p:sp>
        <p:nvSpPr>
          <p:cNvPr id="65" name="Line 23">
            <a:extLst>
              <a:ext uri="{FF2B5EF4-FFF2-40B4-BE49-F238E27FC236}">
                <a16:creationId xmlns:a16="http://schemas.microsoft.com/office/drawing/2014/main" id="{E71BBDED-78BE-4142-9E45-4E7E4B24FC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8808" y="2549197"/>
            <a:ext cx="7883525" cy="2757488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66" name="Group 24">
            <a:extLst>
              <a:ext uri="{FF2B5EF4-FFF2-40B4-BE49-F238E27FC236}">
                <a16:creationId xmlns:a16="http://schemas.microsoft.com/office/drawing/2014/main" id="{2E138519-EBF4-3B44-AD97-E2407D82A043}"/>
              </a:ext>
            </a:extLst>
          </p:cNvPr>
          <p:cNvGrpSpPr>
            <a:grpSpLocks/>
          </p:cNvGrpSpPr>
          <p:nvPr/>
        </p:nvGrpSpPr>
        <p:grpSpPr bwMode="auto">
          <a:xfrm>
            <a:off x="1313645" y="3769985"/>
            <a:ext cx="7234238" cy="2535237"/>
            <a:chOff x="0" y="2409"/>
            <a:chExt cx="4557" cy="1597"/>
          </a:xfrm>
        </p:grpSpPr>
        <p:sp>
          <p:nvSpPr>
            <p:cNvPr id="67" name="Text Box 25">
              <a:extLst>
                <a:ext uri="{FF2B5EF4-FFF2-40B4-BE49-F238E27FC236}">
                  <a16:creationId xmlns:a16="http://schemas.microsoft.com/office/drawing/2014/main" id="{C7F7CA42-D362-5647-A3B4-192876672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9" y="3217"/>
              <a:ext cx="2482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&amp;&amp; notcorrupt(rcvpkt)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&amp;&amp; has_seq1(rcvpkt) </a:t>
              </a: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Text Box 26">
              <a:extLst>
                <a:ext uri="{FF2B5EF4-FFF2-40B4-BE49-F238E27FC236}">
                  <a16:creationId xmlns:a16="http://schemas.microsoft.com/office/drawing/2014/main" id="{2AC2EAAE-2D47-A740-B364-15C85D65C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9" y="3568"/>
              <a:ext cx="26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extract(rcvpkt,data)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deliver_data(data)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 = make_pkt(ACK1, chksum)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9" name="Group 27">
              <a:extLst>
                <a:ext uri="{FF2B5EF4-FFF2-40B4-BE49-F238E27FC236}">
                  <a16:creationId xmlns:a16="http://schemas.microsoft.com/office/drawing/2014/main" id="{D8482BD5-532F-3042-8803-E3C8BD739D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409"/>
              <a:ext cx="3510" cy="1168"/>
              <a:chOff x="0" y="2409"/>
              <a:chExt cx="3510" cy="1168"/>
            </a:xfrm>
          </p:grpSpPr>
          <p:grpSp>
            <p:nvGrpSpPr>
              <p:cNvPr id="71" name="Group 28">
                <a:extLst>
                  <a:ext uri="{FF2B5EF4-FFF2-40B4-BE49-F238E27FC236}">
                    <a16:creationId xmlns:a16="http://schemas.microsoft.com/office/drawing/2014/main" id="{67FF8A8B-97EA-7D4F-A57C-A7614B5802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9" y="2687"/>
                <a:ext cx="534" cy="501"/>
                <a:chOff x="3570" y="3063"/>
                <a:chExt cx="534" cy="501"/>
              </a:xfrm>
            </p:grpSpPr>
            <p:sp>
              <p:nvSpPr>
                <p:cNvPr id="80" name="Oval 29">
                  <a:extLst>
                    <a:ext uri="{FF2B5EF4-FFF2-40B4-BE49-F238E27FC236}">
                      <a16:creationId xmlns:a16="http://schemas.microsoft.com/office/drawing/2014/main" id="{8D4E849D-9AF8-FC4F-B5E6-691ACC1951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70" y="3063"/>
                  <a:ext cx="534" cy="501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1" name="Text Box 30">
                  <a:extLst>
                    <a:ext uri="{FF2B5EF4-FFF2-40B4-BE49-F238E27FC236}">
                      <a16:creationId xmlns:a16="http://schemas.microsoft.com/office/drawing/2014/main" id="{E4385747-A861-0E4B-AF7E-71CAF80ED1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97" y="3085"/>
                  <a:ext cx="50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Wait for 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0 from below</a:t>
                  </a:r>
                  <a:endPara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72" name="Freeform 31">
                <a:extLst>
                  <a:ext uri="{FF2B5EF4-FFF2-40B4-BE49-F238E27FC236}">
                    <a16:creationId xmlns:a16="http://schemas.microsoft.com/office/drawing/2014/main" id="{9115FE32-46F2-A847-8603-43A0C0E7C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5" y="2618"/>
                <a:ext cx="520" cy="117"/>
              </a:xfrm>
              <a:custGeom>
                <a:avLst/>
                <a:gdLst>
                  <a:gd name="T0" fmla="*/ 0 w 520"/>
                  <a:gd name="T1" fmla="*/ 117 h 117"/>
                  <a:gd name="T2" fmla="*/ 520 w 520"/>
                  <a:gd name="T3" fmla="*/ 17 h 1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20" h="117">
                    <a:moveTo>
                      <a:pt x="0" y="117"/>
                    </a:moveTo>
                    <a:cubicBezTo>
                      <a:pt x="136" y="17"/>
                      <a:pt x="276" y="0"/>
                      <a:pt x="520" y="17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3" name="Freeform 32">
                <a:extLst>
                  <a:ext uri="{FF2B5EF4-FFF2-40B4-BE49-F238E27FC236}">
                    <a16:creationId xmlns:a16="http://schemas.microsoft.com/office/drawing/2014/main" id="{A33629C7-E28A-5043-8973-73B06C05D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6" y="3125"/>
                <a:ext cx="1514" cy="130"/>
              </a:xfrm>
              <a:custGeom>
                <a:avLst/>
                <a:gdLst>
                  <a:gd name="T0" fmla="*/ 0 w 1514"/>
                  <a:gd name="T1" fmla="*/ 0 h 130"/>
                  <a:gd name="T2" fmla="*/ 1514 w 1514"/>
                  <a:gd name="T3" fmla="*/ 17 h 13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14" h="130">
                    <a:moveTo>
                      <a:pt x="0" y="0"/>
                    </a:moveTo>
                    <a:cubicBezTo>
                      <a:pt x="266" y="130"/>
                      <a:pt x="1322" y="113"/>
                      <a:pt x="1514" y="17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 type="triangl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4" name="Line 33">
                <a:extLst>
                  <a:ext uri="{FF2B5EF4-FFF2-40B4-BE49-F238E27FC236}">
                    <a16:creationId xmlns:a16="http://schemas.microsoft.com/office/drawing/2014/main" id="{7DAE0056-F522-6A47-87C1-BE5D09A7B6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9" y="3577"/>
                <a:ext cx="120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5" name="Freeform 34">
                <a:extLst>
                  <a:ext uri="{FF2B5EF4-FFF2-40B4-BE49-F238E27FC236}">
                    <a16:creationId xmlns:a16="http://schemas.microsoft.com/office/drawing/2014/main" id="{D3183506-C985-AE4B-8786-2BF1733F19C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237" y="2468"/>
                <a:ext cx="309" cy="856"/>
              </a:xfrm>
              <a:custGeom>
                <a:avLst/>
                <a:gdLst>
                  <a:gd name="T0" fmla="*/ 0 w 619"/>
                  <a:gd name="T1" fmla="*/ 0 h 1815"/>
                  <a:gd name="T2" fmla="*/ 0 w 619"/>
                  <a:gd name="T3" fmla="*/ 0 h 18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19" h="1815">
                    <a:moveTo>
                      <a:pt x="39" y="1136"/>
                    </a:moveTo>
                    <a:cubicBezTo>
                      <a:pt x="619" y="1815"/>
                      <a:pt x="484" y="0"/>
                      <a:pt x="0" y="773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6" name="Line 35">
                <a:extLst>
                  <a:ext uri="{FF2B5EF4-FFF2-40B4-BE49-F238E27FC236}">
                    <a16:creationId xmlns:a16="http://schemas.microsoft.com/office/drawing/2014/main" id="{3B7207C5-2DDB-A74F-9227-55920F12AA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" y="2936"/>
                <a:ext cx="121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7" name="Text Box 36">
                <a:extLst>
                  <a:ext uri="{FF2B5EF4-FFF2-40B4-BE49-F238E27FC236}">
                    <a16:creationId xmlns:a16="http://schemas.microsoft.com/office/drawing/2014/main" id="{10D86368-959C-734B-8A29-22BE54E9BF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" y="2409"/>
                <a:ext cx="1487" cy="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rdt_rcv(rcvpkt) &amp;&amp;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   (corrupt(rcvpkt) ||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     </a:t>
                </a:r>
                <a:r>
                  <a:rPr kumimoji="0" lang="en-US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has_seq1(rcvpkt))</a:t>
                </a:r>
                <a:endParaRPr kumimoji="0" lang="en-US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8" name="Text Box 37">
                <a:extLst>
                  <a:ext uri="{FF2B5EF4-FFF2-40B4-BE49-F238E27FC236}">
                    <a16:creationId xmlns:a16="http://schemas.microsoft.com/office/drawing/2014/main" id="{18F09FB4-D9AF-AD4C-B898-09D2838B6D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2954"/>
                <a:ext cx="1284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udt_send(sndpkt)</a:t>
                </a:r>
                <a:endParaRPr kumimoji="0" lang="en-US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9" name="Text Box 38">
                <a:extLst>
                  <a:ext uri="{FF2B5EF4-FFF2-40B4-BE49-F238E27FC236}">
                    <a16:creationId xmlns:a16="http://schemas.microsoft.com/office/drawing/2014/main" id="{E0B6922C-3192-A443-B72C-6BA385FDE7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6" y="2709"/>
                <a:ext cx="102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FF0000"/>
                    </a:solidFill>
                    <a:prstDash val="dash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receiver FSM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fragment</a:t>
                </a:r>
              </a:p>
            </p:txBody>
          </p:sp>
        </p:grpSp>
        <p:sp>
          <p:nvSpPr>
            <p:cNvPr id="70" name="Text Box 39">
              <a:extLst>
                <a:ext uri="{FF2B5EF4-FFF2-40B4-BE49-F238E27FC236}">
                  <a16:creationId xmlns:a16="http://schemas.microsoft.com/office/drawing/2014/main" id="{60BFA42A-F9D1-AB4D-86F4-23CB7F278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" y="2585"/>
              <a:ext cx="2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</a:p>
          </p:txBody>
        </p:sp>
      </p:grpSp>
      <p:sp>
        <p:nvSpPr>
          <p:cNvPr id="40" name="Slide Number Placeholder 2">
            <a:extLst>
              <a:ext uri="{FF2B5EF4-FFF2-40B4-BE49-F238E27FC236}">
                <a16:creationId xmlns:a16="http://schemas.microsoft.com/office/drawing/2014/main" id="{F6D97494-9500-EB4E-A367-8D096797D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83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dirty="0"/>
              <a:t>rdt3.0: channels with errors </a:t>
            </a:r>
            <a:r>
              <a:rPr lang="en-US" i="1" dirty="0"/>
              <a:t>and</a:t>
            </a:r>
            <a:r>
              <a:rPr lang="en-US" dirty="0"/>
              <a:t> loss</a:t>
            </a:r>
            <a:endParaRPr lang="en-US" sz="4000" dirty="0"/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55B826DE-FC00-8F40-8016-039FCFE597E4}"/>
              </a:ext>
            </a:extLst>
          </p:cNvPr>
          <p:cNvSpPr txBox="1">
            <a:spLocks noChangeArrowheads="1"/>
          </p:cNvSpPr>
          <p:nvPr/>
        </p:nvSpPr>
        <p:spPr>
          <a:xfrm>
            <a:off x="700825" y="1291107"/>
            <a:ext cx="10533232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New channel assumption: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underlying channel can also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packets (data, ACKs)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checksum, sequence #s, ACKs, retransmissions will be of help … but not quite enough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30AFD-5483-8F4A-8353-70CF76EDD8F5}"/>
              </a:ext>
            </a:extLst>
          </p:cNvPr>
          <p:cNvSpPr txBox="1"/>
          <p:nvPr/>
        </p:nvSpPr>
        <p:spPr>
          <a:xfrm>
            <a:off x="1351723" y="4023238"/>
            <a:ext cx="94355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1025" marR="0" lvl="0" indent="-56832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do </a:t>
            </a: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humans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handle lost sender-to-receiver words in conversation?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81C8263-652B-B54F-A380-A9D05ECA0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02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dirty="0"/>
              <a:t>rdt3.0: channels with errors </a:t>
            </a:r>
            <a:r>
              <a:rPr lang="en-US" i="1" dirty="0"/>
              <a:t>and</a:t>
            </a:r>
            <a:r>
              <a:rPr lang="en-US" dirty="0"/>
              <a:t> loss</a:t>
            </a:r>
            <a:endParaRPr lang="en-US" sz="4000" dirty="0"/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709A56B0-0263-BE46-AEA5-8771DC7625B6}"/>
              </a:ext>
            </a:extLst>
          </p:cNvPr>
          <p:cNvSpPr txBox="1">
            <a:spLocks noChangeArrowheads="1"/>
          </p:cNvSpPr>
          <p:nvPr/>
        </p:nvSpPr>
        <p:spPr>
          <a:xfrm>
            <a:off x="751114" y="1355502"/>
            <a:ext cx="10924659" cy="5074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Approach: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waits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“reasonable” amount of time for ACK </a:t>
            </a:r>
          </a:p>
          <a:p>
            <a:pPr marL="406400" marR="0" lvl="0" indent="-341313" algn="l" defTabSz="914400" rtl="0" eaLnBrk="1" fontAlgn="auto" latinLnBrk="0" hangingPunct="1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retransmits if no ACK received in this time</a:t>
            </a:r>
          </a:p>
          <a:p>
            <a:pPr marL="406400" marR="0" lvl="0" indent="-341313" algn="l" defTabSz="914400" rtl="0" eaLnBrk="1" fontAlgn="auto" latinLnBrk="0" hangingPunct="1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if pkt (or ACK) just delayed (not lost):</a:t>
            </a:r>
          </a:p>
          <a:p>
            <a:pPr marL="747713" marR="0" lvl="2" indent="-37465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retransmission will be  duplicate, but seq #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already handles this!</a:t>
            </a:r>
          </a:p>
          <a:p>
            <a:pPr marL="747713" marR="0" lvl="2" indent="-37465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receiver must specify seq # of packet being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ACKed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B4DB3B-FB87-7B42-8ADE-E098B4B1CDD9}"/>
              </a:ext>
            </a:extLst>
          </p:cNvPr>
          <p:cNvGrpSpPr/>
          <p:nvPr/>
        </p:nvGrpSpPr>
        <p:grpSpPr>
          <a:xfrm>
            <a:off x="3852654" y="4876800"/>
            <a:ext cx="3484723" cy="1905000"/>
            <a:chOff x="3667124" y="4359729"/>
            <a:chExt cx="3484723" cy="1905000"/>
          </a:xfrm>
        </p:grpSpPr>
        <p:pic>
          <p:nvPicPr>
            <p:cNvPr id="7170" name="Picture 2" descr="Image result for red alarm clock">
              <a:extLst>
                <a:ext uri="{FF2B5EF4-FFF2-40B4-BE49-F238E27FC236}">
                  <a16:creationId xmlns:a16="http://schemas.microsoft.com/office/drawing/2014/main" id="{78FD9079-5EFC-D744-A2EF-B55FD834CA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7124" y="4359729"/>
              <a:ext cx="3381375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 Box 91">
              <a:extLst>
                <a:ext uri="{FF2B5EF4-FFF2-40B4-BE49-F238E27FC236}">
                  <a16:creationId xmlns:a16="http://schemas.microsoft.com/office/drawing/2014/main" id="{62219A32-C5B7-4A41-B560-B3B62A39F9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2303" y="4757575"/>
              <a:ext cx="1219544" cy="370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</p:txBody>
        </p:sp>
      </p:grpSp>
      <p:sp>
        <p:nvSpPr>
          <p:cNvPr id="10" name="Rectangle 4">
            <a:extLst>
              <a:ext uri="{FF2B5EF4-FFF2-40B4-BE49-F238E27FC236}">
                <a16:creationId xmlns:a16="http://schemas.microsoft.com/office/drawing/2014/main" id="{C21F0D09-350B-0D4B-B0F1-02B4E8F5DB35}"/>
              </a:ext>
            </a:extLst>
          </p:cNvPr>
          <p:cNvSpPr txBox="1">
            <a:spLocks noChangeArrowheads="1"/>
          </p:cNvSpPr>
          <p:nvPr/>
        </p:nvSpPr>
        <p:spPr>
          <a:xfrm>
            <a:off x="808619" y="4059181"/>
            <a:ext cx="10924659" cy="10164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marR="0" lvl="0" indent="-34131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 countdown timer to interrupt after “reasonable” amount of time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A1AE1C8-34DA-8649-8588-05545644E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6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>
            <a:extLst>
              <a:ext uri="{FF2B5EF4-FFF2-40B4-BE49-F238E27FC236}">
                <a16:creationId xmlns:a16="http://schemas.microsoft.com/office/drawing/2014/main" id="{5C125732-5AF8-DA4B-817C-FBB3A5B32FC1}"/>
              </a:ext>
            </a:extLst>
          </p:cNvPr>
          <p:cNvSpPr/>
          <p:nvPr/>
        </p:nvSpPr>
        <p:spPr>
          <a:xfrm>
            <a:off x="2666162" y="3735852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D8C866A-2C1E-EA49-9FEE-17BE0B5EB65D}"/>
              </a:ext>
            </a:extLst>
          </p:cNvPr>
          <p:cNvSpPr/>
          <p:nvPr/>
        </p:nvSpPr>
        <p:spPr>
          <a:xfrm>
            <a:off x="5108911" y="5798809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8F8E4F3-FCCE-BB46-816F-BE18AA10AA87}"/>
              </a:ext>
            </a:extLst>
          </p:cNvPr>
          <p:cNvSpPr/>
          <p:nvPr/>
        </p:nvSpPr>
        <p:spPr>
          <a:xfrm>
            <a:off x="8105934" y="3949220"/>
            <a:ext cx="944562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EEC5A2E-CAFB-BA43-A154-13F98FBF8642}"/>
              </a:ext>
            </a:extLst>
          </p:cNvPr>
          <p:cNvSpPr/>
          <p:nvPr/>
        </p:nvSpPr>
        <p:spPr>
          <a:xfrm>
            <a:off x="4772033" y="1955144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rdt3.0 sender</a:t>
            </a:r>
            <a:endParaRPr lang="en-US" sz="4400" dirty="0"/>
          </a:p>
        </p:txBody>
      </p:sp>
      <p:sp>
        <p:nvSpPr>
          <p:cNvPr id="64" name="Line 6">
            <a:extLst>
              <a:ext uri="{FF2B5EF4-FFF2-40B4-BE49-F238E27FC236}">
                <a16:creationId xmlns:a16="http://schemas.microsoft.com/office/drawing/2014/main" id="{78C37AB9-8D5F-A34A-A2BE-A05DFB4E8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8198" y="1637972"/>
            <a:ext cx="157163" cy="576262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5" name="Group 7">
            <a:extLst>
              <a:ext uri="{FF2B5EF4-FFF2-40B4-BE49-F238E27FC236}">
                <a16:creationId xmlns:a16="http://schemas.microsoft.com/office/drawing/2014/main" id="{096872AC-5A50-874A-AB4F-3FB6FDD33CA8}"/>
              </a:ext>
            </a:extLst>
          </p:cNvPr>
          <p:cNvGrpSpPr>
            <a:grpSpLocks/>
          </p:cNvGrpSpPr>
          <p:nvPr/>
        </p:nvGrpSpPr>
        <p:grpSpPr bwMode="auto">
          <a:xfrm>
            <a:off x="7099636" y="2184072"/>
            <a:ext cx="889000" cy="865187"/>
            <a:chOff x="445" y="1273"/>
            <a:chExt cx="560" cy="545"/>
          </a:xfrm>
        </p:grpSpPr>
        <p:sp>
          <p:nvSpPr>
            <p:cNvPr id="66" name="Oval 8">
              <a:extLst>
                <a:ext uri="{FF2B5EF4-FFF2-40B4-BE49-F238E27FC236}">
                  <a16:creationId xmlns:a16="http://schemas.microsoft.com/office/drawing/2014/main" id="{E65B4A15-4BAC-CA4D-A49C-43B951682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Text Box 9">
              <a:extLst>
                <a:ext uri="{FF2B5EF4-FFF2-40B4-BE49-F238E27FC236}">
                  <a16:creationId xmlns:a16="http://schemas.microsoft.com/office/drawing/2014/main" id="{26B25746-91F9-5D4A-8F0C-823F1140A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ACK0</a:t>
              </a: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F4D04D9-9A61-C546-9AF6-16658062604A}"/>
              </a:ext>
            </a:extLst>
          </p:cNvPr>
          <p:cNvGrpSpPr/>
          <p:nvPr/>
        </p:nvGrpSpPr>
        <p:grpSpPr>
          <a:xfrm>
            <a:off x="4758073" y="1183947"/>
            <a:ext cx="3860800" cy="1144587"/>
            <a:chOff x="4758073" y="1183947"/>
            <a:chExt cx="3860800" cy="1144587"/>
          </a:xfrm>
        </p:grpSpPr>
        <p:sp>
          <p:nvSpPr>
            <p:cNvPr id="61" name="Text Box 3">
              <a:extLst>
                <a:ext uri="{FF2B5EF4-FFF2-40B4-BE49-F238E27FC236}">
                  <a16:creationId xmlns:a16="http://schemas.microsoft.com/office/drawing/2014/main" id="{277946DC-87AE-0E47-8DDD-C388A9564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8073" y="1477634"/>
              <a:ext cx="3860800" cy="561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=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make_pkt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(0, data, checksum)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start_timer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" name="Text Box 4">
              <a:extLst>
                <a:ext uri="{FF2B5EF4-FFF2-40B4-BE49-F238E27FC236}">
                  <a16:creationId xmlns:a16="http://schemas.microsoft.com/office/drawing/2014/main" id="{11F4EC56-A6F5-A64D-95C8-7503733BD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348" y="1183947"/>
              <a:ext cx="17240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rdt_send(data)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Line 5">
              <a:extLst>
                <a:ext uri="{FF2B5EF4-FFF2-40B4-BE49-F238E27FC236}">
                  <a16:creationId xmlns:a16="http://schemas.microsoft.com/office/drawing/2014/main" id="{C1AF7291-871C-F046-AFBB-1556BBAC4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948" y="1522084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Freeform 10">
              <a:extLst>
                <a:ext uri="{FF2B5EF4-FFF2-40B4-BE49-F238E27FC236}">
                  <a16:creationId xmlns:a16="http://schemas.microsoft.com/office/drawing/2014/main" id="{8CEC024B-C97C-A74A-9916-3EDFFAAB736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123198" y="2165022"/>
              <a:ext cx="2090738" cy="163512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2" name="Group 14">
            <a:extLst>
              <a:ext uri="{FF2B5EF4-FFF2-40B4-BE49-F238E27FC236}">
                <a16:creationId xmlns:a16="http://schemas.microsoft.com/office/drawing/2014/main" id="{56EFCAB8-B7AF-164A-9F92-8EACFBDEB179}"/>
              </a:ext>
            </a:extLst>
          </p:cNvPr>
          <p:cNvGrpSpPr>
            <a:grpSpLocks/>
          </p:cNvGrpSpPr>
          <p:nvPr/>
        </p:nvGrpSpPr>
        <p:grpSpPr bwMode="auto">
          <a:xfrm>
            <a:off x="7191711" y="4098597"/>
            <a:ext cx="1189037" cy="850900"/>
            <a:chOff x="4090" y="3230"/>
            <a:chExt cx="749" cy="536"/>
          </a:xfrm>
        </p:grpSpPr>
        <p:sp>
          <p:nvSpPr>
            <p:cNvPr id="73" name="Oval 15">
              <a:extLst>
                <a:ext uri="{FF2B5EF4-FFF2-40B4-BE49-F238E27FC236}">
                  <a16:creationId xmlns:a16="http://schemas.microsoft.com/office/drawing/2014/main" id="{FA80C9CA-4B40-8840-B931-9FF9ACFD2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16">
              <a:extLst>
                <a:ext uri="{FF2B5EF4-FFF2-40B4-BE49-F238E27FC236}">
                  <a16:creationId xmlns:a16="http://schemas.microsoft.com/office/drawing/2014/main" id="{521CFB86-2E9D-B149-847B-A167F4F8F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call 1 from above</a:t>
              </a: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0684A0E-9037-EB45-9EB8-86695DBF36A9}"/>
              </a:ext>
            </a:extLst>
          </p:cNvPr>
          <p:cNvGrpSpPr/>
          <p:nvPr/>
        </p:nvGrpSpPr>
        <p:grpSpPr>
          <a:xfrm>
            <a:off x="5054936" y="4832022"/>
            <a:ext cx="3444875" cy="1038225"/>
            <a:chOff x="5054936" y="4832022"/>
            <a:chExt cx="3444875" cy="1038225"/>
          </a:xfrm>
        </p:grpSpPr>
        <p:sp>
          <p:nvSpPr>
            <p:cNvPr id="76" name="Freeform 18">
              <a:extLst>
                <a:ext uri="{FF2B5EF4-FFF2-40B4-BE49-F238E27FC236}">
                  <a16:creationId xmlns:a16="http://schemas.microsoft.com/office/drawing/2014/main" id="{6F223C64-6D09-DE48-83F1-228C34DA6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911" y="4832022"/>
              <a:ext cx="2312987" cy="274637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0">
              <a:extLst>
                <a:ext uri="{FF2B5EF4-FFF2-40B4-BE49-F238E27FC236}">
                  <a16:creationId xmlns:a16="http://schemas.microsoft.com/office/drawing/2014/main" id="{5C35E95A-ADB2-FF4D-BCD2-C9D9EABE9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4936" y="5317797"/>
              <a:ext cx="3444875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 = make_pkt(1, data, checksum)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start_timer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Text Box 21">
              <a:extLst>
                <a:ext uri="{FF2B5EF4-FFF2-40B4-BE49-F238E27FC236}">
                  <a16:creationId xmlns:a16="http://schemas.microsoft.com/office/drawing/2014/main" id="{E55E1DDD-DB30-5446-8650-ECC81FF92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4936" y="5035222"/>
              <a:ext cx="17240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rdt_send(data)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Line 22">
              <a:extLst>
                <a:ext uri="{FF2B5EF4-FFF2-40B4-BE49-F238E27FC236}">
                  <a16:creationId xmlns:a16="http://schemas.microsoft.com/office/drawing/2014/main" id="{38F0E084-BD34-6345-8EFC-9B28222C5D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3998" y="5346372"/>
              <a:ext cx="25987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0E17AB3-A37A-384E-B76C-D9D33C764FEC}"/>
              </a:ext>
            </a:extLst>
          </p:cNvPr>
          <p:cNvGrpSpPr/>
          <p:nvPr/>
        </p:nvGrpSpPr>
        <p:grpSpPr>
          <a:xfrm>
            <a:off x="7858461" y="2912734"/>
            <a:ext cx="2309812" cy="1184275"/>
            <a:chOff x="7858461" y="2912734"/>
            <a:chExt cx="2309812" cy="1184275"/>
          </a:xfrm>
        </p:grpSpPr>
        <p:sp>
          <p:nvSpPr>
            <p:cNvPr id="77" name="Freeform 19">
              <a:extLst>
                <a:ext uri="{FF2B5EF4-FFF2-40B4-BE49-F238E27FC236}">
                  <a16:creationId xmlns:a16="http://schemas.microsoft.com/office/drawing/2014/main" id="{3DDB81C2-3ABA-CF4A-B97F-7179552BC636}"/>
                </a:ext>
              </a:extLst>
            </p:cNvPr>
            <p:cNvSpPr>
              <a:spLocks/>
            </p:cNvSpPr>
            <p:nvPr/>
          </p:nvSpPr>
          <p:spPr bwMode="auto">
            <a:xfrm rot="5400000" flipH="1" flipV="1">
              <a:off x="7349667" y="3421528"/>
              <a:ext cx="1184275" cy="166687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Text Box 23">
              <a:extLst>
                <a:ext uri="{FF2B5EF4-FFF2-40B4-BE49-F238E27FC236}">
                  <a16:creationId xmlns:a16="http://schemas.microsoft.com/office/drawing/2014/main" id="{B3A5B058-CEE3-154A-8B9F-81FE6436B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8798" y="3200072"/>
              <a:ext cx="2149475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 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notcorrupt(rcvpkt)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isACK(rcvpkt,0)</a:t>
              </a:r>
              <a:r>
                <a: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Line 24">
              <a:extLst>
                <a:ext uri="{FF2B5EF4-FFF2-40B4-BE49-F238E27FC236}">
                  <a16:creationId xmlns:a16="http://schemas.microsoft.com/office/drawing/2014/main" id="{6F172C79-50B4-9346-A88A-5975F7343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4686" y="3911272"/>
              <a:ext cx="14192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9">
              <a:extLst>
                <a:ext uri="{FF2B5EF4-FFF2-40B4-BE49-F238E27FC236}">
                  <a16:creationId xmlns:a16="http://schemas.microsoft.com/office/drawing/2014/main" id="{31338CB6-A233-944E-8AAB-06740429C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9436" y="3892222"/>
              <a:ext cx="1514475" cy="179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stop_timer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64EE58C-9293-D64B-8FD5-BF4EEDF9C767}"/>
              </a:ext>
            </a:extLst>
          </p:cNvPr>
          <p:cNvGrpSpPr/>
          <p:nvPr/>
        </p:nvGrpSpPr>
        <p:grpSpPr>
          <a:xfrm>
            <a:off x="2638761" y="2958772"/>
            <a:ext cx="1933239" cy="1239836"/>
            <a:chOff x="2638761" y="2958772"/>
            <a:chExt cx="1933239" cy="1239836"/>
          </a:xfrm>
        </p:grpSpPr>
        <p:sp>
          <p:nvSpPr>
            <p:cNvPr id="75" name="Freeform 17">
              <a:extLst>
                <a:ext uri="{FF2B5EF4-FFF2-40B4-BE49-F238E27FC236}">
                  <a16:creationId xmlns:a16="http://schemas.microsoft.com/office/drawing/2014/main" id="{2F184C7E-A563-7E48-B933-43517ECFB8AD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3932569" y="3559178"/>
              <a:ext cx="1137909" cy="140952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Text Box 27">
              <a:extLst>
                <a:ext uri="{FF2B5EF4-FFF2-40B4-BE49-F238E27FC236}">
                  <a16:creationId xmlns:a16="http://schemas.microsoft.com/office/drawing/2014/main" id="{85546939-74F9-DE48-94D4-5CDE532CF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698" y="2958772"/>
              <a:ext cx="1912938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 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notcorrupt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isACK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(rcvpkt,1)</a:t>
              </a: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8">
              <a:extLst>
                <a:ext uri="{FF2B5EF4-FFF2-40B4-BE49-F238E27FC236}">
                  <a16:creationId xmlns:a16="http://schemas.microsoft.com/office/drawing/2014/main" id="{8CA33983-E9A1-BF42-B982-07F0B1E94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3698" y="3698547"/>
              <a:ext cx="151765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Text Box 30">
              <a:extLst>
                <a:ext uri="{FF2B5EF4-FFF2-40B4-BE49-F238E27FC236}">
                  <a16:creationId xmlns:a16="http://schemas.microsoft.com/office/drawing/2014/main" id="{C524B67B-7041-9242-9C97-B8A784A8F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8761" y="3671559"/>
              <a:ext cx="15144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stop_timer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0" name="Group 42">
            <a:extLst>
              <a:ext uri="{FF2B5EF4-FFF2-40B4-BE49-F238E27FC236}">
                <a16:creationId xmlns:a16="http://schemas.microsoft.com/office/drawing/2014/main" id="{7781A61F-1C88-6E46-96AB-268CBADE4526}"/>
              </a:ext>
            </a:extLst>
          </p:cNvPr>
          <p:cNvGrpSpPr>
            <a:grpSpLocks/>
          </p:cNvGrpSpPr>
          <p:nvPr/>
        </p:nvGrpSpPr>
        <p:grpSpPr bwMode="auto">
          <a:xfrm>
            <a:off x="4157998" y="2228522"/>
            <a:ext cx="1189038" cy="850900"/>
            <a:chOff x="4090" y="3230"/>
            <a:chExt cx="749" cy="536"/>
          </a:xfrm>
        </p:grpSpPr>
        <p:sp>
          <p:nvSpPr>
            <p:cNvPr id="101" name="Oval 43">
              <a:extLst>
                <a:ext uri="{FF2B5EF4-FFF2-40B4-BE49-F238E27FC236}">
                  <a16:creationId xmlns:a16="http://schemas.microsoft.com/office/drawing/2014/main" id="{EA3FA186-38E3-E24B-80CE-CDFC5DF36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44">
              <a:extLst>
                <a:ext uri="{FF2B5EF4-FFF2-40B4-BE49-F238E27FC236}">
                  <a16:creationId xmlns:a16="http://schemas.microsoft.com/office/drawing/2014/main" id="{237CD0D2-3CD0-9E45-8D08-0B39FC58C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call 0 from above</a:t>
              </a: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4" name="Group 46">
            <a:extLst>
              <a:ext uri="{FF2B5EF4-FFF2-40B4-BE49-F238E27FC236}">
                <a16:creationId xmlns:a16="http://schemas.microsoft.com/office/drawing/2014/main" id="{3A7B09B7-7C1D-8D4E-8FEA-40BBC5ECB76A}"/>
              </a:ext>
            </a:extLst>
          </p:cNvPr>
          <p:cNvGrpSpPr>
            <a:grpSpLocks/>
          </p:cNvGrpSpPr>
          <p:nvPr/>
        </p:nvGrpSpPr>
        <p:grpSpPr bwMode="auto">
          <a:xfrm>
            <a:off x="4369136" y="4082722"/>
            <a:ext cx="889000" cy="865187"/>
            <a:chOff x="445" y="1273"/>
            <a:chExt cx="560" cy="545"/>
          </a:xfrm>
        </p:grpSpPr>
        <p:sp>
          <p:nvSpPr>
            <p:cNvPr id="105" name="Oval 47">
              <a:extLst>
                <a:ext uri="{FF2B5EF4-FFF2-40B4-BE49-F238E27FC236}">
                  <a16:creationId xmlns:a16="http://schemas.microsoft.com/office/drawing/2014/main" id="{1F85EC28-DE93-5C4D-AA1B-F8423FADF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" name="Text Box 48">
              <a:extLst>
                <a:ext uri="{FF2B5EF4-FFF2-40B4-BE49-F238E27FC236}">
                  <a16:creationId xmlns:a16="http://schemas.microsoft.com/office/drawing/2014/main" id="{8ED6243F-D34F-6848-8B35-66C2A258A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ACK1</a:t>
              </a: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D28BBA62-6263-C843-B29E-56B49980762A}"/>
              </a:ext>
            </a:extLst>
          </p:cNvPr>
          <p:cNvSpPr/>
          <p:nvPr/>
        </p:nvSpPr>
        <p:spPr>
          <a:xfrm>
            <a:off x="3771900" y="1861459"/>
            <a:ext cx="4800600" cy="1534886"/>
          </a:xfrm>
          <a:prstGeom prst="ellipse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E2FDDC8-8D96-114D-9DC7-646B2E492AD9}"/>
              </a:ext>
            </a:extLst>
          </p:cNvPr>
          <p:cNvSpPr/>
          <p:nvPr/>
        </p:nvSpPr>
        <p:spPr>
          <a:xfrm>
            <a:off x="3858986" y="3777345"/>
            <a:ext cx="4800600" cy="1534886"/>
          </a:xfrm>
          <a:prstGeom prst="ellipse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7B88F9-3891-3046-A064-B332A3527756}"/>
              </a:ext>
            </a:extLst>
          </p:cNvPr>
          <p:cNvSpPr/>
          <p:nvPr/>
        </p:nvSpPr>
        <p:spPr>
          <a:xfrm>
            <a:off x="4254500" y="2216171"/>
            <a:ext cx="952500" cy="87112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622A35A9-A643-7C42-B044-B85FAF6A97F9}"/>
              </a:ext>
            </a:extLst>
          </p:cNvPr>
          <p:cNvSpPr/>
          <p:nvPr/>
        </p:nvSpPr>
        <p:spPr>
          <a:xfrm>
            <a:off x="7086600" y="2184400"/>
            <a:ext cx="914400" cy="86784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29138640-D128-B549-B272-9634FBE0E919}"/>
              </a:ext>
            </a:extLst>
          </p:cNvPr>
          <p:cNvSpPr/>
          <p:nvPr/>
        </p:nvSpPr>
        <p:spPr>
          <a:xfrm>
            <a:off x="7302500" y="4102100"/>
            <a:ext cx="936658" cy="8509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F8621F76-605F-FD4F-BBDF-20014AAFC358}"/>
              </a:ext>
            </a:extLst>
          </p:cNvPr>
          <p:cNvSpPr/>
          <p:nvPr/>
        </p:nvSpPr>
        <p:spPr>
          <a:xfrm>
            <a:off x="4356100" y="4070372"/>
            <a:ext cx="914400" cy="8763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EC2E0DE7-1242-394F-B32C-D2097A456FDC}"/>
              </a:ext>
            </a:extLst>
          </p:cNvPr>
          <p:cNvSpPr/>
          <p:nvPr/>
        </p:nvSpPr>
        <p:spPr>
          <a:xfrm>
            <a:off x="4251325" y="2212996"/>
            <a:ext cx="952500" cy="87112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lide Number Placeholder 2">
            <a:extLst>
              <a:ext uri="{FF2B5EF4-FFF2-40B4-BE49-F238E27FC236}">
                <a16:creationId xmlns:a16="http://schemas.microsoft.com/office/drawing/2014/main" id="{E51BA6D5-B9A8-EF43-ACE9-5217445FD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02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4" grpId="0" animBg="1"/>
      <p:bldP spid="123" grpId="0" animBg="1"/>
      <p:bldP spid="121" grpId="0" animBg="1"/>
      <p:bldP spid="3" grpId="0" animBg="1"/>
      <p:bldP spid="3" grpId="1" animBg="1"/>
      <p:bldP spid="122" grpId="0" animBg="1"/>
      <p:bldP spid="122" grpId="1" animBg="1"/>
      <p:bldP spid="6" grpId="0" animBg="1"/>
      <p:bldP spid="6" grpId="1" animBg="1"/>
      <p:bldP spid="130" grpId="0" animBg="1"/>
      <p:bldP spid="130" grpId="1" animBg="1"/>
      <p:bldP spid="131" grpId="0" animBg="1"/>
      <p:bldP spid="131" grpId="1" animBg="1"/>
      <p:bldP spid="132" grpId="0" animBg="1"/>
      <p:bldP spid="132" grpId="1" animBg="1"/>
      <p:bldP spid="1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>
            <a:extLst>
              <a:ext uri="{FF2B5EF4-FFF2-40B4-BE49-F238E27FC236}">
                <a16:creationId xmlns:a16="http://schemas.microsoft.com/office/drawing/2014/main" id="{5C125732-5AF8-DA4B-817C-FBB3A5B32FC1}"/>
              </a:ext>
            </a:extLst>
          </p:cNvPr>
          <p:cNvSpPr/>
          <p:nvPr/>
        </p:nvSpPr>
        <p:spPr>
          <a:xfrm>
            <a:off x="2666162" y="3735852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D8C866A-2C1E-EA49-9FEE-17BE0B5EB65D}"/>
              </a:ext>
            </a:extLst>
          </p:cNvPr>
          <p:cNvSpPr/>
          <p:nvPr/>
        </p:nvSpPr>
        <p:spPr>
          <a:xfrm>
            <a:off x="5108911" y="5798809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8F8E4F3-FCCE-BB46-816F-BE18AA10AA87}"/>
              </a:ext>
            </a:extLst>
          </p:cNvPr>
          <p:cNvSpPr/>
          <p:nvPr/>
        </p:nvSpPr>
        <p:spPr>
          <a:xfrm>
            <a:off x="8105934" y="3949220"/>
            <a:ext cx="944562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EEC5A2E-CAFB-BA43-A154-13F98FBF8642}"/>
              </a:ext>
            </a:extLst>
          </p:cNvPr>
          <p:cNvSpPr/>
          <p:nvPr/>
        </p:nvSpPr>
        <p:spPr>
          <a:xfrm>
            <a:off x="4772033" y="1955144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rdt3.0 sender</a:t>
            </a:r>
            <a:endParaRPr lang="en-US" sz="4400" dirty="0"/>
          </a:p>
        </p:txBody>
      </p:sp>
      <p:sp>
        <p:nvSpPr>
          <p:cNvPr id="64" name="Line 6">
            <a:extLst>
              <a:ext uri="{FF2B5EF4-FFF2-40B4-BE49-F238E27FC236}">
                <a16:creationId xmlns:a16="http://schemas.microsoft.com/office/drawing/2014/main" id="{78C37AB9-8D5F-A34A-A2BE-A05DFB4E8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8198" y="1637972"/>
            <a:ext cx="157163" cy="576262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5" name="Group 7">
            <a:extLst>
              <a:ext uri="{FF2B5EF4-FFF2-40B4-BE49-F238E27FC236}">
                <a16:creationId xmlns:a16="http://schemas.microsoft.com/office/drawing/2014/main" id="{096872AC-5A50-874A-AB4F-3FB6FDD33CA8}"/>
              </a:ext>
            </a:extLst>
          </p:cNvPr>
          <p:cNvGrpSpPr>
            <a:grpSpLocks/>
          </p:cNvGrpSpPr>
          <p:nvPr/>
        </p:nvGrpSpPr>
        <p:grpSpPr bwMode="auto">
          <a:xfrm>
            <a:off x="7099636" y="2184072"/>
            <a:ext cx="889000" cy="865187"/>
            <a:chOff x="445" y="1273"/>
            <a:chExt cx="560" cy="545"/>
          </a:xfrm>
        </p:grpSpPr>
        <p:sp>
          <p:nvSpPr>
            <p:cNvPr id="66" name="Oval 8">
              <a:extLst>
                <a:ext uri="{FF2B5EF4-FFF2-40B4-BE49-F238E27FC236}">
                  <a16:creationId xmlns:a16="http://schemas.microsoft.com/office/drawing/2014/main" id="{E65B4A15-4BAC-CA4D-A49C-43B951682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Text Box 9">
              <a:extLst>
                <a:ext uri="{FF2B5EF4-FFF2-40B4-BE49-F238E27FC236}">
                  <a16:creationId xmlns:a16="http://schemas.microsoft.com/office/drawing/2014/main" id="{26B25746-91F9-5D4A-8F0C-823F1140A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ACK0</a:t>
              </a: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F4D04D9-9A61-C546-9AF6-16658062604A}"/>
              </a:ext>
            </a:extLst>
          </p:cNvPr>
          <p:cNvGrpSpPr/>
          <p:nvPr/>
        </p:nvGrpSpPr>
        <p:grpSpPr>
          <a:xfrm>
            <a:off x="4758073" y="1183947"/>
            <a:ext cx="3860800" cy="1144587"/>
            <a:chOff x="4758073" y="1183947"/>
            <a:chExt cx="3860800" cy="1144587"/>
          </a:xfrm>
        </p:grpSpPr>
        <p:sp>
          <p:nvSpPr>
            <p:cNvPr id="61" name="Text Box 3">
              <a:extLst>
                <a:ext uri="{FF2B5EF4-FFF2-40B4-BE49-F238E27FC236}">
                  <a16:creationId xmlns:a16="http://schemas.microsoft.com/office/drawing/2014/main" id="{277946DC-87AE-0E47-8DDD-C388A9564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8073" y="1477634"/>
              <a:ext cx="3860800" cy="561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=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make_pkt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(0, data, checksum)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start_timer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" name="Text Box 4">
              <a:extLst>
                <a:ext uri="{FF2B5EF4-FFF2-40B4-BE49-F238E27FC236}">
                  <a16:creationId xmlns:a16="http://schemas.microsoft.com/office/drawing/2014/main" id="{11F4EC56-A6F5-A64D-95C8-7503733BD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348" y="1183947"/>
              <a:ext cx="17240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rdt_send(data)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Line 5">
              <a:extLst>
                <a:ext uri="{FF2B5EF4-FFF2-40B4-BE49-F238E27FC236}">
                  <a16:creationId xmlns:a16="http://schemas.microsoft.com/office/drawing/2014/main" id="{C1AF7291-871C-F046-AFBB-1556BBAC4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948" y="1522084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Freeform 10">
              <a:extLst>
                <a:ext uri="{FF2B5EF4-FFF2-40B4-BE49-F238E27FC236}">
                  <a16:creationId xmlns:a16="http://schemas.microsoft.com/office/drawing/2014/main" id="{8CEC024B-C97C-A74A-9916-3EDFFAAB736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123198" y="2165022"/>
              <a:ext cx="2090738" cy="163512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2" name="Group 14">
            <a:extLst>
              <a:ext uri="{FF2B5EF4-FFF2-40B4-BE49-F238E27FC236}">
                <a16:creationId xmlns:a16="http://schemas.microsoft.com/office/drawing/2014/main" id="{56EFCAB8-B7AF-164A-9F92-8EACFBDEB179}"/>
              </a:ext>
            </a:extLst>
          </p:cNvPr>
          <p:cNvGrpSpPr>
            <a:grpSpLocks/>
          </p:cNvGrpSpPr>
          <p:nvPr/>
        </p:nvGrpSpPr>
        <p:grpSpPr bwMode="auto">
          <a:xfrm>
            <a:off x="7191711" y="4098597"/>
            <a:ext cx="1189037" cy="850900"/>
            <a:chOff x="4090" y="3230"/>
            <a:chExt cx="749" cy="536"/>
          </a:xfrm>
        </p:grpSpPr>
        <p:sp>
          <p:nvSpPr>
            <p:cNvPr id="73" name="Oval 15">
              <a:extLst>
                <a:ext uri="{FF2B5EF4-FFF2-40B4-BE49-F238E27FC236}">
                  <a16:creationId xmlns:a16="http://schemas.microsoft.com/office/drawing/2014/main" id="{FA80C9CA-4B40-8840-B931-9FF9ACFD2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16">
              <a:extLst>
                <a:ext uri="{FF2B5EF4-FFF2-40B4-BE49-F238E27FC236}">
                  <a16:creationId xmlns:a16="http://schemas.microsoft.com/office/drawing/2014/main" id="{521CFB86-2E9D-B149-847B-A167F4F8F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call 1 from above</a:t>
              </a: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0684A0E-9037-EB45-9EB8-86695DBF36A9}"/>
              </a:ext>
            </a:extLst>
          </p:cNvPr>
          <p:cNvGrpSpPr/>
          <p:nvPr/>
        </p:nvGrpSpPr>
        <p:grpSpPr>
          <a:xfrm>
            <a:off x="5054936" y="4832022"/>
            <a:ext cx="3444875" cy="1038225"/>
            <a:chOff x="5054936" y="4832022"/>
            <a:chExt cx="3444875" cy="1038225"/>
          </a:xfrm>
        </p:grpSpPr>
        <p:sp>
          <p:nvSpPr>
            <p:cNvPr id="76" name="Freeform 18">
              <a:extLst>
                <a:ext uri="{FF2B5EF4-FFF2-40B4-BE49-F238E27FC236}">
                  <a16:creationId xmlns:a16="http://schemas.microsoft.com/office/drawing/2014/main" id="{6F223C64-6D09-DE48-83F1-228C34DA6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911" y="4832022"/>
              <a:ext cx="2312987" cy="274637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0">
              <a:extLst>
                <a:ext uri="{FF2B5EF4-FFF2-40B4-BE49-F238E27FC236}">
                  <a16:creationId xmlns:a16="http://schemas.microsoft.com/office/drawing/2014/main" id="{5C35E95A-ADB2-FF4D-BCD2-C9D9EABE9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4936" y="5317797"/>
              <a:ext cx="3444875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 = make_pkt(1, data, checksum)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start_timer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Text Box 21">
              <a:extLst>
                <a:ext uri="{FF2B5EF4-FFF2-40B4-BE49-F238E27FC236}">
                  <a16:creationId xmlns:a16="http://schemas.microsoft.com/office/drawing/2014/main" id="{E55E1DDD-DB30-5446-8650-ECC81FF92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4936" y="5035222"/>
              <a:ext cx="17240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rdt_send(data)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Line 22">
              <a:extLst>
                <a:ext uri="{FF2B5EF4-FFF2-40B4-BE49-F238E27FC236}">
                  <a16:creationId xmlns:a16="http://schemas.microsoft.com/office/drawing/2014/main" id="{38F0E084-BD34-6345-8EFC-9B28222C5D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3998" y="5346372"/>
              <a:ext cx="25987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0E17AB3-A37A-384E-B76C-D9D33C764FEC}"/>
              </a:ext>
            </a:extLst>
          </p:cNvPr>
          <p:cNvGrpSpPr/>
          <p:nvPr/>
        </p:nvGrpSpPr>
        <p:grpSpPr>
          <a:xfrm>
            <a:off x="7858461" y="2912734"/>
            <a:ext cx="2309812" cy="1184275"/>
            <a:chOff x="7858461" y="2912734"/>
            <a:chExt cx="2309812" cy="1184275"/>
          </a:xfrm>
        </p:grpSpPr>
        <p:sp>
          <p:nvSpPr>
            <p:cNvPr id="77" name="Freeform 19">
              <a:extLst>
                <a:ext uri="{FF2B5EF4-FFF2-40B4-BE49-F238E27FC236}">
                  <a16:creationId xmlns:a16="http://schemas.microsoft.com/office/drawing/2014/main" id="{3DDB81C2-3ABA-CF4A-B97F-7179552BC636}"/>
                </a:ext>
              </a:extLst>
            </p:cNvPr>
            <p:cNvSpPr>
              <a:spLocks/>
            </p:cNvSpPr>
            <p:nvPr/>
          </p:nvSpPr>
          <p:spPr bwMode="auto">
            <a:xfrm rot="5400000" flipH="1" flipV="1">
              <a:off x="7349667" y="3421528"/>
              <a:ext cx="1184275" cy="166687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Text Box 23">
              <a:extLst>
                <a:ext uri="{FF2B5EF4-FFF2-40B4-BE49-F238E27FC236}">
                  <a16:creationId xmlns:a16="http://schemas.microsoft.com/office/drawing/2014/main" id="{B3A5B058-CEE3-154A-8B9F-81FE6436B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8798" y="3200072"/>
              <a:ext cx="2149475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 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notcorrupt(rcvpkt)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isACK(rcvpkt,0)</a:t>
              </a:r>
              <a:r>
                <a: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Line 24">
              <a:extLst>
                <a:ext uri="{FF2B5EF4-FFF2-40B4-BE49-F238E27FC236}">
                  <a16:creationId xmlns:a16="http://schemas.microsoft.com/office/drawing/2014/main" id="{6F172C79-50B4-9346-A88A-5975F7343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4686" y="3911272"/>
              <a:ext cx="14192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9">
              <a:extLst>
                <a:ext uri="{FF2B5EF4-FFF2-40B4-BE49-F238E27FC236}">
                  <a16:creationId xmlns:a16="http://schemas.microsoft.com/office/drawing/2014/main" id="{31338CB6-A233-944E-8AAB-06740429C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9436" y="3892222"/>
              <a:ext cx="1514475" cy="179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stop_timer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64EE58C-9293-D64B-8FD5-BF4EEDF9C767}"/>
              </a:ext>
            </a:extLst>
          </p:cNvPr>
          <p:cNvGrpSpPr/>
          <p:nvPr/>
        </p:nvGrpSpPr>
        <p:grpSpPr>
          <a:xfrm>
            <a:off x="2638761" y="2958772"/>
            <a:ext cx="1945938" cy="1239836"/>
            <a:chOff x="2638761" y="2958772"/>
            <a:chExt cx="1945938" cy="1239836"/>
          </a:xfrm>
        </p:grpSpPr>
        <p:sp>
          <p:nvSpPr>
            <p:cNvPr id="75" name="Freeform 17">
              <a:extLst>
                <a:ext uri="{FF2B5EF4-FFF2-40B4-BE49-F238E27FC236}">
                  <a16:creationId xmlns:a16="http://schemas.microsoft.com/office/drawing/2014/main" id="{2F184C7E-A563-7E48-B933-43517ECFB8AD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3932568" y="3546478"/>
              <a:ext cx="1150609" cy="153652"/>
            </a:xfrm>
            <a:custGeom>
              <a:avLst/>
              <a:gdLst>
                <a:gd name="T0" fmla="*/ 0 w 2835"/>
                <a:gd name="T1" fmla="*/ 0 h 525"/>
                <a:gd name="T2" fmla="*/ 2147483647 w 2835"/>
                <a:gd name="T3" fmla="*/ 0 h 5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Text Box 27">
              <a:extLst>
                <a:ext uri="{FF2B5EF4-FFF2-40B4-BE49-F238E27FC236}">
                  <a16:creationId xmlns:a16="http://schemas.microsoft.com/office/drawing/2014/main" id="{85546939-74F9-DE48-94D4-5CDE532CF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698" y="2958772"/>
              <a:ext cx="1912938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 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notcorrupt(rcvpkt)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&amp;&amp; isACK(rcvpkt,1)</a:t>
              </a:r>
              <a:r>
                <a: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8">
              <a:extLst>
                <a:ext uri="{FF2B5EF4-FFF2-40B4-BE49-F238E27FC236}">
                  <a16:creationId xmlns:a16="http://schemas.microsoft.com/office/drawing/2014/main" id="{8CA33983-E9A1-BF42-B982-07F0B1E94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3698" y="3698547"/>
              <a:ext cx="151765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Text Box 30">
              <a:extLst>
                <a:ext uri="{FF2B5EF4-FFF2-40B4-BE49-F238E27FC236}">
                  <a16:creationId xmlns:a16="http://schemas.microsoft.com/office/drawing/2014/main" id="{C524B67B-7041-9242-9C97-B8A784A8F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8761" y="3671559"/>
              <a:ext cx="15144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stop_timer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E1668F5-8EFC-FD4A-B0AD-080420B8D736}"/>
              </a:ext>
            </a:extLst>
          </p:cNvPr>
          <p:cNvGrpSpPr/>
          <p:nvPr/>
        </p:nvGrpSpPr>
        <p:grpSpPr>
          <a:xfrm>
            <a:off x="7977523" y="2372984"/>
            <a:ext cx="2447925" cy="741363"/>
            <a:chOff x="7977523" y="2372984"/>
            <a:chExt cx="2447925" cy="741363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B74E396-3DA3-0D47-9600-2A508F79F4AE}"/>
                </a:ext>
              </a:extLst>
            </p:cNvPr>
            <p:cNvSpPr/>
            <p:nvPr/>
          </p:nvSpPr>
          <p:spPr>
            <a:xfrm>
              <a:off x="8369605" y="2404148"/>
              <a:ext cx="732514" cy="223838"/>
            </a:xfrm>
            <a:prstGeom prst="rect">
              <a:avLst/>
            </a:prstGeom>
            <a:solidFill>
              <a:srgbClr val="FF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9D5058F-6374-D346-BFD4-860774A23D0C}"/>
                </a:ext>
              </a:extLst>
            </p:cNvPr>
            <p:cNvSpPr/>
            <p:nvPr/>
          </p:nvSpPr>
          <p:spPr>
            <a:xfrm>
              <a:off x="8358054" y="2870582"/>
              <a:ext cx="1037420" cy="2238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6733C237-E2DA-D542-90DF-04CF6DA2943C}"/>
                </a:ext>
              </a:extLst>
            </p:cNvPr>
            <p:cNvGrpSpPr/>
            <p:nvPr/>
          </p:nvGrpSpPr>
          <p:grpSpPr>
            <a:xfrm>
              <a:off x="7977523" y="2372984"/>
              <a:ext cx="2447925" cy="741363"/>
              <a:chOff x="7977523" y="2372984"/>
              <a:chExt cx="2447925" cy="741363"/>
            </a:xfrm>
          </p:grpSpPr>
          <p:sp>
            <p:nvSpPr>
              <p:cNvPr id="89" name="Freeform 31">
                <a:extLst>
                  <a:ext uri="{FF2B5EF4-FFF2-40B4-BE49-F238E27FC236}">
                    <a16:creationId xmlns:a16="http://schemas.microsoft.com/office/drawing/2014/main" id="{A8AA3B66-8A2A-3B49-946B-88E9E731F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7523" y="2431722"/>
                <a:ext cx="461963" cy="682625"/>
              </a:xfrm>
              <a:custGeom>
                <a:avLst/>
                <a:gdLst>
                  <a:gd name="T0" fmla="*/ 0 w 291"/>
                  <a:gd name="T1" fmla="*/ 2147483647 h 430"/>
                  <a:gd name="T2" fmla="*/ 2147483647 w 291"/>
                  <a:gd name="T3" fmla="*/ 2147483647 h 43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91" h="430">
                    <a:moveTo>
                      <a:pt x="0" y="120"/>
                    </a:moveTo>
                    <a:cubicBezTo>
                      <a:pt x="291" y="0"/>
                      <a:pt x="259" y="430"/>
                      <a:pt x="15" y="255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Text Box 32">
                <a:extLst>
                  <a:ext uri="{FF2B5EF4-FFF2-40B4-BE49-F238E27FC236}">
                    <a16:creationId xmlns:a16="http://schemas.microsoft.com/office/drawing/2014/main" id="{E3D7CC76-E8AA-AA49-ABBA-30FB422DFC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09311" y="2609522"/>
                <a:ext cx="2116137" cy="428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udt_send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(</a:t>
                </a:r>
                <a:r>
                  <a:rPr kumimoji="0" lang="en-US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sndpkt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start_timer</a:t>
                </a:r>
                <a:endPara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1" name="Text Box 33">
                <a:extLst>
                  <a:ext uri="{FF2B5EF4-FFF2-40B4-BE49-F238E27FC236}">
                    <a16:creationId xmlns:a16="http://schemas.microsoft.com/office/drawing/2014/main" id="{F5C6AB1D-23FF-4443-9810-5311395B10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31536" y="2372984"/>
                <a:ext cx="1114425" cy="285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timeout</a:t>
                </a:r>
                <a:endPara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Line 34">
                <a:extLst>
                  <a:ext uri="{FF2B5EF4-FFF2-40B4-BE49-F238E27FC236}">
                    <a16:creationId xmlns:a16="http://schemas.microsoft.com/office/drawing/2014/main" id="{3BCAAD42-472A-8148-88E4-7D3F77DC8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20436" y="2626984"/>
                <a:ext cx="9906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00" name="Group 42">
            <a:extLst>
              <a:ext uri="{FF2B5EF4-FFF2-40B4-BE49-F238E27FC236}">
                <a16:creationId xmlns:a16="http://schemas.microsoft.com/office/drawing/2014/main" id="{7781A61F-1C88-6E46-96AB-268CBADE4526}"/>
              </a:ext>
            </a:extLst>
          </p:cNvPr>
          <p:cNvGrpSpPr>
            <a:grpSpLocks/>
          </p:cNvGrpSpPr>
          <p:nvPr/>
        </p:nvGrpSpPr>
        <p:grpSpPr bwMode="auto">
          <a:xfrm>
            <a:off x="4157998" y="2228522"/>
            <a:ext cx="1189038" cy="850900"/>
            <a:chOff x="4090" y="3230"/>
            <a:chExt cx="749" cy="536"/>
          </a:xfrm>
        </p:grpSpPr>
        <p:sp>
          <p:nvSpPr>
            <p:cNvPr id="101" name="Oval 43">
              <a:extLst>
                <a:ext uri="{FF2B5EF4-FFF2-40B4-BE49-F238E27FC236}">
                  <a16:creationId xmlns:a16="http://schemas.microsoft.com/office/drawing/2014/main" id="{EA3FA186-38E3-E24B-80CE-CDFC5DF36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44">
              <a:extLst>
                <a:ext uri="{FF2B5EF4-FFF2-40B4-BE49-F238E27FC236}">
                  <a16:creationId xmlns:a16="http://schemas.microsoft.com/office/drawing/2014/main" id="{237CD0D2-3CD0-9E45-8D08-0B39FC58C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call 0 from above</a:t>
              </a: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4" name="Group 46">
            <a:extLst>
              <a:ext uri="{FF2B5EF4-FFF2-40B4-BE49-F238E27FC236}">
                <a16:creationId xmlns:a16="http://schemas.microsoft.com/office/drawing/2014/main" id="{3A7B09B7-7C1D-8D4E-8FEA-40BBC5ECB76A}"/>
              </a:ext>
            </a:extLst>
          </p:cNvPr>
          <p:cNvGrpSpPr>
            <a:grpSpLocks/>
          </p:cNvGrpSpPr>
          <p:nvPr/>
        </p:nvGrpSpPr>
        <p:grpSpPr bwMode="auto">
          <a:xfrm>
            <a:off x="4369136" y="4082722"/>
            <a:ext cx="889000" cy="865187"/>
            <a:chOff x="445" y="1273"/>
            <a:chExt cx="560" cy="545"/>
          </a:xfrm>
        </p:grpSpPr>
        <p:sp>
          <p:nvSpPr>
            <p:cNvPr id="105" name="Oval 47">
              <a:extLst>
                <a:ext uri="{FF2B5EF4-FFF2-40B4-BE49-F238E27FC236}">
                  <a16:creationId xmlns:a16="http://schemas.microsoft.com/office/drawing/2014/main" id="{1F85EC28-DE93-5C4D-AA1B-F8423FADF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" name="Text Box 48">
              <a:extLst>
                <a:ext uri="{FF2B5EF4-FFF2-40B4-BE49-F238E27FC236}">
                  <a16:creationId xmlns:a16="http://schemas.microsoft.com/office/drawing/2014/main" id="{8ED6243F-D34F-6848-8B35-66C2A258A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ACK1</a:t>
              </a: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48514FA-BA8E-D943-AFC9-DD226418CDFF}"/>
              </a:ext>
            </a:extLst>
          </p:cNvPr>
          <p:cNvGrpSpPr/>
          <p:nvPr/>
        </p:nvGrpSpPr>
        <p:grpSpPr>
          <a:xfrm>
            <a:off x="8164848" y="4466897"/>
            <a:ext cx="1760538" cy="890587"/>
            <a:chOff x="8164848" y="4466897"/>
            <a:chExt cx="1760538" cy="890587"/>
          </a:xfrm>
        </p:grpSpPr>
        <p:sp>
          <p:nvSpPr>
            <p:cNvPr id="98" name="Freeform 40">
              <a:extLst>
                <a:ext uri="{FF2B5EF4-FFF2-40B4-BE49-F238E27FC236}">
                  <a16:creationId xmlns:a16="http://schemas.microsoft.com/office/drawing/2014/main" id="{21CF03A5-6247-4A4D-98BD-C95EEB4DB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4848" y="4466897"/>
              <a:ext cx="579438" cy="890587"/>
            </a:xfrm>
            <a:custGeom>
              <a:avLst/>
              <a:gdLst>
                <a:gd name="T0" fmla="*/ 2147483647 w 322"/>
                <a:gd name="T1" fmla="*/ 2147483647 h 483"/>
                <a:gd name="T2" fmla="*/ 0 w 322"/>
                <a:gd name="T3" fmla="*/ 2147483647 h 4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2" h="483">
                  <a:moveTo>
                    <a:pt x="31" y="120"/>
                  </a:moveTo>
                  <a:cubicBezTo>
                    <a:pt x="322" y="0"/>
                    <a:pt x="64" y="483"/>
                    <a:pt x="0" y="18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Text Box 50">
              <a:extLst>
                <a:ext uri="{FF2B5EF4-FFF2-40B4-BE49-F238E27FC236}">
                  <a16:creationId xmlns:a16="http://schemas.microsoft.com/office/drawing/2014/main" id="{484B8E27-7DE4-CB47-A590-09E8450BC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3361" y="4946322"/>
              <a:ext cx="3238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</a:p>
          </p:txBody>
        </p:sp>
        <p:sp>
          <p:nvSpPr>
            <p:cNvPr id="109" name="Text Box 51">
              <a:extLst>
                <a:ext uri="{FF2B5EF4-FFF2-40B4-BE49-F238E27FC236}">
                  <a16:creationId xmlns:a16="http://schemas.microsoft.com/office/drawing/2014/main" id="{76FB8285-1E6A-C149-ACDD-D65AED4A8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96636" y="4697084"/>
              <a:ext cx="1428750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Line 52">
              <a:extLst>
                <a:ext uri="{FF2B5EF4-FFF2-40B4-BE49-F238E27FC236}">
                  <a16:creationId xmlns:a16="http://schemas.microsoft.com/office/drawing/2014/main" id="{FDB9192F-D2B4-314B-A907-3B13FA861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3948" y="4982834"/>
              <a:ext cx="11017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7C829E3-6E50-184B-81B3-EC50B4767377}"/>
              </a:ext>
            </a:extLst>
          </p:cNvPr>
          <p:cNvGrpSpPr/>
          <p:nvPr/>
        </p:nvGrpSpPr>
        <p:grpSpPr>
          <a:xfrm>
            <a:off x="7807661" y="1290309"/>
            <a:ext cx="2117725" cy="1144588"/>
            <a:chOff x="7807661" y="1290309"/>
            <a:chExt cx="2117725" cy="1144588"/>
          </a:xfrm>
        </p:grpSpPr>
        <p:sp>
          <p:nvSpPr>
            <p:cNvPr id="69" name="Freeform 11">
              <a:extLst>
                <a:ext uri="{FF2B5EF4-FFF2-40B4-BE49-F238E27FC236}">
                  <a16:creationId xmlns:a16="http://schemas.microsoft.com/office/drawing/2014/main" id="{98783A91-2889-6D49-9155-F35869E85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7661" y="1768147"/>
              <a:ext cx="871537" cy="666750"/>
            </a:xfrm>
            <a:custGeom>
              <a:avLst/>
              <a:gdLst>
                <a:gd name="T0" fmla="*/ 0 w 549"/>
                <a:gd name="T1" fmla="*/ 2147483647 h 420"/>
                <a:gd name="T2" fmla="*/ 2147483647 w 549"/>
                <a:gd name="T3" fmla="*/ 2147483647 h 4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9" h="420">
                  <a:moveTo>
                    <a:pt x="0" y="306"/>
                  </a:moveTo>
                  <a:cubicBezTo>
                    <a:pt x="78" y="0"/>
                    <a:pt x="549" y="315"/>
                    <a:pt x="87" y="42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Text Box 12">
              <a:extLst>
                <a:ext uri="{FF2B5EF4-FFF2-40B4-BE49-F238E27FC236}">
                  <a16:creationId xmlns:a16="http://schemas.microsoft.com/office/drawing/2014/main" id="{B01D87F9-D3B9-694E-886A-C09A4372D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0411" y="1290309"/>
              <a:ext cx="1704975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&amp;&amp; 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 corrupt(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||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isACK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(rcvpkt,1) )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1" name="Line 13">
              <a:extLst>
                <a:ext uri="{FF2B5EF4-FFF2-40B4-BE49-F238E27FC236}">
                  <a16:creationId xmlns:a16="http://schemas.microsoft.com/office/drawing/2014/main" id="{C888F6AB-BF4C-964C-B636-FA26DBB58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9961" y="1991984"/>
              <a:ext cx="13509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1" name="Text Box 53">
              <a:extLst>
                <a:ext uri="{FF2B5EF4-FFF2-40B4-BE49-F238E27FC236}">
                  <a16:creationId xmlns:a16="http://schemas.microsoft.com/office/drawing/2014/main" id="{8CBF020D-F9F7-8547-9CDC-153180321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6523" y="1941184"/>
              <a:ext cx="3238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F73E473-D8D9-5A4C-A7EE-F4558FFF6B0D}"/>
              </a:ext>
            </a:extLst>
          </p:cNvPr>
          <p:cNvGrpSpPr/>
          <p:nvPr/>
        </p:nvGrpSpPr>
        <p:grpSpPr>
          <a:xfrm>
            <a:off x="2775286" y="1876097"/>
            <a:ext cx="1549400" cy="890587"/>
            <a:chOff x="2775286" y="1876097"/>
            <a:chExt cx="1549400" cy="890587"/>
          </a:xfrm>
        </p:grpSpPr>
        <p:sp>
          <p:nvSpPr>
            <p:cNvPr id="99" name="Text Box 41">
              <a:extLst>
                <a:ext uri="{FF2B5EF4-FFF2-40B4-BE49-F238E27FC236}">
                  <a16:creationId xmlns:a16="http://schemas.microsoft.com/office/drawing/2014/main" id="{7500D6B3-E554-BE43-BA3B-2B5D8EDAE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5286" y="1968172"/>
              <a:ext cx="1428750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" name="Line 45">
              <a:extLst>
                <a:ext uri="{FF2B5EF4-FFF2-40B4-BE49-F238E27FC236}">
                  <a16:creationId xmlns:a16="http://schemas.microsoft.com/office/drawing/2014/main" id="{2B03FA9C-455E-7848-98B1-6FE6D8F59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2598" y="2253922"/>
              <a:ext cx="11017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Freeform 49">
              <a:extLst>
                <a:ext uri="{FF2B5EF4-FFF2-40B4-BE49-F238E27FC236}">
                  <a16:creationId xmlns:a16="http://schemas.microsoft.com/office/drawing/2014/main" id="{7A343767-85F1-3648-8F20-92F8EB9C9CB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745248" y="1876097"/>
              <a:ext cx="579438" cy="890587"/>
            </a:xfrm>
            <a:custGeom>
              <a:avLst/>
              <a:gdLst>
                <a:gd name="T0" fmla="*/ 2147483647 w 322"/>
                <a:gd name="T1" fmla="*/ 2147483647 h 483"/>
                <a:gd name="T2" fmla="*/ 0 w 322"/>
                <a:gd name="T3" fmla="*/ 2147483647 h 4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2" h="483">
                  <a:moveTo>
                    <a:pt x="31" y="120"/>
                  </a:moveTo>
                  <a:cubicBezTo>
                    <a:pt x="322" y="0"/>
                    <a:pt x="64" y="483"/>
                    <a:pt x="0" y="18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2" name="Text Box 54">
              <a:extLst>
                <a:ext uri="{FF2B5EF4-FFF2-40B4-BE49-F238E27FC236}">
                  <a16:creationId xmlns:a16="http://schemas.microsoft.com/office/drawing/2014/main" id="{1534562D-4479-5A4D-84B6-08652054F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5023" y="2217409"/>
              <a:ext cx="3238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B0F4E74-4AD1-1841-A169-2F112B1736DB}"/>
              </a:ext>
            </a:extLst>
          </p:cNvPr>
          <p:cNvGrpSpPr/>
          <p:nvPr/>
        </p:nvGrpSpPr>
        <p:grpSpPr>
          <a:xfrm>
            <a:off x="2367298" y="4307189"/>
            <a:ext cx="1973263" cy="725996"/>
            <a:chOff x="2367298" y="4307189"/>
            <a:chExt cx="1973263" cy="725996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7362BA78-E18A-7D4D-AF99-520876B19387}"/>
                </a:ext>
              </a:extLst>
            </p:cNvPr>
            <p:cNvSpPr/>
            <p:nvPr/>
          </p:nvSpPr>
          <p:spPr>
            <a:xfrm>
              <a:off x="2418382" y="4342649"/>
              <a:ext cx="769654" cy="223838"/>
            </a:xfrm>
            <a:prstGeom prst="rect">
              <a:avLst/>
            </a:prstGeom>
            <a:solidFill>
              <a:srgbClr val="FF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FED6727-6FB3-674C-AEA1-A6238E143030}"/>
                </a:ext>
              </a:extLst>
            </p:cNvPr>
            <p:cNvSpPr/>
            <p:nvPr/>
          </p:nvSpPr>
          <p:spPr>
            <a:xfrm>
              <a:off x="2418337" y="4809347"/>
              <a:ext cx="909161" cy="2238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 36">
              <a:extLst>
                <a:ext uri="{FF2B5EF4-FFF2-40B4-BE49-F238E27FC236}">
                  <a16:creationId xmlns:a16="http://schemas.microsoft.com/office/drawing/2014/main" id="{10A63C01-2F70-9440-BFFE-695DC6555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061" y="4506584"/>
              <a:ext cx="571500" cy="420688"/>
            </a:xfrm>
            <a:custGeom>
              <a:avLst/>
              <a:gdLst>
                <a:gd name="T0" fmla="*/ 2147483647 w 900"/>
                <a:gd name="T1" fmla="*/ 2147483647 h 662"/>
                <a:gd name="T2" fmla="*/ 2147483647 w 900"/>
                <a:gd name="T3" fmla="*/ 2147483647 h 66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0" h="662">
                  <a:moveTo>
                    <a:pt x="900" y="360"/>
                  </a:moveTo>
                  <a:cubicBezTo>
                    <a:pt x="171" y="662"/>
                    <a:pt x="0" y="0"/>
                    <a:pt x="825" y="1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37">
              <a:extLst>
                <a:ext uri="{FF2B5EF4-FFF2-40B4-BE49-F238E27FC236}">
                  <a16:creationId xmlns:a16="http://schemas.microsoft.com/office/drawing/2014/main" id="{E4751D98-46BF-E946-A08A-A6011C8F6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7298" y="4554209"/>
              <a:ext cx="1824038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start_timer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Text Box 38">
              <a:extLst>
                <a:ext uri="{FF2B5EF4-FFF2-40B4-BE49-F238E27FC236}">
                  <a16:creationId xmlns:a16="http://schemas.microsoft.com/office/drawing/2014/main" id="{2672D5C9-CBC9-104B-A755-475CF44C93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586" y="4307189"/>
              <a:ext cx="11144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timeout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Line 39">
              <a:extLst>
                <a:ext uri="{FF2B5EF4-FFF2-40B4-BE49-F238E27FC236}">
                  <a16:creationId xmlns:a16="http://schemas.microsoft.com/office/drawing/2014/main" id="{3544B3A0-4F92-734D-9797-12F4E1F2C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773" y="4582784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3A5F505-AA20-9E41-BC6C-D76DEB8319CC}"/>
              </a:ext>
            </a:extLst>
          </p:cNvPr>
          <p:cNvGrpSpPr/>
          <p:nvPr/>
        </p:nvGrpSpPr>
        <p:grpSpPr>
          <a:xfrm>
            <a:off x="3029286" y="4795509"/>
            <a:ext cx="1631950" cy="1428750"/>
            <a:chOff x="3029286" y="4795509"/>
            <a:chExt cx="1631950" cy="1428750"/>
          </a:xfrm>
        </p:grpSpPr>
        <p:sp>
          <p:nvSpPr>
            <p:cNvPr id="83" name="Text Box 25">
              <a:extLst>
                <a:ext uri="{FF2B5EF4-FFF2-40B4-BE49-F238E27FC236}">
                  <a16:creationId xmlns:a16="http://schemas.microsoft.com/office/drawing/2014/main" id="{811DFA52-8CA5-7E4E-AC44-4428D977D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9286" y="5155872"/>
              <a:ext cx="1622425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&amp;&amp; 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 corrupt(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||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isACK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(rcvpkt,0) )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Line 26">
              <a:extLst>
                <a:ext uri="{FF2B5EF4-FFF2-40B4-BE49-F238E27FC236}">
                  <a16:creationId xmlns:a16="http://schemas.microsoft.com/office/drawing/2014/main" id="{1EF37371-5507-6442-83AF-60C8BD73E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473" y="5881359"/>
              <a:ext cx="12541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3" name="Freeform 35">
              <a:extLst>
                <a:ext uri="{FF2B5EF4-FFF2-40B4-BE49-F238E27FC236}">
                  <a16:creationId xmlns:a16="http://schemas.microsoft.com/office/drawing/2014/main" id="{575C5970-3813-5745-B4AE-91D5DAA0F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086" y="4795509"/>
              <a:ext cx="692150" cy="631825"/>
            </a:xfrm>
            <a:custGeom>
              <a:avLst/>
              <a:gdLst>
                <a:gd name="T0" fmla="*/ 2147483647 w 436"/>
                <a:gd name="T1" fmla="*/ 2147483647 h 398"/>
                <a:gd name="T2" fmla="*/ 2147483647 w 436"/>
                <a:gd name="T3" fmla="*/ 0 h 3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6" h="398">
                  <a:moveTo>
                    <a:pt x="436" y="101"/>
                  </a:moveTo>
                  <a:cubicBezTo>
                    <a:pt x="367" y="398"/>
                    <a:pt x="0" y="31"/>
                    <a:pt x="300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3" name="Text Box 55">
              <a:extLst>
                <a:ext uri="{FF2B5EF4-FFF2-40B4-BE49-F238E27FC236}">
                  <a16:creationId xmlns:a16="http://schemas.microsoft.com/office/drawing/2014/main" id="{25E61481-833B-6040-B00D-1012EEB0C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248" y="5887709"/>
              <a:ext cx="3238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</a:p>
          </p:txBody>
        </p:sp>
      </p:grpSp>
      <p:sp>
        <p:nvSpPr>
          <p:cNvPr id="130" name="Oval 129">
            <a:extLst>
              <a:ext uri="{FF2B5EF4-FFF2-40B4-BE49-F238E27FC236}">
                <a16:creationId xmlns:a16="http://schemas.microsoft.com/office/drawing/2014/main" id="{9AA3E79A-2611-F844-92F5-7AB7F51F61A6}"/>
              </a:ext>
            </a:extLst>
          </p:cNvPr>
          <p:cNvSpPr/>
          <p:nvPr/>
        </p:nvSpPr>
        <p:spPr>
          <a:xfrm>
            <a:off x="7086600" y="2184400"/>
            <a:ext cx="914400" cy="86784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6E5B91E-BBFD-F34D-BA3F-9A04F2B92A2B}"/>
              </a:ext>
            </a:extLst>
          </p:cNvPr>
          <p:cNvSpPr/>
          <p:nvPr/>
        </p:nvSpPr>
        <p:spPr>
          <a:xfrm>
            <a:off x="7302500" y="4102100"/>
            <a:ext cx="936658" cy="8509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CD4FE554-65E6-F444-AA3B-AD082AB372FD}"/>
              </a:ext>
            </a:extLst>
          </p:cNvPr>
          <p:cNvSpPr/>
          <p:nvPr/>
        </p:nvSpPr>
        <p:spPr>
          <a:xfrm>
            <a:off x="4356100" y="4070372"/>
            <a:ext cx="914400" cy="8763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A129D4A-C779-424D-B5D4-282E5C7184B2}"/>
              </a:ext>
            </a:extLst>
          </p:cNvPr>
          <p:cNvSpPr/>
          <p:nvPr/>
        </p:nvSpPr>
        <p:spPr>
          <a:xfrm>
            <a:off x="4254500" y="2216171"/>
            <a:ext cx="952500" cy="87112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Slide Number Placeholder 2">
            <a:extLst>
              <a:ext uri="{FF2B5EF4-FFF2-40B4-BE49-F238E27FC236}">
                <a16:creationId xmlns:a16="http://schemas.microsoft.com/office/drawing/2014/main" id="{7A5F6544-E291-2540-84CA-0893797A7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84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0" grpId="1" animBg="1"/>
      <p:bldP spid="131" grpId="0" animBg="1"/>
      <p:bldP spid="131" grpId="1" animBg="1"/>
      <p:bldP spid="132" grpId="0" animBg="1"/>
      <p:bldP spid="132" grpId="1" animBg="1"/>
      <p:bldP spid="1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rdt3.0 in action</a:t>
            </a:r>
            <a:endParaRPr lang="en-US" sz="4400" dirty="0"/>
          </a:p>
        </p:txBody>
      </p:sp>
      <p:sp>
        <p:nvSpPr>
          <p:cNvPr id="197" name="Text Box 5">
            <a:extLst>
              <a:ext uri="{FF2B5EF4-FFF2-40B4-BE49-F238E27FC236}">
                <a16:creationId xmlns:a16="http://schemas.microsoft.com/office/drawing/2014/main" id="{4235D7CC-76F0-404E-861B-E1B3C4CC5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148" y="151248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sng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sender</a:t>
            </a:r>
          </a:p>
        </p:txBody>
      </p:sp>
      <p:sp>
        <p:nvSpPr>
          <p:cNvPr id="198" name="Text Box 6">
            <a:extLst>
              <a:ext uri="{FF2B5EF4-FFF2-40B4-BE49-F238E27FC236}">
                <a16:creationId xmlns:a16="http://schemas.microsoft.com/office/drawing/2014/main" id="{953F5FAC-08AE-194D-B2CE-9B6B600D3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136" y="1507725"/>
            <a:ext cx="1071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sng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</a:t>
            </a:r>
          </a:p>
        </p:txBody>
      </p:sp>
      <p:sp>
        <p:nvSpPr>
          <p:cNvPr id="199" name="Text Box 8">
            <a:extLst>
              <a:ext uri="{FF2B5EF4-FFF2-40B4-BE49-F238E27FC236}">
                <a16:creationId xmlns:a16="http://schemas.microsoft.com/office/drawing/2014/main" id="{2DF62C54-7EE2-504E-9ED2-FD3BAEEBE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311" y="3131737"/>
            <a:ext cx="1000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pkt1</a:t>
            </a:r>
          </a:p>
        </p:txBody>
      </p:sp>
      <p:sp>
        <p:nvSpPr>
          <p:cNvPr id="200" name="Text Box 10">
            <a:extLst>
              <a:ext uri="{FF2B5EF4-FFF2-40B4-BE49-F238E27FC236}">
                <a16:creationId xmlns:a16="http://schemas.microsoft.com/office/drawing/2014/main" id="{F5B1E309-F4E4-3E42-B8AD-EA1C2D480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2661" y="3987400"/>
            <a:ext cx="1000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pkt0</a:t>
            </a:r>
          </a:p>
        </p:txBody>
      </p:sp>
      <p:sp>
        <p:nvSpPr>
          <p:cNvPr id="201" name="Text Box 11">
            <a:extLst>
              <a:ext uri="{FF2B5EF4-FFF2-40B4-BE49-F238E27FC236}">
                <a16:creationId xmlns:a16="http://schemas.microsoft.com/office/drawing/2014/main" id="{74D64A46-9479-E449-9C31-02C5EA831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9486" y="2445937"/>
            <a:ext cx="1196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ack0</a:t>
            </a:r>
          </a:p>
        </p:txBody>
      </p:sp>
      <p:sp>
        <p:nvSpPr>
          <p:cNvPr id="202" name="Text Box 12">
            <a:extLst>
              <a:ext uri="{FF2B5EF4-FFF2-40B4-BE49-F238E27FC236}">
                <a16:creationId xmlns:a16="http://schemas.microsoft.com/office/drawing/2014/main" id="{FBDCC4E2-EF23-6A40-BE13-E84BE9B5B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311" y="3357162"/>
            <a:ext cx="1196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ack1</a:t>
            </a:r>
          </a:p>
        </p:txBody>
      </p:sp>
      <p:sp>
        <p:nvSpPr>
          <p:cNvPr id="203" name="Text Box 13">
            <a:extLst>
              <a:ext uri="{FF2B5EF4-FFF2-40B4-BE49-F238E27FC236}">
                <a16:creationId xmlns:a16="http://schemas.microsoft.com/office/drawing/2014/main" id="{CF703E46-2D8D-D04C-903D-4C6025839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311" y="4182662"/>
            <a:ext cx="1196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ack0</a:t>
            </a:r>
          </a:p>
        </p:txBody>
      </p:sp>
      <p:sp>
        <p:nvSpPr>
          <p:cNvPr id="204" name="Text Box 14">
            <a:extLst>
              <a:ext uri="{FF2B5EF4-FFF2-40B4-BE49-F238E27FC236}">
                <a16:creationId xmlns:a16="http://schemas.microsoft.com/office/drawing/2014/main" id="{07E7A3F6-47D9-9847-BA58-BF9687C85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1711" y="2695175"/>
            <a:ext cx="1022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ack0</a:t>
            </a:r>
          </a:p>
        </p:txBody>
      </p:sp>
      <p:sp>
        <p:nvSpPr>
          <p:cNvPr id="205" name="Text Box 15">
            <a:extLst>
              <a:ext uri="{FF2B5EF4-FFF2-40B4-BE49-F238E27FC236}">
                <a16:creationId xmlns:a16="http://schemas.microsoft.com/office/drawing/2014/main" id="{7C6243EA-A0F0-0449-95A0-3D4732927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136" y="3788962"/>
            <a:ext cx="1174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pkt0</a:t>
            </a:r>
          </a:p>
        </p:txBody>
      </p:sp>
      <p:sp>
        <p:nvSpPr>
          <p:cNvPr id="206" name="Text Box 17">
            <a:extLst>
              <a:ext uri="{FF2B5EF4-FFF2-40B4-BE49-F238E27FC236}">
                <a16:creationId xmlns:a16="http://schemas.microsoft.com/office/drawing/2014/main" id="{C58AD36B-83D7-F945-860A-84F900A59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136" y="2914250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pkt1</a:t>
            </a:r>
          </a:p>
        </p:txBody>
      </p:sp>
      <p:sp>
        <p:nvSpPr>
          <p:cNvPr id="207" name="Text Box 18">
            <a:extLst>
              <a:ext uri="{FF2B5EF4-FFF2-40B4-BE49-F238E27FC236}">
                <a16:creationId xmlns:a16="http://schemas.microsoft.com/office/drawing/2014/main" id="{095222A4-B6FD-9943-8053-5736B6B34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0598" y="3549250"/>
            <a:ext cx="1022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ack1</a:t>
            </a:r>
          </a:p>
        </p:txBody>
      </p:sp>
      <p:sp>
        <p:nvSpPr>
          <p:cNvPr id="208" name="Text Box 7">
            <a:extLst>
              <a:ext uri="{FF2B5EF4-FFF2-40B4-BE49-F238E27FC236}">
                <a16:creationId xmlns:a16="http://schemas.microsoft.com/office/drawing/2014/main" id="{6AF201BE-3F74-FC4D-95DC-C10707E5B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023" y="1952225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pkt0</a:t>
            </a:r>
          </a:p>
        </p:txBody>
      </p:sp>
      <p:sp>
        <p:nvSpPr>
          <p:cNvPr id="209" name="Text Box 9">
            <a:extLst>
              <a:ext uri="{FF2B5EF4-FFF2-40B4-BE49-F238E27FC236}">
                <a16:creationId xmlns:a16="http://schemas.microsoft.com/office/drawing/2014/main" id="{853C3A29-6F14-6A4A-ADF9-EDBEBC727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1548" y="2234800"/>
            <a:ext cx="1000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pkt0</a:t>
            </a:r>
          </a:p>
        </p:txBody>
      </p:sp>
      <p:grpSp>
        <p:nvGrpSpPr>
          <p:cNvPr id="210" name="Group 37">
            <a:extLst>
              <a:ext uri="{FF2B5EF4-FFF2-40B4-BE49-F238E27FC236}">
                <a16:creationId xmlns:a16="http://schemas.microsoft.com/office/drawing/2014/main" id="{09358D04-CB4E-924F-B392-361B873A9C36}"/>
              </a:ext>
            </a:extLst>
          </p:cNvPr>
          <p:cNvGrpSpPr>
            <a:grpSpLocks/>
          </p:cNvGrpSpPr>
          <p:nvPr/>
        </p:nvGrpSpPr>
        <p:grpSpPr bwMode="auto">
          <a:xfrm>
            <a:off x="2341048" y="2022075"/>
            <a:ext cx="1471613" cy="512762"/>
            <a:chOff x="850" y="1159"/>
            <a:chExt cx="927" cy="323"/>
          </a:xfrm>
        </p:grpSpPr>
        <p:sp>
          <p:nvSpPr>
            <p:cNvPr id="211" name="Line 19">
              <a:extLst>
                <a:ext uri="{FF2B5EF4-FFF2-40B4-BE49-F238E27FC236}">
                  <a16:creationId xmlns:a16="http://schemas.microsoft.com/office/drawing/2014/main" id="{E1536B10-88F6-7D46-8019-797777217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0" y="1257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Text Box 28">
              <a:extLst>
                <a:ext uri="{FF2B5EF4-FFF2-40B4-BE49-F238E27FC236}">
                  <a16:creationId xmlns:a16="http://schemas.microsoft.com/office/drawing/2014/main" id="{A675AD5E-AFEE-4949-B39C-59B23A449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0" y="1159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pkt0</a:t>
              </a:r>
            </a:p>
          </p:txBody>
        </p:sp>
      </p:grpSp>
      <p:grpSp>
        <p:nvGrpSpPr>
          <p:cNvPr id="213" name="Group 43">
            <a:extLst>
              <a:ext uri="{FF2B5EF4-FFF2-40B4-BE49-F238E27FC236}">
                <a16:creationId xmlns:a16="http://schemas.microsoft.com/office/drawing/2014/main" id="{166F1C07-BDF7-5D4C-9BC8-70CDD30FC5D1}"/>
              </a:ext>
            </a:extLst>
          </p:cNvPr>
          <p:cNvGrpSpPr>
            <a:grpSpLocks/>
          </p:cNvGrpSpPr>
          <p:nvPr/>
        </p:nvGrpSpPr>
        <p:grpSpPr bwMode="auto">
          <a:xfrm>
            <a:off x="2334698" y="3758800"/>
            <a:ext cx="1471613" cy="487362"/>
            <a:chOff x="846" y="2253"/>
            <a:chExt cx="927" cy="307"/>
          </a:xfrm>
        </p:grpSpPr>
        <p:sp>
          <p:nvSpPr>
            <p:cNvPr id="214" name="Line 24">
              <a:extLst>
                <a:ext uri="{FF2B5EF4-FFF2-40B4-BE49-F238E27FC236}">
                  <a16:creationId xmlns:a16="http://schemas.microsoft.com/office/drawing/2014/main" id="{65D4B99D-08A4-684C-BFAA-D46F7BDFF3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" y="2335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5" name="Text Box 29">
              <a:extLst>
                <a:ext uri="{FF2B5EF4-FFF2-40B4-BE49-F238E27FC236}">
                  <a16:creationId xmlns:a16="http://schemas.microsoft.com/office/drawing/2014/main" id="{E39C763F-76C0-A342-980A-D2DA1340B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2253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pkt0</a:t>
              </a:r>
            </a:p>
          </p:txBody>
        </p:sp>
      </p:grpSp>
      <p:grpSp>
        <p:nvGrpSpPr>
          <p:cNvPr id="216" name="Group 39">
            <a:extLst>
              <a:ext uri="{FF2B5EF4-FFF2-40B4-BE49-F238E27FC236}">
                <a16:creationId xmlns:a16="http://schemas.microsoft.com/office/drawing/2014/main" id="{E7B3DCA6-7A30-6E4A-B749-D291EA9179F9}"/>
              </a:ext>
            </a:extLst>
          </p:cNvPr>
          <p:cNvGrpSpPr>
            <a:grpSpLocks/>
          </p:cNvGrpSpPr>
          <p:nvPr/>
        </p:nvGrpSpPr>
        <p:grpSpPr bwMode="auto">
          <a:xfrm>
            <a:off x="2348986" y="2896787"/>
            <a:ext cx="1471612" cy="504825"/>
            <a:chOff x="855" y="1710"/>
            <a:chExt cx="927" cy="318"/>
          </a:xfrm>
        </p:grpSpPr>
        <p:sp>
          <p:nvSpPr>
            <p:cNvPr id="217" name="Line 23">
              <a:extLst>
                <a:ext uri="{FF2B5EF4-FFF2-40B4-BE49-F238E27FC236}">
                  <a16:creationId xmlns:a16="http://schemas.microsoft.com/office/drawing/2014/main" id="{F48A2643-A8C6-1A4D-95B1-E19CDFD69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Text Box 30">
              <a:extLst>
                <a:ext uri="{FF2B5EF4-FFF2-40B4-BE49-F238E27FC236}">
                  <a16:creationId xmlns:a16="http://schemas.microsoft.com/office/drawing/2014/main" id="{7B926EE6-52D5-3840-851B-CF35806F0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pkt1</a:t>
              </a:r>
            </a:p>
          </p:txBody>
        </p:sp>
      </p:grpSp>
      <p:grpSp>
        <p:nvGrpSpPr>
          <p:cNvPr id="219" name="Group 40">
            <a:extLst>
              <a:ext uri="{FF2B5EF4-FFF2-40B4-BE49-F238E27FC236}">
                <a16:creationId xmlns:a16="http://schemas.microsoft.com/office/drawing/2014/main" id="{A3009243-363B-554D-BAFE-7119F17A8E3E}"/>
              </a:ext>
            </a:extLst>
          </p:cNvPr>
          <p:cNvGrpSpPr>
            <a:grpSpLocks/>
          </p:cNvGrpSpPr>
          <p:nvPr/>
        </p:nvGrpSpPr>
        <p:grpSpPr bwMode="auto">
          <a:xfrm>
            <a:off x="2334698" y="3361925"/>
            <a:ext cx="1471613" cy="471487"/>
            <a:chOff x="846" y="2003"/>
            <a:chExt cx="927" cy="297"/>
          </a:xfrm>
        </p:grpSpPr>
        <p:sp>
          <p:nvSpPr>
            <p:cNvPr id="220" name="Line 26">
              <a:extLst>
                <a:ext uri="{FF2B5EF4-FFF2-40B4-BE49-F238E27FC236}">
                  <a16:creationId xmlns:a16="http://schemas.microsoft.com/office/drawing/2014/main" id="{D3AA85D2-AF11-984A-9EAB-8E45BC868F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6" y="2075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1" name="Text Box 31">
              <a:extLst>
                <a:ext uri="{FF2B5EF4-FFF2-40B4-BE49-F238E27FC236}">
                  <a16:creationId xmlns:a16="http://schemas.microsoft.com/office/drawing/2014/main" id="{7037D874-E673-BB42-9499-C5B48BC33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2003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ack1</a:t>
              </a:r>
            </a:p>
          </p:txBody>
        </p:sp>
      </p:grpSp>
      <p:grpSp>
        <p:nvGrpSpPr>
          <p:cNvPr id="222" name="Group 38">
            <a:extLst>
              <a:ext uri="{FF2B5EF4-FFF2-40B4-BE49-F238E27FC236}">
                <a16:creationId xmlns:a16="http://schemas.microsoft.com/office/drawing/2014/main" id="{132C8471-3B30-C44D-B74D-246FC786F37F}"/>
              </a:ext>
            </a:extLst>
          </p:cNvPr>
          <p:cNvGrpSpPr>
            <a:grpSpLocks/>
          </p:cNvGrpSpPr>
          <p:nvPr/>
        </p:nvGrpSpPr>
        <p:grpSpPr bwMode="auto">
          <a:xfrm>
            <a:off x="2326761" y="2522137"/>
            <a:ext cx="1471612" cy="455613"/>
            <a:chOff x="841" y="1474"/>
            <a:chExt cx="927" cy="287"/>
          </a:xfrm>
        </p:grpSpPr>
        <p:sp>
          <p:nvSpPr>
            <p:cNvPr id="223" name="Line 25">
              <a:extLst>
                <a:ext uri="{FF2B5EF4-FFF2-40B4-BE49-F238E27FC236}">
                  <a16:creationId xmlns:a16="http://schemas.microsoft.com/office/drawing/2014/main" id="{6959994A-0B95-094C-9702-6ACA4337EA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1" y="153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4" name="Text Box 32">
              <a:extLst>
                <a:ext uri="{FF2B5EF4-FFF2-40B4-BE49-F238E27FC236}">
                  <a16:creationId xmlns:a16="http://schemas.microsoft.com/office/drawing/2014/main" id="{DCF9302E-EEF0-B04C-A3CA-B6C1A0083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1474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ack0</a:t>
              </a:r>
            </a:p>
          </p:txBody>
        </p:sp>
      </p:grpSp>
      <p:grpSp>
        <p:nvGrpSpPr>
          <p:cNvPr id="225" name="Group 44">
            <a:extLst>
              <a:ext uri="{FF2B5EF4-FFF2-40B4-BE49-F238E27FC236}">
                <a16:creationId xmlns:a16="http://schemas.microsoft.com/office/drawing/2014/main" id="{6DBBBBE3-388C-C24B-A7D7-89C703BC089D}"/>
              </a:ext>
            </a:extLst>
          </p:cNvPr>
          <p:cNvGrpSpPr>
            <a:grpSpLocks/>
          </p:cNvGrpSpPr>
          <p:nvPr/>
        </p:nvGrpSpPr>
        <p:grpSpPr bwMode="auto">
          <a:xfrm>
            <a:off x="2320411" y="4214412"/>
            <a:ext cx="1471612" cy="461963"/>
            <a:chOff x="837" y="2540"/>
            <a:chExt cx="927" cy="291"/>
          </a:xfrm>
        </p:grpSpPr>
        <p:sp>
          <p:nvSpPr>
            <p:cNvPr id="226" name="Line 27">
              <a:extLst>
                <a:ext uri="{FF2B5EF4-FFF2-40B4-BE49-F238E27FC236}">
                  <a16:creationId xmlns:a16="http://schemas.microsoft.com/office/drawing/2014/main" id="{7E664FD8-996B-124A-B106-386F80EF50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7" y="260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7" name="Text Box 33">
              <a:extLst>
                <a:ext uri="{FF2B5EF4-FFF2-40B4-BE49-F238E27FC236}">
                  <a16:creationId xmlns:a16="http://schemas.microsoft.com/office/drawing/2014/main" id="{E9D2F746-6389-2444-A5E1-6FB42FF57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6" y="2540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ack0</a:t>
              </a:r>
            </a:p>
          </p:txBody>
        </p:sp>
      </p:grpSp>
      <p:sp>
        <p:nvSpPr>
          <p:cNvPr id="228" name="Text Box 45">
            <a:extLst>
              <a:ext uri="{FF2B5EF4-FFF2-40B4-BE49-F238E27FC236}">
                <a16:creationId xmlns:a16="http://schemas.microsoft.com/office/drawing/2014/main" id="{0A93A727-0C76-DB44-9B3D-D9D92A7DB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386" y="5293912"/>
            <a:ext cx="12525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(a) no loss</a:t>
            </a:r>
          </a:p>
        </p:txBody>
      </p:sp>
      <p:sp>
        <p:nvSpPr>
          <p:cNvPr id="229" name="Text Box 46">
            <a:extLst>
              <a:ext uri="{FF2B5EF4-FFF2-40B4-BE49-F238E27FC236}">
                <a16:creationId xmlns:a16="http://schemas.microsoft.com/office/drawing/2014/main" id="{B77F9079-0CCA-744D-9DFE-229523FF9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9959" y="146168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sng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sender</a:t>
            </a:r>
          </a:p>
        </p:txBody>
      </p:sp>
      <p:sp>
        <p:nvSpPr>
          <p:cNvPr id="230" name="Text Box 47">
            <a:extLst>
              <a:ext uri="{FF2B5EF4-FFF2-40B4-BE49-F238E27FC236}">
                <a16:creationId xmlns:a16="http://schemas.microsoft.com/office/drawing/2014/main" id="{B39810E0-29DE-BE4C-BF65-C4554F0C2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9946" y="1456925"/>
            <a:ext cx="1071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sng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</a:t>
            </a:r>
          </a:p>
        </p:txBody>
      </p:sp>
      <p:sp>
        <p:nvSpPr>
          <p:cNvPr id="231" name="Text Box 48">
            <a:extLst>
              <a:ext uri="{FF2B5EF4-FFF2-40B4-BE49-F238E27FC236}">
                <a16:creationId xmlns:a16="http://schemas.microsoft.com/office/drawing/2014/main" id="{C93070BC-AD37-CE48-8113-A42513664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1534" y="4373162"/>
            <a:ext cx="1000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pkt1</a:t>
            </a:r>
          </a:p>
        </p:txBody>
      </p:sp>
      <p:sp>
        <p:nvSpPr>
          <p:cNvPr id="232" name="Text Box 49">
            <a:extLst>
              <a:ext uri="{FF2B5EF4-FFF2-40B4-BE49-F238E27FC236}">
                <a16:creationId xmlns:a16="http://schemas.microsoft.com/office/drawing/2014/main" id="{BAC5BE6B-684D-294E-91C5-DD7058B1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9471" y="5214537"/>
            <a:ext cx="1000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pkt0</a:t>
            </a:r>
          </a:p>
        </p:txBody>
      </p:sp>
      <p:sp>
        <p:nvSpPr>
          <p:cNvPr id="233" name="Text Box 50">
            <a:extLst>
              <a:ext uri="{FF2B5EF4-FFF2-40B4-BE49-F238E27FC236}">
                <a16:creationId xmlns:a16="http://schemas.microsoft.com/office/drawing/2014/main" id="{38A95A95-ECA6-1F4F-BB93-8A237B92F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6296" y="2395137"/>
            <a:ext cx="1196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ack0</a:t>
            </a:r>
          </a:p>
        </p:txBody>
      </p:sp>
      <p:sp>
        <p:nvSpPr>
          <p:cNvPr id="234" name="Text Box 51">
            <a:extLst>
              <a:ext uri="{FF2B5EF4-FFF2-40B4-BE49-F238E27FC236}">
                <a16:creationId xmlns:a16="http://schemas.microsoft.com/office/drawing/2014/main" id="{E34E5A4F-7761-E54D-9493-85E43D4F8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3121" y="4584300"/>
            <a:ext cx="1196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ack1</a:t>
            </a:r>
          </a:p>
        </p:txBody>
      </p:sp>
      <p:sp>
        <p:nvSpPr>
          <p:cNvPr id="235" name="Text Box 52">
            <a:extLst>
              <a:ext uri="{FF2B5EF4-FFF2-40B4-BE49-F238E27FC236}">
                <a16:creationId xmlns:a16="http://schemas.microsoft.com/office/drawing/2014/main" id="{D16E11FB-EE35-2140-B6B1-8BA74CDF3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3121" y="5409800"/>
            <a:ext cx="1196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ack0</a:t>
            </a:r>
          </a:p>
        </p:txBody>
      </p:sp>
      <p:sp>
        <p:nvSpPr>
          <p:cNvPr id="236" name="Text Box 53">
            <a:extLst>
              <a:ext uri="{FF2B5EF4-FFF2-40B4-BE49-F238E27FC236}">
                <a16:creationId xmlns:a16="http://schemas.microsoft.com/office/drawing/2014/main" id="{7C3E4221-F85D-7A47-8A21-C9CAD5DD3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8521" y="2644375"/>
            <a:ext cx="1022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ack0</a:t>
            </a:r>
          </a:p>
        </p:txBody>
      </p:sp>
      <p:sp>
        <p:nvSpPr>
          <p:cNvPr id="237" name="Text Box 54">
            <a:extLst>
              <a:ext uri="{FF2B5EF4-FFF2-40B4-BE49-F238E27FC236}">
                <a16:creationId xmlns:a16="http://schemas.microsoft.com/office/drawing/2014/main" id="{5EBBB81F-0421-D749-BA75-69B429681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2946" y="5016100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pkt0</a:t>
            </a:r>
          </a:p>
        </p:txBody>
      </p:sp>
      <p:sp>
        <p:nvSpPr>
          <p:cNvPr id="238" name="Text Box 55">
            <a:extLst>
              <a:ext uri="{FF2B5EF4-FFF2-40B4-BE49-F238E27FC236}">
                <a16:creationId xmlns:a16="http://schemas.microsoft.com/office/drawing/2014/main" id="{D284D67E-01F5-D942-9024-5147EB6EC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2946" y="2863450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pkt1</a:t>
            </a:r>
          </a:p>
        </p:txBody>
      </p:sp>
      <p:sp>
        <p:nvSpPr>
          <p:cNvPr id="239" name="Text Box 56">
            <a:extLst>
              <a:ext uri="{FF2B5EF4-FFF2-40B4-BE49-F238E27FC236}">
                <a16:creationId xmlns:a16="http://schemas.microsoft.com/office/drawing/2014/main" id="{A96E3C21-E923-6641-9449-C311D5009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7409" y="4776387"/>
            <a:ext cx="1022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ack1</a:t>
            </a:r>
          </a:p>
        </p:txBody>
      </p:sp>
      <p:sp>
        <p:nvSpPr>
          <p:cNvPr id="240" name="Text Box 57">
            <a:extLst>
              <a:ext uri="{FF2B5EF4-FFF2-40B4-BE49-F238E27FC236}">
                <a16:creationId xmlns:a16="http://schemas.microsoft.com/office/drawing/2014/main" id="{B3857487-8C16-8749-B6F0-A61DA7842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1834" y="1901425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pkt0</a:t>
            </a:r>
          </a:p>
        </p:txBody>
      </p:sp>
      <p:sp>
        <p:nvSpPr>
          <p:cNvPr id="241" name="Text Box 58">
            <a:extLst>
              <a:ext uri="{FF2B5EF4-FFF2-40B4-BE49-F238E27FC236}">
                <a16:creationId xmlns:a16="http://schemas.microsoft.com/office/drawing/2014/main" id="{09BE22F1-E2C7-F840-9EDB-010AB9975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8359" y="2184000"/>
            <a:ext cx="1000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pkt0</a:t>
            </a:r>
          </a:p>
        </p:txBody>
      </p:sp>
      <p:grpSp>
        <p:nvGrpSpPr>
          <p:cNvPr id="242" name="Group 59">
            <a:extLst>
              <a:ext uri="{FF2B5EF4-FFF2-40B4-BE49-F238E27FC236}">
                <a16:creationId xmlns:a16="http://schemas.microsoft.com/office/drawing/2014/main" id="{E96023CD-98EA-4D46-A675-AEE190E94DA3}"/>
              </a:ext>
            </a:extLst>
          </p:cNvPr>
          <p:cNvGrpSpPr>
            <a:grpSpLocks/>
          </p:cNvGrpSpPr>
          <p:nvPr/>
        </p:nvGrpSpPr>
        <p:grpSpPr bwMode="auto">
          <a:xfrm>
            <a:off x="8057859" y="1971275"/>
            <a:ext cx="1471612" cy="512762"/>
            <a:chOff x="850" y="1159"/>
            <a:chExt cx="927" cy="323"/>
          </a:xfrm>
        </p:grpSpPr>
        <p:sp>
          <p:nvSpPr>
            <p:cNvPr id="243" name="Line 60">
              <a:extLst>
                <a:ext uri="{FF2B5EF4-FFF2-40B4-BE49-F238E27FC236}">
                  <a16:creationId xmlns:a16="http://schemas.microsoft.com/office/drawing/2014/main" id="{3DC88CCC-5C5E-6A40-BBC7-416C5ED63E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0" y="1257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Text Box 61">
              <a:extLst>
                <a:ext uri="{FF2B5EF4-FFF2-40B4-BE49-F238E27FC236}">
                  <a16:creationId xmlns:a16="http://schemas.microsoft.com/office/drawing/2014/main" id="{15663F65-17E3-8A4B-A7CB-12678A320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0" y="1159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pkt0</a:t>
              </a:r>
            </a:p>
          </p:txBody>
        </p:sp>
      </p:grpSp>
      <p:grpSp>
        <p:nvGrpSpPr>
          <p:cNvPr id="245" name="Group 62">
            <a:extLst>
              <a:ext uri="{FF2B5EF4-FFF2-40B4-BE49-F238E27FC236}">
                <a16:creationId xmlns:a16="http://schemas.microsoft.com/office/drawing/2014/main" id="{A3E86C2E-1598-F746-90BA-375EC32E7F63}"/>
              </a:ext>
            </a:extLst>
          </p:cNvPr>
          <p:cNvGrpSpPr>
            <a:grpSpLocks/>
          </p:cNvGrpSpPr>
          <p:nvPr/>
        </p:nvGrpSpPr>
        <p:grpSpPr bwMode="auto">
          <a:xfrm>
            <a:off x="8051509" y="4985937"/>
            <a:ext cx="1471612" cy="487363"/>
            <a:chOff x="846" y="2253"/>
            <a:chExt cx="927" cy="307"/>
          </a:xfrm>
        </p:grpSpPr>
        <p:sp>
          <p:nvSpPr>
            <p:cNvPr id="246" name="Line 63">
              <a:extLst>
                <a:ext uri="{FF2B5EF4-FFF2-40B4-BE49-F238E27FC236}">
                  <a16:creationId xmlns:a16="http://schemas.microsoft.com/office/drawing/2014/main" id="{0290E24F-CA8A-7D41-AD89-945F9061C2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" y="2335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Text Box 64">
              <a:extLst>
                <a:ext uri="{FF2B5EF4-FFF2-40B4-BE49-F238E27FC236}">
                  <a16:creationId xmlns:a16="http://schemas.microsoft.com/office/drawing/2014/main" id="{95787234-AC16-C64F-BAAF-6116E3A1C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2253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pkt0</a:t>
              </a:r>
            </a:p>
          </p:txBody>
        </p:sp>
      </p:grpSp>
      <p:grpSp>
        <p:nvGrpSpPr>
          <p:cNvPr id="248" name="Group 68">
            <a:extLst>
              <a:ext uri="{FF2B5EF4-FFF2-40B4-BE49-F238E27FC236}">
                <a16:creationId xmlns:a16="http://schemas.microsoft.com/office/drawing/2014/main" id="{8F7C7CC8-14B9-8842-9B0D-6DB644B899AA}"/>
              </a:ext>
            </a:extLst>
          </p:cNvPr>
          <p:cNvGrpSpPr>
            <a:grpSpLocks/>
          </p:cNvGrpSpPr>
          <p:nvPr/>
        </p:nvGrpSpPr>
        <p:grpSpPr bwMode="auto">
          <a:xfrm>
            <a:off x="8051509" y="4589062"/>
            <a:ext cx="1471612" cy="471488"/>
            <a:chOff x="846" y="2003"/>
            <a:chExt cx="927" cy="297"/>
          </a:xfrm>
        </p:grpSpPr>
        <p:sp>
          <p:nvSpPr>
            <p:cNvPr id="249" name="Line 69">
              <a:extLst>
                <a:ext uri="{FF2B5EF4-FFF2-40B4-BE49-F238E27FC236}">
                  <a16:creationId xmlns:a16="http://schemas.microsoft.com/office/drawing/2014/main" id="{DC51DCB8-7F03-FF43-8481-0BB950FB43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6" y="2075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Text Box 70">
              <a:extLst>
                <a:ext uri="{FF2B5EF4-FFF2-40B4-BE49-F238E27FC236}">
                  <a16:creationId xmlns:a16="http://schemas.microsoft.com/office/drawing/2014/main" id="{2CACB117-AF7D-BF48-9824-6A98B3698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2003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ack1</a:t>
              </a:r>
            </a:p>
          </p:txBody>
        </p:sp>
      </p:grpSp>
      <p:grpSp>
        <p:nvGrpSpPr>
          <p:cNvPr id="251" name="Group 71">
            <a:extLst>
              <a:ext uri="{FF2B5EF4-FFF2-40B4-BE49-F238E27FC236}">
                <a16:creationId xmlns:a16="http://schemas.microsoft.com/office/drawing/2014/main" id="{F9559054-8E07-D140-B2BF-83D78FFEDE1F}"/>
              </a:ext>
            </a:extLst>
          </p:cNvPr>
          <p:cNvGrpSpPr>
            <a:grpSpLocks/>
          </p:cNvGrpSpPr>
          <p:nvPr/>
        </p:nvGrpSpPr>
        <p:grpSpPr bwMode="auto">
          <a:xfrm>
            <a:off x="8043571" y="2471337"/>
            <a:ext cx="1471613" cy="455613"/>
            <a:chOff x="841" y="1474"/>
            <a:chExt cx="927" cy="287"/>
          </a:xfrm>
        </p:grpSpPr>
        <p:sp>
          <p:nvSpPr>
            <p:cNvPr id="252" name="Line 72">
              <a:extLst>
                <a:ext uri="{FF2B5EF4-FFF2-40B4-BE49-F238E27FC236}">
                  <a16:creationId xmlns:a16="http://schemas.microsoft.com/office/drawing/2014/main" id="{EC1868E2-1895-8348-966C-93D06CFC8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1" y="153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Text Box 73">
              <a:extLst>
                <a:ext uri="{FF2B5EF4-FFF2-40B4-BE49-F238E27FC236}">
                  <a16:creationId xmlns:a16="http://schemas.microsoft.com/office/drawing/2014/main" id="{DF711AA0-D78D-444E-9703-4A59DF126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1474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ack0</a:t>
              </a:r>
            </a:p>
          </p:txBody>
        </p:sp>
      </p:grpSp>
      <p:grpSp>
        <p:nvGrpSpPr>
          <p:cNvPr id="254" name="Group 74">
            <a:extLst>
              <a:ext uri="{FF2B5EF4-FFF2-40B4-BE49-F238E27FC236}">
                <a16:creationId xmlns:a16="http://schemas.microsoft.com/office/drawing/2014/main" id="{07374028-39C8-2B49-A708-435D85A50ED2}"/>
              </a:ext>
            </a:extLst>
          </p:cNvPr>
          <p:cNvGrpSpPr>
            <a:grpSpLocks/>
          </p:cNvGrpSpPr>
          <p:nvPr/>
        </p:nvGrpSpPr>
        <p:grpSpPr bwMode="auto">
          <a:xfrm>
            <a:off x="8037221" y="5436787"/>
            <a:ext cx="1471613" cy="466725"/>
            <a:chOff x="837" y="2537"/>
            <a:chExt cx="927" cy="294"/>
          </a:xfrm>
        </p:grpSpPr>
        <p:sp>
          <p:nvSpPr>
            <p:cNvPr id="255" name="Line 75">
              <a:extLst>
                <a:ext uri="{FF2B5EF4-FFF2-40B4-BE49-F238E27FC236}">
                  <a16:creationId xmlns:a16="http://schemas.microsoft.com/office/drawing/2014/main" id="{1B77C38B-89D8-4841-83E6-E0FE3FC2BA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7" y="260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6" name="Text Box 76">
              <a:extLst>
                <a:ext uri="{FF2B5EF4-FFF2-40B4-BE49-F238E27FC236}">
                  <a16:creationId xmlns:a16="http://schemas.microsoft.com/office/drawing/2014/main" id="{5D036972-8C50-0C4C-9765-18BFA21A4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1" y="2537"/>
              <a:ext cx="37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ack0</a:t>
              </a:r>
            </a:p>
          </p:txBody>
        </p:sp>
      </p:grpSp>
      <p:sp>
        <p:nvSpPr>
          <p:cNvPr id="257" name="Text Box 78">
            <a:extLst>
              <a:ext uri="{FF2B5EF4-FFF2-40B4-BE49-F238E27FC236}">
                <a16:creationId xmlns:a16="http://schemas.microsoft.com/office/drawing/2014/main" id="{369CE47E-1D71-7744-95BB-CAB6F57A6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0884" y="6207345"/>
            <a:ext cx="1671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(b) packet loss</a:t>
            </a:r>
          </a:p>
        </p:txBody>
      </p:sp>
      <p:grpSp>
        <p:nvGrpSpPr>
          <p:cNvPr id="258" name="Group 81">
            <a:extLst>
              <a:ext uri="{FF2B5EF4-FFF2-40B4-BE49-F238E27FC236}">
                <a16:creationId xmlns:a16="http://schemas.microsoft.com/office/drawing/2014/main" id="{58D1FC7F-D1DB-9742-BCDA-95EAEA7F7541}"/>
              </a:ext>
            </a:extLst>
          </p:cNvPr>
          <p:cNvGrpSpPr>
            <a:grpSpLocks/>
          </p:cNvGrpSpPr>
          <p:nvPr/>
        </p:nvGrpSpPr>
        <p:grpSpPr bwMode="auto">
          <a:xfrm>
            <a:off x="8065796" y="2845987"/>
            <a:ext cx="1157288" cy="738188"/>
            <a:chOff x="3726" y="1687"/>
            <a:chExt cx="729" cy="465"/>
          </a:xfrm>
        </p:grpSpPr>
        <p:sp>
          <p:nvSpPr>
            <p:cNvPr id="259" name="Line 66">
              <a:extLst>
                <a:ext uri="{FF2B5EF4-FFF2-40B4-BE49-F238E27FC236}">
                  <a16:creationId xmlns:a16="http://schemas.microsoft.com/office/drawing/2014/main" id="{8586B367-BD51-F743-AED9-6217A75B9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" y="1780"/>
              <a:ext cx="548" cy="14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0" name="Text Box 67">
              <a:extLst>
                <a:ext uri="{FF2B5EF4-FFF2-40B4-BE49-F238E27FC236}">
                  <a16:creationId xmlns:a16="http://schemas.microsoft.com/office/drawing/2014/main" id="{45395DCC-EA5A-E34D-854F-760FBAD59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5" y="1687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pkt1</a:t>
              </a:r>
            </a:p>
          </p:txBody>
        </p:sp>
        <p:sp>
          <p:nvSpPr>
            <p:cNvPr id="261" name="Text Box 79">
              <a:extLst>
                <a:ext uri="{FF2B5EF4-FFF2-40B4-BE49-F238E27FC236}">
                  <a16:creationId xmlns:a16="http://schemas.microsoft.com/office/drawing/2014/main" id="{28259E79-639E-E24B-A02E-4313B3CAB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5" y="1808"/>
              <a:ext cx="2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X</a:t>
              </a:r>
            </a:p>
          </p:txBody>
        </p:sp>
        <p:sp>
          <p:nvSpPr>
            <p:cNvPr id="262" name="Text Box 80">
              <a:extLst>
                <a:ext uri="{FF2B5EF4-FFF2-40B4-BE49-F238E27FC236}">
                  <a16:creationId xmlns:a16="http://schemas.microsoft.com/office/drawing/2014/main" id="{8928A415-686E-1940-B399-6DD126A26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6" y="1940"/>
              <a:ext cx="32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loss</a:t>
              </a:r>
            </a:p>
          </p:txBody>
        </p:sp>
      </p:grpSp>
      <p:grpSp>
        <p:nvGrpSpPr>
          <p:cNvPr id="263" name="Group 86">
            <a:extLst>
              <a:ext uri="{FF2B5EF4-FFF2-40B4-BE49-F238E27FC236}">
                <a16:creationId xmlns:a16="http://schemas.microsoft.com/office/drawing/2014/main" id="{0751228C-C56A-4145-9744-AA4B5D7B422B}"/>
              </a:ext>
            </a:extLst>
          </p:cNvPr>
          <p:cNvGrpSpPr>
            <a:grpSpLocks/>
          </p:cNvGrpSpPr>
          <p:nvPr/>
        </p:nvGrpSpPr>
        <p:grpSpPr bwMode="auto">
          <a:xfrm>
            <a:off x="7946734" y="3149200"/>
            <a:ext cx="122237" cy="1033462"/>
            <a:chOff x="3651" y="1878"/>
            <a:chExt cx="78" cy="963"/>
          </a:xfrm>
        </p:grpSpPr>
        <p:sp>
          <p:nvSpPr>
            <p:cNvPr id="264" name="Line 82">
              <a:extLst>
                <a:ext uri="{FF2B5EF4-FFF2-40B4-BE49-F238E27FC236}">
                  <a16:creationId xmlns:a16="http://schemas.microsoft.com/office/drawing/2014/main" id="{3C08A3AA-5F97-BA41-9BF4-A9FAFC6B7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879"/>
              <a:ext cx="0" cy="9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5" name="Line 84">
              <a:extLst>
                <a:ext uri="{FF2B5EF4-FFF2-40B4-BE49-F238E27FC236}">
                  <a16:creationId xmlns:a16="http://schemas.microsoft.com/office/drawing/2014/main" id="{4B808BC0-C4AA-8A47-AD7A-9C138A93A7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1878"/>
              <a:ext cx="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6" name="Line 85">
              <a:extLst>
                <a:ext uri="{FF2B5EF4-FFF2-40B4-BE49-F238E27FC236}">
                  <a16:creationId xmlns:a16="http://schemas.microsoft.com/office/drawing/2014/main" id="{2D5E6195-4AC0-E644-96BD-40B80CE7C0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2841"/>
              <a:ext cx="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67" name="Group 88">
            <a:extLst>
              <a:ext uri="{FF2B5EF4-FFF2-40B4-BE49-F238E27FC236}">
                <a16:creationId xmlns:a16="http://schemas.microsoft.com/office/drawing/2014/main" id="{932E32A0-5C3E-3046-BAAA-21A55DF9DD28}"/>
              </a:ext>
            </a:extLst>
          </p:cNvPr>
          <p:cNvGrpSpPr>
            <a:grpSpLocks/>
          </p:cNvGrpSpPr>
          <p:nvPr/>
        </p:nvGrpSpPr>
        <p:grpSpPr bwMode="auto">
          <a:xfrm>
            <a:off x="8075321" y="4138212"/>
            <a:ext cx="1471613" cy="504825"/>
            <a:chOff x="855" y="1710"/>
            <a:chExt cx="927" cy="318"/>
          </a:xfrm>
        </p:grpSpPr>
        <p:sp>
          <p:nvSpPr>
            <p:cNvPr id="268" name="Line 89">
              <a:extLst>
                <a:ext uri="{FF2B5EF4-FFF2-40B4-BE49-F238E27FC236}">
                  <a16:creationId xmlns:a16="http://schemas.microsoft.com/office/drawing/2014/main" id="{B54BB22F-1388-EC44-AB1D-26D451319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9" name="Text Box 90">
              <a:extLst>
                <a:ext uri="{FF2B5EF4-FFF2-40B4-BE49-F238E27FC236}">
                  <a16:creationId xmlns:a16="http://schemas.microsoft.com/office/drawing/2014/main" id="{0D178261-4D19-EB46-A4F7-AB511FAB3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pkt1</a:t>
              </a:r>
            </a:p>
          </p:txBody>
        </p:sp>
      </p:grpSp>
      <p:grpSp>
        <p:nvGrpSpPr>
          <p:cNvPr id="270" name="Group 92">
            <a:extLst>
              <a:ext uri="{FF2B5EF4-FFF2-40B4-BE49-F238E27FC236}">
                <a16:creationId xmlns:a16="http://schemas.microsoft.com/office/drawing/2014/main" id="{2F31B7A3-D271-8245-A7D0-64CC20F4CE34}"/>
              </a:ext>
            </a:extLst>
          </p:cNvPr>
          <p:cNvGrpSpPr>
            <a:grpSpLocks/>
          </p:cNvGrpSpPr>
          <p:nvPr/>
        </p:nvGrpSpPr>
        <p:grpSpPr bwMode="auto">
          <a:xfrm>
            <a:off x="6643396" y="3761975"/>
            <a:ext cx="1377950" cy="731837"/>
            <a:chOff x="2802" y="2348"/>
            <a:chExt cx="868" cy="461"/>
          </a:xfrm>
        </p:grpSpPr>
        <p:pic>
          <p:nvPicPr>
            <p:cNvPr id="271" name="Picture 87" descr="alarm_clock_ringing">
              <a:extLst>
                <a:ext uri="{FF2B5EF4-FFF2-40B4-BE49-F238E27FC236}">
                  <a16:creationId xmlns:a16="http://schemas.microsoft.com/office/drawing/2014/main" id="{DE9E1E05-3488-EE4B-92F6-451228ABA5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6" y="2348"/>
              <a:ext cx="275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2" name="Text Box 91">
              <a:extLst>
                <a:ext uri="{FF2B5EF4-FFF2-40B4-BE49-F238E27FC236}">
                  <a16:creationId xmlns:a16="http://schemas.microsoft.com/office/drawing/2014/main" id="{1CAC9FAC-E321-AF48-8EE2-DEA4784FF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2" y="2491"/>
              <a:ext cx="868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resend pkt1</a:t>
              </a:r>
            </a:p>
          </p:txBody>
        </p:sp>
      </p:grpSp>
      <p:sp>
        <p:nvSpPr>
          <p:cNvPr id="79" name="Slide Number Placeholder 2">
            <a:extLst>
              <a:ext uri="{FF2B5EF4-FFF2-40B4-BE49-F238E27FC236}">
                <a16:creationId xmlns:a16="http://schemas.microsoft.com/office/drawing/2014/main" id="{F263271F-70B3-0945-8ECC-7ADB54458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42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50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000"/>
                            </p:stCondLst>
                            <p:childTnLst>
                              <p:par>
                                <p:cTn id="1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500"/>
                            </p:stCondLst>
                            <p:childTnLst>
                              <p:par>
                                <p:cTn id="1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01" grpId="0"/>
      <p:bldP spid="202" grpId="0"/>
      <p:bldP spid="204" grpId="0"/>
      <p:bldP spid="205" grpId="0"/>
      <p:bldP spid="206" grpId="0"/>
      <p:bldP spid="207" grpId="0"/>
      <p:bldP spid="232" grpId="0"/>
      <p:bldP spid="233" grpId="0"/>
      <p:bldP spid="234" grpId="0"/>
      <p:bldP spid="236" grpId="0"/>
      <p:bldP spid="237" grpId="0"/>
      <p:bldP spid="238" grpId="0"/>
      <p:bldP spid="23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rdt3.0 in action</a:t>
            </a:r>
            <a:endParaRPr lang="en-US" sz="4400" dirty="0"/>
          </a:p>
        </p:txBody>
      </p:sp>
      <p:sp>
        <p:nvSpPr>
          <p:cNvPr id="195" name="Text Box 6">
            <a:extLst>
              <a:ext uri="{FF2B5EF4-FFF2-40B4-BE49-F238E27FC236}">
                <a16:creationId xmlns:a16="http://schemas.microsoft.com/office/drawing/2014/main" id="{5A635095-B168-6547-905F-EEE95C499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70" y="3116226"/>
            <a:ext cx="1000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pkt1</a:t>
            </a:r>
          </a:p>
        </p:txBody>
      </p:sp>
      <p:sp>
        <p:nvSpPr>
          <p:cNvPr id="196" name="Text Box 9">
            <a:extLst>
              <a:ext uri="{FF2B5EF4-FFF2-40B4-BE49-F238E27FC236}">
                <a16:creationId xmlns:a16="http://schemas.microsoft.com/office/drawing/2014/main" id="{1E7311AC-A147-DB41-AA1F-73BD95A39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70" y="3341651"/>
            <a:ext cx="1196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ack1</a:t>
            </a:r>
          </a:p>
        </p:txBody>
      </p:sp>
      <p:sp>
        <p:nvSpPr>
          <p:cNvPr id="273" name="Text Box 14">
            <a:extLst>
              <a:ext uri="{FF2B5EF4-FFF2-40B4-BE49-F238E27FC236}">
                <a16:creationId xmlns:a16="http://schemas.microsoft.com/office/drawing/2014/main" id="{409D0892-9C8F-2149-B834-184894F39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420" y="4532276"/>
            <a:ext cx="15684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(detect duplicate)</a:t>
            </a:r>
          </a:p>
        </p:txBody>
      </p:sp>
      <p:grpSp>
        <p:nvGrpSpPr>
          <p:cNvPr id="274" name="Group 23">
            <a:extLst>
              <a:ext uri="{FF2B5EF4-FFF2-40B4-BE49-F238E27FC236}">
                <a16:creationId xmlns:a16="http://schemas.microsoft.com/office/drawing/2014/main" id="{8D20C6C0-28A0-C246-9D35-B42FDBBFDD8A}"/>
              </a:ext>
            </a:extLst>
          </p:cNvPr>
          <p:cNvGrpSpPr>
            <a:grpSpLocks/>
          </p:cNvGrpSpPr>
          <p:nvPr/>
        </p:nvGrpSpPr>
        <p:grpSpPr bwMode="auto">
          <a:xfrm>
            <a:off x="2340033" y="2889213"/>
            <a:ext cx="1471612" cy="504825"/>
            <a:chOff x="855" y="1710"/>
            <a:chExt cx="927" cy="318"/>
          </a:xfrm>
        </p:grpSpPr>
        <p:sp>
          <p:nvSpPr>
            <p:cNvPr id="275" name="Line 24">
              <a:extLst>
                <a:ext uri="{FF2B5EF4-FFF2-40B4-BE49-F238E27FC236}">
                  <a16:creationId xmlns:a16="http://schemas.microsoft.com/office/drawing/2014/main" id="{AB2C7FF5-194E-424E-A678-F27614F6E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Text Box 25">
              <a:extLst>
                <a:ext uri="{FF2B5EF4-FFF2-40B4-BE49-F238E27FC236}">
                  <a16:creationId xmlns:a16="http://schemas.microsoft.com/office/drawing/2014/main" id="{91B56F05-73A0-CA48-A68C-D3D878B4C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pkt1</a:t>
              </a:r>
            </a:p>
          </p:txBody>
        </p:sp>
      </p:grpSp>
      <p:sp>
        <p:nvSpPr>
          <p:cNvPr id="277" name="Text Box 36">
            <a:extLst>
              <a:ext uri="{FF2B5EF4-FFF2-40B4-BE49-F238E27FC236}">
                <a16:creationId xmlns:a16="http://schemas.microsoft.com/office/drawing/2014/main" id="{A10D19C6-F703-1A41-91CC-A3820207A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608" y="150808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sng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sender</a:t>
            </a:r>
          </a:p>
        </p:txBody>
      </p:sp>
      <p:sp>
        <p:nvSpPr>
          <p:cNvPr id="278" name="Text Box 37">
            <a:extLst>
              <a:ext uri="{FF2B5EF4-FFF2-40B4-BE49-F238E27FC236}">
                <a16:creationId xmlns:a16="http://schemas.microsoft.com/office/drawing/2014/main" id="{4D23E56F-4BAF-244A-8268-3064BA9B2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595" y="1503326"/>
            <a:ext cx="1071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sng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</a:t>
            </a:r>
          </a:p>
        </p:txBody>
      </p:sp>
      <p:sp>
        <p:nvSpPr>
          <p:cNvPr id="279" name="Text Box 38">
            <a:extLst>
              <a:ext uri="{FF2B5EF4-FFF2-40B4-BE49-F238E27FC236}">
                <a16:creationId xmlns:a16="http://schemas.microsoft.com/office/drawing/2014/main" id="{BCD18C35-AE28-B84F-8B95-BD8971D6A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5295" y="4263988"/>
            <a:ext cx="1000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pkt1</a:t>
            </a:r>
          </a:p>
        </p:txBody>
      </p:sp>
      <p:sp>
        <p:nvSpPr>
          <p:cNvPr id="280" name="Text Box 39">
            <a:extLst>
              <a:ext uri="{FF2B5EF4-FFF2-40B4-BE49-F238E27FC236}">
                <a16:creationId xmlns:a16="http://schemas.microsoft.com/office/drawing/2014/main" id="{E1A9B504-FFF2-AA46-A3DC-EBAD335B4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2120" y="5260938"/>
            <a:ext cx="1000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pkt0</a:t>
            </a:r>
          </a:p>
        </p:txBody>
      </p:sp>
      <p:sp>
        <p:nvSpPr>
          <p:cNvPr id="281" name="Text Box 40">
            <a:extLst>
              <a:ext uri="{FF2B5EF4-FFF2-40B4-BE49-F238E27FC236}">
                <a16:creationId xmlns:a16="http://schemas.microsoft.com/office/drawing/2014/main" id="{A05E70F9-FA7E-6B48-AC70-41697A63C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945" y="2441538"/>
            <a:ext cx="1196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ack0</a:t>
            </a:r>
          </a:p>
        </p:txBody>
      </p:sp>
      <p:sp>
        <p:nvSpPr>
          <p:cNvPr id="282" name="Text Box 41">
            <a:extLst>
              <a:ext uri="{FF2B5EF4-FFF2-40B4-BE49-F238E27FC236}">
                <a16:creationId xmlns:a16="http://schemas.microsoft.com/office/drawing/2014/main" id="{E564A8A2-3558-EE42-9AC7-2523324BD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95" y="4686263"/>
            <a:ext cx="1196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ack1</a:t>
            </a:r>
          </a:p>
        </p:txBody>
      </p:sp>
      <p:sp>
        <p:nvSpPr>
          <p:cNvPr id="283" name="Text Box 42">
            <a:extLst>
              <a:ext uri="{FF2B5EF4-FFF2-40B4-BE49-F238E27FC236}">
                <a16:creationId xmlns:a16="http://schemas.microsoft.com/office/drawing/2014/main" id="{DEF916D1-809A-BA40-A5B1-34E2FDDEE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770" y="5456201"/>
            <a:ext cx="1196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ack0</a:t>
            </a:r>
          </a:p>
        </p:txBody>
      </p:sp>
      <p:sp>
        <p:nvSpPr>
          <p:cNvPr id="284" name="Text Box 43">
            <a:extLst>
              <a:ext uri="{FF2B5EF4-FFF2-40B4-BE49-F238E27FC236}">
                <a16:creationId xmlns:a16="http://schemas.microsoft.com/office/drawing/2014/main" id="{5231F227-2FF2-3443-8341-ED4D7B878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70" y="2690776"/>
            <a:ext cx="1022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ack0</a:t>
            </a:r>
          </a:p>
        </p:txBody>
      </p:sp>
      <p:sp>
        <p:nvSpPr>
          <p:cNvPr id="285" name="Text Box 44">
            <a:extLst>
              <a:ext uri="{FF2B5EF4-FFF2-40B4-BE49-F238E27FC236}">
                <a16:creationId xmlns:a16="http://schemas.microsoft.com/office/drawing/2014/main" id="{57F09442-8520-6346-9555-BA6B8892F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95" y="5062501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pkt0</a:t>
            </a:r>
          </a:p>
        </p:txBody>
      </p:sp>
      <p:sp>
        <p:nvSpPr>
          <p:cNvPr id="286" name="Text Box 45">
            <a:extLst>
              <a:ext uri="{FF2B5EF4-FFF2-40B4-BE49-F238E27FC236}">
                <a16:creationId xmlns:a16="http://schemas.microsoft.com/office/drawing/2014/main" id="{6246AD45-20D9-A842-8A93-203B089C2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95" y="2909851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pkt1</a:t>
            </a:r>
          </a:p>
        </p:txBody>
      </p:sp>
      <p:sp>
        <p:nvSpPr>
          <p:cNvPr id="287" name="Text Box 46">
            <a:extLst>
              <a:ext uri="{FF2B5EF4-FFF2-40B4-BE49-F238E27FC236}">
                <a16:creationId xmlns:a16="http://schemas.microsoft.com/office/drawing/2014/main" id="{B3446ADC-6E33-9A4A-8580-704E895E6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58" y="4822788"/>
            <a:ext cx="1022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ack1</a:t>
            </a:r>
          </a:p>
        </p:txBody>
      </p:sp>
      <p:sp>
        <p:nvSpPr>
          <p:cNvPr id="288" name="Text Box 47">
            <a:extLst>
              <a:ext uri="{FF2B5EF4-FFF2-40B4-BE49-F238E27FC236}">
                <a16:creationId xmlns:a16="http://schemas.microsoft.com/office/drawing/2014/main" id="{1584F6F9-F103-DA4E-8931-3BF82548B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483" y="1947826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pkt0</a:t>
            </a:r>
          </a:p>
        </p:txBody>
      </p:sp>
      <p:sp>
        <p:nvSpPr>
          <p:cNvPr id="289" name="Text Box 48">
            <a:extLst>
              <a:ext uri="{FF2B5EF4-FFF2-40B4-BE49-F238E27FC236}">
                <a16:creationId xmlns:a16="http://schemas.microsoft.com/office/drawing/2014/main" id="{383B815A-927A-6E4B-999F-39A6ADC85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1008" y="2230401"/>
            <a:ext cx="1000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pkt0</a:t>
            </a:r>
          </a:p>
        </p:txBody>
      </p:sp>
      <p:grpSp>
        <p:nvGrpSpPr>
          <p:cNvPr id="290" name="Group 49">
            <a:extLst>
              <a:ext uri="{FF2B5EF4-FFF2-40B4-BE49-F238E27FC236}">
                <a16:creationId xmlns:a16="http://schemas.microsoft.com/office/drawing/2014/main" id="{8562259A-164F-BC42-B6F5-14769677AAE8}"/>
              </a:ext>
            </a:extLst>
          </p:cNvPr>
          <p:cNvGrpSpPr>
            <a:grpSpLocks/>
          </p:cNvGrpSpPr>
          <p:nvPr/>
        </p:nvGrpSpPr>
        <p:grpSpPr bwMode="auto">
          <a:xfrm>
            <a:off x="2330508" y="2017676"/>
            <a:ext cx="1471612" cy="512762"/>
            <a:chOff x="850" y="1159"/>
            <a:chExt cx="927" cy="323"/>
          </a:xfrm>
        </p:grpSpPr>
        <p:sp>
          <p:nvSpPr>
            <p:cNvPr id="291" name="Line 50">
              <a:extLst>
                <a:ext uri="{FF2B5EF4-FFF2-40B4-BE49-F238E27FC236}">
                  <a16:creationId xmlns:a16="http://schemas.microsoft.com/office/drawing/2014/main" id="{DED07D6B-2A85-524C-803C-3B4D7CAF3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0" y="1257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2" name="Text Box 51">
              <a:extLst>
                <a:ext uri="{FF2B5EF4-FFF2-40B4-BE49-F238E27FC236}">
                  <a16:creationId xmlns:a16="http://schemas.microsoft.com/office/drawing/2014/main" id="{CD69A5B9-BD2D-004E-9C70-23F8747697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0" y="1159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pkt0</a:t>
              </a:r>
            </a:p>
          </p:txBody>
        </p:sp>
      </p:grpSp>
      <p:grpSp>
        <p:nvGrpSpPr>
          <p:cNvPr id="293" name="Group 52">
            <a:extLst>
              <a:ext uri="{FF2B5EF4-FFF2-40B4-BE49-F238E27FC236}">
                <a16:creationId xmlns:a16="http://schemas.microsoft.com/office/drawing/2014/main" id="{4B96DCED-77AA-4D43-95F9-63AB2DDBE966}"/>
              </a:ext>
            </a:extLst>
          </p:cNvPr>
          <p:cNvGrpSpPr>
            <a:grpSpLocks/>
          </p:cNvGrpSpPr>
          <p:nvPr/>
        </p:nvGrpSpPr>
        <p:grpSpPr bwMode="auto">
          <a:xfrm>
            <a:off x="2324158" y="5032338"/>
            <a:ext cx="1471612" cy="487363"/>
            <a:chOff x="846" y="2253"/>
            <a:chExt cx="927" cy="307"/>
          </a:xfrm>
        </p:grpSpPr>
        <p:sp>
          <p:nvSpPr>
            <p:cNvPr id="294" name="Line 53">
              <a:extLst>
                <a:ext uri="{FF2B5EF4-FFF2-40B4-BE49-F238E27FC236}">
                  <a16:creationId xmlns:a16="http://schemas.microsoft.com/office/drawing/2014/main" id="{AAD90053-D3F5-F24C-92AC-BBDD51806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" y="2335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5" name="Text Box 54">
              <a:extLst>
                <a:ext uri="{FF2B5EF4-FFF2-40B4-BE49-F238E27FC236}">
                  <a16:creationId xmlns:a16="http://schemas.microsoft.com/office/drawing/2014/main" id="{D8FC3F0C-42E9-D444-ACA6-A378F3C24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2253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pkt0</a:t>
              </a:r>
            </a:p>
          </p:txBody>
        </p:sp>
      </p:grpSp>
      <p:grpSp>
        <p:nvGrpSpPr>
          <p:cNvPr id="296" name="Group 55">
            <a:extLst>
              <a:ext uri="{FF2B5EF4-FFF2-40B4-BE49-F238E27FC236}">
                <a16:creationId xmlns:a16="http://schemas.microsoft.com/office/drawing/2014/main" id="{24203F03-FCBF-6540-BB8B-EC539536546D}"/>
              </a:ext>
            </a:extLst>
          </p:cNvPr>
          <p:cNvGrpSpPr>
            <a:grpSpLocks/>
          </p:cNvGrpSpPr>
          <p:nvPr/>
        </p:nvGrpSpPr>
        <p:grpSpPr bwMode="auto">
          <a:xfrm>
            <a:off x="2324158" y="4635463"/>
            <a:ext cx="1471612" cy="471488"/>
            <a:chOff x="846" y="2003"/>
            <a:chExt cx="927" cy="297"/>
          </a:xfrm>
        </p:grpSpPr>
        <p:sp>
          <p:nvSpPr>
            <p:cNvPr id="297" name="Line 56">
              <a:extLst>
                <a:ext uri="{FF2B5EF4-FFF2-40B4-BE49-F238E27FC236}">
                  <a16:creationId xmlns:a16="http://schemas.microsoft.com/office/drawing/2014/main" id="{503FC297-DE1B-4C41-A8CE-1137B0A2DB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6" y="2075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8" name="Text Box 57">
              <a:extLst>
                <a:ext uri="{FF2B5EF4-FFF2-40B4-BE49-F238E27FC236}">
                  <a16:creationId xmlns:a16="http://schemas.microsoft.com/office/drawing/2014/main" id="{8F988178-9347-4A46-8B60-8D8AF00EC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2003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ack1</a:t>
              </a:r>
            </a:p>
          </p:txBody>
        </p:sp>
      </p:grpSp>
      <p:grpSp>
        <p:nvGrpSpPr>
          <p:cNvPr id="299" name="Group 58">
            <a:extLst>
              <a:ext uri="{FF2B5EF4-FFF2-40B4-BE49-F238E27FC236}">
                <a16:creationId xmlns:a16="http://schemas.microsoft.com/office/drawing/2014/main" id="{1CE09882-0DDF-F14F-827F-637288F4016A}"/>
              </a:ext>
            </a:extLst>
          </p:cNvPr>
          <p:cNvGrpSpPr>
            <a:grpSpLocks/>
          </p:cNvGrpSpPr>
          <p:nvPr/>
        </p:nvGrpSpPr>
        <p:grpSpPr bwMode="auto">
          <a:xfrm>
            <a:off x="2316220" y="2517738"/>
            <a:ext cx="1471613" cy="455613"/>
            <a:chOff x="841" y="1474"/>
            <a:chExt cx="927" cy="287"/>
          </a:xfrm>
        </p:grpSpPr>
        <p:sp>
          <p:nvSpPr>
            <p:cNvPr id="300" name="Line 59">
              <a:extLst>
                <a:ext uri="{FF2B5EF4-FFF2-40B4-BE49-F238E27FC236}">
                  <a16:creationId xmlns:a16="http://schemas.microsoft.com/office/drawing/2014/main" id="{B7E84F08-D45F-3E4B-BF03-DAEF18A24C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1" y="153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1" name="Text Box 60">
              <a:extLst>
                <a:ext uri="{FF2B5EF4-FFF2-40B4-BE49-F238E27FC236}">
                  <a16:creationId xmlns:a16="http://schemas.microsoft.com/office/drawing/2014/main" id="{CE717B46-7D6B-DF45-A6E9-79E5D50205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1474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ack0</a:t>
              </a:r>
            </a:p>
          </p:txBody>
        </p:sp>
      </p:grpSp>
      <p:grpSp>
        <p:nvGrpSpPr>
          <p:cNvPr id="302" name="Group 61">
            <a:extLst>
              <a:ext uri="{FF2B5EF4-FFF2-40B4-BE49-F238E27FC236}">
                <a16:creationId xmlns:a16="http://schemas.microsoft.com/office/drawing/2014/main" id="{3E6AD5AC-94ED-974B-873C-94815E36AD2F}"/>
              </a:ext>
            </a:extLst>
          </p:cNvPr>
          <p:cNvGrpSpPr>
            <a:grpSpLocks/>
          </p:cNvGrpSpPr>
          <p:nvPr/>
        </p:nvGrpSpPr>
        <p:grpSpPr bwMode="auto">
          <a:xfrm>
            <a:off x="2309870" y="5487951"/>
            <a:ext cx="1471613" cy="461962"/>
            <a:chOff x="837" y="2540"/>
            <a:chExt cx="927" cy="291"/>
          </a:xfrm>
        </p:grpSpPr>
        <p:sp>
          <p:nvSpPr>
            <p:cNvPr id="303" name="Line 62">
              <a:extLst>
                <a:ext uri="{FF2B5EF4-FFF2-40B4-BE49-F238E27FC236}">
                  <a16:creationId xmlns:a16="http://schemas.microsoft.com/office/drawing/2014/main" id="{38E324B9-A111-5A40-AC68-D6C9C91F60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7" y="260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4" name="Text Box 63">
              <a:extLst>
                <a:ext uri="{FF2B5EF4-FFF2-40B4-BE49-F238E27FC236}">
                  <a16:creationId xmlns:a16="http://schemas.microsoft.com/office/drawing/2014/main" id="{7A059B4B-B11C-B640-906E-CE9430C87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6" y="2540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ack0</a:t>
              </a:r>
            </a:p>
          </p:txBody>
        </p:sp>
      </p:grpSp>
      <p:sp>
        <p:nvSpPr>
          <p:cNvPr id="305" name="Text Box 64">
            <a:extLst>
              <a:ext uri="{FF2B5EF4-FFF2-40B4-BE49-F238E27FC236}">
                <a16:creationId xmlns:a16="http://schemas.microsoft.com/office/drawing/2014/main" id="{B354EC4B-A0CC-554E-9AF4-6B26CE89E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8258" y="6200738"/>
            <a:ext cx="1393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(c) ACK loss</a:t>
            </a:r>
          </a:p>
        </p:txBody>
      </p:sp>
      <p:grpSp>
        <p:nvGrpSpPr>
          <p:cNvPr id="306" name="Group 81">
            <a:extLst>
              <a:ext uri="{FF2B5EF4-FFF2-40B4-BE49-F238E27FC236}">
                <a16:creationId xmlns:a16="http://schemas.microsoft.com/office/drawing/2014/main" id="{F0BA1E0C-D158-AD48-808B-0CA4BE37C566}"/>
              </a:ext>
            </a:extLst>
          </p:cNvPr>
          <p:cNvGrpSpPr>
            <a:grpSpLocks/>
          </p:cNvGrpSpPr>
          <p:nvPr/>
        </p:nvGrpSpPr>
        <p:grpSpPr bwMode="auto">
          <a:xfrm>
            <a:off x="2595620" y="3289263"/>
            <a:ext cx="1212850" cy="719138"/>
            <a:chOff x="1324" y="1931"/>
            <a:chExt cx="764" cy="453"/>
          </a:xfrm>
        </p:grpSpPr>
        <p:sp>
          <p:nvSpPr>
            <p:cNvPr id="307" name="Line 27">
              <a:extLst>
                <a:ext uri="{FF2B5EF4-FFF2-40B4-BE49-F238E27FC236}">
                  <a16:creationId xmlns:a16="http://schemas.microsoft.com/office/drawing/2014/main" id="{22D759EC-1570-E14E-A705-1C29B01A88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4" y="2031"/>
              <a:ext cx="574" cy="13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8" name="Text Box 28">
              <a:extLst>
                <a:ext uri="{FF2B5EF4-FFF2-40B4-BE49-F238E27FC236}">
                  <a16:creationId xmlns:a16="http://schemas.microsoft.com/office/drawing/2014/main" id="{EC8706FB-0F57-5F44-9CC9-6AD3D0C5C5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6" y="1931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ack1</a:t>
              </a:r>
            </a:p>
          </p:txBody>
        </p:sp>
        <p:sp>
          <p:nvSpPr>
            <p:cNvPr id="309" name="Text Box 68">
              <a:extLst>
                <a:ext uri="{FF2B5EF4-FFF2-40B4-BE49-F238E27FC236}">
                  <a16:creationId xmlns:a16="http://schemas.microsoft.com/office/drawing/2014/main" id="{FA39AC61-1540-1D40-8578-6A5123661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2040"/>
              <a:ext cx="2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X</a:t>
              </a:r>
            </a:p>
          </p:txBody>
        </p:sp>
        <p:sp>
          <p:nvSpPr>
            <p:cNvPr id="310" name="Text Box 69">
              <a:extLst>
                <a:ext uri="{FF2B5EF4-FFF2-40B4-BE49-F238E27FC236}">
                  <a16:creationId xmlns:a16="http://schemas.microsoft.com/office/drawing/2014/main" id="{DD1F8E52-8BD2-B048-B07C-1EE5ECD6A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2172"/>
              <a:ext cx="32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loss</a:t>
              </a:r>
            </a:p>
          </p:txBody>
        </p:sp>
      </p:grpSp>
      <p:grpSp>
        <p:nvGrpSpPr>
          <p:cNvPr id="311" name="Group 70">
            <a:extLst>
              <a:ext uri="{FF2B5EF4-FFF2-40B4-BE49-F238E27FC236}">
                <a16:creationId xmlns:a16="http://schemas.microsoft.com/office/drawing/2014/main" id="{0F4BECD0-A491-8F40-BFEC-E8C9A042D61A}"/>
              </a:ext>
            </a:extLst>
          </p:cNvPr>
          <p:cNvGrpSpPr>
            <a:grpSpLocks/>
          </p:cNvGrpSpPr>
          <p:nvPr/>
        </p:nvGrpSpPr>
        <p:grpSpPr bwMode="auto">
          <a:xfrm>
            <a:off x="2219383" y="3195601"/>
            <a:ext cx="122237" cy="1033462"/>
            <a:chOff x="3651" y="1878"/>
            <a:chExt cx="78" cy="963"/>
          </a:xfrm>
        </p:grpSpPr>
        <p:sp>
          <p:nvSpPr>
            <p:cNvPr id="312" name="Line 71">
              <a:extLst>
                <a:ext uri="{FF2B5EF4-FFF2-40B4-BE49-F238E27FC236}">
                  <a16:creationId xmlns:a16="http://schemas.microsoft.com/office/drawing/2014/main" id="{3800A286-BA79-AD44-9BC2-67E3AA25AB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879"/>
              <a:ext cx="0" cy="9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3" name="Line 72">
              <a:extLst>
                <a:ext uri="{FF2B5EF4-FFF2-40B4-BE49-F238E27FC236}">
                  <a16:creationId xmlns:a16="http://schemas.microsoft.com/office/drawing/2014/main" id="{EECA67B2-EE21-9647-A7E2-99B65DF6B8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1878"/>
              <a:ext cx="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4" name="Line 73">
              <a:extLst>
                <a:ext uri="{FF2B5EF4-FFF2-40B4-BE49-F238E27FC236}">
                  <a16:creationId xmlns:a16="http://schemas.microsoft.com/office/drawing/2014/main" id="{C7DAF5BE-8E96-1645-A520-09432F543B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2841"/>
              <a:ext cx="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5" name="Group 74">
            <a:extLst>
              <a:ext uri="{FF2B5EF4-FFF2-40B4-BE49-F238E27FC236}">
                <a16:creationId xmlns:a16="http://schemas.microsoft.com/office/drawing/2014/main" id="{1BEFF8A5-9012-6D4A-9013-3C02315FB8E9}"/>
              </a:ext>
            </a:extLst>
          </p:cNvPr>
          <p:cNvGrpSpPr>
            <a:grpSpLocks/>
          </p:cNvGrpSpPr>
          <p:nvPr/>
        </p:nvGrpSpPr>
        <p:grpSpPr bwMode="auto">
          <a:xfrm>
            <a:off x="2347970" y="4184613"/>
            <a:ext cx="1471613" cy="504825"/>
            <a:chOff x="855" y="1710"/>
            <a:chExt cx="927" cy="318"/>
          </a:xfrm>
        </p:grpSpPr>
        <p:sp>
          <p:nvSpPr>
            <p:cNvPr id="316" name="Line 75">
              <a:extLst>
                <a:ext uri="{FF2B5EF4-FFF2-40B4-BE49-F238E27FC236}">
                  <a16:creationId xmlns:a16="http://schemas.microsoft.com/office/drawing/2014/main" id="{31B804E1-5043-E048-A6C7-2C9ABAF18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7" name="Text Box 76">
              <a:extLst>
                <a:ext uri="{FF2B5EF4-FFF2-40B4-BE49-F238E27FC236}">
                  <a16:creationId xmlns:a16="http://schemas.microsoft.com/office/drawing/2014/main" id="{F8255321-E596-D34A-BD87-A23F4355F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pkt1</a:t>
              </a:r>
            </a:p>
          </p:txBody>
        </p:sp>
      </p:grpSp>
      <p:grpSp>
        <p:nvGrpSpPr>
          <p:cNvPr id="318" name="Group 77">
            <a:extLst>
              <a:ext uri="{FF2B5EF4-FFF2-40B4-BE49-F238E27FC236}">
                <a16:creationId xmlns:a16="http://schemas.microsoft.com/office/drawing/2014/main" id="{D0861418-8DD8-9E45-9C41-C33C40AF1238}"/>
              </a:ext>
            </a:extLst>
          </p:cNvPr>
          <p:cNvGrpSpPr>
            <a:grpSpLocks/>
          </p:cNvGrpSpPr>
          <p:nvPr/>
        </p:nvGrpSpPr>
        <p:grpSpPr bwMode="auto">
          <a:xfrm>
            <a:off x="916045" y="3808376"/>
            <a:ext cx="1377950" cy="731837"/>
            <a:chOff x="2802" y="2348"/>
            <a:chExt cx="868" cy="461"/>
          </a:xfrm>
        </p:grpSpPr>
        <p:pic>
          <p:nvPicPr>
            <p:cNvPr id="319" name="Picture 78" descr="alarm_clock_ringing">
              <a:extLst>
                <a:ext uri="{FF2B5EF4-FFF2-40B4-BE49-F238E27FC236}">
                  <a16:creationId xmlns:a16="http://schemas.microsoft.com/office/drawing/2014/main" id="{CA0CA6DF-4FBE-6743-93FF-E0C9F335D5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6" y="2348"/>
              <a:ext cx="275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Text Box 79">
              <a:extLst>
                <a:ext uri="{FF2B5EF4-FFF2-40B4-BE49-F238E27FC236}">
                  <a16:creationId xmlns:a16="http://schemas.microsoft.com/office/drawing/2014/main" id="{82C9EDC8-20F1-B14C-A40E-35B14CA33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2" y="2491"/>
              <a:ext cx="868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resend pkt1</a:t>
              </a:r>
            </a:p>
          </p:txBody>
        </p:sp>
      </p:grpSp>
      <p:sp>
        <p:nvSpPr>
          <p:cNvPr id="321" name="Text Box 82">
            <a:extLst>
              <a:ext uri="{FF2B5EF4-FFF2-40B4-BE49-F238E27FC236}">
                <a16:creationId xmlns:a16="http://schemas.microsoft.com/office/drawing/2014/main" id="{C3BC6622-0188-3B48-9C96-F9E517E26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2400" y="2644738"/>
            <a:ext cx="1000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pkt1</a:t>
            </a:r>
          </a:p>
        </p:txBody>
      </p:sp>
      <p:sp>
        <p:nvSpPr>
          <p:cNvPr id="322" name="Text Box 83">
            <a:extLst>
              <a:ext uri="{FF2B5EF4-FFF2-40B4-BE49-F238E27FC236}">
                <a16:creationId xmlns:a16="http://schemas.microsoft.com/office/drawing/2014/main" id="{E5238B09-CD9D-F446-B43E-64ED2305B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2400" y="2870163"/>
            <a:ext cx="1196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ack1</a:t>
            </a:r>
          </a:p>
        </p:txBody>
      </p:sp>
      <p:sp>
        <p:nvSpPr>
          <p:cNvPr id="323" name="Text Box 84">
            <a:extLst>
              <a:ext uri="{FF2B5EF4-FFF2-40B4-BE49-F238E27FC236}">
                <a16:creationId xmlns:a16="http://schemas.microsoft.com/office/drawing/2014/main" id="{E3231EF7-5B96-594B-87F0-6BCB45F9A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2963" y="4166394"/>
            <a:ext cx="15684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(detect duplicate)</a:t>
            </a:r>
          </a:p>
        </p:txBody>
      </p:sp>
      <p:grpSp>
        <p:nvGrpSpPr>
          <p:cNvPr id="324" name="Group 85">
            <a:extLst>
              <a:ext uri="{FF2B5EF4-FFF2-40B4-BE49-F238E27FC236}">
                <a16:creationId xmlns:a16="http://schemas.microsoft.com/office/drawing/2014/main" id="{66501723-D8A6-084B-9A24-1F0DB083080C}"/>
              </a:ext>
            </a:extLst>
          </p:cNvPr>
          <p:cNvGrpSpPr>
            <a:grpSpLocks/>
          </p:cNvGrpSpPr>
          <p:nvPr/>
        </p:nvGrpSpPr>
        <p:grpSpPr bwMode="auto">
          <a:xfrm>
            <a:off x="8023963" y="2517742"/>
            <a:ext cx="1471612" cy="404813"/>
            <a:chOff x="855" y="1773"/>
            <a:chExt cx="927" cy="255"/>
          </a:xfrm>
        </p:grpSpPr>
        <p:sp>
          <p:nvSpPr>
            <p:cNvPr id="325" name="Line 86">
              <a:extLst>
                <a:ext uri="{FF2B5EF4-FFF2-40B4-BE49-F238E27FC236}">
                  <a16:creationId xmlns:a16="http://schemas.microsoft.com/office/drawing/2014/main" id="{359487AF-0120-2342-A4AE-46F977FFF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6" name="Text Box 87">
              <a:extLst>
                <a:ext uri="{FF2B5EF4-FFF2-40B4-BE49-F238E27FC236}">
                  <a16:creationId xmlns:a16="http://schemas.microsoft.com/office/drawing/2014/main" id="{FFBC575A-0945-E543-9B9D-B6458E74F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1773"/>
              <a:ext cx="35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pkt1</a:t>
              </a:r>
            </a:p>
          </p:txBody>
        </p:sp>
      </p:grpSp>
      <p:sp>
        <p:nvSpPr>
          <p:cNvPr id="327" name="Text Box 88">
            <a:extLst>
              <a:ext uri="{FF2B5EF4-FFF2-40B4-BE49-F238E27FC236}">
                <a16:creationId xmlns:a16="http://schemas.microsoft.com/office/drawing/2014/main" id="{14273DE0-71B8-4647-B8BB-454BDE001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6538" y="1036601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sng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sender</a:t>
            </a:r>
          </a:p>
        </p:txBody>
      </p:sp>
      <p:sp>
        <p:nvSpPr>
          <p:cNvPr id="328" name="Text Box 89">
            <a:extLst>
              <a:ext uri="{FF2B5EF4-FFF2-40B4-BE49-F238E27FC236}">
                <a16:creationId xmlns:a16="http://schemas.microsoft.com/office/drawing/2014/main" id="{AE034630-EC82-F846-80B5-78E6A28DE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6525" y="1031838"/>
            <a:ext cx="1071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sng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</a:t>
            </a:r>
          </a:p>
        </p:txBody>
      </p:sp>
      <p:sp>
        <p:nvSpPr>
          <p:cNvPr id="329" name="Text Box 90">
            <a:extLst>
              <a:ext uri="{FF2B5EF4-FFF2-40B4-BE49-F238E27FC236}">
                <a16:creationId xmlns:a16="http://schemas.microsoft.com/office/drawing/2014/main" id="{EC7192DE-620F-2C47-A0BA-1234EA121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0155" y="3886501"/>
            <a:ext cx="1000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pkt1</a:t>
            </a:r>
          </a:p>
        </p:txBody>
      </p:sp>
      <p:sp>
        <p:nvSpPr>
          <p:cNvPr id="330" name="Text Box 92">
            <a:extLst>
              <a:ext uri="{FF2B5EF4-FFF2-40B4-BE49-F238E27FC236}">
                <a16:creationId xmlns:a16="http://schemas.microsoft.com/office/drawing/2014/main" id="{98A83875-EF54-F448-ABB1-BD64BDA4F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2875" y="1970051"/>
            <a:ext cx="1196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ack0</a:t>
            </a:r>
          </a:p>
        </p:txBody>
      </p:sp>
      <p:sp>
        <p:nvSpPr>
          <p:cNvPr id="331" name="Text Box 95">
            <a:extLst>
              <a:ext uri="{FF2B5EF4-FFF2-40B4-BE49-F238E27FC236}">
                <a16:creationId xmlns:a16="http://schemas.microsoft.com/office/drawing/2014/main" id="{37B1F438-FDEF-B347-8509-9B348C626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100" y="2219288"/>
            <a:ext cx="1022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ack0</a:t>
            </a:r>
          </a:p>
        </p:txBody>
      </p:sp>
      <p:sp>
        <p:nvSpPr>
          <p:cNvPr id="332" name="Text Box 97">
            <a:extLst>
              <a:ext uri="{FF2B5EF4-FFF2-40B4-BE49-F238E27FC236}">
                <a16:creationId xmlns:a16="http://schemas.microsoft.com/office/drawing/2014/main" id="{81910B15-5127-7D44-BEAC-A0E4CE19C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9525" y="2438363"/>
            <a:ext cx="1174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pkt1</a:t>
            </a:r>
          </a:p>
        </p:txBody>
      </p:sp>
      <p:sp>
        <p:nvSpPr>
          <p:cNvPr id="333" name="Text Box 99">
            <a:extLst>
              <a:ext uri="{FF2B5EF4-FFF2-40B4-BE49-F238E27FC236}">
                <a16:creationId xmlns:a16="http://schemas.microsoft.com/office/drawing/2014/main" id="{D1B7D9CA-3570-4040-A714-50B92DB38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8413" y="1476338"/>
            <a:ext cx="1174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 pkt0</a:t>
            </a:r>
          </a:p>
        </p:txBody>
      </p:sp>
      <p:sp>
        <p:nvSpPr>
          <p:cNvPr id="334" name="Text Box 100">
            <a:extLst>
              <a:ext uri="{FF2B5EF4-FFF2-40B4-BE49-F238E27FC236}">
                <a16:creationId xmlns:a16="http://schemas.microsoft.com/office/drawing/2014/main" id="{3B58509A-B160-2248-9833-A4B82A2ED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4938" y="1758913"/>
            <a:ext cx="1000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rcv pkt0</a:t>
            </a:r>
          </a:p>
        </p:txBody>
      </p:sp>
      <p:grpSp>
        <p:nvGrpSpPr>
          <p:cNvPr id="335" name="Group 101">
            <a:extLst>
              <a:ext uri="{FF2B5EF4-FFF2-40B4-BE49-F238E27FC236}">
                <a16:creationId xmlns:a16="http://schemas.microsoft.com/office/drawing/2014/main" id="{C65F9F6B-9C52-A645-BBA1-4B4911D27DAB}"/>
              </a:ext>
            </a:extLst>
          </p:cNvPr>
          <p:cNvGrpSpPr>
            <a:grpSpLocks/>
          </p:cNvGrpSpPr>
          <p:nvPr/>
        </p:nvGrpSpPr>
        <p:grpSpPr bwMode="auto">
          <a:xfrm>
            <a:off x="8014438" y="1658899"/>
            <a:ext cx="1471612" cy="400050"/>
            <a:chOff x="850" y="1230"/>
            <a:chExt cx="927" cy="252"/>
          </a:xfrm>
        </p:grpSpPr>
        <p:sp>
          <p:nvSpPr>
            <p:cNvPr id="336" name="Line 102">
              <a:extLst>
                <a:ext uri="{FF2B5EF4-FFF2-40B4-BE49-F238E27FC236}">
                  <a16:creationId xmlns:a16="http://schemas.microsoft.com/office/drawing/2014/main" id="{5A223C03-CC68-654E-9A77-795B0F835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0" y="1257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7" name="Text Box 103">
              <a:extLst>
                <a:ext uri="{FF2B5EF4-FFF2-40B4-BE49-F238E27FC236}">
                  <a16:creationId xmlns:a16="http://schemas.microsoft.com/office/drawing/2014/main" id="{591D93B9-CEB9-B448-93B7-CBCC3D56D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" y="1230"/>
              <a:ext cx="35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pkt0</a:t>
              </a:r>
            </a:p>
          </p:txBody>
        </p:sp>
      </p:grpSp>
      <p:grpSp>
        <p:nvGrpSpPr>
          <p:cNvPr id="338" name="Group 110">
            <a:extLst>
              <a:ext uri="{FF2B5EF4-FFF2-40B4-BE49-F238E27FC236}">
                <a16:creationId xmlns:a16="http://schemas.microsoft.com/office/drawing/2014/main" id="{5327191E-BAE7-194F-AD6B-E343DF47D015}"/>
              </a:ext>
            </a:extLst>
          </p:cNvPr>
          <p:cNvGrpSpPr>
            <a:grpSpLocks/>
          </p:cNvGrpSpPr>
          <p:nvPr/>
        </p:nvGrpSpPr>
        <p:grpSpPr bwMode="auto">
          <a:xfrm>
            <a:off x="8000150" y="2131982"/>
            <a:ext cx="1471613" cy="369888"/>
            <a:chOff x="841" y="1528"/>
            <a:chExt cx="927" cy="233"/>
          </a:xfrm>
        </p:grpSpPr>
        <p:sp>
          <p:nvSpPr>
            <p:cNvPr id="339" name="Line 111">
              <a:extLst>
                <a:ext uri="{FF2B5EF4-FFF2-40B4-BE49-F238E27FC236}">
                  <a16:creationId xmlns:a16="http://schemas.microsoft.com/office/drawing/2014/main" id="{AC100DD9-0DC5-4040-8A3A-1923DC14B2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1" y="153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Text Box 112">
              <a:extLst>
                <a:ext uri="{FF2B5EF4-FFF2-40B4-BE49-F238E27FC236}">
                  <a16:creationId xmlns:a16="http://schemas.microsoft.com/office/drawing/2014/main" id="{BD326CF1-CC46-8A42-BB2F-F6ECEEBE4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1528"/>
              <a:ext cx="386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ack0</a:t>
              </a:r>
            </a:p>
          </p:txBody>
        </p:sp>
      </p:grpSp>
      <p:sp>
        <p:nvSpPr>
          <p:cNvPr id="341" name="Text Box 116">
            <a:extLst>
              <a:ext uri="{FF2B5EF4-FFF2-40B4-BE49-F238E27FC236}">
                <a16:creationId xmlns:a16="http://schemas.microsoft.com/office/drawing/2014/main" id="{C179E490-5BA4-5340-B780-1B5B09070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100" y="6200644"/>
            <a:ext cx="3867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(d) premature timeout/ delayed ACK</a:t>
            </a:r>
          </a:p>
        </p:txBody>
      </p:sp>
      <p:grpSp>
        <p:nvGrpSpPr>
          <p:cNvPr id="342" name="Group 122">
            <a:extLst>
              <a:ext uri="{FF2B5EF4-FFF2-40B4-BE49-F238E27FC236}">
                <a16:creationId xmlns:a16="http://schemas.microsoft.com/office/drawing/2014/main" id="{688804A7-0649-2A4D-B422-8C5736350BF8}"/>
              </a:ext>
            </a:extLst>
          </p:cNvPr>
          <p:cNvGrpSpPr>
            <a:grpSpLocks/>
          </p:cNvGrpSpPr>
          <p:nvPr/>
        </p:nvGrpSpPr>
        <p:grpSpPr bwMode="auto">
          <a:xfrm>
            <a:off x="7903313" y="2724113"/>
            <a:ext cx="122237" cy="1033463"/>
            <a:chOff x="3651" y="1878"/>
            <a:chExt cx="78" cy="963"/>
          </a:xfrm>
        </p:grpSpPr>
        <p:sp>
          <p:nvSpPr>
            <p:cNvPr id="343" name="Line 123">
              <a:extLst>
                <a:ext uri="{FF2B5EF4-FFF2-40B4-BE49-F238E27FC236}">
                  <a16:creationId xmlns:a16="http://schemas.microsoft.com/office/drawing/2014/main" id="{BF323BE9-D061-6D4A-B1D7-D5E84F9BF2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879"/>
              <a:ext cx="0" cy="9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4" name="Line 124">
              <a:extLst>
                <a:ext uri="{FF2B5EF4-FFF2-40B4-BE49-F238E27FC236}">
                  <a16:creationId xmlns:a16="http://schemas.microsoft.com/office/drawing/2014/main" id="{10D5C035-1EBE-4A4B-B8F1-CF66C5C41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1878"/>
              <a:ext cx="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5" name="Line 125">
              <a:extLst>
                <a:ext uri="{FF2B5EF4-FFF2-40B4-BE49-F238E27FC236}">
                  <a16:creationId xmlns:a16="http://schemas.microsoft.com/office/drawing/2014/main" id="{0EBA7DAD-11A2-F14D-A517-3B3F7222A5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2841"/>
              <a:ext cx="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6" name="Group 126">
            <a:extLst>
              <a:ext uri="{FF2B5EF4-FFF2-40B4-BE49-F238E27FC236}">
                <a16:creationId xmlns:a16="http://schemas.microsoft.com/office/drawing/2014/main" id="{B70BA022-65A5-4B43-BE01-DB5029C7BB0A}"/>
              </a:ext>
            </a:extLst>
          </p:cNvPr>
          <p:cNvGrpSpPr>
            <a:grpSpLocks/>
          </p:cNvGrpSpPr>
          <p:nvPr/>
        </p:nvGrpSpPr>
        <p:grpSpPr bwMode="auto">
          <a:xfrm>
            <a:off x="8031900" y="3854417"/>
            <a:ext cx="1471613" cy="363538"/>
            <a:chOff x="855" y="1799"/>
            <a:chExt cx="927" cy="229"/>
          </a:xfrm>
        </p:grpSpPr>
        <p:sp>
          <p:nvSpPr>
            <p:cNvPr id="347" name="Line 127">
              <a:extLst>
                <a:ext uri="{FF2B5EF4-FFF2-40B4-BE49-F238E27FC236}">
                  <a16:creationId xmlns:a16="http://schemas.microsoft.com/office/drawing/2014/main" id="{AD191456-37D1-A040-995D-0B74A7DCA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8" name="Text Box 128">
              <a:extLst>
                <a:ext uri="{FF2B5EF4-FFF2-40B4-BE49-F238E27FC236}">
                  <a16:creationId xmlns:a16="http://schemas.microsoft.com/office/drawing/2014/main" id="{84500C9D-A61F-374E-AC7B-DB3E02621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1" y="1799"/>
              <a:ext cx="35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pkt1</a:t>
              </a:r>
            </a:p>
          </p:txBody>
        </p:sp>
      </p:grpSp>
      <p:grpSp>
        <p:nvGrpSpPr>
          <p:cNvPr id="349" name="Group 129">
            <a:extLst>
              <a:ext uri="{FF2B5EF4-FFF2-40B4-BE49-F238E27FC236}">
                <a16:creationId xmlns:a16="http://schemas.microsoft.com/office/drawing/2014/main" id="{06ADBC4E-4170-0642-9773-7507C6CC3A52}"/>
              </a:ext>
            </a:extLst>
          </p:cNvPr>
          <p:cNvGrpSpPr>
            <a:grpSpLocks/>
          </p:cNvGrpSpPr>
          <p:nvPr/>
        </p:nvGrpSpPr>
        <p:grpSpPr bwMode="auto">
          <a:xfrm>
            <a:off x="6599975" y="3336888"/>
            <a:ext cx="1377950" cy="731838"/>
            <a:chOff x="2802" y="2348"/>
            <a:chExt cx="868" cy="461"/>
          </a:xfrm>
        </p:grpSpPr>
        <p:pic>
          <p:nvPicPr>
            <p:cNvPr id="350" name="Picture 130" descr="alarm_clock_ringing">
              <a:extLst>
                <a:ext uri="{FF2B5EF4-FFF2-40B4-BE49-F238E27FC236}">
                  <a16:creationId xmlns:a16="http://schemas.microsoft.com/office/drawing/2014/main" id="{52E16AA2-A1DE-B149-8FC7-03FD3D9B1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6" y="2348"/>
              <a:ext cx="275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1" name="Text Box 131">
              <a:extLst>
                <a:ext uri="{FF2B5EF4-FFF2-40B4-BE49-F238E27FC236}">
                  <a16:creationId xmlns:a16="http://schemas.microsoft.com/office/drawing/2014/main" id="{0A05FBC0-8C50-6F4D-9F72-5369556DE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2" y="2491"/>
              <a:ext cx="868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resend pkt1</a:t>
              </a:r>
            </a:p>
          </p:txBody>
        </p:sp>
      </p:grpSp>
      <p:grpSp>
        <p:nvGrpSpPr>
          <p:cNvPr id="352" name="Group 133">
            <a:extLst>
              <a:ext uri="{FF2B5EF4-FFF2-40B4-BE49-F238E27FC236}">
                <a16:creationId xmlns:a16="http://schemas.microsoft.com/office/drawing/2014/main" id="{4FAA3600-FCAA-8B42-84D1-FB85323188F4}"/>
              </a:ext>
            </a:extLst>
          </p:cNvPr>
          <p:cNvGrpSpPr>
            <a:grpSpLocks/>
          </p:cNvGrpSpPr>
          <p:nvPr/>
        </p:nvGrpSpPr>
        <p:grpSpPr bwMode="auto">
          <a:xfrm>
            <a:off x="8580889" y="2976526"/>
            <a:ext cx="911514" cy="752475"/>
            <a:chOff x="4186" y="1705"/>
            <a:chExt cx="598" cy="453"/>
          </a:xfrm>
        </p:grpSpPr>
        <p:sp>
          <p:nvSpPr>
            <p:cNvPr id="353" name="Line 118">
              <a:extLst>
                <a:ext uri="{FF2B5EF4-FFF2-40B4-BE49-F238E27FC236}">
                  <a16:creationId xmlns:a16="http://schemas.microsoft.com/office/drawing/2014/main" id="{AE11BC12-265B-1C4B-8FAB-0FA75A29EE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3" y="1705"/>
              <a:ext cx="441" cy="329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5" name="Line 132">
              <a:extLst>
                <a:ext uri="{FF2B5EF4-FFF2-40B4-BE49-F238E27FC236}">
                  <a16:creationId xmlns:a16="http://schemas.microsoft.com/office/drawing/2014/main" id="{BFF7F0A8-A357-7748-BD1E-51A7A3E598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6" y="2047"/>
              <a:ext cx="146" cy="111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4" name="Text Box 119">
              <a:extLst>
                <a:ext uri="{FF2B5EF4-FFF2-40B4-BE49-F238E27FC236}">
                  <a16:creationId xmlns:a16="http://schemas.microsoft.com/office/drawing/2014/main" id="{D0B7F72D-FD32-8D47-B9FD-0C7A1B80B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3" y="1846"/>
              <a:ext cx="460" cy="2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ack1</a:t>
              </a:r>
            </a:p>
          </p:txBody>
        </p:sp>
      </p:grpSp>
      <p:sp>
        <p:nvSpPr>
          <p:cNvPr id="356" name="Line 136">
            <a:extLst>
              <a:ext uri="{FF2B5EF4-FFF2-40B4-BE49-F238E27FC236}">
                <a16:creationId xmlns:a16="http://schemas.microsoft.com/office/drawing/2014/main" id="{61D6DAB1-4B37-C740-BD43-4568C5241A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2363" y="3521038"/>
            <a:ext cx="909637" cy="73977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E4C24E-2B71-FB43-956D-60F8AEF3370B}"/>
              </a:ext>
            </a:extLst>
          </p:cNvPr>
          <p:cNvGrpSpPr/>
          <p:nvPr/>
        </p:nvGrpSpPr>
        <p:grpSpPr>
          <a:xfrm>
            <a:off x="8012670" y="4309460"/>
            <a:ext cx="2667702" cy="714018"/>
            <a:chOff x="8162097" y="4679496"/>
            <a:chExt cx="2667702" cy="714018"/>
          </a:xfrm>
        </p:grpSpPr>
        <p:grpSp>
          <p:nvGrpSpPr>
            <p:cNvPr id="362" name="Group 150">
              <a:extLst>
                <a:ext uri="{FF2B5EF4-FFF2-40B4-BE49-F238E27FC236}">
                  <a16:creationId xmlns:a16="http://schemas.microsoft.com/office/drawing/2014/main" id="{8A649C16-501A-A644-A5FA-AE7129DDC1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2097" y="4974413"/>
              <a:ext cx="1471613" cy="419101"/>
              <a:chOff x="2229" y="3467"/>
              <a:chExt cx="927" cy="264"/>
            </a:xfrm>
          </p:grpSpPr>
          <p:sp>
            <p:nvSpPr>
              <p:cNvPr id="382" name="Line 108">
                <a:extLst>
                  <a:ext uri="{FF2B5EF4-FFF2-40B4-BE49-F238E27FC236}">
                    <a16:creationId xmlns:a16="http://schemas.microsoft.com/office/drawing/2014/main" id="{DB733CF3-EAC6-CC4F-B21E-9FB8C5502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29" y="3467"/>
                <a:ext cx="927" cy="225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83" name="Text Box 109">
                <a:extLst>
                  <a:ext uri="{FF2B5EF4-FFF2-40B4-BE49-F238E27FC236}">
                    <a16:creationId xmlns:a16="http://schemas.microsoft.com/office/drawing/2014/main" id="{BB517B3D-28EB-8444-8C05-95403AFF54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6" y="3519"/>
                <a:ext cx="386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ack1</a:t>
                </a:r>
              </a:p>
            </p:txBody>
          </p:sp>
        </p:grpSp>
        <p:sp>
          <p:nvSpPr>
            <p:cNvPr id="358" name="Text Box 93">
              <a:extLst>
                <a:ext uri="{FF2B5EF4-FFF2-40B4-BE49-F238E27FC236}">
                  <a16:creationId xmlns:a16="http://schemas.microsoft.com/office/drawing/2014/main" id="{0A5BAC0E-26A7-304A-9845-BD850E809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32824" y="4679496"/>
              <a:ext cx="119697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ack1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1C21A72-3E29-1946-B909-D85D4A552D56}"/>
              </a:ext>
            </a:extLst>
          </p:cNvPr>
          <p:cNvGrpSpPr/>
          <p:nvPr/>
        </p:nvGrpSpPr>
        <p:grpSpPr>
          <a:xfrm>
            <a:off x="6804583" y="4153524"/>
            <a:ext cx="3833816" cy="1104906"/>
            <a:chOff x="6954010" y="4523560"/>
            <a:chExt cx="3833816" cy="1104906"/>
          </a:xfrm>
        </p:grpSpPr>
        <p:grpSp>
          <p:nvGrpSpPr>
            <p:cNvPr id="364" name="Group 137">
              <a:extLst>
                <a:ext uri="{FF2B5EF4-FFF2-40B4-BE49-F238E27FC236}">
                  <a16:creationId xmlns:a16="http://schemas.microsoft.com/office/drawing/2014/main" id="{3BF75B33-1A77-E24B-AABE-7E5C56D0D7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54010" y="4523560"/>
              <a:ext cx="1174750" cy="609601"/>
              <a:chOff x="2830" y="3285"/>
              <a:chExt cx="740" cy="384"/>
            </a:xfrm>
          </p:grpSpPr>
          <p:sp>
            <p:nvSpPr>
              <p:cNvPr id="378" name="Text Box 134">
                <a:extLst>
                  <a:ext uri="{FF2B5EF4-FFF2-40B4-BE49-F238E27FC236}">
                    <a16:creationId xmlns:a16="http://schemas.microsoft.com/office/drawing/2014/main" id="{057A15E3-B733-174D-BE7C-2996FC2619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0" y="3438"/>
                <a:ext cx="74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send pkt0</a:t>
                </a:r>
              </a:p>
            </p:txBody>
          </p:sp>
          <p:sp>
            <p:nvSpPr>
              <p:cNvPr id="379" name="Text Box 135">
                <a:extLst>
                  <a:ext uri="{FF2B5EF4-FFF2-40B4-BE49-F238E27FC236}">
                    <a16:creationId xmlns:a16="http://schemas.microsoft.com/office/drawing/2014/main" id="{D294B6DF-F9F6-C245-9C1E-7E3DCD5BFC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6" y="3285"/>
                <a:ext cx="6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rcv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 ack1</a:t>
                </a:r>
              </a:p>
            </p:txBody>
          </p:sp>
        </p:grpSp>
        <p:grpSp>
          <p:nvGrpSpPr>
            <p:cNvPr id="365" name="Group 138">
              <a:extLst>
                <a:ext uri="{FF2B5EF4-FFF2-40B4-BE49-F238E27FC236}">
                  <a16:creationId xmlns:a16="http://schemas.microsoft.com/office/drawing/2014/main" id="{CAC9BF03-EEEF-2846-B090-FAE6750AF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3197" y="4747083"/>
              <a:ext cx="1547813" cy="446403"/>
              <a:chOff x="850" y="1229"/>
              <a:chExt cx="927" cy="253"/>
            </a:xfrm>
          </p:grpSpPr>
          <p:sp>
            <p:nvSpPr>
              <p:cNvPr id="376" name="Line 139">
                <a:extLst>
                  <a:ext uri="{FF2B5EF4-FFF2-40B4-BE49-F238E27FC236}">
                    <a16:creationId xmlns:a16="http://schemas.microsoft.com/office/drawing/2014/main" id="{908F9E2B-E1F1-0444-8DD2-B8396679EF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0" y="1257"/>
                <a:ext cx="927" cy="225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7" name="Text Box 140">
                <a:extLst>
                  <a:ext uri="{FF2B5EF4-FFF2-40B4-BE49-F238E27FC236}">
                    <a16:creationId xmlns:a16="http://schemas.microsoft.com/office/drawing/2014/main" id="{74AAB4FF-F9B2-8644-9770-40F6B7F6DC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4" y="1229"/>
                <a:ext cx="340" cy="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pkt0</a:t>
                </a:r>
              </a:p>
            </p:txBody>
          </p:sp>
        </p:grpSp>
        <p:grpSp>
          <p:nvGrpSpPr>
            <p:cNvPr id="366" name="Group 142">
              <a:extLst>
                <a:ext uri="{FF2B5EF4-FFF2-40B4-BE49-F238E27FC236}">
                  <a16:creationId xmlns:a16="http://schemas.microsoft.com/office/drawing/2014/main" id="{61F81DDD-D8CA-1E44-9759-5F540FE710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82913" y="5037915"/>
              <a:ext cx="1204913" cy="590551"/>
              <a:chOff x="4762" y="2985"/>
              <a:chExt cx="759" cy="372"/>
            </a:xfrm>
          </p:grpSpPr>
          <p:sp>
            <p:nvSpPr>
              <p:cNvPr id="374" name="Text Box 143">
                <a:extLst>
                  <a:ext uri="{FF2B5EF4-FFF2-40B4-BE49-F238E27FC236}">
                    <a16:creationId xmlns:a16="http://schemas.microsoft.com/office/drawing/2014/main" id="{6C499832-2FEA-2247-A1D4-C7CE568CC4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2" y="2985"/>
                <a:ext cx="63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rcv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 pkt0</a:t>
                </a:r>
              </a:p>
            </p:txBody>
          </p:sp>
          <p:sp>
            <p:nvSpPr>
              <p:cNvPr id="375" name="Text Box 144">
                <a:extLst>
                  <a:ext uri="{FF2B5EF4-FFF2-40B4-BE49-F238E27FC236}">
                    <a16:creationId xmlns:a16="http://schemas.microsoft.com/office/drawing/2014/main" id="{23A45435-E6D5-7641-819A-FA71E59CB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7" y="3126"/>
                <a:ext cx="75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send ack0</a:t>
                </a:r>
              </a:p>
            </p:txBody>
          </p:sp>
        </p:grpSp>
      </p:grpSp>
      <p:grpSp>
        <p:nvGrpSpPr>
          <p:cNvPr id="367" name="Group 149">
            <a:extLst>
              <a:ext uri="{FF2B5EF4-FFF2-40B4-BE49-F238E27FC236}">
                <a16:creationId xmlns:a16="http://schemas.microsoft.com/office/drawing/2014/main" id="{69EE8DE9-3381-624C-9ABB-652457E2824C}"/>
              </a:ext>
            </a:extLst>
          </p:cNvPr>
          <p:cNvGrpSpPr>
            <a:grpSpLocks/>
          </p:cNvGrpSpPr>
          <p:nvPr/>
        </p:nvGrpSpPr>
        <p:grpSpPr bwMode="auto">
          <a:xfrm>
            <a:off x="8034892" y="4967903"/>
            <a:ext cx="1457325" cy="488950"/>
            <a:chOff x="3839" y="2850"/>
            <a:chExt cx="918" cy="308"/>
          </a:xfrm>
        </p:grpSpPr>
        <p:sp>
          <p:nvSpPr>
            <p:cNvPr id="372" name="Line 146">
              <a:extLst>
                <a:ext uri="{FF2B5EF4-FFF2-40B4-BE49-F238E27FC236}">
                  <a16:creationId xmlns:a16="http://schemas.microsoft.com/office/drawing/2014/main" id="{B42EE784-BAAA-7648-8C27-518F3E7EDD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9" y="2850"/>
              <a:ext cx="918" cy="30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3" name="Text Box 147">
              <a:extLst>
                <a:ext uri="{FF2B5EF4-FFF2-40B4-BE49-F238E27FC236}">
                  <a16:creationId xmlns:a16="http://schemas.microsoft.com/office/drawing/2014/main" id="{0E52013C-7BAA-344E-9018-CA884EE49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" y="2873"/>
              <a:ext cx="386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ack0</a:t>
              </a:r>
            </a:p>
          </p:txBody>
        </p:sp>
      </p:grpSp>
      <p:grpSp>
        <p:nvGrpSpPr>
          <p:cNvPr id="120" name="Group 85">
            <a:extLst>
              <a:ext uri="{FF2B5EF4-FFF2-40B4-BE49-F238E27FC236}">
                <a16:creationId xmlns:a16="http://schemas.microsoft.com/office/drawing/2014/main" id="{EF03F5C0-9E1B-6F4D-827D-841E2D21FDD8}"/>
              </a:ext>
            </a:extLst>
          </p:cNvPr>
          <p:cNvGrpSpPr>
            <a:grpSpLocks/>
          </p:cNvGrpSpPr>
          <p:nvPr/>
        </p:nvGrpSpPr>
        <p:grpSpPr bwMode="auto">
          <a:xfrm>
            <a:off x="8026461" y="5469606"/>
            <a:ext cx="1471612" cy="363538"/>
            <a:chOff x="855" y="1799"/>
            <a:chExt cx="927" cy="229"/>
          </a:xfrm>
        </p:grpSpPr>
        <p:sp>
          <p:nvSpPr>
            <p:cNvPr id="121" name="Line 86">
              <a:extLst>
                <a:ext uri="{FF2B5EF4-FFF2-40B4-BE49-F238E27FC236}">
                  <a16:creationId xmlns:a16="http://schemas.microsoft.com/office/drawing/2014/main" id="{CFBE0624-2276-5A40-AD6C-765B8E1D5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Text Box 87">
              <a:extLst>
                <a:ext uri="{FF2B5EF4-FFF2-40B4-BE49-F238E27FC236}">
                  <a16:creationId xmlns:a16="http://schemas.microsoft.com/office/drawing/2014/main" id="{6E5D70F9-C765-DD43-99D5-1E3FD4E8B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9" y="1799"/>
              <a:ext cx="35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pkt1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2D39F4C-0ABF-C94E-A0DB-A97913E78570}"/>
              </a:ext>
            </a:extLst>
          </p:cNvPr>
          <p:cNvGrpSpPr/>
          <p:nvPr/>
        </p:nvGrpSpPr>
        <p:grpSpPr>
          <a:xfrm>
            <a:off x="6993934" y="4806637"/>
            <a:ext cx="1022350" cy="553607"/>
            <a:chOff x="6289259" y="5452590"/>
            <a:chExt cx="1022350" cy="553607"/>
          </a:xfrm>
        </p:grpSpPr>
        <p:sp>
          <p:nvSpPr>
            <p:cNvPr id="359" name="Text Box 96">
              <a:extLst>
                <a:ext uri="{FF2B5EF4-FFF2-40B4-BE49-F238E27FC236}">
                  <a16:creationId xmlns:a16="http://schemas.microsoft.com/office/drawing/2014/main" id="{0B9EBE4A-F7AC-D14C-AD4E-0FA449FA9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9123" y="5698420"/>
              <a:ext cx="81945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(ignore)</a:t>
              </a:r>
            </a:p>
          </p:txBody>
        </p:sp>
        <p:sp>
          <p:nvSpPr>
            <p:cNvPr id="123" name="Text Box 98">
              <a:extLst>
                <a:ext uri="{FF2B5EF4-FFF2-40B4-BE49-F238E27FC236}">
                  <a16:creationId xmlns:a16="http://schemas.microsoft.com/office/drawing/2014/main" id="{0DE35C6C-6D99-814C-B88E-A2943030E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9259" y="5452590"/>
              <a:ext cx="10223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rcv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ack1</a:t>
              </a:r>
            </a:p>
          </p:txBody>
        </p:sp>
      </p:grpSp>
      <p:sp>
        <p:nvSpPr>
          <p:cNvPr id="113" name="Slide Number Placeholder 2">
            <a:extLst>
              <a:ext uri="{FF2B5EF4-FFF2-40B4-BE49-F238E27FC236}">
                <a16:creationId xmlns:a16="http://schemas.microsoft.com/office/drawing/2014/main" id="{7706DBAD-0F0D-AC43-90D8-C4A8FC723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81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0"/>
                            </p:stCondLst>
                            <p:childTnLst>
                              <p:par>
                                <p:cTn id="9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500"/>
                            </p:stCondLst>
                            <p:childTnLst>
                              <p:par>
                                <p:cTn id="9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500"/>
                            </p:stCondLst>
                            <p:childTnLst>
                              <p:par>
                                <p:cTn id="1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000"/>
                            </p:stCondLst>
                            <p:childTnLst>
                              <p:par>
                                <p:cTn id="1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50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500"/>
                            </p:stCondLst>
                            <p:childTnLst>
                              <p:par>
                                <p:cTn id="1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4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/>
      <p:bldP spid="273" grpId="0"/>
      <p:bldP spid="280" grpId="0"/>
      <p:bldP spid="281" grpId="0"/>
      <p:bldP spid="282" grpId="0"/>
      <p:bldP spid="284" grpId="0"/>
      <p:bldP spid="285" grpId="0"/>
      <p:bldP spid="286" grpId="0"/>
      <p:bldP spid="287" grpId="0"/>
      <p:bldP spid="322" grpId="0"/>
      <p:bldP spid="323" grpId="0"/>
      <p:bldP spid="330" grpId="0"/>
      <p:bldP spid="331" grpId="0"/>
      <p:bldP spid="3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Performance of rdt3.0 </a:t>
            </a:r>
            <a:r>
              <a:rPr lang="en-US" sz="3200" dirty="0"/>
              <a:t>(stop-and-wait)</a:t>
            </a:r>
            <a:endParaRPr lang="en-US" sz="4400" dirty="0"/>
          </a:p>
        </p:txBody>
      </p:sp>
      <p:sp>
        <p:nvSpPr>
          <p:cNvPr id="121" name="Rectangle 3">
            <a:extLst>
              <a:ext uri="{FF2B5EF4-FFF2-40B4-BE49-F238E27FC236}">
                <a16:creationId xmlns:a16="http://schemas.microsoft.com/office/drawing/2014/main" id="{FDDA46F1-23DA-904A-99AA-BA36ED7A6857}"/>
              </a:ext>
            </a:extLst>
          </p:cNvPr>
          <p:cNvSpPr txBox="1">
            <a:spLocks noChangeArrowheads="1"/>
          </p:cNvSpPr>
          <p:nvPr/>
        </p:nvSpPr>
        <p:spPr>
          <a:xfrm>
            <a:off x="870314" y="2451713"/>
            <a:ext cx="10532792" cy="1044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marR="0" lvl="0" indent="-2794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1 Gbps link, 15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prop. delay, 8000 bit packet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Rectangle 4">
            <a:extLst>
              <a:ext uri="{FF2B5EF4-FFF2-40B4-BE49-F238E27FC236}">
                <a16:creationId xmlns:a16="http://schemas.microsoft.com/office/drawing/2014/main" id="{04DE9E77-9329-F04E-A15C-5F38550FB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27" y="1472895"/>
            <a:ext cx="10752586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688975" indent="-231775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 </a:t>
            </a:r>
            <a:r>
              <a: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utilization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– fraction of time sender busy sending</a:t>
            </a:r>
          </a:p>
        </p:txBody>
      </p:sp>
      <p:grpSp>
        <p:nvGrpSpPr>
          <p:cNvPr id="125" name="Group 24">
            <a:extLst>
              <a:ext uri="{FF2B5EF4-FFF2-40B4-BE49-F238E27FC236}">
                <a16:creationId xmlns:a16="http://schemas.microsoft.com/office/drawing/2014/main" id="{276312A9-6509-DC4A-B34D-FF403C6ACCF6}"/>
              </a:ext>
            </a:extLst>
          </p:cNvPr>
          <p:cNvGrpSpPr>
            <a:grpSpLocks/>
          </p:cNvGrpSpPr>
          <p:nvPr/>
        </p:nvGrpSpPr>
        <p:grpSpPr bwMode="auto">
          <a:xfrm>
            <a:off x="1782678" y="3526869"/>
            <a:ext cx="5724525" cy="812800"/>
            <a:chOff x="137" y="1675"/>
            <a:chExt cx="3606" cy="512"/>
          </a:xfrm>
        </p:grpSpPr>
        <p:sp>
          <p:nvSpPr>
            <p:cNvPr id="126" name="Text Box 10">
              <a:extLst>
                <a:ext uri="{FF2B5EF4-FFF2-40B4-BE49-F238E27FC236}">
                  <a16:creationId xmlns:a16="http://schemas.microsoft.com/office/drawing/2014/main" id="{F8134D58-7EAB-C542-A474-3D41F6C95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" y="1795"/>
              <a:ext cx="64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</a:t>
              </a:r>
              <a:r>
                <a:rPr kumimoji="0" lang="en-US" sz="2400" b="0" i="1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trans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=</a:t>
              </a:r>
            </a:p>
          </p:txBody>
        </p:sp>
        <p:grpSp>
          <p:nvGrpSpPr>
            <p:cNvPr id="127" name="Group 14">
              <a:extLst>
                <a:ext uri="{FF2B5EF4-FFF2-40B4-BE49-F238E27FC236}">
                  <a16:creationId xmlns:a16="http://schemas.microsoft.com/office/drawing/2014/main" id="{A1CD218D-EFB4-7747-AA6F-A8CADF3189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7" y="1677"/>
              <a:ext cx="235" cy="499"/>
              <a:chOff x="155" y="2937"/>
              <a:chExt cx="235" cy="499"/>
            </a:xfrm>
          </p:grpSpPr>
          <p:sp>
            <p:nvSpPr>
              <p:cNvPr id="136" name="Text Box 11">
                <a:extLst>
                  <a:ext uri="{FF2B5EF4-FFF2-40B4-BE49-F238E27FC236}">
                    <a16:creationId xmlns:a16="http://schemas.microsoft.com/office/drawing/2014/main" id="{212B965A-7A53-E448-A951-4473C08E3F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" y="2937"/>
                <a:ext cx="19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L</a:t>
                </a:r>
              </a:p>
            </p:txBody>
          </p:sp>
          <p:sp>
            <p:nvSpPr>
              <p:cNvPr id="137" name="Text Box 12">
                <a:extLst>
                  <a:ext uri="{FF2B5EF4-FFF2-40B4-BE49-F238E27FC236}">
                    <a16:creationId xmlns:a16="http://schemas.microsoft.com/office/drawing/2014/main" id="{C0714D4B-8571-E443-B70B-3B39AC0A69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5" y="3145"/>
                <a:ext cx="2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R</a:t>
                </a:r>
              </a:p>
            </p:txBody>
          </p:sp>
          <p:sp>
            <p:nvSpPr>
              <p:cNvPr id="138" name="Line 13">
                <a:extLst>
                  <a:ext uri="{FF2B5EF4-FFF2-40B4-BE49-F238E27FC236}">
                    <a16:creationId xmlns:a16="http://schemas.microsoft.com/office/drawing/2014/main" id="{487E8E54-B689-7340-8E19-EEBA8D6E7B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" y="3192"/>
                <a:ext cx="18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28" name="Group 19">
              <a:extLst>
                <a:ext uri="{FF2B5EF4-FFF2-40B4-BE49-F238E27FC236}">
                  <a16:creationId xmlns:a16="http://schemas.microsoft.com/office/drawing/2014/main" id="{458C4EA2-733B-9843-BEDB-1D21ADD2E2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3" y="1675"/>
              <a:ext cx="1225" cy="512"/>
              <a:chOff x="1401" y="1693"/>
              <a:chExt cx="1225" cy="512"/>
            </a:xfrm>
          </p:grpSpPr>
          <p:sp>
            <p:nvSpPr>
              <p:cNvPr id="132" name="Text Box 6">
                <a:extLst>
                  <a:ext uri="{FF2B5EF4-FFF2-40B4-BE49-F238E27FC236}">
                    <a16:creationId xmlns:a16="http://schemas.microsoft.com/office/drawing/2014/main" id="{9DB04C83-679A-3C40-AE3F-F5626A9A46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5" y="1748"/>
                <a:ext cx="153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 </a:t>
                </a: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33" name="Text Box 16">
                <a:extLst>
                  <a:ext uri="{FF2B5EF4-FFF2-40B4-BE49-F238E27FC236}">
                    <a16:creationId xmlns:a16="http://schemas.microsoft.com/office/drawing/2014/main" id="{9A4E21FE-242E-F24A-8DFD-378A92E72A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3" y="1693"/>
                <a:ext cx="83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8000 bits</a:t>
                </a:r>
              </a:p>
            </p:txBody>
          </p:sp>
          <p:sp>
            <p:nvSpPr>
              <p:cNvPr id="134" name="Text Box 17">
                <a:extLst>
                  <a:ext uri="{FF2B5EF4-FFF2-40B4-BE49-F238E27FC236}">
                    <a16:creationId xmlns:a16="http://schemas.microsoft.com/office/drawing/2014/main" id="{261ED350-3F07-A542-906D-6B34A19F57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1" y="1917"/>
                <a:ext cx="1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10</a:t>
                </a:r>
                <a:r>
                  <a:rPr kumimoji="0" lang="en-US" sz="2400" b="0" i="1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9 </a:t>
                </a: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bits/sec</a:t>
                </a:r>
              </a:p>
            </p:txBody>
          </p:sp>
          <p:sp>
            <p:nvSpPr>
              <p:cNvPr id="135" name="Line 18">
                <a:extLst>
                  <a:ext uri="{FF2B5EF4-FFF2-40B4-BE49-F238E27FC236}">
                    <a16:creationId xmlns:a16="http://schemas.microsoft.com/office/drawing/2014/main" id="{EDB1D7D2-C87C-9F49-A2A1-833D85EAB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4" y="1950"/>
                <a:ext cx="9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29" name="Text Box 20">
              <a:extLst>
                <a:ext uri="{FF2B5EF4-FFF2-40B4-BE49-F238E27FC236}">
                  <a16:creationId xmlns:a16="http://schemas.microsoft.com/office/drawing/2014/main" id="{93AC931A-E76C-A440-8E87-B489914F3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" y="1789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=</a:t>
              </a:r>
            </a:p>
          </p:txBody>
        </p:sp>
        <p:sp>
          <p:nvSpPr>
            <p:cNvPr id="130" name="Text Box 22">
              <a:extLst>
                <a:ext uri="{FF2B5EF4-FFF2-40B4-BE49-F238E27FC236}">
                  <a16:creationId xmlns:a16="http://schemas.microsoft.com/office/drawing/2014/main" id="{14ADD697-C49B-F141-9DE7-07AC5BD26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9" y="1789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=</a:t>
              </a:r>
            </a:p>
          </p:txBody>
        </p:sp>
        <p:sp>
          <p:nvSpPr>
            <p:cNvPr id="131" name="Text Box 23">
              <a:extLst>
                <a:ext uri="{FF2B5EF4-FFF2-40B4-BE49-F238E27FC236}">
                  <a16:creationId xmlns:a16="http://schemas.microsoft.com/office/drawing/2014/main" id="{108AD146-F5D0-F14B-AF3A-D8ADCB55A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5" y="1777"/>
              <a:ext cx="10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8 microsecs</a:t>
              </a:r>
            </a:p>
          </p:txBody>
        </p:sp>
      </p:grpSp>
      <p:sp>
        <p:nvSpPr>
          <p:cNvPr id="20" name="Rectangle 3">
            <a:extLst>
              <a:ext uri="{FF2B5EF4-FFF2-40B4-BE49-F238E27FC236}">
                <a16:creationId xmlns:a16="http://schemas.microsoft.com/office/drawing/2014/main" id="{B3DFFB42-6FBF-BC4B-ABC2-8ADE611947F8}"/>
              </a:ext>
            </a:extLst>
          </p:cNvPr>
          <p:cNvSpPr txBox="1">
            <a:spLocks noChangeArrowheads="1"/>
          </p:cNvSpPr>
          <p:nvPr/>
        </p:nvSpPr>
        <p:spPr>
          <a:xfrm>
            <a:off x="829076" y="3163511"/>
            <a:ext cx="9723349" cy="1044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0275" marR="0" lvl="1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transmit packet into channel:</a:t>
            </a:r>
          </a:p>
        </p:txBody>
      </p: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5A944CFA-EDBD-154A-A022-BFEE848C7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03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build="p"/>
      <p:bldP spid="122" grpId="0"/>
      <p:bldP spid="2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rdt3.0: stop-and-wait operation</a:t>
            </a:r>
            <a:endParaRPr lang="en-US" sz="4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77F652-670F-A845-B285-3845722C99C1}"/>
              </a:ext>
            </a:extLst>
          </p:cNvPr>
          <p:cNvGrpSpPr/>
          <p:nvPr/>
        </p:nvGrpSpPr>
        <p:grpSpPr>
          <a:xfrm>
            <a:off x="3188111" y="1436688"/>
            <a:ext cx="8729662" cy="3249612"/>
            <a:chOff x="1660525" y="1638643"/>
            <a:chExt cx="8729662" cy="3249612"/>
          </a:xfrm>
        </p:grpSpPr>
        <p:sp>
          <p:nvSpPr>
            <p:cNvPr id="50" name="Line 3">
              <a:extLst>
                <a:ext uri="{FF2B5EF4-FFF2-40B4-BE49-F238E27FC236}">
                  <a16:creationId xmlns:a16="http://schemas.microsoft.com/office/drawing/2014/main" id="{65EF62F5-AF0F-154C-9C6E-93BB51897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4750" y="2194268"/>
              <a:ext cx="2227262" cy="9223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Text Box 4">
              <a:extLst>
                <a:ext uri="{FF2B5EF4-FFF2-40B4-BE49-F238E27FC236}">
                  <a16:creationId xmlns:a16="http://schemas.microsoft.com/office/drawing/2014/main" id="{9C568413-E7C8-034A-A01A-070E583EF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0525" y="1989480"/>
              <a:ext cx="3232150" cy="352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first packet bit transmitted, t = 0</a:t>
              </a:r>
            </a:p>
          </p:txBody>
        </p:sp>
        <p:sp>
          <p:nvSpPr>
            <p:cNvPr id="52" name="Line 5">
              <a:extLst>
                <a:ext uri="{FF2B5EF4-FFF2-40B4-BE49-F238E27FC236}">
                  <a16:creationId xmlns:a16="http://schemas.microsoft.com/office/drawing/2014/main" id="{1F5607F9-D0CE-8742-843E-05AFCDCA2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3637" y="1975193"/>
              <a:ext cx="23813" cy="29130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Line 6">
              <a:extLst>
                <a:ext uri="{FF2B5EF4-FFF2-40B4-BE49-F238E27FC236}">
                  <a16:creationId xmlns:a16="http://schemas.microsoft.com/office/drawing/2014/main" id="{D5AC1D3D-9418-5F46-82ED-FBA189A71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0900" y="1987893"/>
              <a:ext cx="22225" cy="2890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Text Box 7">
              <a:extLst>
                <a:ext uri="{FF2B5EF4-FFF2-40B4-BE49-F238E27FC236}">
                  <a16:creationId xmlns:a16="http://schemas.microsoft.com/office/drawing/2014/main" id="{1AA39350-7ADC-E840-B7FD-CAF65C7EFE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5000" y="1638643"/>
              <a:ext cx="885825" cy="350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sender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Text Box 8">
              <a:extLst>
                <a:ext uri="{FF2B5EF4-FFF2-40B4-BE49-F238E27FC236}">
                  <a16:creationId xmlns:a16="http://schemas.microsoft.com/office/drawing/2014/main" id="{388F41A8-01FA-884F-8140-E9FD1F2C6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3050" y="1638643"/>
              <a:ext cx="946150" cy="350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receiver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Line 9">
              <a:extLst>
                <a:ext uri="{FF2B5EF4-FFF2-40B4-BE49-F238E27FC236}">
                  <a16:creationId xmlns:a16="http://schemas.microsoft.com/office/drawing/2014/main" id="{4E1B3F21-B373-CA48-9AD5-5632396CB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7450" y="2189505"/>
              <a:ext cx="2190750" cy="3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" name="Line 10">
              <a:extLst>
                <a:ext uri="{FF2B5EF4-FFF2-40B4-BE49-F238E27FC236}">
                  <a16:creationId xmlns:a16="http://schemas.microsoft.com/office/drawing/2014/main" id="{89DD14FE-5B5B-3B43-8920-2EDFA30D8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2212" y="4300880"/>
              <a:ext cx="21923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Line 11">
              <a:extLst>
                <a:ext uri="{FF2B5EF4-FFF2-40B4-BE49-F238E27FC236}">
                  <a16:creationId xmlns:a16="http://schemas.microsoft.com/office/drawing/2014/main" id="{0833BE20-CC42-354E-8D97-D533E108B5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2212" y="3357905"/>
              <a:ext cx="2209800" cy="9223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Freeform 12">
              <a:extLst>
                <a:ext uri="{FF2B5EF4-FFF2-40B4-BE49-F238E27FC236}">
                  <a16:creationId xmlns:a16="http://schemas.microsoft.com/office/drawing/2014/main" id="{6DCE969D-C1B5-6B4F-8E82-11FE17209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987" y="2187918"/>
              <a:ext cx="2232025" cy="1155700"/>
            </a:xfrm>
            <a:custGeom>
              <a:avLst/>
              <a:gdLst>
                <a:gd name="T0" fmla="*/ 0 w 2902"/>
                <a:gd name="T1" fmla="*/ 0 h 1185"/>
                <a:gd name="T2" fmla="*/ 2147483647 w 2902"/>
                <a:gd name="T3" fmla="*/ 2147483647 h 1185"/>
                <a:gd name="T4" fmla="*/ 2147483647 w 2902"/>
                <a:gd name="T5" fmla="*/ 2147483647 h 1185"/>
                <a:gd name="T6" fmla="*/ 0 w 2902"/>
                <a:gd name="T7" fmla="*/ 2147483647 h 1185"/>
                <a:gd name="T8" fmla="*/ 0 w 2902"/>
                <a:gd name="T9" fmla="*/ 0 h 1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02" h="1185">
                  <a:moveTo>
                    <a:pt x="0" y="0"/>
                  </a:moveTo>
                  <a:lnTo>
                    <a:pt x="2895" y="937"/>
                  </a:lnTo>
                  <a:lnTo>
                    <a:pt x="2902" y="1185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" name="Line 13">
              <a:extLst>
                <a:ext uri="{FF2B5EF4-FFF2-40B4-BE49-F238E27FC236}">
                  <a16:creationId xmlns:a16="http://schemas.microsoft.com/office/drawing/2014/main" id="{71ECF681-371C-214F-B431-3EBF5FCA54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5525" y="2187918"/>
              <a:ext cx="1317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" name="Line 14">
              <a:extLst>
                <a:ext uri="{FF2B5EF4-FFF2-40B4-BE49-F238E27FC236}">
                  <a16:creationId xmlns:a16="http://schemas.microsoft.com/office/drawing/2014/main" id="{D5FC9E24-2362-D949-AD1B-27FDE1813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5525" y="2429218"/>
              <a:ext cx="1317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" name="Line 15">
              <a:extLst>
                <a:ext uri="{FF2B5EF4-FFF2-40B4-BE49-F238E27FC236}">
                  <a16:creationId xmlns:a16="http://schemas.microsoft.com/office/drawing/2014/main" id="{8E885B36-6DC7-A647-8328-79BA2FEF9A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6637" y="4288180"/>
              <a:ext cx="133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Text Box 16">
              <a:extLst>
                <a:ext uri="{FF2B5EF4-FFF2-40B4-BE49-F238E27FC236}">
                  <a16:creationId xmlns:a16="http://schemas.microsoft.com/office/drawing/2014/main" id="{C1807A2B-4600-F444-94CF-68DC8044B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3062" y="3161055"/>
              <a:ext cx="8477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RTT</a:t>
              </a:r>
              <a:r>
                <a: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" name="Line 17">
              <a:extLst>
                <a:ext uri="{FF2B5EF4-FFF2-40B4-BE49-F238E27FC236}">
                  <a16:creationId xmlns:a16="http://schemas.microsoft.com/office/drawing/2014/main" id="{4CA4ACE4-80D6-094A-B612-CEDFE37137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0450" y="3469030"/>
              <a:ext cx="11112" cy="811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Line 18">
              <a:extLst>
                <a:ext uri="{FF2B5EF4-FFF2-40B4-BE49-F238E27FC236}">
                  <a16:creationId xmlns:a16="http://schemas.microsoft.com/office/drawing/2014/main" id="{86419EA2-8CA9-1949-935B-FB9C7863AF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5212" y="2451443"/>
              <a:ext cx="3175" cy="7683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Line 20">
              <a:extLst>
                <a:ext uri="{FF2B5EF4-FFF2-40B4-BE49-F238E27FC236}">
                  <a16:creationId xmlns:a16="http://schemas.microsoft.com/office/drawing/2014/main" id="{F450D6B2-ED0C-2A4C-8BFC-156E65F46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88200" y="3102318"/>
              <a:ext cx="133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Text Box 21">
              <a:extLst>
                <a:ext uri="{FF2B5EF4-FFF2-40B4-BE49-F238E27FC236}">
                  <a16:creationId xmlns:a16="http://schemas.microsoft.com/office/drawing/2014/main" id="{08BE5E72-86FD-8A42-9396-059DB3F76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9162" y="2926105"/>
              <a:ext cx="242570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first packet bit arrives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Line 22">
              <a:extLst>
                <a:ext uri="{FF2B5EF4-FFF2-40B4-BE49-F238E27FC236}">
                  <a16:creationId xmlns:a16="http://schemas.microsoft.com/office/drawing/2014/main" id="{B416D5CF-1045-E44E-A7DD-0F2BA9A28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012" y="3351555"/>
              <a:ext cx="127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Text Box 23">
              <a:extLst>
                <a:ext uri="{FF2B5EF4-FFF2-40B4-BE49-F238E27FC236}">
                  <a16:creationId xmlns:a16="http://schemas.microsoft.com/office/drawing/2014/main" id="{EA1933E4-20F7-C442-A192-A24ACB88B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5512" y="3178518"/>
              <a:ext cx="3114675" cy="569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last packet bit arrives, send ACK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Text Box 24">
              <a:extLst>
                <a:ext uri="{FF2B5EF4-FFF2-40B4-BE49-F238E27FC236}">
                  <a16:creationId xmlns:a16="http://schemas.microsoft.com/office/drawing/2014/main" id="{E280E208-423C-5A4D-B4AD-4087BED29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2662" y="3961155"/>
              <a:ext cx="268605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ACK arrives, send next 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packet, </a:t>
              </a: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 = RTT + L / R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A4A7A1DD-E270-2148-B390-9D3198E6E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7450" y="4296118"/>
              <a:ext cx="1419225" cy="577850"/>
            </a:xfrm>
            <a:custGeom>
              <a:avLst/>
              <a:gdLst>
                <a:gd name="T0" fmla="*/ 0 w 1845"/>
                <a:gd name="T1" fmla="*/ 0 h 592"/>
                <a:gd name="T2" fmla="*/ 2147483647 w 1845"/>
                <a:gd name="T3" fmla="*/ 2147483647 h 592"/>
                <a:gd name="T4" fmla="*/ 2147483647 w 1845"/>
                <a:gd name="T5" fmla="*/ 2147483647 h 592"/>
                <a:gd name="T6" fmla="*/ 0 w 1845"/>
                <a:gd name="T7" fmla="*/ 2147483647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26">
              <a:extLst>
                <a:ext uri="{FF2B5EF4-FFF2-40B4-BE49-F238E27FC236}">
                  <a16:creationId xmlns:a16="http://schemas.microsoft.com/office/drawing/2014/main" id="{9CA64688-75A8-D347-9FA8-19BC93D4C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1100" y="4288180"/>
              <a:ext cx="1281112" cy="534988"/>
              <a:chOff x="12315" y="13225"/>
              <a:chExt cx="2775" cy="913"/>
            </a:xfrm>
          </p:grpSpPr>
          <p:sp>
            <p:nvSpPr>
              <p:cNvPr id="73" name="Line 27">
                <a:extLst>
                  <a:ext uri="{FF2B5EF4-FFF2-40B4-BE49-F238E27FC236}">
                    <a16:creationId xmlns:a16="http://schemas.microsoft.com/office/drawing/2014/main" id="{3615449C-C628-4A4E-8FD9-6CEA1CB5A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4" name="Line 28">
                <a:extLst>
                  <a:ext uri="{FF2B5EF4-FFF2-40B4-BE49-F238E27FC236}">
                    <a16:creationId xmlns:a16="http://schemas.microsoft.com/office/drawing/2014/main" id="{BC197F6C-E6E2-CC4F-B4CD-24052A68C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5" name="Line 29">
              <a:extLst>
                <a:ext uri="{FF2B5EF4-FFF2-40B4-BE49-F238E27FC236}">
                  <a16:creationId xmlns:a16="http://schemas.microsoft.com/office/drawing/2014/main" id="{C09632D7-180D-4B4F-9D42-55DC28E6A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1100" y="4529480"/>
              <a:ext cx="317500" cy="123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6" name="Line 30">
              <a:extLst>
                <a:ext uri="{FF2B5EF4-FFF2-40B4-BE49-F238E27FC236}">
                  <a16:creationId xmlns:a16="http://schemas.microsoft.com/office/drawing/2014/main" id="{0C325B2C-A250-0F40-9312-8A7316454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4950" y="4653305"/>
              <a:ext cx="541337" cy="2349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1" name="Slide Number Placeholder 2">
            <a:extLst>
              <a:ext uri="{FF2B5EF4-FFF2-40B4-BE49-F238E27FC236}">
                <a16:creationId xmlns:a16="http://schemas.microsoft.com/office/drawing/2014/main" id="{144B575B-9218-5E41-8DF6-C242B94C8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rdt3.0: stop-and-wait operation</a:t>
            </a:r>
            <a:endParaRPr lang="en-US" sz="4400" dirty="0"/>
          </a:p>
        </p:txBody>
      </p:sp>
      <p:sp>
        <p:nvSpPr>
          <p:cNvPr id="50" name="Line 3">
            <a:extLst>
              <a:ext uri="{FF2B5EF4-FFF2-40B4-BE49-F238E27FC236}">
                <a16:creationId xmlns:a16="http://schemas.microsoft.com/office/drawing/2014/main" id="{65EF62F5-AF0F-154C-9C6E-93BB51897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3093" y="1992313"/>
            <a:ext cx="2227262" cy="9223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Line 5">
            <a:extLst>
              <a:ext uri="{FF2B5EF4-FFF2-40B4-BE49-F238E27FC236}">
                <a16:creationId xmlns:a16="http://schemas.microsoft.com/office/drawing/2014/main" id="{1F5607F9-D0CE-8742-843E-05AFCDCA2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1980" y="1773238"/>
            <a:ext cx="23813" cy="2913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" name="Line 6">
            <a:extLst>
              <a:ext uri="{FF2B5EF4-FFF2-40B4-BE49-F238E27FC236}">
                <a16:creationId xmlns:a16="http://schemas.microsoft.com/office/drawing/2014/main" id="{D5AC1D3D-9418-5F46-82ED-FBA189A713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9243" y="1785938"/>
            <a:ext cx="22225" cy="2890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4" name="Text Box 7">
            <a:extLst>
              <a:ext uri="{FF2B5EF4-FFF2-40B4-BE49-F238E27FC236}">
                <a16:creationId xmlns:a16="http://schemas.microsoft.com/office/drawing/2014/main" id="{1AA39350-7ADC-E840-B7FD-CAF65C7EF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343" y="1436688"/>
            <a:ext cx="885825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sender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" name="Text Box 8">
            <a:extLst>
              <a:ext uri="{FF2B5EF4-FFF2-40B4-BE49-F238E27FC236}">
                <a16:creationId xmlns:a16="http://schemas.microsoft.com/office/drawing/2014/main" id="{388F41A8-01FA-884F-8140-E9FD1F2C6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393" y="1436688"/>
            <a:ext cx="946150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receiver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6" name="Line 9">
            <a:extLst>
              <a:ext uri="{FF2B5EF4-FFF2-40B4-BE49-F238E27FC236}">
                <a16:creationId xmlns:a16="http://schemas.microsoft.com/office/drawing/2014/main" id="{4E1B3F21-B373-CA48-9AD5-5632396CB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5793" y="1987550"/>
            <a:ext cx="2190750" cy="31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7" name="Line 10">
            <a:extLst>
              <a:ext uri="{FF2B5EF4-FFF2-40B4-BE49-F238E27FC236}">
                <a16:creationId xmlns:a16="http://schemas.microsoft.com/office/drawing/2014/main" id="{89DD14FE-5B5B-3B43-8920-2EDFA30D8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55" y="4098925"/>
            <a:ext cx="219233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8" name="Line 11">
            <a:extLst>
              <a:ext uri="{FF2B5EF4-FFF2-40B4-BE49-F238E27FC236}">
                <a16:creationId xmlns:a16="http://schemas.microsoft.com/office/drawing/2014/main" id="{0833BE20-CC42-354E-8D97-D533E108B5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40555" y="3155950"/>
            <a:ext cx="2209800" cy="922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9" name="Freeform 12">
            <a:extLst>
              <a:ext uri="{FF2B5EF4-FFF2-40B4-BE49-F238E27FC236}">
                <a16:creationId xmlns:a16="http://schemas.microsoft.com/office/drawing/2014/main" id="{6DCE969D-C1B5-6B4F-8E82-11FE17209698}"/>
              </a:ext>
            </a:extLst>
          </p:cNvPr>
          <p:cNvSpPr>
            <a:spLocks/>
          </p:cNvSpPr>
          <p:nvPr/>
        </p:nvSpPr>
        <p:spPr bwMode="auto">
          <a:xfrm>
            <a:off x="6518330" y="1985963"/>
            <a:ext cx="2232025" cy="1155700"/>
          </a:xfrm>
          <a:custGeom>
            <a:avLst/>
            <a:gdLst>
              <a:gd name="T0" fmla="*/ 0 w 2902"/>
              <a:gd name="T1" fmla="*/ 0 h 1185"/>
              <a:gd name="T2" fmla="*/ 2147483647 w 2902"/>
              <a:gd name="T3" fmla="*/ 2147483647 h 1185"/>
              <a:gd name="T4" fmla="*/ 2147483647 w 2902"/>
              <a:gd name="T5" fmla="*/ 2147483647 h 1185"/>
              <a:gd name="T6" fmla="*/ 0 w 2902"/>
              <a:gd name="T7" fmla="*/ 2147483647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" name="Line 13">
            <a:extLst>
              <a:ext uri="{FF2B5EF4-FFF2-40B4-BE49-F238E27FC236}">
                <a16:creationId xmlns:a16="http://schemas.microsoft.com/office/drawing/2014/main" id="{71ECF681-371C-214F-B431-3EBF5FCA54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3868" y="1985963"/>
            <a:ext cx="1317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1" name="Line 14">
            <a:extLst>
              <a:ext uri="{FF2B5EF4-FFF2-40B4-BE49-F238E27FC236}">
                <a16:creationId xmlns:a16="http://schemas.microsoft.com/office/drawing/2014/main" id="{D5FC9E24-2362-D949-AD1B-27FDE18130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3868" y="2227263"/>
            <a:ext cx="1317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" name="Line 15">
            <a:extLst>
              <a:ext uri="{FF2B5EF4-FFF2-40B4-BE49-F238E27FC236}">
                <a16:creationId xmlns:a16="http://schemas.microsoft.com/office/drawing/2014/main" id="{8E885B36-6DC7-A647-8328-79BA2FEF9A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4980" y="4086225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6" name="Line 20">
            <a:extLst>
              <a:ext uri="{FF2B5EF4-FFF2-40B4-BE49-F238E27FC236}">
                <a16:creationId xmlns:a16="http://schemas.microsoft.com/office/drawing/2014/main" id="{F450D6B2-ED0C-2A4C-8BFC-156E65F46C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26543" y="2900363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" name="Line 22">
            <a:extLst>
              <a:ext uri="{FF2B5EF4-FFF2-40B4-BE49-F238E27FC236}">
                <a16:creationId xmlns:a16="http://schemas.microsoft.com/office/drawing/2014/main" id="{B416D5CF-1045-E44E-A7DD-0F2BA9A28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0355" y="3149600"/>
            <a:ext cx="127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Freeform 25">
            <a:extLst>
              <a:ext uri="{FF2B5EF4-FFF2-40B4-BE49-F238E27FC236}">
                <a16:creationId xmlns:a16="http://schemas.microsoft.com/office/drawing/2014/main" id="{A4A7A1DD-E270-2148-B390-9D3198E6E533}"/>
              </a:ext>
            </a:extLst>
          </p:cNvPr>
          <p:cNvSpPr>
            <a:spLocks/>
          </p:cNvSpPr>
          <p:nvPr/>
        </p:nvSpPr>
        <p:spPr bwMode="auto">
          <a:xfrm>
            <a:off x="6535793" y="4094163"/>
            <a:ext cx="1419225" cy="577850"/>
          </a:xfrm>
          <a:custGeom>
            <a:avLst/>
            <a:gdLst>
              <a:gd name="T0" fmla="*/ 0 w 1845"/>
              <a:gd name="T1" fmla="*/ 0 h 592"/>
              <a:gd name="T2" fmla="*/ 2147483647 w 1845"/>
              <a:gd name="T3" fmla="*/ 2147483647 h 592"/>
              <a:gd name="T4" fmla="*/ 2147483647 w 1845"/>
              <a:gd name="T5" fmla="*/ 2147483647 h 592"/>
              <a:gd name="T6" fmla="*/ 0 w 1845"/>
              <a:gd name="T7" fmla="*/ 2147483647 h 592"/>
              <a:gd name="T8" fmla="*/ 0 w 1845"/>
              <a:gd name="T9" fmla="*/ 0 h 5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45" h="592">
                <a:moveTo>
                  <a:pt x="0" y="0"/>
                </a:moveTo>
                <a:lnTo>
                  <a:pt x="1845" y="592"/>
                </a:lnTo>
                <a:lnTo>
                  <a:pt x="1095" y="592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2" name="Group 26">
            <a:extLst>
              <a:ext uri="{FF2B5EF4-FFF2-40B4-BE49-F238E27FC236}">
                <a16:creationId xmlns:a16="http://schemas.microsoft.com/office/drawing/2014/main" id="{9CA64688-75A8-D347-9FA8-19BC93D4C937}"/>
              </a:ext>
            </a:extLst>
          </p:cNvPr>
          <p:cNvGrpSpPr>
            <a:grpSpLocks/>
          </p:cNvGrpSpPr>
          <p:nvPr/>
        </p:nvGrpSpPr>
        <p:grpSpPr bwMode="auto">
          <a:xfrm>
            <a:off x="6529443" y="4086225"/>
            <a:ext cx="1281112" cy="534988"/>
            <a:chOff x="12315" y="13225"/>
            <a:chExt cx="2775" cy="913"/>
          </a:xfrm>
        </p:grpSpPr>
        <p:sp>
          <p:nvSpPr>
            <p:cNvPr id="73" name="Line 27">
              <a:extLst>
                <a:ext uri="{FF2B5EF4-FFF2-40B4-BE49-F238E27FC236}">
                  <a16:creationId xmlns:a16="http://schemas.microsoft.com/office/drawing/2014/main" id="{3615449C-C628-4A4E-8FD9-6CEA1CB5A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15" y="13225"/>
              <a:ext cx="1587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Line 28">
              <a:extLst>
                <a:ext uri="{FF2B5EF4-FFF2-40B4-BE49-F238E27FC236}">
                  <a16:creationId xmlns:a16="http://schemas.microsoft.com/office/drawing/2014/main" id="{BC197F6C-E6E2-CC4F-B4CD-24052A68C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15" y="13737"/>
              <a:ext cx="1175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5" name="Line 29">
            <a:extLst>
              <a:ext uri="{FF2B5EF4-FFF2-40B4-BE49-F238E27FC236}">
                <a16:creationId xmlns:a16="http://schemas.microsoft.com/office/drawing/2014/main" id="{C09632D7-180D-4B4F-9D42-55DC28E6A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9443" y="4327525"/>
            <a:ext cx="317500" cy="123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6" name="Line 30">
            <a:extLst>
              <a:ext uri="{FF2B5EF4-FFF2-40B4-BE49-F238E27FC236}">
                <a16:creationId xmlns:a16="http://schemas.microsoft.com/office/drawing/2014/main" id="{0C325B2C-A250-0F40-9312-8A7316454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3293" y="4451350"/>
            <a:ext cx="541337" cy="2349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6AF9F3-99D9-6F40-B127-7A6785C46B41}"/>
              </a:ext>
            </a:extLst>
          </p:cNvPr>
          <p:cNvGrpSpPr/>
          <p:nvPr/>
        </p:nvGrpSpPr>
        <p:grpSpPr>
          <a:xfrm>
            <a:off x="2244612" y="2022637"/>
            <a:ext cx="1278602" cy="597475"/>
            <a:chOff x="749300" y="3009900"/>
            <a:chExt cx="1278602" cy="5974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21E4313-1A1A-3A42-AC4C-44CC986CCAC5}"/>
                </a:ext>
              </a:extLst>
            </p:cNvPr>
            <p:cNvSpPr txBox="1"/>
            <p:nvPr/>
          </p:nvSpPr>
          <p:spPr>
            <a:xfrm>
              <a:off x="749300" y="3022600"/>
              <a:ext cx="11112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</a:t>
              </a:r>
              <a:r>
                <a:rPr kumimoji="0" lang="en-US" sz="28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sender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13E07F-DCC8-5C42-B670-E68B309E1374}"/>
                </a:ext>
              </a:extLst>
            </p:cNvPr>
            <p:cNvSpPr txBox="1"/>
            <p:nvPr/>
          </p:nvSpPr>
          <p:spPr>
            <a:xfrm>
              <a:off x="1663700" y="300990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=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2394E0F-C5BE-F842-A8F0-CE5EB7D410B7}"/>
              </a:ext>
            </a:extLst>
          </p:cNvPr>
          <p:cNvSpPr txBox="1"/>
          <p:nvPr/>
        </p:nvSpPr>
        <p:spPr>
          <a:xfrm>
            <a:off x="4022612" y="1768637"/>
            <a:ext cx="833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 / 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6C6FA9-6BC1-BE4F-985A-814A76374A78}"/>
              </a:ext>
            </a:extLst>
          </p:cNvPr>
          <p:cNvSpPr txBox="1"/>
          <p:nvPr/>
        </p:nvSpPr>
        <p:spPr>
          <a:xfrm>
            <a:off x="3565412" y="2314737"/>
            <a:ext cx="731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71EC5E-49D5-C845-A523-BB2BA82777FB}"/>
              </a:ext>
            </a:extLst>
          </p:cNvPr>
          <p:cNvCxnSpPr/>
          <p:nvPr/>
        </p:nvCxnSpPr>
        <p:spPr>
          <a:xfrm>
            <a:off x="3654312" y="2314737"/>
            <a:ext cx="15494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EBE743-5B5A-CB4C-ADBF-D607BDC87774}"/>
              </a:ext>
            </a:extLst>
          </p:cNvPr>
          <p:cNvGrpSpPr/>
          <p:nvPr/>
        </p:nvGrpSpPr>
        <p:grpSpPr>
          <a:xfrm>
            <a:off x="5721405" y="2234921"/>
            <a:ext cx="847725" cy="1860804"/>
            <a:chOff x="4183062" y="2436876"/>
            <a:chExt cx="847725" cy="1860804"/>
          </a:xfrm>
        </p:grpSpPr>
        <p:sp>
          <p:nvSpPr>
            <p:cNvPr id="63" name="Text Box 16">
              <a:extLst>
                <a:ext uri="{FF2B5EF4-FFF2-40B4-BE49-F238E27FC236}">
                  <a16:creationId xmlns:a16="http://schemas.microsoft.com/office/drawing/2014/main" id="{C1807A2B-4600-F444-94CF-68DC8044B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3062" y="3161055"/>
              <a:ext cx="8477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RTT</a:t>
              </a: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" name="Line 17">
              <a:extLst>
                <a:ext uri="{FF2B5EF4-FFF2-40B4-BE49-F238E27FC236}">
                  <a16:creationId xmlns:a16="http://schemas.microsoft.com/office/drawing/2014/main" id="{4CA4ACE4-80D6-094A-B612-CEDFE37137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0450" y="3469030"/>
              <a:ext cx="11112" cy="811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Line 18">
              <a:extLst>
                <a:ext uri="{FF2B5EF4-FFF2-40B4-BE49-F238E27FC236}">
                  <a16:creationId xmlns:a16="http://schemas.microsoft.com/office/drawing/2014/main" id="{86419EA2-8CA9-1949-935B-FB9C7863AF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5212" y="2451443"/>
              <a:ext cx="3175" cy="7683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9C2C2C-CE28-5843-8415-9EE09E6947FC}"/>
                </a:ext>
              </a:extLst>
            </p:cNvPr>
            <p:cNvSpPr/>
            <p:nvPr/>
          </p:nvSpPr>
          <p:spPr>
            <a:xfrm>
              <a:off x="4421124" y="2436876"/>
              <a:ext cx="77724" cy="186080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9E1995-34BF-7E4C-A8E6-79D6D91B735F}"/>
              </a:ext>
            </a:extLst>
          </p:cNvPr>
          <p:cNvGrpSpPr/>
          <p:nvPr/>
        </p:nvGrpSpPr>
        <p:grpSpPr>
          <a:xfrm>
            <a:off x="5737741" y="1941782"/>
            <a:ext cx="847725" cy="336550"/>
            <a:chOff x="4199398" y="2143737"/>
            <a:chExt cx="847725" cy="336550"/>
          </a:xfrm>
        </p:grpSpPr>
        <p:sp>
          <p:nvSpPr>
            <p:cNvPr id="34" name="Text Box 16">
              <a:extLst>
                <a:ext uri="{FF2B5EF4-FFF2-40B4-BE49-F238E27FC236}">
                  <a16:creationId xmlns:a16="http://schemas.microsoft.com/office/drawing/2014/main" id="{CE11628B-6BAA-5F4D-83D0-1C375AA4B5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9398" y="2143737"/>
              <a:ext cx="8477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L/R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925C961-57CF-D349-AB32-A9692749F035}"/>
                </a:ext>
              </a:extLst>
            </p:cNvPr>
            <p:cNvSpPr/>
            <p:nvPr/>
          </p:nvSpPr>
          <p:spPr>
            <a:xfrm>
              <a:off x="4418854" y="2180844"/>
              <a:ext cx="85344" cy="24688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75CB59D-6E37-644B-87A0-86A5D61EB620}"/>
              </a:ext>
            </a:extLst>
          </p:cNvPr>
          <p:cNvSpPr txBox="1"/>
          <p:nvPr/>
        </p:nvSpPr>
        <p:spPr>
          <a:xfrm>
            <a:off x="4175012" y="2314737"/>
            <a:ext cx="1095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L / 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4AEDD2-EED9-9242-A1CE-295F5C6A03DB}"/>
              </a:ext>
            </a:extLst>
          </p:cNvPr>
          <p:cNvGrpSpPr/>
          <p:nvPr/>
        </p:nvGrpSpPr>
        <p:grpSpPr>
          <a:xfrm>
            <a:off x="3156251" y="2947504"/>
            <a:ext cx="1781653" cy="1463020"/>
            <a:chOff x="1660939" y="3934767"/>
            <a:chExt cx="1781653" cy="146302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101E67-F8E3-5F43-87A5-EEE3F55BCF5A}"/>
                </a:ext>
              </a:extLst>
            </p:cNvPr>
            <p:cNvSpPr txBox="1"/>
            <p:nvPr/>
          </p:nvSpPr>
          <p:spPr>
            <a:xfrm>
              <a:off x="1673639" y="485649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3ADC375-683E-5F46-8229-0B251E9F0CDD}"/>
                </a:ext>
              </a:extLst>
            </p:cNvPr>
            <p:cNvSpPr txBox="1"/>
            <p:nvPr/>
          </p:nvSpPr>
          <p:spPr>
            <a:xfrm>
              <a:off x="2070100" y="4874567"/>
              <a:ext cx="1372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0.00027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AD14E5C-D408-D34F-A4E3-3FF2736B1748}"/>
                </a:ext>
              </a:extLst>
            </p:cNvPr>
            <p:cNvGrpSpPr/>
            <p:nvPr/>
          </p:nvGrpSpPr>
          <p:grpSpPr>
            <a:xfrm>
              <a:off x="1660939" y="3934767"/>
              <a:ext cx="1473628" cy="868065"/>
              <a:chOff x="1660939" y="3795067"/>
              <a:chExt cx="1473628" cy="868065"/>
            </a:xfrm>
          </p:grpSpPr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2A82ED6-4EB6-9646-9813-CD52285AEECC}"/>
                  </a:ext>
                </a:extLst>
              </p:cNvPr>
              <p:cNvSpPr txBox="1"/>
              <p:nvPr/>
            </p:nvSpPr>
            <p:spPr>
              <a:xfrm>
                <a:off x="1660939" y="3952557"/>
                <a:ext cx="3642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D5D5FF4-838F-754C-8978-6526E35349A3}"/>
                  </a:ext>
                </a:extLst>
              </p:cNvPr>
              <p:cNvGrpSpPr/>
              <p:nvPr/>
            </p:nvGrpSpPr>
            <p:grpSpPr>
              <a:xfrm>
                <a:off x="2095500" y="3795067"/>
                <a:ext cx="1039067" cy="868065"/>
                <a:chOff x="2032000" y="3795067"/>
                <a:chExt cx="1039067" cy="868065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983D372-880E-BD47-AF86-736C61470D97}"/>
                    </a:ext>
                  </a:extLst>
                </p:cNvPr>
                <p:cNvSpPr txBox="1"/>
                <p:nvPr/>
              </p:nvSpPr>
              <p:spPr>
                <a:xfrm>
                  <a:off x="2146300" y="3795067"/>
                  <a:ext cx="7280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.008</a:t>
                  </a: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C1BDCBB7-422E-9B44-86BF-FE476616B58A}"/>
                    </a:ext>
                  </a:extLst>
                </p:cNvPr>
                <p:cNvSpPr txBox="1"/>
                <p:nvPr/>
              </p:nvSpPr>
              <p:spPr>
                <a:xfrm>
                  <a:off x="2032000" y="4201467"/>
                  <a:ext cx="103906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30.008</a:t>
                  </a:r>
                </a:p>
              </p:txBody>
            </p: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BBAC316F-2A0D-B744-BBEB-CB399528A356}"/>
                    </a:ext>
                  </a:extLst>
                </p:cNvPr>
                <p:cNvCxnSpPr/>
                <p:nvPr/>
              </p:nvCxnSpPr>
              <p:spPr>
                <a:xfrm>
                  <a:off x="2120900" y="4239567"/>
                  <a:ext cx="8255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6A30693C-EFD3-504D-9986-8B04D7557A03}"/>
              </a:ext>
            </a:extLst>
          </p:cNvPr>
          <p:cNvSpPr/>
          <p:nvPr/>
        </p:nvSpPr>
        <p:spPr>
          <a:xfrm>
            <a:off x="5728597" y="1978889"/>
            <a:ext cx="85344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07A72-228A-0E4D-9982-EED66F10F557}"/>
              </a:ext>
            </a:extLst>
          </p:cNvPr>
          <p:cNvSpPr txBox="1"/>
          <p:nvPr/>
        </p:nvSpPr>
        <p:spPr>
          <a:xfrm>
            <a:off x="1219200" y="5055243"/>
            <a:ext cx="101946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3.0 protocol performance stinks!</a:t>
            </a:r>
          </a:p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Protocol limits performance of underlying infrastructure (channel)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CB5285FE-6F5F-D849-A9CB-EEFE33B31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19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43" grpId="0"/>
      <p:bldP spid="85" grpId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rdt3.0: pipelined protocols operation</a:t>
            </a:r>
            <a:endParaRPr lang="en-US" sz="4400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58138FEE-B5E2-DF48-8378-96F53EA03F37}"/>
              </a:ext>
            </a:extLst>
          </p:cNvPr>
          <p:cNvSpPr txBox="1">
            <a:spLocks noChangeArrowheads="1"/>
          </p:cNvSpPr>
          <p:nvPr/>
        </p:nvSpPr>
        <p:spPr>
          <a:xfrm>
            <a:off x="722556" y="1312877"/>
            <a:ext cx="10988826" cy="203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pipelining: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sender allows multiple,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in-flight”, yet-to-be-acknowledged packets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range of sequence numbers must be increased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buffering at sender and/or receiver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5D14E0-A0D3-934D-BBAE-EEDB9CC51924}"/>
              </a:ext>
            </a:extLst>
          </p:cNvPr>
          <p:cNvGrpSpPr/>
          <p:nvPr/>
        </p:nvGrpSpPr>
        <p:grpSpPr>
          <a:xfrm>
            <a:off x="2916237" y="2993267"/>
            <a:ext cx="6359525" cy="2370138"/>
            <a:chOff x="1673403" y="3019025"/>
            <a:chExt cx="6359525" cy="2370138"/>
          </a:xfrm>
        </p:grpSpPr>
        <p:pic>
          <p:nvPicPr>
            <p:cNvPr id="80" name="Picture 5" descr="rdt_pipelined1">
              <a:extLst>
                <a:ext uri="{FF2B5EF4-FFF2-40B4-BE49-F238E27FC236}">
                  <a16:creationId xmlns:a16="http://schemas.microsoft.com/office/drawing/2014/main" id="{2F295627-AEBF-DA46-A59F-B81177F032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7403" y="3019025"/>
              <a:ext cx="6105525" cy="2370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1" name="Group 44">
              <a:extLst>
                <a:ext uri="{FF2B5EF4-FFF2-40B4-BE49-F238E27FC236}">
                  <a16:creationId xmlns:a16="http://schemas.microsoft.com/office/drawing/2014/main" id="{1111BB3D-3EE3-524B-ADDE-3374E7ACC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3403" y="3696888"/>
              <a:ext cx="469900" cy="465137"/>
              <a:chOff x="881" y="2283"/>
              <a:chExt cx="296" cy="293"/>
            </a:xfrm>
          </p:grpSpPr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10716B48-25E1-7F4D-87AA-377041B56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6" y="2283"/>
                <a:ext cx="122" cy="2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83" name="Group 36">
                <a:extLst>
                  <a:ext uri="{FF2B5EF4-FFF2-40B4-BE49-F238E27FC236}">
                    <a16:creationId xmlns:a16="http://schemas.microsoft.com/office/drawing/2014/main" id="{F805DF4F-95A4-BD4D-AD9B-A0F477F1C3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881" y="2283"/>
                <a:ext cx="296" cy="293"/>
                <a:chOff x="2839" y="3501"/>
                <a:chExt cx="755" cy="803"/>
              </a:xfrm>
            </p:grpSpPr>
            <p:pic>
              <p:nvPicPr>
                <p:cNvPr id="84" name="Picture 37" descr="desktop_computer_stylized_medium">
                  <a:extLst>
                    <a:ext uri="{FF2B5EF4-FFF2-40B4-BE49-F238E27FC236}">
                      <a16:creationId xmlns:a16="http://schemas.microsoft.com/office/drawing/2014/main" id="{85D0573B-AA1D-C647-947D-E75FC498BE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5" name="Freeform 38">
                  <a:extLst>
                    <a:ext uri="{FF2B5EF4-FFF2-40B4-BE49-F238E27FC236}">
                      <a16:creationId xmlns:a16="http://schemas.microsoft.com/office/drawing/2014/main" id="{D280CE14-8944-254D-8B1F-894AD27B66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86" name="Freeform 48">
              <a:extLst>
                <a:ext uri="{FF2B5EF4-FFF2-40B4-BE49-F238E27FC236}">
                  <a16:creationId xmlns:a16="http://schemas.microsoft.com/office/drawing/2014/main" id="{A1C3D94C-83E9-0F40-97E5-B369E0868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3828" y="3709588"/>
              <a:ext cx="185737" cy="431800"/>
            </a:xfrm>
            <a:custGeom>
              <a:avLst/>
              <a:gdLst>
                <a:gd name="T0" fmla="*/ 2147483647 w 117"/>
                <a:gd name="T1" fmla="*/ 2147483647 h 272"/>
                <a:gd name="T2" fmla="*/ 2147483647 w 117"/>
                <a:gd name="T3" fmla="*/ 2147483647 h 272"/>
                <a:gd name="T4" fmla="*/ 2147483647 w 117"/>
                <a:gd name="T5" fmla="*/ 2147483647 h 272"/>
                <a:gd name="T6" fmla="*/ 0 w 117"/>
                <a:gd name="T7" fmla="*/ 2147483647 h 272"/>
                <a:gd name="T8" fmla="*/ 2147483647 w 117"/>
                <a:gd name="T9" fmla="*/ 2147483647 h 272"/>
                <a:gd name="T10" fmla="*/ 2147483647 w 117"/>
                <a:gd name="T11" fmla="*/ 2147483647 h 272"/>
                <a:gd name="T12" fmla="*/ 2147483647 w 117"/>
                <a:gd name="T13" fmla="*/ 0 h 272"/>
                <a:gd name="T14" fmla="*/ 2147483647 w 117"/>
                <a:gd name="T15" fmla="*/ 2147483647 h 2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7" h="272">
                  <a:moveTo>
                    <a:pt x="6" y="6"/>
                  </a:moveTo>
                  <a:lnTo>
                    <a:pt x="3" y="77"/>
                  </a:lnTo>
                  <a:lnTo>
                    <a:pt x="59" y="120"/>
                  </a:lnTo>
                  <a:lnTo>
                    <a:pt x="0" y="146"/>
                  </a:lnTo>
                  <a:lnTo>
                    <a:pt x="3" y="270"/>
                  </a:lnTo>
                  <a:lnTo>
                    <a:pt x="117" y="272"/>
                  </a:lnTo>
                  <a:lnTo>
                    <a:pt x="114" y="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7" name="Group 50">
              <a:extLst>
                <a:ext uri="{FF2B5EF4-FFF2-40B4-BE49-F238E27FC236}">
                  <a16:creationId xmlns:a16="http://schemas.microsoft.com/office/drawing/2014/main" id="{605457C9-55E9-234B-AF40-1C2CEC7BD5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4903" y="3714350"/>
              <a:ext cx="469900" cy="465138"/>
              <a:chOff x="881" y="2283"/>
              <a:chExt cx="296" cy="293"/>
            </a:xfrm>
          </p:grpSpPr>
          <p:sp>
            <p:nvSpPr>
              <p:cNvPr id="88" name="Rectangle 51">
                <a:extLst>
                  <a:ext uri="{FF2B5EF4-FFF2-40B4-BE49-F238E27FC236}">
                    <a16:creationId xmlns:a16="http://schemas.microsoft.com/office/drawing/2014/main" id="{5A66C211-A318-FD43-B1DC-494380C212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6" y="2283"/>
                <a:ext cx="122" cy="2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89" name="Group 52">
                <a:extLst>
                  <a:ext uri="{FF2B5EF4-FFF2-40B4-BE49-F238E27FC236}">
                    <a16:creationId xmlns:a16="http://schemas.microsoft.com/office/drawing/2014/main" id="{028FC7D3-7EE7-2840-8091-94C524E05F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881" y="2283"/>
                <a:ext cx="296" cy="293"/>
                <a:chOff x="2839" y="3501"/>
                <a:chExt cx="755" cy="803"/>
              </a:xfrm>
            </p:grpSpPr>
            <p:pic>
              <p:nvPicPr>
                <p:cNvPr id="90" name="Picture 53" descr="desktop_computer_stylized_medium">
                  <a:extLst>
                    <a:ext uri="{FF2B5EF4-FFF2-40B4-BE49-F238E27FC236}">
                      <a16:creationId xmlns:a16="http://schemas.microsoft.com/office/drawing/2014/main" id="{5DF1881B-0BF4-AD42-A217-8A59265F13F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1" name="Freeform 54">
                  <a:extLst>
                    <a:ext uri="{FF2B5EF4-FFF2-40B4-BE49-F238E27FC236}">
                      <a16:creationId xmlns:a16="http://schemas.microsoft.com/office/drawing/2014/main" id="{70153128-AD53-344E-AC41-31C4A7A688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2" name="Group 55">
              <a:extLst>
                <a:ext uri="{FF2B5EF4-FFF2-40B4-BE49-F238E27FC236}">
                  <a16:creationId xmlns:a16="http://schemas.microsoft.com/office/drawing/2014/main" id="{BC8220C0-F289-EA49-A8E3-C57D20507A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3546" y="3633388"/>
              <a:ext cx="223838" cy="501650"/>
              <a:chOff x="4140" y="429"/>
              <a:chExt cx="1425" cy="2396"/>
            </a:xfrm>
          </p:grpSpPr>
          <p:sp>
            <p:nvSpPr>
              <p:cNvPr id="93" name="Freeform 56">
                <a:extLst>
                  <a:ext uri="{FF2B5EF4-FFF2-40B4-BE49-F238E27FC236}">
                    <a16:creationId xmlns:a16="http://schemas.microsoft.com/office/drawing/2014/main" id="{4F76258E-0BBD-8E40-98DF-823F02EF9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Rectangle 57">
                <a:extLst>
                  <a:ext uri="{FF2B5EF4-FFF2-40B4-BE49-F238E27FC236}">
                    <a16:creationId xmlns:a16="http://schemas.microsoft.com/office/drawing/2014/main" id="{7ED94245-5F5F-444B-9321-EDC0812D8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429"/>
                <a:ext cx="1041" cy="2282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5" name="Freeform 58">
                <a:extLst>
                  <a:ext uri="{FF2B5EF4-FFF2-40B4-BE49-F238E27FC236}">
                    <a16:creationId xmlns:a16="http://schemas.microsoft.com/office/drawing/2014/main" id="{1F9330A9-C80A-E34C-9993-F9F6EFA2E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59">
                <a:extLst>
                  <a:ext uri="{FF2B5EF4-FFF2-40B4-BE49-F238E27FC236}">
                    <a16:creationId xmlns:a16="http://schemas.microsoft.com/office/drawing/2014/main" id="{EED46AB6-5210-284B-BD15-CC7F3CC06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Rectangle 60">
                <a:extLst>
                  <a:ext uri="{FF2B5EF4-FFF2-40B4-BE49-F238E27FC236}">
                    <a16:creationId xmlns:a16="http://schemas.microsoft.com/office/drawing/2014/main" id="{FCD372CD-8E16-EB40-BCB5-6518B2E54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98" name="Group 61">
                <a:extLst>
                  <a:ext uri="{FF2B5EF4-FFF2-40B4-BE49-F238E27FC236}">
                    <a16:creationId xmlns:a16="http://schemas.microsoft.com/office/drawing/2014/main" id="{A9F56FC0-6211-5447-8838-1C3E5659D8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1" name="AutoShape 62">
                  <a:extLst>
                    <a:ext uri="{FF2B5EF4-FFF2-40B4-BE49-F238E27FC236}">
                      <a16:creationId xmlns:a16="http://schemas.microsoft.com/office/drawing/2014/main" id="{B2006563-73E3-C341-BE69-A2D714EE0E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42" name="AutoShape 63">
                  <a:extLst>
                    <a:ext uri="{FF2B5EF4-FFF2-40B4-BE49-F238E27FC236}">
                      <a16:creationId xmlns:a16="http://schemas.microsoft.com/office/drawing/2014/main" id="{452EDF48-634C-DC4E-976C-1E4013FE65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586"/>
                  <a:ext cx="70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99" name="Rectangle 64">
                <a:extLst>
                  <a:ext uri="{FF2B5EF4-FFF2-40B4-BE49-F238E27FC236}">
                    <a16:creationId xmlns:a16="http://schemas.microsoft.com/office/drawing/2014/main" id="{517F2B13-C563-4E43-B2A5-C5BD2544B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020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00" name="Group 65">
                <a:extLst>
                  <a:ext uri="{FF2B5EF4-FFF2-40B4-BE49-F238E27FC236}">
                    <a16:creationId xmlns:a16="http://schemas.microsoft.com/office/drawing/2014/main" id="{4ED80E09-23D9-1444-A08C-74DBBD9F35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9" name="AutoShape 66">
                  <a:extLst>
                    <a:ext uri="{FF2B5EF4-FFF2-40B4-BE49-F238E27FC236}">
                      <a16:creationId xmlns:a16="http://schemas.microsoft.com/office/drawing/2014/main" id="{BD5E8DEF-A6A7-524F-A3E8-38105351EF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40" name="AutoShape 67">
                  <a:extLst>
                    <a:ext uri="{FF2B5EF4-FFF2-40B4-BE49-F238E27FC236}">
                      <a16:creationId xmlns:a16="http://schemas.microsoft.com/office/drawing/2014/main" id="{83CE605A-8B9B-FF4A-ADD9-77EFF07CEC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8"/>
                  <a:ext cx="70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01" name="Rectangle 68">
                <a:extLst>
                  <a:ext uri="{FF2B5EF4-FFF2-40B4-BE49-F238E27FC236}">
                    <a16:creationId xmlns:a16="http://schemas.microsoft.com/office/drawing/2014/main" id="{13298108-AEB2-9C4B-9F8E-E0273C39A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362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2" name="Rectangle 69">
                <a:extLst>
                  <a:ext uri="{FF2B5EF4-FFF2-40B4-BE49-F238E27FC236}">
                    <a16:creationId xmlns:a16="http://schemas.microsoft.com/office/drawing/2014/main" id="{998350A7-0615-C644-9F45-39D62BDB9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1" y="1657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03" name="Group 70">
                <a:extLst>
                  <a:ext uri="{FF2B5EF4-FFF2-40B4-BE49-F238E27FC236}">
                    <a16:creationId xmlns:a16="http://schemas.microsoft.com/office/drawing/2014/main" id="{B66F256F-0190-C34D-B1CF-5EC3FBA6E0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9" name="AutoShape 71">
                  <a:extLst>
                    <a:ext uri="{FF2B5EF4-FFF2-40B4-BE49-F238E27FC236}">
                      <a16:creationId xmlns:a16="http://schemas.microsoft.com/office/drawing/2014/main" id="{B44DED58-257C-B64B-BAD6-1093812EF7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18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20" name="AutoShape 72">
                  <a:extLst>
                    <a:ext uri="{FF2B5EF4-FFF2-40B4-BE49-F238E27FC236}">
                      <a16:creationId xmlns:a16="http://schemas.microsoft.com/office/drawing/2014/main" id="{17264758-5A11-0143-AA34-8D5FF585E9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2" cy="11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04" name="Freeform 73">
                <a:extLst>
                  <a:ext uri="{FF2B5EF4-FFF2-40B4-BE49-F238E27FC236}">
                    <a16:creationId xmlns:a16="http://schemas.microsoft.com/office/drawing/2014/main" id="{F9396AFF-50A0-E543-85ED-A1775DCAB5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5" name="Group 74">
                <a:extLst>
                  <a:ext uri="{FF2B5EF4-FFF2-40B4-BE49-F238E27FC236}">
                    <a16:creationId xmlns:a16="http://schemas.microsoft.com/office/drawing/2014/main" id="{EFAA059B-DB96-6A46-B4E6-8F3321F531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7" name="AutoShape 75">
                  <a:extLst>
                    <a:ext uri="{FF2B5EF4-FFF2-40B4-BE49-F238E27FC236}">
                      <a16:creationId xmlns:a16="http://schemas.microsoft.com/office/drawing/2014/main" id="{83348DAB-4511-F04F-BD32-D337DF959B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5"/>
                  <a:ext cx="730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18" name="AutoShape 76">
                  <a:extLst>
                    <a:ext uri="{FF2B5EF4-FFF2-40B4-BE49-F238E27FC236}">
                      <a16:creationId xmlns:a16="http://schemas.microsoft.com/office/drawing/2014/main" id="{A1C8B31D-3D51-2648-9688-2AEA89487C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580"/>
                  <a:ext cx="705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06" name="Rectangle 77">
                <a:extLst>
                  <a:ext uri="{FF2B5EF4-FFF2-40B4-BE49-F238E27FC236}">
                    <a16:creationId xmlns:a16="http://schemas.microsoft.com/office/drawing/2014/main" id="{7EF69E7C-0C67-7148-8FE3-54101303E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7" name="Freeform 78">
                <a:extLst>
                  <a:ext uri="{FF2B5EF4-FFF2-40B4-BE49-F238E27FC236}">
                    <a16:creationId xmlns:a16="http://schemas.microsoft.com/office/drawing/2014/main" id="{FBDFC7A2-78F6-6B42-8CB8-7F23EE4E3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Freeform 79">
                <a:extLst>
                  <a:ext uri="{FF2B5EF4-FFF2-40B4-BE49-F238E27FC236}">
                    <a16:creationId xmlns:a16="http://schemas.microsoft.com/office/drawing/2014/main" id="{CC939040-7BF3-9046-BF6A-0458E0E2E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Oval 80">
                <a:extLst>
                  <a:ext uri="{FF2B5EF4-FFF2-40B4-BE49-F238E27FC236}">
                    <a16:creationId xmlns:a16="http://schemas.microsoft.com/office/drawing/2014/main" id="{D3889CB4-554F-C549-9233-410F2A702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4" y="2613"/>
                <a:ext cx="51" cy="91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0" name="Freeform 81">
                <a:extLst>
                  <a:ext uri="{FF2B5EF4-FFF2-40B4-BE49-F238E27FC236}">
                    <a16:creationId xmlns:a16="http://schemas.microsoft.com/office/drawing/2014/main" id="{01CB4D71-6B24-D14B-8E88-E20AA937EA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AutoShape 82">
                <a:extLst>
                  <a:ext uri="{FF2B5EF4-FFF2-40B4-BE49-F238E27FC236}">
                    <a16:creationId xmlns:a16="http://schemas.microsoft.com/office/drawing/2014/main" id="{765BBEDF-3C6B-1040-8B52-503C49ECE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1"/>
                <a:ext cx="1203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2" name="AutoShape 83">
                <a:extLst>
                  <a:ext uri="{FF2B5EF4-FFF2-40B4-BE49-F238E27FC236}">
                    <a16:creationId xmlns:a16="http://schemas.microsoft.com/office/drawing/2014/main" id="{6FAE78A0-65F7-5C4E-B7EA-70A785714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711"/>
                <a:ext cx="1061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3" name="Oval 84">
                <a:extLst>
                  <a:ext uri="{FF2B5EF4-FFF2-40B4-BE49-F238E27FC236}">
                    <a16:creationId xmlns:a16="http://schemas.microsoft.com/office/drawing/2014/main" id="{AABAB6CF-26FB-E547-93D6-6BFF6717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2" y="2385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4" name="Oval 85">
                <a:extLst>
                  <a:ext uri="{FF2B5EF4-FFF2-40B4-BE49-F238E27FC236}">
                    <a16:creationId xmlns:a16="http://schemas.microsoft.com/office/drawing/2014/main" id="{EE66FB07-9865-0B46-8669-F1B01050B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2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5" name="Oval 86">
                <a:extLst>
                  <a:ext uri="{FF2B5EF4-FFF2-40B4-BE49-F238E27FC236}">
                    <a16:creationId xmlns:a16="http://schemas.microsoft.com/office/drawing/2014/main" id="{5A789240-A8CA-A84D-A9E3-BD6D37173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378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6" name="Rectangle 87">
                <a:extLst>
                  <a:ext uri="{FF2B5EF4-FFF2-40B4-BE49-F238E27FC236}">
                    <a16:creationId xmlns:a16="http://schemas.microsoft.com/office/drawing/2014/main" id="{A762B790-F441-E240-934E-A9664B2F5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0" y="1832"/>
                <a:ext cx="91" cy="76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43" name="Group 88">
              <a:extLst>
                <a:ext uri="{FF2B5EF4-FFF2-40B4-BE49-F238E27FC236}">
                  <a16:creationId xmlns:a16="http://schemas.microsoft.com/office/drawing/2014/main" id="{17DC5732-628F-6741-852D-2CBD1EC0FD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59865" y="3576238"/>
              <a:ext cx="223838" cy="501650"/>
              <a:chOff x="4140" y="429"/>
              <a:chExt cx="1425" cy="2396"/>
            </a:xfrm>
          </p:grpSpPr>
          <p:sp>
            <p:nvSpPr>
              <p:cNvPr id="144" name="Freeform 89">
                <a:extLst>
                  <a:ext uri="{FF2B5EF4-FFF2-40B4-BE49-F238E27FC236}">
                    <a16:creationId xmlns:a16="http://schemas.microsoft.com/office/drawing/2014/main" id="{66258626-CF43-4144-AFB5-A001FE5BE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Rectangle 90">
                <a:extLst>
                  <a:ext uri="{FF2B5EF4-FFF2-40B4-BE49-F238E27FC236}">
                    <a16:creationId xmlns:a16="http://schemas.microsoft.com/office/drawing/2014/main" id="{75E92CB8-71C3-E048-84D7-F08068A4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429"/>
                <a:ext cx="1041" cy="2282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6" name="Freeform 91">
                <a:extLst>
                  <a:ext uri="{FF2B5EF4-FFF2-40B4-BE49-F238E27FC236}">
                    <a16:creationId xmlns:a16="http://schemas.microsoft.com/office/drawing/2014/main" id="{71C22EB9-D8A4-F04F-A304-D772EEAB7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92">
                <a:extLst>
                  <a:ext uri="{FF2B5EF4-FFF2-40B4-BE49-F238E27FC236}">
                    <a16:creationId xmlns:a16="http://schemas.microsoft.com/office/drawing/2014/main" id="{A649EF14-8235-8B4A-8B8B-3AC2B2B64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Rectangle 93">
                <a:extLst>
                  <a:ext uri="{FF2B5EF4-FFF2-40B4-BE49-F238E27FC236}">
                    <a16:creationId xmlns:a16="http://schemas.microsoft.com/office/drawing/2014/main" id="{2C3B9489-DBCD-1B41-A1E0-9939F842A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49" name="Group 94">
                <a:extLst>
                  <a:ext uri="{FF2B5EF4-FFF2-40B4-BE49-F238E27FC236}">
                    <a16:creationId xmlns:a16="http://schemas.microsoft.com/office/drawing/2014/main" id="{5EA53608-D5A4-FB4B-8294-6D9D65EFF0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74" name="AutoShape 95">
                  <a:extLst>
                    <a:ext uri="{FF2B5EF4-FFF2-40B4-BE49-F238E27FC236}">
                      <a16:creationId xmlns:a16="http://schemas.microsoft.com/office/drawing/2014/main" id="{AED3F1D5-BB8C-254E-83E5-6EAB6528B9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75" name="AutoShape 96">
                  <a:extLst>
                    <a:ext uri="{FF2B5EF4-FFF2-40B4-BE49-F238E27FC236}">
                      <a16:creationId xmlns:a16="http://schemas.microsoft.com/office/drawing/2014/main" id="{942D2E9F-6E36-084E-9FBC-AD82CA243A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586"/>
                  <a:ext cx="70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50" name="Rectangle 97">
                <a:extLst>
                  <a:ext uri="{FF2B5EF4-FFF2-40B4-BE49-F238E27FC236}">
                    <a16:creationId xmlns:a16="http://schemas.microsoft.com/office/drawing/2014/main" id="{E8FF0B53-6745-A84C-89E0-B850FA20B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020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1" name="Group 98">
                <a:extLst>
                  <a:ext uri="{FF2B5EF4-FFF2-40B4-BE49-F238E27FC236}">
                    <a16:creationId xmlns:a16="http://schemas.microsoft.com/office/drawing/2014/main" id="{3E1DFAB8-85DC-9B47-A3FC-17FA76E4DB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72" name="AutoShape 99">
                  <a:extLst>
                    <a:ext uri="{FF2B5EF4-FFF2-40B4-BE49-F238E27FC236}">
                      <a16:creationId xmlns:a16="http://schemas.microsoft.com/office/drawing/2014/main" id="{9B63DA8A-7611-6449-A57A-B40172E56E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73" name="AutoShape 100">
                  <a:extLst>
                    <a:ext uri="{FF2B5EF4-FFF2-40B4-BE49-F238E27FC236}">
                      <a16:creationId xmlns:a16="http://schemas.microsoft.com/office/drawing/2014/main" id="{AB3060D8-D09B-3F4B-AEE4-AEE61862C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8"/>
                  <a:ext cx="70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52" name="Rectangle 101">
                <a:extLst>
                  <a:ext uri="{FF2B5EF4-FFF2-40B4-BE49-F238E27FC236}">
                    <a16:creationId xmlns:a16="http://schemas.microsoft.com/office/drawing/2014/main" id="{3C0F1872-3B7D-4A41-8B0C-E81E4AC44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362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3" name="Rectangle 102">
                <a:extLst>
                  <a:ext uri="{FF2B5EF4-FFF2-40B4-BE49-F238E27FC236}">
                    <a16:creationId xmlns:a16="http://schemas.microsoft.com/office/drawing/2014/main" id="{660918F1-C396-1647-B4E6-234CB13D95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1" y="1657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4" name="Group 103">
                <a:extLst>
                  <a:ext uri="{FF2B5EF4-FFF2-40B4-BE49-F238E27FC236}">
                    <a16:creationId xmlns:a16="http://schemas.microsoft.com/office/drawing/2014/main" id="{A148F5A9-0478-8F4F-89E7-8C39446345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70" name="AutoShape 104">
                  <a:extLst>
                    <a:ext uri="{FF2B5EF4-FFF2-40B4-BE49-F238E27FC236}">
                      <a16:creationId xmlns:a16="http://schemas.microsoft.com/office/drawing/2014/main" id="{80F9D10C-B532-B14A-B8EA-13E7BE80A4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18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71" name="AutoShape 105">
                  <a:extLst>
                    <a:ext uri="{FF2B5EF4-FFF2-40B4-BE49-F238E27FC236}">
                      <a16:creationId xmlns:a16="http://schemas.microsoft.com/office/drawing/2014/main" id="{88383691-0F9A-5544-9926-129A049B8A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2" cy="11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55" name="Freeform 106">
                <a:extLst>
                  <a:ext uri="{FF2B5EF4-FFF2-40B4-BE49-F238E27FC236}">
                    <a16:creationId xmlns:a16="http://schemas.microsoft.com/office/drawing/2014/main" id="{5F307D13-C702-C846-AAC3-1F59F5B96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6" name="Group 107">
                <a:extLst>
                  <a:ext uri="{FF2B5EF4-FFF2-40B4-BE49-F238E27FC236}">
                    <a16:creationId xmlns:a16="http://schemas.microsoft.com/office/drawing/2014/main" id="{26FB1383-43C2-B14E-B7B3-0D43473DA4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68" name="AutoShape 108">
                  <a:extLst>
                    <a:ext uri="{FF2B5EF4-FFF2-40B4-BE49-F238E27FC236}">
                      <a16:creationId xmlns:a16="http://schemas.microsoft.com/office/drawing/2014/main" id="{D061EDA9-2C53-BE45-915E-589037D845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5"/>
                  <a:ext cx="730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9" name="AutoShape 109">
                  <a:extLst>
                    <a:ext uri="{FF2B5EF4-FFF2-40B4-BE49-F238E27FC236}">
                      <a16:creationId xmlns:a16="http://schemas.microsoft.com/office/drawing/2014/main" id="{998AB447-94FE-834C-84AB-CB37AB3038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580"/>
                  <a:ext cx="705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57" name="Rectangle 110">
                <a:extLst>
                  <a:ext uri="{FF2B5EF4-FFF2-40B4-BE49-F238E27FC236}">
                    <a16:creationId xmlns:a16="http://schemas.microsoft.com/office/drawing/2014/main" id="{7E161FDF-4931-A54D-9200-97C2E9F03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8" name="Freeform 111">
                <a:extLst>
                  <a:ext uri="{FF2B5EF4-FFF2-40B4-BE49-F238E27FC236}">
                    <a16:creationId xmlns:a16="http://schemas.microsoft.com/office/drawing/2014/main" id="{6F205231-B042-214A-BAF1-BBBFAAE86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112">
                <a:extLst>
                  <a:ext uri="{FF2B5EF4-FFF2-40B4-BE49-F238E27FC236}">
                    <a16:creationId xmlns:a16="http://schemas.microsoft.com/office/drawing/2014/main" id="{2C9F0014-AAE6-1E42-B6A0-5FDBFB094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Oval 113">
                <a:extLst>
                  <a:ext uri="{FF2B5EF4-FFF2-40B4-BE49-F238E27FC236}">
                    <a16:creationId xmlns:a16="http://schemas.microsoft.com/office/drawing/2014/main" id="{8553CA72-700C-7E4C-96EA-C8E02AC51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4" y="2613"/>
                <a:ext cx="51" cy="91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1" name="Freeform 114">
                <a:extLst>
                  <a:ext uri="{FF2B5EF4-FFF2-40B4-BE49-F238E27FC236}">
                    <a16:creationId xmlns:a16="http://schemas.microsoft.com/office/drawing/2014/main" id="{E1B0C7DC-C796-224B-95BB-EA9A64983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AutoShape 115">
                <a:extLst>
                  <a:ext uri="{FF2B5EF4-FFF2-40B4-BE49-F238E27FC236}">
                    <a16:creationId xmlns:a16="http://schemas.microsoft.com/office/drawing/2014/main" id="{38969B4B-14F8-4C4B-9F4D-1C9709448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1"/>
                <a:ext cx="1203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3" name="AutoShape 116">
                <a:extLst>
                  <a:ext uri="{FF2B5EF4-FFF2-40B4-BE49-F238E27FC236}">
                    <a16:creationId xmlns:a16="http://schemas.microsoft.com/office/drawing/2014/main" id="{20FB94C7-96EF-D64F-9AEA-E2F1422FE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711"/>
                <a:ext cx="1061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4" name="Oval 117">
                <a:extLst>
                  <a:ext uri="{FF2B5EF4-FFF2-40B4-BE49-F238E27FC236}">
                    <a16:creationId xmlns:a16="http://schemas.microsoft.com/office/drawing/2014/main" id="{307DF5A4-259A-DC44-9789-8EE924382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2" y="2385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5" name="Oval 118">
                <a:extLst>
                  <a:ext uri="{FF2B5EF4-FFF2-40B4-BE49-F238E27FC236}">
                    <a16:creationId xmlns:a16="http://schemas.microsoft.com/office/drawing/2014/main" id="{6D1DB86E-92BD-2544-B8B1-844EDAE57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2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66" name="Oval 119">
                <a:extLst>
                  <a:ext uri="{FF2B5EF4-FFF2-40B4-BE49-F238E27FC236}">
                    <a16:creationId xmlns:a16="http://schemas.microsoft.com/office/drawing/2014/main" id="{B13B6B0E-57D8-B54A-814C-263EB46D92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378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7" name="Rectangle 120">
                <a:extLst>
                  <a:ext uri="{FF2B5EF4-FFF2-40B4-BE49-F238E27FC236}">
                    <a16:creationId xmlns:a16="http://schemas.microsoft.com/office/drawing/2014/main" id="{270171A8-F5A4-F640-8B20-2A908A8BA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0" y="1832"/>
                <a:ext cx="91" cy="76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sp>
        <p:nvSpPr>
          <p:cNvPr id="6" name="Freeform 5">
            <a:extLst>
              <a:ext uri="{FF2B5EF4-FFF2-40B4-BE49-F238E27FC236}">
                <a16:creationId xmlns:a16="http://schemas.microsoft.com/office/drawing/2014/main" id="{E31BA10A-DEA2-4D4B-AB0D-89FB36E5C7B3}"/>
              </a:ext>
            </a:extLst>
          </p:cNvPr>
          <p:cNvSpPr/>
          <p:nvPr/>
        </p:nvSpPr>
        <p:spPr>
          <a:xfrm>
            <a:off x="6069496" y="2941983"/>
            <a:ext cx="3750365" cy="2491408"/>
          </a:xfrm>
          <a:custGeom>
            <a:avLst/>
            <a:gdLst>
              <a:gd name="connsiteX0" fmla="*/ 331304 w 3750365"/>
              <a:gd name="connsiteY0" fmla="*/ 0 h 2491408"/>
              <a:gd name="connsiteX1" fmla="*/ 0 w 3750365"/>
              <a:gd name="connsiteY1" fmla="*/ 861391 h 2491408"/>
              <a:gd name="connsiteX2" fmla="*/ 13252 w 3750365"/>
              <a:gd name="connsiteY2" fmla="*/ 1378226 h 2491408"/>
              <a:gd name="connsiteX3" fmla="*/ 26504 w 3750365"/>
              <a:gd name="connsiteY3" fmla="*/ 2491408 h 2491408"/>
              <a:gd name="connsiteX4" fmla="*/ 3750365 w 3750365"/>
              <a:gd name="connsiteY4" fmla="*/ 2451652 h 2491408"/>
              <a:gd name="connsiteX5" fmla="*/ 3723861 w 3750365"/>
              <a:gd name="connsiteY5" fmla="*/ 79513 h 2491408"/>
              <a:gd name="connsiteX6" fmla="*/ 331304 w 3750365"/>
              <a:gd name="connsiteY6" fmla="*/ 0 h 2491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50365" h="2491408">
                <a:moveTo>
                  <a:pt x="331304" y="0"/>
                </a:moveTo>
                <a:lnTo>
                  <a:pt x="0" y="861391"/>
                </a:lnTo>
                <a:lnTo>
                  <a:pt x="13252" y="1378226"/>
                </a:lnTo>
                <a:lnTo>
                  <a:pt x="26504" y="2491408"/>
                </a:lnTo>
                <a:lnTo>
                  <a:pt x="3750365" y="2451652"/>
                </a:lnTo>
                <a:lnTo>
                  <a:pt x="3723861" y="79513"/>
                </a:lnTo>
                <a:lnTo>
                  <a:pt x="33130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Slide Number Placeholder 2">
            <a:extLst>
              <a:ext uri="{FF2B5EF4-FFF2-40B4-BE49-F238E27FC236}">
                <a16:creationId xmlns:a16="http://schemas.microsoft.com/office/drawing/2014/main" id="{1DCC9415-F6BD-EB4B-8CBA-8543440AF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69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Pipelining: increased utilization</a:t>
            </a:r>
            <a:endParaRPr lang="en-US" sz="4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2D9612C-CE0F-6C45-B7EC-FE1D2900506E}"/>
              </a:ext>
            </a:extLst>
          </p:cNvPr>
          <p:cNvGrpSpPr/>
          <p:nvPr/>
        </p:nvGrpSpPr>
        <p:grpSpPr>
          <a:xfrm>
            <a:off x="1436915" y="1417186"/>
            <a:ext cx="9144000" cy="3759200"/>
            <a:chOff x="1436915" y="1417186"/>
            <a:chExt cx="9144000" cy="37592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C3BE89-6F62-424C-BFB2-28F71C43CE69}"/>
                </a:ext>
              </a:extLst>
            </p:cNvPr>
            <p:cNvGrpSpPr/>
            <p:nvPr/>
          </p:nvGrpSpPr>
          <p:grpSpPr>
            <a:xfrm>
              <a:off x="1436915" y="1744211"/>
              <a:ext cx="5265738" cy="3432175"/>
              <a:chOff x="1436915" y="1744211"/>
              <a:chExt cx="5265738" cy="3432175"/>
            </a:xfrm>
          </p:grpSpPr>
          <p:sp>
            <p:nvSpPr>
              <p:cNvPr id="271" name="Text Box 4">
                <a:extLst>
                  <a:ext uri="{FF2B5EF4-FFF2-40B4-BE49-F238E27FC236}">
                    <a16:creationId xmlns:a16="http://schemas.microsoft.com/office/drawing/2014/main" id="{8A9D06FA-5302-274C-84A9-DD1CED4599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6915" y="1760086"/>
                <a:ext cx="3086100" cy="35401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first packet bit transmitted, t = 0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2" name="Line 5">
                <a:extLst>
                  <a:ext uri="{FF2B5EF4-FFF2-40B4-BE49-F238E27FC236}">
                    <a16:creationId xmlns:a16="http://schemas.microsoft.com/office/drawing/2014/main" id="{EBE74238-0C8D-D64B-8C2E-687BBF228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9215" y="1744211"/>
                <a:ext cx="20638" cy="3284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3" name="Line 6">
                <a:extLst>
                  <a:ext uri="{FF2B5EF4-FFF2-40B4-BE49-F238E27FC236}">
                    <a16:creationId xmlns:a16="http://schemas.microsoft.com/office/drawing/2014/main" id="{0C9FFAAE-DCDE-8044-9CE7-6F8A7B2FC0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80428" y="1756911"/>
                <a:ext cx="22225" cy="33512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90" name="Group 23">
                <a:extLst>
                  <a:ext uri="{FF2B5EF4-FFF2-40B4-BE49-F238E27FC236}">
                    <a16:creationId xmlns:a16="http://schemas.microsoft.com/office/drawing/2014/main" id="{C2DCCE27-7917-EA41-B0D5-20716F45FD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80153" y="4081011"/>
                <a:ext cx="1466850" cy="608013"/>
                <a:chOff x="12502" y="21425"/>
                <a:chExt cx="3400" cy="1025"/>
              </a:xfrm>
            </p:grpSpPr>
            <p:sp>
              <p:nvSpPr>
                <p:cNvPr id="291" name="Line 24">
                  <a:extLst>
                    <a:ext uri="{FF2B5EF4-FFF2-40B4-BE49-F238E27FC236}">
                      <a16:creationId xmlns:a16="http://schemas.microsoft.com/office/drawing/2014/main" id="{A9FA2FEB-7650-5B42-A31A-A637A45CA6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502" y="21425"/>
                  <a:ext cx="288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2" name="Freeform 25">
                  <a:extLst>
                    <a:ext uri="{FF2B5EF4-FFF2-40B4-BE49-F238E27FC236}">
                      <a16:creationId xmlns:a16="http://schemas.microsoft.com/office/drawing/2014/main" id="{5BCD89AD-C50C-6545-ADEB-A57C6CDD92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27" y="21438"/>
                  <a:ext cx="3075" cy="987"/>
                </a:xfrm>
                <a:custGeom>
                  <a:avLst/>
                  <a:gdLst>
                    <a:gd name="T0" fmla="*/ 0 w 1845"/>
                    <a:gd name="T1" fmla="*/ 0 h 592"/>
                    <a:gd name="T2" fmla="*/ 305147 w 1845"/>
                    <a:gd name="T3" fmla="*/ 98267 h 592"/>
                    <a:gd name="T4" fmla="*/ 181112 w 1845"/>
                    <a:gd name="T5" fmla="*/ 98267 h 592"/>
                    <a:gd name="T6" fmla="*/ 0 w 1845"/>
                    <a:gd name="T7" fmla="*/ 41006 h 592"/>
                    <a:gd name="T8" fmla="*/ 0 w 1845"/>
                    <a:gd name="T9" fmla="*/ 0 h 5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45" h="592">
                      <a:moveTo>
                        <a:pt x="0" y="0"/>
                      </a:moveTo>
                      <a:lnTo>
                        <a:pt x="1845" y="592"/>
                      </a:lnTo>
                      <a:lnTo>
                        <a:pt x="1095" y="592"/>
                      </a:lnTo>
                      <a:lnTo>
                        <a:pt x="0" y="2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93" name="Group 26">
                  <a:extLst>
                    <a:ext uri="{FF2B5EF4-FFF2-40B4-BE49-F238E27FC236}">
                      <a16:creationId xmlns:a16="http://schemas.microsoft.com/office/drawing/2014/main" id="{CD5FB7C7-CD97-554F-9528-260B821760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15" y="21425"/>
                  <a:ext cx="2776" cy="913"/>
                  <a:chOff x="12315" y="13225"/>
                  <a:chExt cx="2775" cy="913"/>
                </a:xfrm>
              </p:grpSpPr>
              <p:sp>
                <p:nvSpPr>
                  <p:cNvPr id="296" name="Line 27">
                    <a:extLst>
                      <a:ext uri="{FF2B5EF4-FFF2-40B4-BE49-F238E27FC236}">
                        <a16:creationId xmlns:a16="http://schemas.microsoft.com/office/drawing/2014/main" id="{73F94F66-30C4-DD47-A1F3-8FC6B19EB61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315" y="13225"/>
                    <a:ext cx="1587" cy="51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97" name="Line 28">
                    <a:extLst>
                      <a:ext uri="{FF2B5EF4-FFF2-40B4-BE49-F238E27FC236}">
                        <a16:creationId xmlns:a16="http://schemas.microsoft.com/office/drawing/2014/main" id="{5CF9459B-BF29-474D-BD49-51BFB74A16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915" y="13737"/>
                    <a:ext cx="1175" cy="40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94" name="Line 29">
                  <a:extLst>
                    <a:ext uri="{FF2B5EF4-FFF2-40B4-BE49-F238E27FC236}">
                      <a16:creationId xmlns:a16="http://schemas.microsoft.com/office/drawing/2014/main" id="{C83DFF49-AFA9-B447-8725-97F2F7C266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815" y="21837"/>
                  <a:ext cx="687" cy="2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5" name="Line 30">
                  <a:extLst>
                    <a:ext uri="{FF2B5EF4-FFF2-40B4-BE49-F238E27FC236}">
                      <a16:creationId xmlns:a16="http://schemas.microsoft.com/office/drawing/2014/main" id="{9326AF50-13D7-574E-AFF2-CD2DDBD17B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15" y="22048"/>
                  <a:ext cx="1175" cy="4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02" name="Group 35">
                <a:extLst>
                  <a:ext uri="{FF2B5EF4-FFF2-40B4-BE49-F238E27FC236}">
                    <a16:creationId xmlns:a16="http://schemas.microsoft.com/office/drawing/2014/main" id="{22FDE4C6-35BE-AD41-8733-199E0B0C39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69040" y="4319136"/>
                <a:ext cx="1466850" cy="606425"/>
                <a:chOff x="12502" y="21425"/>
                <a:chExt cx="3400" cy="1025"/>
              </a:xfrm>
            </p:grpSpPr>
            <p:sp>
              <p:nvSpPr>
                <p:cNvPr id="303" name="Line 36">
                  <a:extLst>
                    <a:ext uri="{FF2B5EF4-FFF2-40B4-BE49-F238E27FC236}">
                      <a16:creationId xmlns:a16="http://schemas.microsoft.com/office/drawing/2014/main" id="{C65011A2-C10F-4E4E-950F-6344F3BFE5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502" y="21425"/>
                  <a:ext cx="288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4" name="Freeform 37">
                  <a:extLst>
                    <a:ext uri="{FF2B5EF4-FFF2-40B4-BE49-F238E27FC236}">
                      <a16:creationId xmlns:a16="http://schemas.microsoft.com/office/drawing/2014/main" id="{4BC1F15A-0B55-9B41-BB0E-8078C84DD8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27" y="21438"/>
                  <a:ext cx="3075" cy="987"/>
                </a:xfrm>
                <a:custGeom>
                  <a:avLst/>
                  <a:gdLst>
                    <a:gd name="T0" fmla="*/ 0 w 1845"/>
                    <a:gd name="T1" fmla="*/ 0 h 592"/>
                    <a:gd name="T2" fmla="*/ 305147 w 1845"/>
                    <a:gd name="T3" fmla="*/ 98267 h 592"/>
                    <a:gd name="T4" fmla="*/ 181112 w 1845"/>
                    <a:gd name="T5" fmla="*/ 98267 h 592"/>
                    <a:gd name="T6" fmla="*/ 0 w 1845"/>
                    <a:gd name="T7" fmla="*/ 41006 h 592"/>
                    <a:gd name="T8" fmla="*/ 0 w 1845"/>
                    <a:gd name="T9" fmla="*/ 0 h 5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45" h="592">
                      <a:moveTo>
                        <a:pt x="0" y="0"/>
                      </a:moveTo>
                      <a:lnTo>
                        <a:pt x="1845" y="592"/>
                      </a:lnTo>
                      <a:lnTo>
                        <a:pt x="1095" y="592"/>
                      </a:lnTo>
                      <a:lnTo>
                        <a:pt x="0" y="2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05" name="Group 38">
                  <a:extLst>
                    <a:ext uri="{FF2B5EF4-FFF2-40B4-BE49-F238E27FC236}">
                      <a16:creationId xmlns:a16="http://schemas.microsoft.com/office/drawing/2014/main" id="{C74149F6-2BD9-1547-B14C-69B2E641BD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15" y="21425"/>
                  <a:ext cx="2776" cy="913"/>
                  <a:chOff x="12315" y="13225"/>
                  <a:chExt cx="2775" cy="913"/>
                </a:xfrm>
              </p:grpSpPr>
              <p:sp>
                <p:nvSpPr>
                  <p:cNvPr id="308" name="Line 39">
                    <a:extLst>
                      <a:ext uri="{FF2B5EF4-FFF2-40B4-BE49-F238E27FC236}">
                        <a16:creationId xmlns:a16="http://schemas.microsoft.com/office/drawing/2014/main" id="{59CC4175-88B4-8C40-B032-807D24CE24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315" y="13225"/>
                    <a:ext cx="1587" cy="51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09" name="Line 40">
                    <a:extLst>
                      <a:ext uri="{FF2B5EF4-FFF2-40B4-BE49-F238E27FC236}">
                        <a16:creationId xmlns:a16="http://schemas.microsoft.com/office/drawing/2014/main" id="{2A62733E-86E9-C64F-8671-78D818E6BE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915" y="13737"/>
                    <a:ext cx="1175" cy="40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06" name="Line 41">
                  <a:extLst>
                    <a:ext uri="{FF2B5EF4-FFF2-40B4-BE49-F238E27FC236}">
                      <a16:creationId xmlns:a16="http://schemas.microsoft.com/office/drawing/2014/main" id="{11893E37-487E-1C43-93FA-50C9B2770C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815" y="21837"/>
                  <a:ext cx="687" cy="2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7" name="Line 42">
                  <a:extLst>
                    <a:ext uri="{FF2B5EF4-FFF2-40B4-BE49-F238E27FC236}">
                      <a16:creationId xmlns:a16="http://schemas.microsoft.com/office/drawing/2014/main" id="{30CC5948-C914-3749-A6FB-7CBA6CEFC2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15" y="22048"/>
                  <a:ext cx="1175" cy="4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10" name="Group 43">
                <a:extLst>
                  <a:ext uri="{FF2B5EF4-FFF2-40B4-BE49-F238E27FC236}">
                    <a16:creationId xmlns:a16="http://schemas.microsoft.com/office/drawing/2014/main" id="{EF1CBAE6-6435-1B41-BF0D-D5BDA59F7D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80153" y="4569961"/>
                <a:ext cx="1466850" cy="606425"/>
                <a:chOff x="12502" y="21425"/>
                <a:chExt cx="3400" cy="1025"/>
              </a:xfrm>
            </p:grpSpPr>
            <p:sp>
              <p:nvSpPr>
                <p:cNvPr id="311" name="Line 44">
                  <a:extLst>
                    <a:ext uri="{FF2B5EF4-FFF2-40B4-BE49-F238E27FC236}">
                      <a16:creationId xmlns:a16="http://schemas.microsoft.com/office/drawing/2014/main" id="{F14701CF-76F1-2A4D-B2B4-A5BD8ECC32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502" y="21425"/>
                  <a:ext cx="288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12" name="Freeform 45">
                  <a:extLst>
                    <a:ext uri="{FF2B5EF4-FFF2-40B4-BE49-F238E27FC236}">
                      <a16:creationId xmlns:a16="http://schemas.microsoft.com/office/drawing/2014/main" id="{731F34A3-5536-D645-BFF8-86128FA9A6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27" y="21438"/>
                  <a:ext cx="3075" cy="987"/>
                </a:xfrm>
                <a:custGeom>
                  <a:avLst/>
                  <a:gdLst>
                    <a:gd name="T0" fmla="*/ 0 w 1845"/>
                    <a:gd name="T1" fmla="*/ 0 h 592"/>
                    <a:gd name="T2" fmla="*/ 305147 w 1845"/>
                    <a:gd name="T3" fmla="*/ 98267 h 592"/>
                    <a:gd name="T4" fmla="*/ 181112 w 1845"/>
                    <a:gd name="T5" fmla="*/ 98267 h 592"/>
                    <a:gd name="T6" fmla="*/ 0 w 1845"/>
                    <a:gd name="T7" fmla="*/ 41006 h 592"/>
                    <a:gd name="T8" fmla="*/ 0 w 1845"/>
                    <a:gd name="T9" fmla="*/ 0 h 5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45" h="592">
                      <a:moveTo>
                        <a:pt x="0" y="0"/>
                      </a:moveTo>
                      <a:lnTo>
                        <a:pt x="1845" y="592"/>
                      </a:lnTo>
                      <a:lnTo>
                        <a:pt x="1095" y="592"/>
                      </a:lnTo>
                      <a:lnTo>
                        <a:pt x="0" y="2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13" name="Group 46">
                  <a:extLst>
                    <a:ext uri="{FF2B5EF4-FFF2-40B4-BE49-F238E27FC236}">
                      <a16:creationId xmlns:a16="http://schemas.microsoft.com/office/drawing/2014/main" id="{85521E25-61DD-F442-81A5-F4A019724E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15" y="21425"/>
                  <a:ext cx="2776" cy="913"/>
                  <a:chOff x="12315" y="13225"/>
                  <a:chExt cx="2775" cy="913"/>
                </a:xfrm>
              </p:grpSpPr>
              <p:sp>
                <p:nvSpPr>
                  <p:cNvPr id="316" name="Line 47">
                    <a:extLst>
                      <a:ext uri="{FF2B5EF4-FFF2-40B4-BE49-F238E27FC236}">
                        <a16:creationId xmlns:a16="http://schemas.microsoft.com/office/drawing/2014/main" id="{1A001C50-CAEA-3442-AFBA-E51180AC45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315" y="13225"/>
                    <a:ext cx="1587" cy="51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7" name="Line 48">
                    <a:extLst>
                      <a:ext uri="{FF2B5EF4-FFF2-40B4-BE49-F238E27FC236}">
                        <a16:creationId xmlns:a16="http://schemas.microsoft.com/office/drawing/2014/main" id="{37926C33-0CD4-CD45-BDFA-BADA6AC2CF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915" y="13737"/>
                    <a:ext cx="1175" cy="40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14" name="Line 49">
                  <a:extLst>
                    <a:ext uri="{FF2B5EF4-FFF2-40B4-BE49-F238E27FC236}">
                      <a16:creationId xmlns:a16="http://schemas.microsoft.com/office/drawing/2014/main" id="{2F091D1F-079B-8B42-8F5F-7A038D533A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815" y="21837"/>
                  <a:ext cx="687" cy="2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15" name="Line 50">
                  <a:extLst>
                    <a:ext uri="{FF2B5EF4-FFF2-40B4-BE49-F238E27FC236}">
                      <a16:creationId xmlns:a16="http://schemas.microsoft.com/office/drawing/2014/main" id="{5D3DE632-11F8-E547-996E-81F2B81B1B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15" y="22048"/>
                  <a:ext cx="1175" cy="4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18" name="Line 51">
                <a:extLst>
                  <a:ext uri="{FF2B5EF4-FFF2-40B4-BE49-F238E27FC236}">
                    <a16:creationId xmlns:a16="http://schemas.microsoft.com/office/drawing/2014/main" id="{DB7CC19A-0A6A-DC4D-BED1-5955B59496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30965" y="3646036"/>
                <a:ext cx="2065338" cy="9318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E6FBFC-B25F-574B-9C74-BFE13D65297A}"/>
                </a:ext>
              </a:extLst>
            </p:cNvPr>
            <p:cNvGrpSpPr/>
            <p:nvPr/>
          </p:nvGrpSpPr>
          <p:grpSpPr>
            <a:xfrm>
              <a:off x="1782990" y="1417186"/>
              <a:ext cx="8797925" cy="2974975"/>
              <a:chOff x="1782990" y="1417186"/>
              <a:chExt cx="8797925" cy="2974975"/>
            </a:xfrm>
          </p:grpSpPr>
          <p:sp>
            <p:nvSpPr>
              <p:cNvPr id="270" name="Line 3">
                <a:extLst>
                  <a:ext uri="{FF2B5EF4-FFF2-40B4-BE49-F238E27FC236}">
                    <a16:creationId xmlns:a16="http://schemas.microsoft.com/office/drawing/2014/main" id="{8578E745-D056-4142-B481-0269A6134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740" y="1966461"/>
                <a:ext cx="2082800" cy="9318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4" name="Text Box 7">
                <a:extLst>
                  <a:ext uri="{FF2B5EF4-FFF2-40B4-BE49-F238E27FC236}">
                    <a16:creationId xmlns:a16="http://schemas.microsoft.com/office/drawing/2014/main" id="{275A02AE-605A-8841-9D53-53820A5CF6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8840" y="1417186"/>
                <a:ext cx="1042988" cy="355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sender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5" name="Text Box 8">
                <a:extLst>
                  <a:ext uri="{FF2B5EF4-FFF2-40B4-BE49-F238E27FC236}">
                    <a16:creationId xmlns:a16="http://schemas.microsoft.com/office/drawing/2014/main" id="{27A750B8-38FA-9A48-B75F-4D9DAA80B3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67665" y="1417186"/>
                <a:ext cx="1108075" cy="355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receiver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6" name="Line 9">
                <a:extLst>
                  <a:ext uri="{FF2B5EF4-FFF2-40B4-BE49-F238E27FC236}">
                    <a16:creationId xmlns:a16="http://schemas.microsoft.com/office/drawing/2014/main" id="{9EF9145B-0631-6D40-844E-0FEE146AD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9853" y="1961699"/>
                <a:ext cx="2049462" cy="31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7" name="Line 10">
                <a:extLst>
                  <a:ext uri="{FF2B5EF4-FFF2-40B4-BE49-F238E27FC236}">
                    <a16:creationId xmlns:a16="http://schemas.microsoft.com/office/drawing/2014/main" id="{89818B7B-1767-9D41-8631-8A3B93FF6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6203" y="4093711"/>
                <a:ext cx="204946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8" name="Freeform 11">
                <a:extLst>
                  <a:ext uri="{FF2B5EF4-FFF2-40B4-BE49-F238E27FC236}">
                    <a16:creationId xmlns:a16="http://schemas.microsoft.com/office/drawing/2014/main" id="{7C53C3B4-7876-5B43-ABD7-074C37F12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978" y="1958524"/>
                <a:ext cx="2087562" cy="1169987"/>
              </a:xfrm>
              <a:custGeom>
                <a:avLst/>
                <a:gdLst>
                  <a:gd name="T0" fmla="*/ 0 w 2902"/>
                  <a:gd name="T1" fmla="*/ 0 h 1185"/>
                  <a:gd name="T2" fmla="*/ 2147483647 w 2902"/>
                  <a:gd name="T3" fmla="*/ 2147483647 h 1185"/>
                  <a:gd name="T4" fmla="*/ 2147483647 w 2902"/>
                  <a:gd name="T5" fmla="*/ 2147483647 h 1185"/>
                  <a:gd name="T6" fmla="*/ 0 w 2902"/>
                  <a:gd name="T7" fmla="*/ 2147483647 h 1185"/>
                  <a:gd name="T8" fmla="*/ 0 w 2902"/>
                  <a:gd name="T9" fmla="*/ 0 h 1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02" h="1185">
                    <a:moveTo>
                      <a:pt x="0" y="0"/>
                    </a:moveTo>
                    <a:lnTo>
                      <a:pt x="2895" y="937"/>
                    </a:lnTo>
                    <a:lnTo>
                      <a:pt x="2902" y="1185"/>
                    </a:lnTo>
                    <a:lnTo>
                      <a:pt x="0" y="2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9" name="Line 12">
                <a:extLst>
                  <a:ext uri="{FF2B5EF4-FFF2-40B4-BE49-F238E27FC236}">
                    <a16:creationId xmlns:a16="http://schemas.microsoft.com/office/drawing/2014/main" id="{A956E0A5-AC1B-5447-84D9-4593A3E93C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9040" y="1958524"/>
                <a:ext cx="123825" cy="31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0" name="Line 13">
                <a:extLst>
                  <a:ext uri="{FF2B5EF4-FFF2-40B4-BE49-F238E27FC236}">
                    <a16:creationId xmlns:a16="http://schemas.microsoft.com/office/drawing/2014/main" id="{4E911566-59D1-CB47-B826-2D5CA791D0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9040" y="2202999"/>
                <a:ext cx="12382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1" name="Text Box 14">
                <a:extLst>
                  <a:ext uri="{FF2B5EF4-FFF2-40B4-BE49-F238E27FC236}">
                    <a16:creationId xmlns:a16="http://schemas.microsoft.com/office/drawing/2014/main" id="{445CA97C-CB18-2644-916B-02A60272C8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7990" y="2942774"/>
                <a:ext cx="9652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RTT 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2" name="Line 15">
                <a:extLst>
                  <a:ext uri="{FF2B5EF4-FFF2-40B4-BE49-F238E27FC236}">
                    <a16:creationId xmlns:a16="http://schemas.microsoft.com/office/drawing/2014/main" id="{05D08CE0-2B2A-6943-A3AF-E51CE2FDF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02378" y="3253924"/>
                <a:ext cx="9525" cy="8207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3" name="Line 16">
                <a:extLst>
                  <a:ext uri="{FF2B5EF4-FFF2-40B4-BE49-F238E27FC236}">
                    <a16:creationId xmlns:a16="http://schemas.microsoft.com/office/drawing/2014/main" id="{E60C4BA4-F185-6C4D-81D1-73276FF1E0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07140" y="2225224"/>
                <a:ext cx="1588" cy="776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4" name="Text Box 17">
                <a:extLst>
                  <a:ext uri="{FF2B5EF4-FFF2-40B4-BE49-F238E27FC236}">
                    <a16:creationId xmlns:a16="http://schemas.microsoft.com/office/drawing/2014/main" id="{2D2A4BCC-1CF4-BE4F-9159-6547BADEC7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990" y="2041074"/>
                <a:ext cx="2740025" cy="354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last bit transmitted, t = L / R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5" name="Line 18">
                <a:extLst>
                  <a:ext uri="{FF2B5EF4-FFF2-40B4-BE49-F238E27FC236}">
                    <a16:creationId xmlns:a16="http://schemas.microsoft.com/office/drawing/2014/main" id="{7DA72F70-6275-E44B-B3B2-867A077BBE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69315" y="2884036"/>
                <a:ext cx="12541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6" name="Text Box 19">
                <a:extLst>
                  <a:ext uri="{FF2B5EF4-FFF2-40B4-BE49-F238E27FC236}">
                    <a16:creationId xmlns:a16="http://schemas.microsoft.com/office/drawing/2014/main" id="{090538B9-64B8-8249-A097-902A990BDC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45515" y="2706236"/>
                <a:ext cx="2641600" cy="355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first packet bit arrives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7" name="Line 20">
                <a:extLst>
                  <a:ext uri="{FF2B5EF4-FFF2-40B4-BE49-F238E27FC236}">
                    <a16:creationId xmlns:a16="http://schemas.microsoft.com/office/drawing/2014/main" id="{43859A12-C8B1-7F4C-996B-A2335F971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91540" y="3134861"/>
                <a:ext cx="1190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8" name="Text Box 21">
                <a:extLst>
                  <a:ext uri="{FF2B5EF4-FFF2-40B4-BE49-F238E27FC236}">
                    <a16:creationId xmlns:a16="http://schemas.microsoft.com/office/drawing/2014/main" id="{D5887813-0036-6B4B-A7D4-5F561E3F10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50278" y="2958649"/>
                <a:ext cx="3581400" cy="384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last packet bit arrives, send ACK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9" name="Text Box 22">
                <a:extLst>
                  <a:ext uri="{FF2B5EF4-FFF2-40B4-BE49-F238E27FC236}">
                    <a16:creationId xmlns:a16="http://schemas.microsoft.com/office/drawing/2014/main" id="{FCD4E8AC-1B13-DA41-948F-91A838649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0628" y="3750811"/>
                <a:ext cx="263525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ACK arrives, send next </a:t>
                </a:r>
              </a:p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packet, t = RTT + L / R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8" name="Freeform 31">
                <a:extLst>
                  <a:ext uri="{FF2B5EF4-FFF2-40B4-BE49-F238E27FC236}">
                    <a16:creationId xmlns:a16="http://schemas.microsoft.com/office/drawing/2014/main" id="{F38321EB-FAE2-904A-9B81-21D0186CB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740" y="2210936"/>
                <a:ext cx="2087563" cy="1168400"/>
              </a:xfrm>
              <a:custGeom>
                <a:avLst/>
                <a:gdLst>
                  <a:gd name="T0" fmla="*/ 0 w 2902"/>
                  <a:gd name="T1" fmla="*/ 0 h 1185"/>
                  <a:gd name="T2" fmla="*/ 2147483647 w 2902"/>
                  <a:gd name="T3" fmla="*/ 2147483647 h 1185"/>
                  <a:gd name="T4" fmla="*/ 2147483647 w 2902"/>
                  <a:gd name="T5" fmla="*/ 2147483647 h 1185"/>
                  <a:gd name="T6" fmla="*/ 0 w 2902"/>
                  <a:gd name="T7" fmla="*/ 2147483647 h 1185"/>
                  <a:gd name="T8" fmla="*/ 0 w 2902"/>
                  <a:gd name="T9" fmla="*/ 0 h 1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02" h="1185">
                    <a:moveTo>
                      <a:pt x="0" y="0"/>
                    </a:moveTo>
                    <a:lnTo>
                      <a:pt x="2895" y="937"/>
                    </a:lnTo>
                    <a:lnTo>
                      <a:pt x="2902" y="1185"/>
                    </a:lnTo>
                    <a:lnTo>
                      <a:pt x="0" y="2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Freeform 32">
                <a:extLst>
                  <a:ext uri="{FF2B5EF4-FFF2-40B4-BE49-F238E27FC236}">
                    <a16:creationId xmlns:a16="http://schemas.microsoft.com/office/drawing/2014/main" id="{FBE57882-6BB0-FB42-8297-3020DB77F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740" y="2461761"/>
                <a:ext cx="2087563" cy="1168400"/>
              </a:xfrm>
              <a:custGeom>
                <a:avLst/>
                <a:gdLst>
                  <a:gd name="T0" fmla="*/ 0 w 2902"/>
                  <a:gd name="T1" fmla="*/ 0 h 1185"/>
                  <a:gd name="T2" fmla="*/ 2147483647 w 2902"/>
                  <a:gd name="T3" fmla="*/ 2147483647 h 1185"/>
                  <a:gd name="T4" fmla="*/ 2147483647 w 2902"/>
                  <a:gd name="T5" fmla="*/ 2147483647 h 1185"/>
                  <a:gd name="T6" fmla="*/ 0 w 2902"/>
                  <a:gd name="T7" fmla="*/ 2147483647 h 1185"/>
                  <a:gd name="T8" fmla="*/ 0 w 2902"/>
                  <a:gd name="T9" fmla="*/ 0 h 1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02" h="1185">
                    <a:moveTo>
                      <a:pt x="0" y="0"/>
                    </a:moveTo>
                    <a:lnTo>
                      <a:pt x="2895" y="937"/>
                    </a:lnTo>
                    <a:lnTo>
                      <a:pt x="2902" y="1185"/>
                    </a:lnTo>
                    <a:lnTo>
                      <a:pt x="0" y="2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0" name="Line 33">
                <a:extLst>
                  <a:ext uri="{FF2B5EF4-FFF2-40B4-BE49-F238E27FC236}">
                    <a16:creationId xmlns:a16="http://schemas.microsoft.com/office/drawing/2014/main" id="{FEACB0C4-D684-9C47-A7A0-8FB12C2D6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26203" y="3142799"/>
                <a:ext cx="2065337" cy="9318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1" name="Line 34">
                <a:extLst>
                  <a:ext uri="{FF2B5EF4-FFF2-40B4-BE49-F238E27FC236}">
                    <a16:creationId xmlns:a16="http://schemas.microsoft.com/office/drawing/2014/main" id="{B381B3DB-0359-7246-93D3-750B1DF80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26203" y="3393624"/>
                <a:ext cx="2065337" cy="9318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9" name="Text Box 52">
                <a:extLst>
                  <a:ext uri="{FF2B5EF4-FFF2-40B4-BE49-F238E27FC236}">
                    <a16:creationId xmlns:a16="http://schemas.microsoft.com/office/drawing/2014/main" id="{7C41A37A-EA25-6B42-B8A7-D7B83D3352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47103" y="3212649"/>
                <a:ext cx="3833812" cy="384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last bit of 2</a:t>
                </a:r>
                <a:r>
                  <a:rPr kumimoji="0" lang="en-US" altLang="en-US" sz="1600" b="0" i="0" u="none" strike="noStrike" kern="1200" cap="none" spc="0" normalizeH="0" baseline="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nd</a:t>
                </a: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 packet arrives, send ACK</a:t>
                </a:r>
                <a:endPara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Line 53">
                <a:extLst>
                  <a:ext uri="{FF2B5EF4-FFF2-40B4-BE49-F238E27FC236}">
                    <a16:creationId xmlns:a16="http://schemas.microsoft.com/office/drawing/2014/main" id="{87E7DB36-E98C-7E44-A72B-F7EAC66CB0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91540" y="3371399"/>
                <a:ext cx="11271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1" name="Line 54">
                <a:extLst>
                  <a:ext uri="{FF2B5EF4-FFF2-40B4-BE49-F238E27FC236}">
                    <a16:creationId xmlns:a16="http://schemas.microsoft.com/office/drawing/2014/main" id="{6F1B7C9A-215A-474C-BA01-5D7C97271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02653" y="3623811"/>
                <a:ext cx="1127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Text Box 55">
                <a:extLst>
                  <a:ext uri="{FF2B5EF4-FFF2-40B4-BE49-F238E27FC236}">
                    <a16:creationId xmlns:a16="http://schemas.microsoft.com/office/drawing/2014/main" id="{2CD16A00-05F1-344E-A3E7-C5304F7F92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42340" y="3446011"/>
                <a:ext cx="3838575" cy="384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last bit of 3</a:t>
                </a:r>
                <a:r>
                  <a:rPr kumimoji="0" lang="en-US" altLang="en-US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 packet arrives, send ACK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B6176C9-7176-F240-9157-3D2494A14415}"/>
              </a:ext>
            </a:extLst>
          </p:cNvPr>
          <p:cNvGrpSpPr/>
          <p:nvPr/>
        </p:nvGrpSpPr>
        <p:grpSpPr>
          <a:xfrm>
            <a:off x="6955065" y="4341361"/>
            <a:ext cx="3460750" cy="1145039"/>
            <a:chOff x="6955065" y="4341361"/>
            <a:chExt cx="3460750" cy="1145039"/>
          </a:xfrm>
        </p:grpSpPr>
        <p:sp>
          <p:nvSpPr>
            <p:cNvPr id="323" name="Text Box 57">
              <a:extLst>
                <a:ext uri="{FF2B5EF4-FFF2-40B4-BE49-F238E27FC236}">
                  <a16:creationId xmlns:a16="http://schemas.microsoft.com/office/drawing/2014/main" id="{FB511FDF-D49A-204F-9558-B726F99E6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5065" y="4341361"/>
              <a:ext cx="3460750" cy="701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3-packet pipelining increases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utilization by a factor of 3!</a:t>
              </a:r>
            </a:p>
          </p:txBody>
        </p:sp>
        <p:sp>
          <p:nvSpPr>
            <p:cNvPr id="324" name="Line 58">
              <a:extLst>
                <a:ext uri="{FF2B5EF4-FFF2-40B4-BE49-F238E27FC236}">
                  <a16:creationId xmlns:a16="http://schemas.microsoft.com/office/drawing/2014/main" id="{D6D6E111-408F-FB4E-BDCF-4A37A9DB3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8840" y="5009699"/>
              <a:ext cx="1360" cy="47670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aphicFrame>
        <p:nvGraphicFramePr>
          <p:cNvPr id="325" name="Object 61">
            <a:extLst>
              <a:ext uri="{FF2B5EF4-FFF2-40B4-BE49-F238E27FC236}">
                <a16:creationId xmlns:a16="http://schemas.microsoft.com/office/drawing/2014/main" id="{A3FC3780-5690-F049-A6E0-28EEB6C29D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2665" y="5276399"/>
          <a:ext cx="67484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2578100" imgH="355600" progId="Word.Picture.8">
                  <p:embed/>
                </p:oleObj>
              </mc:Choice>
              <mc:Fallback>
                <p:oleObj name="Picture" r:id="rId3" imgW="2578100" imgH="355600" progId="Word.Picture.8">
                  <p:embed/>
                  <p:pic>
                    <p:nvPicPr>
                      <p:cNvPr id="325" name="Object 61">
                        <a:extLst>
                          <a:ext uri="{FF2B5EF4-FFF2-40B4-BE49-F238E27FC236}">
                            <a16:creationId xmlns:a16="http://schemas.microsoft.com/office/drawing/2014/main" id="{A3FC3780-5690-F049-A6E0-28EEB6C29D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665" y="5276399"/>
                        <a:ext cx="674846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Slide Number Placeholder 2">
            <a:extLst>
              <a:ext uri="{FF2B5EF4-FFF2-40B4-BE49-F238E27FC236}">
                <a16:creationId xmlns:a16="http://schemas.microsoft.com/office/drawing/2014/main" id="{5140CCE3-35CF-C249-B39A-9608764C9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88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47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2787</Words>
  <Application>Microsoft Office PowerPoint</Application>
  <PresentationFormat>Widescreen</PresentationFormat>
  <Paragraphs>559</Paragraphs>
  <Slides>27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 Light</vt:lpstr>
      <vt:lpstr>Symbol</vt:lpstr>
      <vt:lpstr>Tahoma</vt:lpstr>
      <vt:lpstr>Times New Roman</vt:lpstr>
      <vt:lpstr>Wingdings</vt:lpstr>
      <vt:lpstr>Office Theme</vt:lpstr>
      <vt:lpstr>Picture</vt:lpstr>
      <vt:lpstr>PowerPoint Presentation</vt:lpstr>
      <vt:lpstr>Chapter 3: roadmap</vt:lpstr>
      <vt:lpstr>rdt1.0: reliable transfer over a reliable channel</vt:lpstr>
      <vt:lpstr>rdt2.0: channel with bit errors</vt:lpstr>
      <vt:lpstr>rdt2.0: channel with bit errors</vt:lpstr>
      <vt:lpstr>rdt2.0: FSM specifications</vt:lpstr>
      <vt:lpstr>rdt2.0: FSM specification</vt:lpstr>
      <vt:lpstr>rdt2.0: operation with no errors</vt:lpstr>
      <vt:lpstr>rdt2.0: corrupted packet scenario</vt:lpstr>
      <vt:lpstr>rdt2.0 has a fatal flaw!</vt:lpstr>
      <vt:lpstr>rdt2.1: sender, handling garbled ACK/NAKs</vt:lpstr>
      <vt:lpstr>rdt2.1: receiver, handling garbled ACK/NAKs</vt:lpstr>
      <vt:lpstr>rdt2.1: discussion</vt:lpstr>
      <vt:lpstr>rdt2.2: a NAK-free protocol</vt:lpstr>
      <vt:lpstr>rdt2.2: sender, receiver fragments</vt:lpstr>
      <vt:lpstr>rdt3.0: channels with errors and loss</vt:lpstr>
      <vt:lpstr>rdt3.0: channels with errors and loss</vt:lpstr>
      <vt:lpstr>rdt3.0 sender</vt:lpstr>
      <vt:lpstr>rdt3.0 sender</vt:lpstr>
      <vt:lpstr>rdt3.0 in action</vt:lpstr>
      <vt:lpstr>rdt3.0 in action</vt:lpstr>
      <vt:lpstr>Performance of rdt3.0 (stop-and-wait)</vt:lpstr>
      <vt:lpstr>rdt3.0: stop-and-wait operation</vt:lpstr>
      <vt:lpstr>rdt3.0: stop-and-wait operation</vt:lpstr>
      <vt:lpstr>rdt3.0: pipelined protocols operation</vt:lpstr>
      <vt:lpstr>Pipelining: increased utilization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razzaq</dc:creator>
  <cp:lastModifiedBy>sana razzaq</cp:lastModifiedBy>
  <cp:revision>1</cp:revision>
  <dcterms:created xsi:type="dcterms:W3CDTF">2024-08-13T06:54:37Z</dcterms:created>
  <dcterms:modified xsi:type="dcterms:W3CDTF">2024-08-13T06:55:10Z</dcterms:modified>
</cp:coreProperties>
</file>