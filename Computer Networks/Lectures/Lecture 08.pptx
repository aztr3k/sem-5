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1050" r:id="rId2"/>
    <p:sldId id="1112" r:id="rId3"/>
    <p:sldId id="1113" r:id="rId4"/>
    <p:sldId id="1212" r:id="rId5"/>
    <p:sldId id="1114" r:id="rId6"/>
    <p:sldId id="1115" r:id="rId7"/>
    <p:sldId id="1213" r:id="rId8"/>
    <p:sldId id="1116" r:id="rId9"/>
    <p:sldId id="1125" r:id="rId10"/>
    <p:sldId id="1117" r:id="rId11"/>
    <p:sldId id="1118" r:id="rId12"/>
    <p:sldId id="1120" r:id="rId13"/>
    <p:sldId id="1121" r:id="rId14"/>
    <p:sldId id="1122" r:id="rId15"/>
    <p:sldId id="1123" r:id="rId16"/>
    <p:sldId id="1119" r:id="rId17"/>
    <p:sldId id="1124" r:id="rId18"/>
    <p:sldId id="1214" r:id="rId19"/>
    <p:sldId id="1215" r:id="rId20"/>
    <p:sldId id="1216" r:id="rId21"/>
    <p:sldId id="1217" r:id="rId22"/>
    <p:sldId id="1218" r:id="rId23"/>
    <p:sldId id="1219" r:id="rId24"/>
    <p:sldId id="1220" r:id="rId25"/>
    <p:sldId id="1221" r:id="rId26"/>
    <p:sldId id="1222" r:id="rId27"/>
    <p:sldId id="1223" r:id="rId28"/>
    <p:sldId id="1224" r:id="rId29"/>
    <p:sldId id="1225" r:id="rId30"/>
    <p:sldId id="1226" r:id="rId31"/>
    <p:sldId id="1227" r:id="rId32"/>
    <p:sldId id="104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30E66-1B76-48DF-ACEA-439FF97A56D6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16609-403E-4954-9C01-CA8D71438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16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8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928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47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687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808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09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232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944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716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302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647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249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948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447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39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749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32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FEFA-8940-8A22-8BBB-265A0022E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3D034-88C4-7E6D-4651-B70311C5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65688-C830-7FE8-C343-18B12591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35B3C-03F6-F53C-8DAA-3F1755F60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1040-111F-46CE-4249-C927ADB8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4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DE5E-F36D-3A90-E63A-00E46860F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A6BA-BA52-9865-3F1B-2FDF1A6DC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C3F48-0D4D-65A4-5003-98183151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79797-EC0A-BCB0-2DF3-B04B9815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9E42-7E9E-C5FE-82BF-3EF81A8B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8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1244-4102-E536-69D0-2162E520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A96BF-25F2-4F85-8170-2AA942FFB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DE25D-8FD6-8B2D-3DF1-DEE033CA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6A831-2338-0571-692C-33F547A0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E41B1-3839-F11D-F0C9-D2AD85C4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231F-30E0-B490-435C-5908965C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25DB-46F9-E81B-B4F5-7E387B259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B9339-F506-BD16-0386-1A2CA0C27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FF742-48DF-D613-2F11-79986181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5ADAC-E79F-48B8-B8A9-4FDFC900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5E3B4-E3F7-7F13-E578-3D0441E1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0A75-2A61-EE26-C6F4-562A4669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B583F-8C79-189F-AFEE-D41DA87B1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CA7EA-E32D-DCF1-EB7F-BB4B74081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28846-17A3-CA31-4BED-99C85C50A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A3863-DEFC-C6B0-D75C-C7F44EA8B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B6E3A-A37C-D619-BBAF-4623678D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6B2-57E8-B382-DB96-37EFE9B9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82BC2-38D4-518A-2BDD-876BC329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5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CAD0-F332-CADA-E1B4-2CE85050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00CC2-2107-FA1F-D264-E532A162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EE279-7312-BD96-3A5C-A46DC40C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1382C-6A60-48E8-2DEC-4271F813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1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8A7FB-D6AE-8755-1916-65A9F5D4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9F923-7B04-6E86-C5B9-764B8CF3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B724C-3654-8627-748C-6FC535C7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9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5745-ACD6-F74E-0BB0-B8421FD9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A61A1-138F-9EF3-9122-CA6C0136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2F8A5-C82A-BB67-BE9D-456703427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DD2AB-C155-5166-0607-371D6F50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EEB6C-072B-44E7-107C-7CC20F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7208-89E9-F49D-DBD7-C4F2025C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9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5B2B-B771-237F-F757-E5E72200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600C2-1667-B49D-F835-16E89B9FC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F61C-5B32-2455-2908-3DD335B89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71566-C889-91A2-DC95-0E5DE4E6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9C90A-95A5-9693-E084-D9B5D64C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15676-6EDA-D1B0-BD75-AEE22431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16D2-FA00-22A7-41B8-FF0E9C20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7B638-8D32-F2F3-4EAF-5B41E4DBA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E0A1-1F1D-995B-37AD-743C71B9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76E07-5194-6565-FCEE-C13B5619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805B4-68E7-0407-7221-F3CDD8A3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0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C7A18-8C26-B87E-A493-98A388D78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6149C-844B-C1A8-F4CF-9D68AB781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4841A-14B4-0316-550E-3B9FB22F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0D54-0B7A-6B79-6A54-51C85742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639F-2159-DBD2-CE50-86F1B308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634FE-1FA0-760E-521E-106AF311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26168-FABF-3AF8-2DD4-747DE9B4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2A625-283B-B078-0C12-07785AC7B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97F96-3ACA-43FD-8A73-0AD57AF991FC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452A4-6CA1-905F-5073-AB42C2381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7C984-8E54-CC21-959B-AA432A514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EEBAD-0054-476E-9E2E-E8D363D00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0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0FE4D197-C068-7641-A580-436689983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4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</a:t>
            </a:r>
            <a:r>
              <a:rPr kumimoji="0" lang="en-US" altLang="ja-JP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cs.umass.edu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189B4D-1C2B-F245-A96D-9F110BA4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7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services, structure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A8BD0F-3C0D-E143-B2CB-EB155AB75267}"/>
              </a:ext>
            </a:extLst>
          </p:cNvPr>
          <p:cNvSpPr txBox="1">
            <a:spLocks noChangeArrowheads="1"/>
          </p:cNvSpPr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580866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services: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hostname-to-IP-address translation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aliasing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canonical, alias names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 aliasing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load distribution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replicated Web servers: many IP addresses correspond to one name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3ABE19B-9E03-F747-BF91-159D30C79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doesn‘t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scale!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Comcast DNS servers alone: 600B DNS queries/day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C5D9A65-B07F-4447-BD43-21050C29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9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1" y="306258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Thinking about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6338434" cy="105357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humongous 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0838" marR="0" lvl="0" indent="-2349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49213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~ billion records, each simple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59926F4-E2F6-1848-9764-95A9708A0595}"/>
              </a:ext>
            </a:extLst>
          </p:cNvPr>
          <p:cNvSpPr txBox="1">
            <a:spLocks noChangeArrowheads="1"/>
          </p:cNvSpPr>
          <p:nvPr/>
        </p:nvSpPr>
        <p:spPr>
          <a:xfrm>
            <a:off x="716718" y="2281087"/>
            <a:ext cx="5971949" cy="230784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handles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trillions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queries/day: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reads than writes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performance matters: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almost every Internet transaction interacts with DNS - msecs count!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3BA487B-2F58-E448-B437-CA4351F78A23}"/>
              </a:ext>
            </a:extLst>
          </p:cNvPr>
          <p:cNvSpPr txBox="1">
            <a:spLocks noChangeArrowheads="1"/>
          </p:cNvSpPr>
          <p:nvPr/>
        </p:nvSpPr>
        <p:spPr>
          <a:xfrm>
            <a:off x="716717" y="4432300"/>
            <a:ext cx="7038749" cy="13589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organizationally, physically decentralized: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millions of different organizations responsible for their records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516052B-584F-8049-894E-365DF65A8B5A}"/>
              </a:ext>
            </a:extLst>
          </p:cNvPr>
          <p:cNvSpPr txBox="1">
            <a:spLocks noChangeArrowheads="1"/>
          </p:cNvSpPr>
          <p:nvPr/>
        </p:nvSpPr>
        <p:spPr>
          <a:xfrm>
            <a:off x="750584" y="5871634"/>
            <a:ext cx="7038749" cy="5630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“bulletproof”: reliability, security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26" name="Picture 2" descr="SEC Says That It's Not Easy Determining Whether Teva Whistleblowers Are  Deserving Of A Bounty - FCPA Professor">
            <a:extLst>
              <a:ext uri="{FF2B5EF4-FFF2-40B4-BE49-F238E27FC236}">
                <a16:creationId xmlns:a16="http://schemas.microsoft.com/office/drawing/2014/main" id="{C4E09384-BA5E-E74E-8F77-28797AFC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66" y="4143022"/>
            <a:ext cx="2937933" cy="2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A6AE1E9-B3D7-7642-9CCD-3E2A0C33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edu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1EB010C-42C7-6E42-AA6D-C225E874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2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02A27-60D0-5B4D-BD6E-00C279F7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64" y="1529543"/>
            <a:ext cx="7122656" cy="2152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E018F-A8B8-D04F-AA86-E98C6072C4D6}"/>
              </a:ext>
            </a:extLst>
          </p:cNvPr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8EED64-A600-EB43-865F-526592344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689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F7A5-82F4-A842-BA4B-88DB1EA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2856025"/>
            <a:ext cx="6261100" cy="3200400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incredibly important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function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couldn’t function without it!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dirty="0">
                <a:solidFill>
                  <a:srgbClr val="00B0F0"/>
                </a:solidFill>
                <a:latin typeface="Calibri" panose="020F0502020204030204"/>
                <a:ea typeface="ＭＳ Ｐゴシック" panose="020B0600070205080204" pitchFamily="34" charset="-128"/>
              </a:rPr>
              <a:t>Remember Facebook outage a couple of days ago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DNSSEC – provides security (authentication, message integrity)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(Internet Corporation for Assigned Names and Numbers)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manages root DNS 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ADC63BB-C973-3942-8EC6-3C13E2B3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 logical root name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servers” worldwide each “server” replicated many times (~200 servers in US)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27D7C4-251C-EC46-94F4-43E46D28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14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.net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.aero, .jobs, .museums, and all top-level country domains, e.g.: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uk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.ca,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jp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.net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63187FC-BBBC-984E-BB71-64F11F5A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3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scutil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dns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" pitchFamily="2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/all</a:t>
            </a:r>
          </a:p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doesn’t strictly belong to hierarchy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9D88440-FC58-A548-AA80-854235DE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9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</a:t>
            </a: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edu</a:t>
            </a:r>
            <a:endParaRPr kumimoji="0" lang="en-US" altLang="en-US" sz="14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  <a:endPara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id="{0480BCEF-F94C-E34B-B55C-97CE664B5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33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  <a:endParaRPr kumimoji="0" lang="en-US" altLang="en-US" sz="14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</a:t>
              </a: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</a:t>
              </a: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edu</a:t>
              </a:r>
              <a:endPara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id="{A8961CBE-FE41-8D44-9128-97B15DEF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2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records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08588B2-F267-5D46-821D-D0D5A216E8F9}"/>
              </a:ext>
            </a:extLst>
          </p:cNvPr>
          <p:cNvSpPr txBox="1">
            <a:spLocks noChangeArrowheads="1"/>
          </p:cNvSpPr>
          <p:nvPr/>
        </p:nvSpPr>
        <p:spPr>
          <a:xfrm>
            <a:off x="1347787" y="1358900"/>
            <a:ext cx="9574213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distributed database storing resource records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(RR)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AF614AE-5EFE-CD4F-98FF-6CA8EFEA6A47}"/>
              </a:ext>
            </a:extLst>
          </p:cNvPr>
          <p:cNvSpPr txBox="1">
            <a:spLocks noChangeArrowheads="1"/>
          </p:cNvSpPr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type=NS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domain (e.g.,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foo.com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hostname of authoritative name server for this domain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D7409DB2-6342-834D-ABB2-A1B3DA3A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value, type,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ttl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FF3C084-C8BC-1946-AC92-BACA78ED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type=A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hostname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IP address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33ECBD3-7BA2-AC4D-ADED-9C9DE52E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type=CNAME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alias name for some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canonical” (the real) 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www.ibm.com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really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servereast.backup2.ibm.com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canonical 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62233DC-6662-1844-8E5F-FDE26481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type=MX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name of SMTP mail server associated with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4497C-A235-8C46-8A1B-FDC4DB9ACC31}"/>
              </a:ext>
            </a:extLst>
          </p:cNvPr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3AF190D-9153-4849-8D73-82E2FC3A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1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9A6680-5220-C94B-B54B-8246CBDC5236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99BE727C-D65D-1B40-96AC-483DEC4F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D3137C12-F806-3641-A910-12D839D30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EDBF86F0-1464-CB44-8885-0806AB78A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B63A2FA5-43E4-954D-9AB5-1D874B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AF4D57F-AE3F-9647-BE59-19E830D1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679A37C6-A060-1A4E-9044-88577B96F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673541D1-57E3-2945-9429-F0119276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4CFADCD-AE37-1644-BF88-67FE47DB3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3D1A7AB7-6B0B-CF47-A475-00A1549B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F6CD8852-97C9-AA40-BE0D-939C3F20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8E843694-5A82-3146-BF88-2166E2F0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647BB3F6-ABB6-7745-BEE2-09BC405C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43C35098-F1D5-F844-AD59-9E1AB2E6B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C77DED5D-F85E-BD49-A1EA-E279AC50D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70DB478-D786-3F43-96D9-4A3EFE52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EC9CAD9A-2ACC-E841-964A-C51614A31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C50AEEC2-E934-374F-AD10-414E9A36F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0F454706-890A-194D-A8B9-1F027F5A5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B20DF2CE-5427-7642-BC04-9D36B08A4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41" name="Text Box 57">
                <a:extLst>
                  <a:ext uri="{FF2B5EF4-FFF2-40B4-BE49-F238E27FC236}">
                    <a16:creationId xmlns:a16="http://schemas.microsoft.com/office/drawing/2014/main" id="{4CC1EC8B-ED8A-534D-B8AB-0E3E39481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id="{FD720698-F5B3-5C47-A102-5E4786459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Line 59">
                <a:extLst>
                  <a:ext uri="{FF2B5EF4-FFF2-40B4-BE49-F238E27FC236}">
                    <a16:creationId xmlns:a16="http://schemas.microsoft.com/office/drawing/2014/main" id="{5FE43354-E99E-6549-837E-529B4A967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61">
              <a:extLst>
                <a:ext uri="{FF2B5EF4-FFF2-40B4-BE49-F238E27FC236}">
                  <a16:creationId xmlns:a16="http://schemas.microsoft.com/office/drawing/2014/main" id="{7B6CBFB9-B999-324E-91C4-CB7BCE5D8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45" name="Text Box 62">
                <a:extLst>
                  <a:ext uri="{FF2B5EF4-FFF2-40B4-BE49-F238E27FC236}">
                    <a16:creationId xmlns:a16="http://schemas.microsoft.com/office/drawing/2014/main" id="{E2F0F997-6116-0C45-BA9F-CBA730A15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6" name="Line 63">
                <a:extLst>
                  <a:ext uri="{FF2B5EF4-FFF2-40B4-BE49-F238E27FC236}">
                    <a16:creationId xmlns:a16="http://schemas.microsoft.com/office/drawing/2014/main" id="{17A912FD-E8A8-8442-8F53-5994F2716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64">
                <a:extLst>
                  <a:ext uri="{FF2B5EF4-FFF2-40B4-BE49-F238E27FC236}">
                    <a16:creationId xmlns:a16="http://schemas.microsoft.com/office/drawing/2014/main" id="{07B7A39C-E852-2B4C-941E-0B488FF8C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978C79B-5602-8E43-829C-44002A5A2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03A0FB20-73AE-C645-8115-85F6EEA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0672" y="2610864"/>
            <a:ext cx="2902854" cy="295274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1A55A89B-1CD7-B54F-863D-E99720E03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2675" y="2590227"/>
            <a:ext cx="6383337" cy="1208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B83050FC-315F-2544-B90A-1FF8E08E6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2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3A966D3-2C53-7043-9726-8E5764BD36FD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D3568E88-5955-424B-B8F5-A21359D5E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F1DAA21C-2CC0-F041-B1F7-E5116088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507E3301-3AAB-0340-A7F1-6C575150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C84DEA63-7944-AC4C-88AD-6817D395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DC9B8E6D-9F7D-004C-98A3-75DEEEBD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306014BE-BC39-824E-9F78-D660CD267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42C2C1E-84BD-9743-97E0-09CF9FCF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A5708C43-6E7B-824A-980E-C5EB81FC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0">
              <a:extLst>
                <a:ext uri="{FF2B5EF4-FFF2-40B4-BE49-F238E27FC236}">
                  <a16:creationId xmlns:a16="http://schemas.microsoft.com/office/drawing/2014/main" id="{B5DFDF92-2319-2549-A363-2E65C1291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D4E993B8-AE34-384B-8C59-1B56BB12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B3DF818C-F6C8-E14D-A46C-FD306307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id="{9A6A9AC2-926A-8B4E-81B0-9CE0DD3BB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70" name="Text Box 26">
              <a:extLst>
                <a:ext uri="{FF2B5EF4-FFF2-40B4-BE49-F238E27FC236}">
                  <a16:creationId xmlns:a16="http://schemas.microsoft.com/office/drawing/2014/main" id="{C9071FBC-5A74-7341-A63F-649340B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71" name="Text Box 27">
              <a:extLst>
                <a:ext uri="{FF2B5EF4-FFF2-40B4-BE49-F238E27FC236}">
                  <a16:creationId xmlns:a16="http://schemas.microsoft.com/office/drawing/2014/main" id="{9513342D-3D82-2446-A7D3-28EDD5EAE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72" name="Text Box 28">
              <a:extLst>
                <a:ext uri="{FF2B5EF4-FFF2-40B4-BE49-F238E27FC236}">
                  <a16:creationId xmlns:a16="http://schemas.microsoft.com/office/drawing/2014/main" id="{83ED9871-C6FF-8644-98E4-EEE7A5BD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id="{646FFA4C-D2F4-804F-BB10-D2E1E711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id="{F169C7FC-D0F8-9546-93C0-00F4E6E4B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75" name="Text Box 32">
              <a:extLst>
                <a:ext uri="{FF2B5EF4-FFF2-40B4-BE49-F238E27FC236}">
                  <a16:creationId xmlns:a16="http://schemas.microsoft.com/office/drawing/2014/main" id="{2A810C4D-9EF9-0B42-8366-C238D3FBA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76" name="Group 60">
              <a:extLst>
                <a:ext uri="{FF2B5EF4-FFF2-40B4-BE49-F238E27FC236}">
                  <a16:creationId xmlns:a16="http://schemas.microsoft.com/office/drawing/2014/main" id="{8BF3E406-CCE3-D64E-8AB4-D91149714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81" name="Text Box 57">
                <a:extLst>
                  <a:ext uri="{FF2B5EF4-FFF2-40B4-BE49-F238E27FC236}">
                    <a16:creationId xmlns:a16="http://schemas.microsoft.com/office/drawing/2014/main" id="{C33F9937-2680-5C4C-811E-5F9E3D43B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B39B871F-A818-1B4E-A225-DA01D5ED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3CB8F9AE-D625-1D4A-8625-28F8772B9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61">
              <a:extLst>
                <a:ext uri="{FF2B5EF4-FFF2-40B4-BE49-F238E27FC236}">
                  <a16:creationId xmlns:a16="http://schemas.microsoft.com/office/drawing/2014/main" id="{711AFC78-9A4A-CD41-A49D-623142A4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78" name="Text Box 62">
                <a:extLst>
                  <a:ext uri="{FF2B5EF4-FFF2-40B4-BE49-F238E27FC236}">
                    <a16:creationId xmlns:a16="http://schemas.microsoft.com/office/drawing/2014/main" id="{D2686047-8DDE-AA4D-88A8-9F0670CBD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79" name="Line 63">
                <a:extLst>
                  <a:ext uri="{FF2B5EF4-FFF2-40B4-BE49-F238E27FC236}">
                    <a16:creationId xmlns:a16="http://schemas.microsoft.com/office/drawing/2014/main" id="{A93491FC-3FC2-BA4A-B5FC-8BFED4270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Line 64">
                <a:extLst>
                  <a:ext uri="{FF2B5EF4-FFF2-40B4-BE49-F238E27FC236}">
                    <a16:creationId xmlns:a16="http://schemas.microsoft.com/office/drawing/2014/main" id="{B4EF32F5-CEE0-064C-98D1-0B2AED9C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95042E94-C8A0-BE46-8EB4-39429E2B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name, type fields for a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id="{4E613433-F917-A147-AF5A-4DF4F76E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RRs in response to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3FD623A6-A024-6347-B591-DAC5D82F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records for authoritative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4B8555F6-7100-944F-9974-2E826BB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additional “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helpful”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 that may be used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id="{F803F024-9C8E-164E-BC96-48776D3FA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6126704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316EAAA0-F793-2043-BFB7-87E6DFAFF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54678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39">
            <a:extLst>
              <a:ext uri="{FF2B5EF4-FFF2-40B4-BE49-F238E27FC236}">
                <a16:creationId xmlns:a16="http://schemas.microsoft.com/office/drawing/2014/main" id="{408447E0-07FB-1341-9B44-D1DA4C67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809079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F708B0A3-0C69-D745-B00F-2DDF2924D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0835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95E186ED-4245-C448-9822-1199EA93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C19D16D8-DC06-E546-AA51-6069613B4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1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Getting your info into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3216383A-5EC1-7E47-A0BE-F48A801236C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new startup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Utopia”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register name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networkuptopia.com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registrar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(e.g., Network Solutions)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 names, IP addresses of authoritative name server (primary and secondary)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registrar inserts NS, A RRs into .com TLD server: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networkutopia.com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, dns1.networkutopia.com, 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(dns1.networkutopia.com, 212.212.212.1, A)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ourier" pitchFamily="2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create authoritative server locally with IP address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212.212.212.1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A record for www.networkuptopia.com</a:t>
            </a: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MX record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networkutopia.com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792EB6E-923E-9C45-A570-23DE9782A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Caching DNS Information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id="{796C1A8B-325B-1A4B-BF89-EF3A65965833}"/>
              </a:ext>
            </a:extLst>
          </p:cNvPr>
          <p:cNvSpPr txBox="1">
            <a:spLocks noChangeArrowheads="1"/>
          </p:cNvSpPr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(any) name server learns mapping, it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mapping, and 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mmediately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returns a cached mapping in response to a query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caching improves response time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 entries timeout (disappear) after some time (TTL)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TLD servers typically cached in local name servers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cached entries may be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out-of-date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named host changes IP address, may not be known Internet-wide until all TTLs expire!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 name-to-address translation!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23161C-A7AE-1A48-A402-4FD497E92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security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1829ECA-BDD6-AD44-8D36-9BB88442CDAB}"/>
              </a:ext>
            </a:extLst>
          </p:cNvPr>
          <p:cNvSpPr txBox="1">
            <a:spLocks/>
          </p:cNvSpPr>
          <p:nvPr/>
        </p:nvSpPr>
        <p:spPr>
          <a:xfrm>
            <a:off x="838200" y="1526094"/>
            <a:ext cx="502557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DDoS attacks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root servers with traffic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successful to date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traffic filtering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servers cache IPs of TLD servers, allowing root server bypass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TLD servers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potentially more dangerous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Comic Sans MS" panose="030F0902030302020204" pitchFamily="66" charset="0"/>
              <a:buAutoNum type="arabicPeriod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84F48D-B139-BA49-B127-5134E112078B}"/>
              </a:ext>
            </a:extLst>
          </p:cNvPr>
          <p:cNvSpPr txBox="1">
            <a:spLocks/>
          </p:cNvSpPr>
          <p:nvPr/>
        </p:nvSpPr>
        <p:spPr bwMode="auto"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14288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poofing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attacks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intercept DNS queries, returning bogus replies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 cache poisoning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RFC 4033: DNSSEC authentication services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EE8551A-CF21-2D4C-B81F-11CF85B7E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6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9" y="1447800"/>
            <a:ext cx="8904287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086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6214"/>
            <a:ext cx="8147050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103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524001"/>
            <a:ext cx="8177213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442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018" y="1288901"/>
            <a:ext cx="7899546" cy="497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791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752601"/>
            <a:ext cx="712152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6187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77406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856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1676401"/>
            <a:ext cx="6894513" cy="433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053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05000"/>
            <a:ext cx="75834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4033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57400"/>
            <a:ext cx="71945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586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68500"/>
            <a:ext cx="7905750" cy="379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693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43001"/>
            <a:ext cx="7410450" cy="43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5389563"/>
            <a:ext cx="50292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117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1"/>
            <a:ext cx="6116638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267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24000"/>
            <a:ext cx="785018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4146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447800"/>
            <a:ext cx="8029575" cy="47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519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6324E8-804D-814E-80CA-306D385C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ea typeface="ＭＳ Ｐゴシック" panose="020B0600070205080204" pitchFamily="34" charset="-128"/>
              </a:rPr>
              <a:t>Questions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5037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1500</Words>
  <Application>Microsoft Office PowerPoint</Application>
  <PresentationFormat>Widescreen</PresentationFormat>
  <Paragraphs>279</Paragraphs>
  <Slides>32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ＭＳ Ｐゴシック</vt:lpstr>
      <vt:lpstr>Arial</vt:lpstr>
      <vt:lpstr>Calibri</vt:lpstr>
      <vt:lpstr>Calibri Light</vt:lpstr>
      <vt:lpstr>Comic Sans MS</vt:lpstr>
      <vt:lpstr>Courier</vt:lpstr>
      <vt:lpstr>Gill Sans MT</vt:lpstr>
      <vt:lpstr>Wingdings</vt:lpstr>
      <vt:lpstr>ZapfDingbats</vt:lpstr>
      <vt:lpstr>Office Theme</vt:lpstr>
      <vt:lpstr>Application Layer: Overview</vt:lpstr>
      <vt:lpstr>DNS: Domain Name System</vt:lpstr>
      <vt:lpstr>DNS: services, structure</vt:lpstr>
      <vt:lpstr>Thinking about the DNS</vt:lpstr>
      <vt:lpstr>DNS: a distributed, hierarchical database</vt:lpstr>
      <vt:lpstr>DNS: root name servers</vt:lpstr>
      <vt:lpstr>DNS: root name servers</vt:lpstr>
      <vt:lpstr>Top-Level Domain, and authoritative servers</vt:lpstr>
      <vt:lpstr>Local DNS name servers</vt:lpstr>
      <vt:lpstr>DNS name resolution: iterated query</vt:lpstr>
      <vt:lpstr>DNS name resolution: recursive query</vt:lpstr>
      <vt:lpstr>DNS records</vt:lpstr>
      <vt:lpstr>DNS protocol messages</vt:lpstr>
      <vt:lpstr>DNS protocol messages</vt:lpstr>
      <vt:lpstr>Getting your info into the DNS</vt:lpstr>
      <vt:lpstr>Caching DNS Information</vt:lpstr>
      <vt:lpstr>DNS security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sana razzaq</cp:lastModifiedBy>
  <cp:revision>1</cp:revision>
  <dcterms:created xsi:type="dcterms:W3CDTF">2024-08-13T06:00:45Z</dcterms:created>
  <dcterms:modified xsi:type="dcterms:W3CDTF">2024-08-13T06:06:45Z</dcterms:modified>
</cp:coreProperties>
</file>