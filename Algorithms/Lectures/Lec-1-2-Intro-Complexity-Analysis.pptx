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423" r:id="rId3"/>
    <p:sldId id="469" r:id="rId4"/>
    <p:sldId id="394" r:id="rId5"/>
    <p:sldId id="424" r:id="rId6"/>
    <p:sldId id="432" r:id="rId7"/>
    <p:sldId id="434" r:id="rId8"/>
    <p:sldId id="437" r:id="rId9"/>
    <p:sldId id="441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56" r:id="rId25"/>
    <p:sldId id="457" r:id="rId26"/>
    <p:sldId id="458" r:id="rId27"/>
    <p:sldId id="459" r:id="rId28"/>
    <p:sldId id="460" r:id="rId29"/>
    <p:sldId id="461" r:id="rId30"/>
    <p:sldId id="462" r:id="rId31"/>
    <p:sldId id="463" r:id="rId32"/>
    <p:sldId id="464" r:id="rId33"/>
    <p:sldId id="465" r:id="rId34"/>
    <p:sldId id="466" r:id="rId35"/>
    <p:sldId id="467" r:id="rId36"/>
    <p:sldId id="468" r:id="rId3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ADACCDD-DCAB-4ED0-919A-E792EDBF58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97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9FF1B23F-E2A3-457D-8F92-CED1B26949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275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6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10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E21DE7-260A-4C9D-A2DF-D759F27D7595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2000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A5D2FB-1851-4508-99A0-B09F35BCD75C}" type="slidenum">
              <a:rPr lang="en-US" smtClean="0"/>
              <a:pPr/>
              <a:t>6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57792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E707E2-42C0-4CA9-B311-5D3B4E1F00A4}" type="slidenum">
              <a:rPr lang="en-US" smtClean="0"/>
              <a:pPr/>
              <a:t>7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6306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6D5BF3-4397-4AC8-96ED-3A4B9DDFDB5A}" type="slidenum">
              <a:rPr lang="en-US" smtClean="0"/>
              <a:pPr/>
              <a:t>8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8931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62013" y="739775"/>
            <a:ext cx="4937125" cy="370205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000" smtClean="0"/>
              <a:t>Asymptotic or Big-O notation.</a:t>
            </a:r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O       Omega     Sigma</a:t>
            </a:r>
          </a:p>
          <a:p>
            <a:endParaRPr lang="en-US" altLang="en-US" sz="2000" smtClean="0"/>
          </a:p>
        </p:txBody>
      </p:sp>
    </p:spTree>
    <p:extLst>
      <p:ext uri="{BB962C8B-B14F-4D97-AF65-F5344CB8AC3E}">
        <p14:creationId xmlns:p14="http://schemas.microsoft.com/office/powerpoint/2010/main" val="169734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22BFDEC-FCBB-49DE-A0FA-3B361D499D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535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A5F62-41D1-4BDE-98B4-A345B81631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F1523-B76B-4533-9863-DBCD825F67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543A71-5665-4D7E-B1B1-7349F3148D7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D0F2A-B67E-4CD9-836B-51B3ACC352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156DC-1DD0-4528-AD00-89059DA56D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BB799F-B540-4526-A3BF-E55FC907AA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7BF1A-AB91-4068-9EFD-A173C3631A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D14394-D50C-474D-87AA-05A1CF1F1A6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883A2-C87C-4DA5-8F0A-2CD70C00ABA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AA5BB-444E-4FD8-B693-B4B1529C1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83B55C8-E815-450D-B67D-C0E2B20366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143000"/>
            <a:ext cx="7848600" cy="54864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58411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fld id="{C09D661D-BFBD-4441-8755-4DB5B172C7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51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905000"/>
            <a:ext cx="8763000" cy="1905000"/>
          </a:xfrm>
        </p:spPr>
        <p:txBody>
          <a:bodyPr/>
          <a:lstStyle/>
          <a:p>
            <a:pPr algn="ctr"/>
            <a:r>
              <a:rPr lang="en-US" b="1" dirty="0"/>
              <a:t>   </a:t>
            </a:r>
            <a:r>
              <a:rPr lang="en-US" b="1" dirty="0" smtClean="0"/>
              <a:t>Design and Analysis of Algorithms</a:t>
            </a:r>
            <a:endParaRPr lang="en-US" b="1" dirty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838200" y="5791200"/>
            <a:ext cx="73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/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762000"/>
            <a:ext cx="8305800" cy="5486400"/>
          </a:xfrm>
          <a:ln/>
        </p:spPr>
        <p:txBody>
          <a:bodyPr/>
          <a:lstStyle/>
          <a:p>
            <a:pPr marL="273050" indent="-273050">
              <a:lnSpc>
                <a:spcPct val="80000"/>
              </a:lnSpc>
            </a:pPr>
            <a:endParaRPr lang="en-US" sz="2400" dirty="0" smtClean="0"/>
          </a:p>
          <a:p>
            <a:pPr marL="273050" indent="-273050"/>
            <a:r>
              <a:rPr lang="en-US" sz="3600" dirty="0" smtClean="0"/>
              <a:t>Online </a:t>
            </a:r>
            <a:r>
              <a:rPr lang="en-US" sz="3600" dirty="0"/>
              <a:t>course content &amp; coordination</a:t>
            </a:r>
          </a:p>
          <a:p>
            <a:pPr marL="639763" lvl="1" indent="-246063">
              <a:lnSpc>
                <a:spcPct val="80000"/>
              </a:lnSpc>
            </a:pPr>
            <a:r>
              <a:rPr lang="en-US" sz="3200" dirty="0" smtClean="0"/>
              <a:t>Google Classroom: </a:t>
            </a:r>
            <a:r>
              <a:rPr lang="en-US" sz="3200" dirty="0" smtClean="0"/>
              <a:t>Algo-Spring-2024</a:t>
            </a:r>
            <a:endParaRPr lang="en-US" sz="3200" dirty="0" smtClean="0"/>
          </a:p>
          <a:p>
            <a:pPr marL="639763" lvl="1" indent="-246063">
              <a:lnSpc>
                <a:spcPct val="80000"/>
              </a:lnSpc>
            </a:pPr>
            <a:r>
              <a:rPr lang="en-US" sz="3200" dirty="0" smtClean="0"/>
              <a:t>Class </a:t>
            </a:r>
            <a:r>
              <a:rPr lang="en-US" sz="3200" dirty="0" smtClean="0"/>
              <a:t>Code: </a:t>
            </a:r>
            <a:r>
              <a:rPr lang="en-US" sz="3200" dirty="0" smtClean="0"/>
              <a:t>oor7222</a:t>
            </a:r>
            <a:endParaRPr lang="en-US" sz="2000" dirty="0"/>
          </a:p>
        </p:txBody>
      </p:sp>
      <p:sp>
        <p:nvSpPr>
          <p:cNvPr id="3074" name="Slide Number Placeholder 5"/>
          <p:cNvSpPr txBox="1">
            <a:spLocks noGrp="1"/>
          </p:cNvSpPr>
          <p:nvPr/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</p:spPr>
        <p:txBody>
          <a:bodyPr lIns="0" tIns="0" rIns="0" bIns="0" anchor="b">
            <a:normAutofit/>
          </a:bodyPr>
          <a:lstStyle/>
          <a:p>
            <a:pPr algn="r"/>
            <a:endParaRPr lang="en-US" sz="1200">
              <a:solidFill>
                <a:srgbClr val="045C75"/>
              </a:solidFill>
            </a:endParaRPr>
          </a:p>
        </p:txBody>
      </p:sp>
      <p:sp>
        <p:nvSpPr>
          <p:cNvPr id="92165" name="Title 1"/>
          <p:cNvSpPr>
            <a:spLocks/>
          </p:cNvSpPr>
          <p:nvPr/>
        </p:nvSpPr>
        <p:spPr bwMode="auto">
          <a:xfrm>
            <a:off x="685800" y="1524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r>
              <a:rPr lang="en-US" sz="4200" b="1" dirty="0" smtClean="0">
                <a:solidFill>
                  <a:schemeClr val="tx2"/>
                </a:solidFill>
                <a:latin typeface="Garamond" pitchFamily="18" charset="0"/>
              </a:rPr>
              <a:t>Design and Analysis of Algorithms</a:t>
            </a:r>
            <a:endParaRPr lang="en-US" sz="4200" b="1" dirty="0">
              <a:solidFill>
                <a:schemeClr val="tx2"/>
              </a:solidFill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kern="1200" dirty="0">
                <a:latin typeface="Garamond" pitchFamily="18" charset="0"/>
                <a:ea typeface="+mn-ea"/>
                <a:cs typeface="+mn-cs"/>
              </a:rPr>
              <a:t>Instructor’s and TA’s Information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1495425"/>
            <a:ext cx="8229600" cy="4525963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 smtClean="0"/>
              <a:t>Course Instructor: Dr. </a:t>
            </a:r>
            <a:r>
              <a:rPr lang="en-US" altLang="en-US" dirty="0" err="1" smtClean="0"/>
              <a:t>Kashif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Munir</a:t>
            </a:r>
            <a:endParaRPr lang="en-US" altLang="en-US" dirty="0" smtClean="0"/>
          </a:p>
          <a:p>
            <a:pPr eaLnBrk="1" hangingPunct="1">
              <a:defRPr/>
            </a:pPr>
            <a:r>
              <a:rPr lang="en-US" altLang="en-US" dirty="0" smtClean="0"/>
              <a:t>E-mail: kashif.munir@nu.edu.pk</a:t>
            </a:r>
          </a:p>
          <a:p>
            <a:pPr eaLnBrk="1" hangingPunct="1">
              <a:defRPr/>
            </a:pPr>
            <a:r>
              <a:rPr lang="en-US" altLang="en-US" dirty="0" smtClean="0"/>
              <a:t>Office Hours</a:t>
            </a:r>
          </a:p>
          <a:p>
            <a:pPr lvl="1" eaLnBrk="1" hangingPunct="1">
              <a:defRPr/>
            </a:pPr>
            <a:r>
              <a:rPr lang="en-US" altLang="en-US" dirty="0" smtClean="0"/>
              <a:t>0845 – </a:t>
            </a:r>
            <a:r>
              <a:rPr lang="en-US" altLang="en-US" dirty="0" smtClean="0"/>
              <a:t>1045 </a:t>
            </a:r>
            <a:r>
              <a:rPr lang="en-US" altLang="en-US" dirty="0" err="1" smtClean="0"/>
              <a:t>hrs</a:t>
            </a:r>
            <a:r>
              <a:rPr lang="en-US" altLang="en-US" dirty="0" smtClean="0"/>
              <a:t> (Monday, Wednesday)</a:t>
            </a:r>
          </a:p>
          <a:p>
            <a:pPr lvl="1" eaLnBrk="1" hangingPunct="1">
              <a:defRPr/>
            </a:pPr>
            <a:r>
              <a:rPr lang="en-US" altLang="en-US" dirty="0" smtClean="0"/>
              <a:t>0845 – 0945 </a:t>
            </a:r>
            <a:r>
              <a:rPr lang="en-US" altLang="en-US" dirty="0" err="1" smtClean="0"/>
              <a:t>hrs</a:t>
            </a:r>
            <a:r>
              <a:rPr lang="en-US" altLang="en-US" dirty="0" smtClean="0"/>
              <a:t> (Tuesday, Thursday)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 smtClean="0"/>
              <a:t>TA: To be decided</a:t>
            </a:r>
            <a:endParaRPr lang="en-US" altLang="en-US" dirty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965334-FCA6-4ED0-AFEC-2CCA52E28F5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4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book and reference material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Introduction to Algorithms (Text Book)</a:t>
            </a:r>
          </a:p>
          <a:p>
            <a:pPr>
              <a:buNone/>
            </a:pPr>
            <a:r>
              <a:rPr lang="en-US" dirty="0" smtClean="0"/>
              <a:t>	Thomas H. </a:t>
            </a:r>
            <a:r>
              <a:rPr lang="en-US" dirty="0" err="1" smtClean="0"/>
              <a:t>Cormen</a:t>
            </a:r>
            <a:r>
              <a:rPr lang="en-US" dirty="0" smtClean="0"/>
              <a:t>, Charles E. </a:t>
            </a:r>
            <a:r>
              <a:rPr lang="en-US" dirty="0" err="1" smtClean="0"/>
              <a:t>Leiserson</a:t>
            </a:r>
            <a:r>
              <a:rPr lang="en-US" dirty="0" smtClean="0"/>
              <a:t>, Ronald L. </a:t>
            </a:r>
            <a:r>
              <a:rPr lang="en-US" dirty="0" err="1" smtClean="0"/>
              <a:t>Rivest</a:t>
            </a:r>
            <a:r>
              <a:rPr lang="en-US" dirty="0" smtClean="0"/>
              <a:t>, and Clifford Stein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800" i="1" dirty="0" smtClean="0"/>
              <a:t>Fourth </a:t>
            </a:r>
            <a:r>
              <a:rPr lang="en-US" sz="2800" i="1" dirty="0" smtClean="0"/>
              <a:t>Edition, MIT Press</a:t>
            </a:r>
          </a:p>
          <a:p>
            <a:r>
              <a:rPr lang="en-US" sz="2800" dirty="0" smtClean="0"/>
              <a:t>Any web material (consult authentic material e.g. on some university’s website)</a:t>
            </a:r>
            <a:endParaRPr lang="en-US" sz="2800" i="1" dirty="0" smtClean="0"/>
          </a:p>
        </p:txBody>
      </p:sp>
    </p:spTree>
    <p:extLst>
      <p:ext uri="{BB962C8B-B14F-4D97-AF65-F5344CB8AC3E}">
        <p14:creationId xmlns:p14="http://schemas.microsoft.com/office/powerpoint/2010/main" val="415938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Algorithm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74825"/>
            <a:ext cx="8915400" cy="4625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An algorithm is a well-defined and effective sequence of computation steps that takes some value, or set of values, as input and produces some value, or set of values, as output.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Correctness of an algorithm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An algorithm is said to be correct if, for every </a:t>
            </a:r>
            <a:r>
              <a:rPr lang="en-US" b="1" u="sng" dirty="0" smtClean="0"/>
              <a:t>input instance</a:t>
            </a:r>
            <a:r>
              <a:rPr lang="en-US" dirty="0" smtClean="0"/>
              <a:t>, it halts with the correct output.</a:t>
            </a:r>
          </a:p>
          <a:p>
            <a:pPr eaLnBrk="1" hangingPunct="1"/>
            <a:r>
              <a:rPr lang="en-US" dirty="0" smtClean="0"/>
              <a:t>An incorrect algorithm </a:t>
            </a:r>
          </a:p>
          <a:p>
            <a:pPr lvl="1" eaLnBrk="1" hangingPunct="1"/>
            <a:r>
              <a:rPr lang="en-US" dirty="0" smtClean="0"/>
              <a:t>might not halt at all on some input instances, or</a:t>
            </a:r>
          </a:p>
          <a:p>
            <a:pPr lvl="1" eaLnBrk="1" hangingPunct="1"/>
            <a:r>
              <a:rPr lang="en-US" dirty="0" smtClean="0"/>
              <a:t>It might halt with an answer other than desired 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Practical applications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Internet world</a:t>
            </a:r>
          </a:p>
          <a:p>
            <a:pPr eaLnBrk="1" hangingPunct="1"/>
            <a:r>
              <a:rPr lang="en-US" smtClean="0"/>
              <a:t>Electronic commerce </a:t>
            </a:r>
          </a:p>
          <a:p>
            <a:pPr eaLnBrk="1" hangingPunct="1"/>
            <a:r>
              <a:rPr lang="en-US" smtClean="0"/>
              <a:t>Manufacturing and other commercial settings</a:t>
            </a:r>
          </a:p>
          <a:p>
            <a:pPr eaLnBrk="1" hangingPunct="1"/>
            <a:r>
              <a:rPr lang="en-US" smtClean="0"/>
              <a:t>Shortest path</a:t>
            </a:r>
          </a:p>
          <a:p>
            <a:pPr eaLnBrk="1" hangingPunct="1"/>
            <a:r>
              <a:rPr lang="en-US" smtClean="0"/>
              <a:t>Matrices multiplication order</a:t>
            </a:r>
          </a:p>
          <a:p>
            <a:pPr eaLnBrk="1" hangingPunct="1"/>
            <a:r>
              <a:rPr lang="en-US" smtClean="0"/>
              <a:t>DNA sequence matching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Why Study Algorithms and Performance of Algorithms</a:t>
            </a:r>
            <a:endParaRPr 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724400"/>
          </a:xfrm>
        </p:spPr>
        <p:txBody>
          <a:bodyPr/>
          <a:lstStyle/>
          <a:p>
            <a:pPr eaLnBrk="1" hangingPunct="1"/>
            <a:r>
              <a:rPr lang="en-US" dirty="0" smtClean="0"/>
              <a:t>Algorithms help us to understand </a:t>
            </a:r>
            <a:r>
              <a:rPr lang="en-US" dirty="0" smtClean="0">
                <a:solidFill>
                  <a:srgbClr val="FF0000"/>
                </a:solidFill>
              </a:rPr>
              <a:t>scalability.</a:t>
            </a:r>
          </a:p>
          <a:p>
            <a:pPr eaLnBrk="1" hangingPunct="1"/>
            <a:r>
              <a:rPr lang="en-US" dirty="0" smtClean="0"/>
              <a:t>Performance often draws the line between what is feasible and what is impossible.</a:t>
            </a:r>
          </a:p>
          <a:p>
            <a:pPr eaLnBrk="1" hangingPunct="1"/>
            <a:r>
              <a:rPr lang="en-US" dirty="0" smtClean="0"/>
              <a:t>Algorithmic mathematics provides a</a:t>
            </a:r>
            <a:r>
              <a:rPr lang="en-US" dirty="0" smtClean="0">
                <a:solidFill>
                  <a:srgbClr val="FF0000"/>
                </a:solidFill>
              </a:rPr>
              <a:t> language </a:t>
            </a:r>
            <a:r>
              <a:rPr lang="en-US" dirty="0" smtClean="0"/>
              <a:t>for talking about program behavior.</a:t>
            </a:r>
          </a:p>
          <a:p>
            <a:pPr eaLnBrk="1" hangingPunct="1"/>
            <a:r>
              <a:rPr lang="en-US" dirty="0" smtClean="0"/>
              <a:t>Performance is the </a:t>
            </a:r>
            <a:r>
              <a:rPr lang="en-US" dirty="0" smtClean="0">
                <a:solidFill>
                  <a:srgbClr val="FF0000"/>
                </a:solidFill>
              </a:rPr>
              <a:t>currency</a:t>
            </a:r>
            <a:r>
              <a:rPr lang="en-US" dirty="0" smtClean="0"/>
              <a:t> of computing.</a:t>
            </a:r>
          </a:p>
          <a:p>
            <a:pPr eaLnBrk="1" hangingPunct="1"/>
            <a:r>
              <a:rPr lang="en-US" dirty="0" smtClean="0"/>
              <a:t>Speed is fun!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457200" y="1676400"/>
            <a:ext cx="80772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 </a:t>
            </a:r>
            <a:r>
              <a:rPr lang="en-GB" altLang="en-US" sz="2400">
                <a:latin typeface="Times New Roman" panose="02020603050405020304" pitchFamily="18" charset="0"/>
              </a:rPr>
              <a:t>Want to achieve platform-independence</a:t>
            </a:r>
          </a:p>
          <a:p>
            <a:pPr>
              <a:spcBef>
                <a:spcPct val="0"/>
              </a:spcBef>
              <a:buSzTx/>
            </a:pPr>
            <a:endParaRPr lang="en-GB" altLang="en-US" sz="2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</a:pPr>
            <a:r>
              <a:rPr lang="en-GB" altLang="en-US" sz="2400" b="0">
                <a:latin typeface="Times New Roman" panose="02020603050405020304" pitchFamily="18" charset="0"/>
              </a:rPr>
              <a:t> Use an abstract machine that uses </a:t>
            </a:r>
            <a:r>
              <a:rPr lang="en-GB" altLang="en-US" sz="2400" b="0" i="1">
                <a:latin typeface="Times New Roman" panose="02020603050405020304" pitchFamily="18" charset="0"/>
              </a:rPr>
              <a:t>steps</a:t>
            </a:r>
            <a:r>
              <a:rPr lang="en-GB" altLang="en-US" sz="2400" b="0">
                <a:latin typeface="Times New Roman" panose="02020603050405020304" pitchFamily="18" charset="0"/>
              </a:rPr>
              <a:t> of time and </a:t>
            </a:r>
            <a:r>
              <a:rPr lang="en-GB" altLang="en-US" sz="2400" b="0" i="1">
                <a:latin typeface="Times New Roman" panose="02020603050405020304" pitchFamily="18" charset="0"/>
              </a:rPr>
              <a:t>units</a:t>
            </a:r>
            <a:r>
              <a:rPr lang="en-GB" altLang="en-US" sz="2400" b="0">
                <a:latin typeface="Times New Roman" panose="02020603050405020304" pitchFamily="18" charset="0"/>
              </a:rPr>
              <a:t/>
            </a:r>
            <a:br>
              <a:rPr lang="en-GB" altLang="en-US" sz="2400" b="0">
                <a:latin typeface="Times New Roman" panose="02020603050405020304" pitchFamily="18" charset="0"/>
              </a:rPr>
            </a:br>
            <a:r>
              <a:rPr lang="en-GB" altLang="en-US" sz="2400" b="0">
                <a:latin typeface="Times New Roman" panose="02020603050405020304" pitchFamily="18" charset="0"/>
              </a:rPr>
              <a:t>   of memory, instead of seconds or bytes</a:t>
            </a:r>
            <a:br>
              <a:rPr lang="en-GB" altLang="en-US" sz="2400" b="0">
                <a:latin typeface="Times New Roman" panose="02020603050405020304" pitchFamily="18" charset="0"/>
              </a:rPr>
            </a:br>
            <a:r>
              <a:rPr lang="en-GB" altLang="en-US" sz="2400" b="0">
                <a:latin typeface="Times New Roman" panose="02020603050405020304" pitchFamily="18" charset="0"/>
              </a:rPr>
              <a:t>   - each elementary operation takes 1 step</a:t>
            </a:r>
            <a:br>
              <a:rPr lang="en-GB" altLang="en-US" sz="2400" b="0">
                <a:latin typeface="Times New Roman" panose="02020603050405020304" pitchFamily="18" charset="0"/>
              </a:rPr>
            </a:br>
            <a:r>
              <a:rPr lang="en-GB" altLang="en-US" sz="2400" b="0">
                <a:latin typeface="Times New Roman" panose="02020603050405020304" pitchFamily="18" charset="0"/>
              </a:rPr>
              <a:t>   - each elementary instance occupies 1 unit of memory</a:t>
            </a: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50275" cy="517525"/>
          </a:xfrm>
          <a:solidFill>
            <a:schemeClr val="bg1"/>
          </a:solidFill>
        </p:spPr>
        <p:txBody>
          <a:bodyPr lIns="92075" tIns="46038" rIns="92075" bIns="46038"/>
          <a:lstStyle/>
          <a:p>
            <a:r>
              <a:rPr lang="en-GB" altLang="en-US" smtClean="0"/>
              <a:t>Complexity Analysis</a:t>
            </a:r>
          </a:p>
        </p:txBody>
      </p:sp>
    </p:spTree>
    <p:extLst>
      <p:ext uri="{BB962C8B-B14F-4D97-AF65-F5344CB8AC3E}">
        <p14:creationId xmlns:p14="http://schemas.microsoft.com/office/powerpoint/2010/main" val="415786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1981200" y="5257800"/>
            <a:ext cx="4495800" cy="3810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Analyzing an Algorithm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79475"/>
            <a:ext cx="8229600" cy="4530725"/>
          </a:xfrm>
        </p:spPr>
        <p:txBody>
          <a:bodyPr/>
          <a:lstStyle/>
          <a:p>
            <a:r>
              <a:rPr lang="en-US" altLang="en-US" dirty="0" smtClean="0"/>
              <a:t>Simple statement sequence</a:t>
            </a:r>
          </a:p>
          <a:p>
            <a:pPr lvl="1">
              <a:buFontTx/>
              <a:buChar char=" "/>
            </a:pP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</a:t>
            </a:r>
            <a:r>
              <a:rPr lang="en-US" altLang="en-US" baseline="-250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 s</a:t>
            </a:r>
            <a:r>
              <a:rPr lang="en-US" altLang="en-US" baseline="-250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 …. ;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s</a:t>
            </a:r>
            <a:r>
              <a:rPr lang="en-US" altLang="en-US" baseline="-25000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k</a:t>
            </a:r>
            <a:endParaRPr lang="en-US" altLang="en-US" dirty="0" smtClean="0"/>
          </a:p>
          <a:p>
            <a:pPr lvl="1"/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i="1" dirty="0" smtClean="0">
                <a:latin typeface="Times New Roman" panose="02020603050405020304" pitchFamily="18" charset="0"/>
              </a:rPr>
              <a:t> </a:t>
            </a:r>
            <a:r>
              <a:rPr lang="en-US" altLang="en-US" dirty="0" smtClean="0"/>
              <a:t> as long as 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dirty="0" smtClean="0"/>
              <a:t> is constant</a:t>
            </a:r>
          </a:p>
          <a:p>
            <a:r>
              <a:rPr lang="en-US" altLang="en-US" dirty="0" smtClean="0"/>
              <a:t>Simple loops</a:t>
            </a:r>
          </a:p>
          <a:p>
            <a:pPr lvl="1">
              <a:buFontTx/>
              <a:buChar char=" "/>
            </a:pP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for(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=0;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&lt;n;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++) { s; }</a:t>
            </a:r>
            <a:endParaRPr lang="en-US" altLang="en-US" dirty="0" smtClean="0"/>
          </a:p>
          <a:p>
            <a:pPr lvl="1">
              <a:buFontTx/>
              <a:buChar char=" "/>
            </a:pPr>
            <a:r>
              <a:rPr lang="en-US" altLang="en-US" dirty="0" smtClean="0"/>
              <a:t>where 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</a:t>
            </a:r>
            <a:r>
              <a:rPr lang="en-US" altLang="en-US" dirty="0" smtClean="0"/>
              <a:t> is 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Time complexity is   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O(n)</a:t>
            </a:r>
            <a:endParaRPr lang="en-US" altLang="en-US" dirty="0" smtClean="0"/>
          </a:p>
          <a:p>
            <a:r>
              <a:rPr lang="en-US" altLang="en-US" dirty="0" smtClean="0"/>
              <a:t>Nested loops</a:t>
            </a:r>
          </a:p>
          <a:p>
            <a:pPr lvl="1">
              <a:buFontTx/>
              <a:buChar char=" "/>
            </a:pP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for(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=0;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&lt;n;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++)</a:t>
            </a:r>
            <a:b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  for(j=0; j&lt;n;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j++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 { s; }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Complexity is   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O(n</a:t>
            </a:r>
            <a:r>
              <a:rPr lang="en-US" altLang="en-US" baseline="30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6816725" y="4989513"/>
            <a:ext cx="1890713" cy="9017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dirty="0"/>
              <a:t>This part is</a:t>
            </a:r>
            <a:endParaRPr lang="en-US" altLang="en-US" sz="2400" b="0" dirty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</a:rPr>
              <a:t>O(n)</a:t>
            </a:r>
            <a:endParaRPr lang="en-US" altLang="en-US" sz="2400" b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81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Analyzing an Algorithm</a:t>
            </a:r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Loop index doesn’t vary linearly</a:t>
            </a:r>
          </a:p>
          <a:p>
            <a:pPr lvl="1">
              <a:buFontTx/>
              <a:buChar char=" "/>
            </a:pP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h = 1;</a:t>
            </a:r>
            <a:b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while ( h &lt;= n ) {</a:t>
            </a:r>
            <a:b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     s;</a:t>
            </a:r>
            <a:b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     h = 2 * h;</a:t>
            </a:r>
          </a:p>
          <a:p>
            <a:pPr lvl="1">
              <a:buFontTx/>
              <a:buChar char=" "/>
            </a:pP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     }</a:t>
            </a:r>
            <a:endParaRPr lang="en-US" altLang="en-US" smtClean="0"/>
          </a:p>
          <a:p>
            <a:pPr lvl="1"/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h</a:t>
            </a:r>
            <a:r>
              <a:rPr lang="en-US" altLang="en-US" i="1" smtClean="0">
                <a:solidFill>
                  <a:schemeClr val="tx1"/>
                </a:solidFill>
              </a:rPr>
              <a:t> </a:t>
            </a:r>
            <a:r>
              <a:rPr lang="en-US" altLang="en-US" smtClean="0"/>
              <a:t>takes values</a:t>
            </a:r>
            <a:r>
              <a:rPr lang="en-US" altLang="en-US" i="1" smtClean="0">
                <a:solidFill>
                  <a:schemeClr val="tx1"/>
                </a:solidFill>
              </a:rPr>
              <a:t> 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1, 2, 4, …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until it exceeds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n</a:t>
            </a:r>
          </a:p>
          <a:p>
            <a:pPr lvl="1"/>
            <a:r>
              <a:rPr lang="en-US" altLang="en-US" smtClean="0"/>
              <a:t>There are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en-US" i="1" baseline="-25000" smtClean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n  </a:t>
            </a:r>
            <a:r>
              <a:rPr lang="en-US" altLang="en-US" smtClean="0">
                <a:solidFill>
                  <a:schemeClr val="tx1"/>
                </a:solidFill>
              </a:rPr>
              <a:t>iterations</a:t>
            </a:r>
          </a:p>
          <a:p>
            <a:pPr lvl="1"/>
            <a:r>
              <a:rPr lang="en-US" altLang="en-US" smtClean="0">
                <a:solidFill>
                  <a:schemeClr val="tx1"/>
                </a:solidFill>
              </a:rPr>
              <a:t>Complexity   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n)</a:t>
            </a:r>
            <a:endParaRPr lang="en-US" altLang="en-US" smtClean="0"/>
          </a:p>
          <a:p>
            <a:endParaRPr lang="en-US" altLang="en-US" i="1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61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505200" y="2133600"/>
            <a:ext cx="609600" cy="3810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Analysing an Algorithm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848600" cy="4038600"/>
          </a:xfrm>
        </p:spPr>
        <p:txBody>
          <a:bodyPr/>
          <a:lstStyle/>
          <a:p>
            <a:r>
              <a:rPr lang="en-US" altLang="en-US" smtClean="0"/>
              <a:t>Loop index depends on outer loop index</a:t>
            </a:r>
          </a:p>
          <a:p>
            <a:pPr lvl="1">
              <a:buFontTx/>
              <a:buChar char=" "/>
            </a:pP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for(j=0;j&lt;=n;j++)</a:t>
            </a:r>
          </a:p>
          <a:p>
            <a:pPr lvl="1">
              <a:buFontTx/>
              <a:buChar char=" "/>
            </a:pP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   for(k=0;k&lt;j;k++){</a:t>
            </a:r>
            <a:b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     s;</a:t>
            </a:r>
            <a:b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     }</a:t>
            </a:r>
            <a:endParaRPr lang="en-US" altLang="en-US" i="1" smtClean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altLang="en-US" smtClean="0"/>
              <a:t>Inner loop executed</a:t>
            </a:r>
          </a:p>
          <a:p>
            <a:pPr marL="1162050" lvl="2"/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1, 2, 3, …., n </a:t>
            </a:r>
            <a:r>
              <a:rPr lang="en-US" altLang="en-US" smtClean="0">
                <a:solidFill>
                  <a:srgbClr val="063DE8"/>
                </a:solidFill>
              </a:rPr>
              <a:t>times</a:t>
            </a:r>
            <a:endParaRPr lang="en-US" altLang="en-US" smtClean="0"/>
          </a:p>
          <a:p>
            <a:pPr lvl="1"/>
            <a:endParaRPr lang="en-US" altLang="en-US" smtClean="0">
              <a:solidFill>
                <a:schemeClr val="tx1"/>
              </a:solidFill>
            </a:endParaRPr>
          </a:p>
          <a:p>
            <a:pPr lvl="1"/>
            <a:endParaRPr lang="en-US" altLang="en-US" smtClean="0">
              <a:solidFill>
                <a:schemeClr val="tx1"/>
              </a:solidFill>
            </a:endParaRPr>
          </a:p>
          <a:p>
            <a:pPr lvl="1"/>
            <a:endParaRPr lang="en-US" altLang="en-US" smtClean="0">
              <a:solidFill>
                <a:schemeClr val="tx1"/>
              </a:solidFill>
            </a:endParaRPr>
          </a:p>
          <a:p>
            <a:pPr lvl="1">
              <a:buFont typeface="Symbol" panose="05050102010706020507" pitchFamily="18" charset="2"/>
              <a:buChar char="\"/>
            </a:pPr>
            <a:r>
              <a:rPr lang="en-US" altLang="en-US" smtClean="0">
                <a:solidFill>
                  <a:schemeClr val="tx1"/>
                </a:solidFill>
              </a:rPr>
              <a:t> Complexity   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O(n</a:t>
            </a:r>
            <a:r>
              <a:rPr lang="en-US" altLang="en-US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mtClean="0">
                <a:solidFill>
                  <a:schemeClr val="tx1"/>
                </a:solidFill>
                <a:latin typeface="Courier New" panose="02070309020205020404" pitchFamily="49" charset="0"/>
              </a:rPr>
              <a:t>  </a:t>
            </a:r>
            <a:endParaRPr lang="en-US" altLang="en-US" i="1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7" name="AutoShape 10"/>
          <p:cNvSpPr>
            <a:spLocks noChangeArrowheads="1"/>
          </p:cNvSpPr>
          <p:nvPr/>
        </p:nvSpPr>
        <p:spPr bwMode="auto">
          <a:xfrm>
            <a:off x="1905000" y="4216400"/>
            <a:ext cx="427038" cy="4921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grpSp>
        <p:nvGrpSpPr>
          <p:cNvPr id="8198" name="Group 18"/>
          <p:cNvGrpSpPr>
            <a:grpSpLocks/>
          </p:cNvGrpSpPr>
          <p:nvPr/>
        </p:nvGrpSpPr>
        <p:grpSpPr bwMode="auto">
          <a:xfrm>
            <a:off x="1939925" y="4302125"/>
            <a:ext cx="2125663" cy="955675"/>
            <a:chOff x="3910" y="3744"/>
            <a:chExt cx="1339" cy="602"/>
          </a:xfrm>
        </p:grpSpPr>
        <p:sp>
          <p:nvSpPr>
            <p:cNvPr id="8200" name="AutoShape 9"/>
            <p:cNvSpPr>
              <a:spLocks noChangeArrowheads="1"/>
            </p:cNvSpPr>
            <p:nvPr/>
          </p:nvSpPr>
          <p:spPr bwMode="auto">
            <a:xfrm>
              <a:off x="3910" y="3840"/>
              <a:ext cx="633" cy="35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>
                  <a:latin typeface="Symbol" panose="05050102010706020507" pitchFamily="18" charset="2"/>
                </a:rPr>
                <a:t>S</a:t>
              </a:r>
              <a:r>
                <a:rPr lang="en-US" altLang="en-US" sz="2400" i="1">
                  <a:latin typeface="Times New Roman" panose="02020603050405020304" pitchFamily="18" charset="0"/>
                </a:rPr>
                <a:t>  i  =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201" name="AutoShape 11"/>
            <p:cNvSpPr>
              <a:spLocks noChangeArrowheads="1"/>
            </p:cNvSpPr>
            <p:nvPr/>
          </p:nvSpPr>
          <p:spPr bwMode="auto">
            <a:xfrm>
              <a:off x="3910" y="4032"/>
              <a:ext cx="362" cy="31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i</a:t>
              </a:r>
              <a:r>
                <a:rPr lang="en-US" altLang="en-US" sz="2000" i="1">
                  <a:latin typeface="Times New Roman" panose="02020603050405020304" pitchFamily="18" charset="0"/>
                </a:rPr>
                <a:t>=</a:t>
              </a: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202" name="AutoShape 13"/>
            <p:cNvSpPr>
              <a:spLocks noChangeArrowheads="1"/>
            </p:cNvSpPr>
            <p:nvPr/>
          </p:nvSpPr>
          <p:spPr bwMode="auto">
            <a:xfrm>
              <a:off x="4560" y="3744"/>
              <a:ext cx="689" cy="31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n(n+</a:t>
              </a: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  <a:r>
                <a:rPr lang="en-US" altLang="en-US" sz="2400" i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8203" name="AutoShape 16"/>
            <p:cNvSpPr>
              <a:spLocks noChangeArrowheads="1"/>
            </p:cNvSpPr>
            <p:nvPr/>
          </p:nvSpPr>
          <p:spPr bwMode="auto">
            <a:xfrm>
              <a:off x="4752" y="4014"/>
              <a:ext cx="224" cy="30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8204" name="Line 17"/>
            <p:cNvSpPr>
              <a:spLocks noChangeShapeType="1"/>
            </p:cNvSpPr>
            <p:nvPr/>
          </p:nvSpPr>
          <p:spPr bwMode="auto">
            <a:xfrm flipH="1">
              <a:off x="4608" y="403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99" name="AutoShape 19"/>
          <p:cNvSpPr>
            <a:spLocks noChangeArrowheads="1"/>
          </p:cNvSpPr>
          <p:nvPr/>
        </p:nvSpPr>
        <p:spPr bwMode="auto">
          <a:xfrm>
            <a:off x="4764088" y="3654425"/>
            <a:ext cx="4000500" cy="25908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/>
              <a:t>Distinguish this case -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/>
              <a:t>where the iteration count increases (decreases) by a factor  </a:t>
            </a:r>
            <a:r>
              <a:rPr lang="en-US" altLang="en-US" sz="2400" b="0">
                <a:latin typeface="Monotype Sorts" pitchFamily="2" charset="2"/>
              </a:rPr>
              <a:t>ç</a:t>
            </a:r>
            <a:r>
              <a:rPr lang="en-US" altLang="en-US" sz="2400" b="0">
                <a:latin typeface="Times New Roman" panose="02020603050405020304" pitchFamily="18" charset="0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</a:rPr>
              <a:t>O(n</a:t>
            </a:r>
            <a:r>
              <a:rPr lang="en-US" altLang="en-US" sz="2400" i="1" baseline="30000">
                <a:latin typeface="Times New Roman" panose="02020603050405020304" pitchFamily="18" charset="0"/>
              </a:rPr>
              <a:t>k</a:t>
            </a:r>
            <a:r>
              <a:rPr lang="en-US" altLang="en-US" sz="2400" i="1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/>
              <a:t>from the previous one -</a:t>
            </a:r>
            <a:br>
              <a:rPr lang="en-US" altLang="en-US" sz="2000"/>
            </a:br>
            <a:r>
              <a:rPr lang="en-US" altLang="en-US" sz="2000"/>
              <a:t>where it changes by a factor </a:t>
            </a:r>
            <a:r>
              <a:rPr lang="en-US" altLang="en-US" sz="2400" b="0">
                <a:latin typeface="Monotype Sorts" pitchFamily="2" charset="2"/>
              </a:rPr>
              <a:t>ç</a:t>
            </a:r>
            <a:r>
              <a:rPr lang="en-US" altLang="en-US" sz="2400" b="0">
                <a:latin typeface="Times New Roman" panose="02020603050405020304" pitchFamily="18" charset="0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</a:rPr>
              <a:t>O(</a:t>
            </a:r>
            <a:r>
              <a:rPr lang="en-US" altLang="en-US" sz="2400">
                <a:latin typeface="Times New Roman" panose="02020603050405020304" pitchFamily="18" charset="0"/>
              </a:rPr>
              <a:t>log</a:t>
            </a:r>
            <a:r>
              <a:rPr lang="en-US" altLang="en-US" sz="2400" i="1">
                <a:latin typeface="Times New Roman" panose="02020603050405020304" pitchFamily="18" charset="0"/>
              </a:rPr>
              <a:t> n) </a:t>
            </a:r>
          </a:p>
        </p:txBody>
      </p:sp>
    </p:spTree>
    <p:extLst>
      <p:ext uri="{BB962C8B-B14F-4D97-AF65-F5344CB8AC3E}">
        <p14:creationId xmlns:p14="http://schemas.microsoft.com/office/powerpoint/2010/main" val="320211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Analyzing an Algorithm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// Input: int A[N], array of N integers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// Output: Sum of all numbers in array A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0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int Sum(int A[], int N)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   int s=0;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   for (int i=0; i&lt; N; i++)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      s = s + A[i];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   return s;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smtClean="0"/>
              <a:t>How should we analyse this?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000" smtClean="0"/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smtClean="0"/>
          </a:p>
        </p:txBody>
      </p:sp>
    </p:spTree>
    <p:extLst>
      <p:ext uri="{BB962C8B-B14F-4D97-AF65-F5344CB8AC3E}">
        <p14:creationId xmlns:p14="http://schemas.microsoft.com/office/powerpoint/2010/main" val="411371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Analyzing an Algorithm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762000" y="1524000"/>
            <a:ext cx="5645150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// Input: int A[N], array of N integers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// Output: Sum of all numbers in array A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int Sum(int A[], int N){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int s=0;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for (int i=0; i&lt; N; i++)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   s = s + A[i];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return s;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Courier New" panose="02070309020205020404" pitchFamily="49" charset="0"/>
            </a:endParaRPr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1235075" y="4362450"/>
            <a:ext cx="12954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245" name="AutoShape 5"/>
          <p:cNvSpPr>
            <a:spLocks noChangeArrowheads="1"/>
          </p:cNvSpPr>
          <p:nvPr/>
        </p:nvSpPr>
        <p:spPr bwMode="auto">
          <a:xfrm>
            <a:off x="1768475" y="26860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246" name="AutoShape 6"/>
          <p:cNvSpPr>
            <a:spLocks noChangeArrowheads="1"/>
          </p:cNvSpPr>
          <p:nvPr/>
        </p:nvSpPr>
        <p:spPr bwMode="auto">
          <a:xfrm>
            <a:off x="2454275" y="32194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247" name="AutoShape 7"/>
          <p:cNvSpPr>
            <a:spLocks noChangeArrowheads="1"/>
          </p:cNvSpPr>
          <p:nvPr/>
        </p:nvSpPr>
        <p:spPr bwMode="auto">
          <a:xfrm>
            <a:off x="2743200" y="3810000"/>
            <a:ext cx="5334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248" name="AutoShape 8"/>
          <p:cNvSpPr>
            <a:spLocks noChangeArrowheads="1"/>
          </p:cNvSpPr>
          <p:nvPr/>
        </p:nvSpPr>
        <p:spPr bwMode="auto">
          <a:xfrm>
            <a:off x="3140075" y="3219450"/>
            <a:ext cx="6096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249" name="AutoShape 9"/>
          <p:cNvSpPr>
            <a:spLocks noChangeArrowheads="1"/>
          </p:cNvSpPr>
          <p:nvPr/>
        </p:nvSpPr>
        <p:spPr bwMode="auto">
          <a:xfrm>
            <a:off x="3978275" y="32194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H="1" flipV="1">
            <a:off x="2362200" y="2819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Oval 11"/>
          <p:cNvSpPr>
            <a:spLocks noChangeArrowheads="1"/>
          </p:cNvSpPr>
          <p:nvPr/>
        </p:nvSpPr>
        <p:spPr bwMode="auto">
          <a:xfrm>
            <a:off x="3200400" y="2667000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0252" name="Oval 12"/>
          <p:cNvSpPr>
            <a:spLocks noChangeArrowheads="1"/>
          </p:cNvSpPr>
          <p:nvPr/>
        </p:nvSpPr>
        <p:spPr bwMode="auto">
          <a:xfrm>
            <a:off x="12954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0253" name="Oval 13"/>
          <p:cNvSpPr>
            <a:spLocks noChangeArrowheads="1"/>
          </p:cNvSpPr>
          <p:nvPr/>
        </p:nvSpPr>
        <p:spPr bwMode="auto">
          <a:xfrm>
            <a:off x="37338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254" name="Oval 14"/>
          <p:cNvSpPr>
            <a:spLocks noChangeArrowheads="1"/>
          </p:cNvSpPr>
          <p:nvPr/>
        </p:nvSpPr>
        <p:spPr bwMode="auto">
          <a:xfrm>
            <a:off x="47244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 flipV="1">
            <a:off x="1600200" y="3505200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 flipH="1" flipV="1">
            <a:off x="3505200" y="3505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 flipH="1" flipV="1">
            <a:off x="4343400" y="35052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Oval 18"/>
          <p:cNvSpPr>
            <a:spLocks noChangeArrowheads="1"/>
          </p:cNvSpPr>
          <p:nvPr/>
        </p:nvSpPr>
        <p:spPr bwMode="auto">
          <a:xfrm>
            <a:off x="1295400" y="39624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2819400" y="41148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0260" name="Oval 20"/>
          <p:cNvSpPr>
            <a:spLocks noChangeArrowheads="1"/>
          </p:cNvSpPr>
          <p:nvPr/>
        </p:nvSpPr>
        <p:spPr bwMode="auto">
          <a:xfrm>
            <a:off x="3657600" y="41148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261" name="Oval 21"/>
          <p:cNvSpPr>
            <a:spLocks noChangeArrowheads="1"/>
          </p:cNvSpPr>
          <p:nvPr/>
        </p:nvSpPr>
        <p:spPr bwMode="auto">
          <a:xfrm>
            <a:off x="2819400" y="47244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V="1">
            <a:off x="1600200" y="39624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 flipH="1" flipV="1">
            <a:off x="25908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 flipH="1" flipV="1">
            <a:off x="3276600" y="40386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Line 25"/>
          <p:cNvSpPr>
            <a:spLocks noChangeShapeType="1"/>
          </p:cNvSpPr>
          <p:nvPr/>
        </p:nvSpPr>
        <p:spPr bwMode="auto">
          <a:xfrm flipH="1" flipV="1">
            <a:off x="2590800" y="45720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30" name="Text Box 26"/>
          <p:cNvSpPr txBox="1">
            <a:spLocks noChangeArrowheads="1"/>
          </p:cNvSpPr>
          <p:nvPr/>
        </p:nvSpPr>
        <p:spPr bwMode="auto">
          <a:xfrm>
            <a:off x="5029200" y="4038600"/>
            <a:ext cx="356552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1,2,8: Once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3,4,5,6,7: Once per each iteration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                of for loop, N iteration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Total: 5N + 3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The </a:t>
            </a:r>
            <a:r>
              <a:rPr lang="en-GB" altLang="en-US" sz="2000" b="0" i="1">
                <a:latin typeface="Times New Roman" panose="02020603050405020304" pitchFamily="18" charset="0"/>
              </a:rPr>
              <a:t>complexity function</a:t>
            </a:r>
            <a:r>
              <a:rPr lang="en-GB" altLang="en-US" sz="2000" b="0">
                <a:latin typeface="Times New Roman" panose="02020603050405020304" pitchFamily="18" charset="0"/>
              </a:rPr>
              <a:t> of the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algorithm is : </a:t>
            </a:r>
            <a:r>
              <a:rPr lang="en-GB" altLang="en-US" sz="2000" b="0" i="1">
                <a:latin typeface="Times New Roman" panose="02020603050405020304" pitchFamily="18" charset="0"/>
              </a:rPr>
              <a:t>f(N) = 5N +3</a:t>
            </a:r>
            <a:endParaRPr lang="en-GB" altLang="en-US" sz="2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32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01000" cy="1066800"/>
          </a:xfrm>
        </p:spPr>
        <p:txBody>
          <a:bodyPr/>
          <a:lstStyle/>
          <a:p>
            <a:r>
              <a:rPr lang="en-US" altLang="en-US" sz="4000" dirty="0" smtClean="0"/>
              <a:t>Analyzing an Algorithm </a:t>
            </a:r>
            <a:br>
              <a:rPr lang="en-US" altLang="en-US" sz="4000" dirty="0" smtClean="0"/>
            </a:br>
            <a:r>
              <a:rPr lang="en-US" altLang="en-US" sz="4000" dirty="0" smtClean="0"/>
              <a:t>Growth of 5n+3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848600" cy="5486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400" smtClean="0"/>
              <a:t>Estimated running time for different values of N: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4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 smtClean="0"/>
              <a:t>N = 10				=&gt; 53 steps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 smtClean="0"/>
              <a:t>N = 100			=&gt; 503 steps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 smtClean="0"/>
              <a:t>N = 1,000			=&gt; 5003 steps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 smtClean="0"/>
              <a:t>N = 1,000,000		=&gt; 5,000,003 steps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4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 smtClean="0"/>
              <a:t>	As N grows, the number of steps grow in </a:t>
            </a:r>
            <a:r>
              <a:rPr lang="en-GB" altLang="en-US" sz="2400" i="1" smtClean="0"/>
              <a:t>linear </a:t>
            </a:r>
            <a:r>
              <a:rPr lang="en-GB" altLang="en-US" sz="2400" smtClean="0"/>
              <a:t>proportion to N for this function </a:t>
            </a:r>
            <a:r>
              <a:rPr lang="en-GB" altLang="en-US" sz="2400" i="1" smtClean="0"/>
              <a:t>“Sum”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65152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smtClean="0"/>
              <a:t>What Dominates in Previous Example?</a:t>
            </a:r>
            <a:endParaRPr lang="en-US" altLang="en-US" sz="3600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153400" cy="5486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What about the +3 and 5 in 5N+3? </a:t>
            </a:r>
          </a:p>
          <a:p>
            <a:pPr>
              <a:lnSpc>
                <a:spcPct val="90000"/>
              </a:lnSpc>
            </a:pPr>
            <a:r>
              <a:rPr lang="en-GB" altLang="en-US" sz="2000" smtClean="0"/>
              <a:t>As N gets large, the +3 becomes insignificant</a:t>
            </a:r>
          </a:p>
          <a:p>
            <a:pPr>
              <a:lnSpc>
                <a:spcPct val="90000"/>
              </a:lnSpc>
            </a:pPr>
            <a:r>
              <a:rPr lang="en-GB" altLang="en-US" sz="2000" smtClean="0"/>
              <a:t>5 is inaccurate, as different operations require varying amounts of time and also does not have any significant importance</a:t>
            </a:r>
            <a:br>
              <a:rPr lang="en-GB" altLang="en-US" sz="2000" smtClean="0"/>
            </a:br>
            <a:endParaRPr lang="en-GB" altLang="en-US" sz="20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smtClean="0"/>
              <a:t>What is fundamental is that the time is </a:t>
            </a:r>
            <a:r>
              <a:rPr lang="en-GB" altLang="en-US" sz="2000" i="1" smtClean="0"/>
              <a:t>linear </a:t>
            </a:r>
            <a:r>
              <a:rPr lang="en-GB" altLang="en-US" sz="2000" smtClean="0"/>
              <a:t>in N.</a:t>
            </a:r>
            <a:br>
              <a:rPr lang="en-GB" altLang="en-US" sz="2000" smtClean="0"/>
            </a:br>
            <a:r>
              <a:rPr lang="en-GB" altLang="en-US" sz="2000" u="sng" smtClean="0"/>
              <a:t>Asymptotic Complexity</a:t>
            </a:r>
            <a:r>
              <a:rPr lang="en-GB" altLang="en-US" sz="2000" smtClean="0"/>
              <a:t>: As N gets large, concentrate on the</a:t>
            </a:r>
            <a:br>
              <a:rPr lang="en-GB" altLang="en-US" sz="2000" smtClean="0"/>
            </a:br>
            <a:r>
              <a:rPr lang="en-GB" altLang="en-US" sz="2000" smtClean="0"/>
              <a:t>highest order term:</a:t>
            </a:r>
          </a:p>
          <a:p>
            <a:pPr>
              <a:lnSpc>
                <a:spcPct val="90000"/>
              </a:lnSpc>
            </a:pPr>
            <a:r>
              <a:rPr lang="en-GB" altLang="en-US" sz="2000" smtClean="0"/>
              <a:t> Drop lower order terms such as +3</a:t>
            </a:r>
          </a:p>
          <a:p>
            <a:pPr>
              <a:lnSpc>
                <a:spcPct val="90000"/>
              </a:lnSpc>
            </a:pPr>
            <a:r>
              <a:rPr lang="en-GB" altLang="en-US" sz="2000" smtClean="0"/>
              <a:t> Drop the constant coefficient of the highest order term  i.e. N</a:t>
            </a:r>
            <a:endParaRPr lang="en-US" altLang="en-US" sz="2000" smtClean="0"/>
          </a:p>
        </p:txBody>
      </p:sp>
    </p:spTree>
    <p:extLst>
      <p:ext uri="{BB962C8B-B14F-4D97-AF65-F5344CB8AC3E}">
        <p14:creationId xmlns:p14="http://schemas.microsoft.com/office/powerpoint/2010/main" val="95147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smtClean="0"/>
              <a:t>Asymptotic Complexity</a:t>
            </a:r>
            <a:endParaRPr lang="en-US" altLang="en-US" sz="3600" dirty="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mtClean="0"/>
              <a:t>The 5N+3 time bound is said to "grow asymptotically" like N</a:t>
            </a:r>
          </a:p>
          <a:p>
            <a:r>
              <a:rPr lang="en-GB" altLang="en-US" smtClean="0"/>
              <a:t> This gives us an approximation of the complexity of the algorithm</a:t>
            </a:r>
          </a:p>
          <a:p>
            <a:r>
              <a:rPr lang="en-GB" altLang="en-US" smtClean="0"/>
              <a:t> Ignores lots of (machine dependent) details, concentrate on the bigger picture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3436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/>
              <a:t>Comparing Functions: Asymptotic Notation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Big Oh Notation: Upper bound</a:t>
            </a:r>
          </a:p>
          <a:p>
            <a:r>
              <a:rPr lang="en-US" altLang="en-US" smtClean="0"/>
              <a:t>Omega Notation: Lower bound</a:t>
            </a:r>
          </a:p>
          <a:p>
            <a:r>
              <a:rPr lang="en-US" altLang="en-US" smtClean="0"/>
              <a:t>Theta Notation: Tighter bound</a:t>
            </a:r>
          </a:p>
        </p:txBody>
      </p:sp>
    </p:spTree>
    <p:extLst>
      <p:ext uri="{BB962C8B-B14F-4D97-AF65-F5344CB8AC3E}">
        <p14:creationId xmlns:p14="http://schemas.microsoft.com/office/powerpoint/2010/main" val="312538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Big Oh Notation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2400" smtClean="0"/>
              <a:t>If f(N) and g(N) are two complexity functions, we say</a:t>
            </a:r>
          </a:p>
          <a:p>
            <a:pPr>
              <a:buFontTx/>
              <a:buNone/>
            </a:pPr>
            <a:endParaRPr lang="en-GB" altLang="en-US" sz="2400" smtClean="0"/>
          </a:p>
          <a:p>
            <a:pPr>
              <a:buFontTx/>
              <a:buNone/>
            </a:pPr>
            <a:r>
              <a:rPr lang="en-GB" altLang="en-US" sz="2400" smtClean="0"/>
              <a:t>			      f(N)  = O(g(N))</a:t>
            </a:r>
          </a:p>
          <a:p>
            <a:pPr>
              <a:buFontTx/>
              <a:buNone/>
            </a:pPr>
            <a:endParaRPr lang="en-GB" altLang="en-US" sz="2400" smtClean="0"/>
          </a:p>
          <a:p>
            <a:pPr>
              <a:buFontTx/>
              <a:buNone/>
            </a:pPr>
            <a:r>
              <a:rPr lang="en-GB" altLang="en-US" sz="2400" i="1" smtClean="0"/>
              <a:t>(read "f(N) as order g(N)", or "f(N) is big-O of g(N)")</a:t>
            </a:r>
          </a:p>
          <a:p>
            <a:pPr>
              <a:buFontTx/>
              <a:buNone/>
            </a:pPr>
            <a:r>
              <a:rPr lang="en-GB" altLang="en-US" sz="2400" smtClean="0"/>
              <a:t>if there are constants </a:t>
            </a:r>
            <a:r>
              <a:rPr lang="en-US" altLang="en-US" sz="2400" smtClean="0"/>
              <a:t>c and N</a:t>
            </a:r>
            <a:r>
              <a:rPr lang="en-US" altLang="en-US" sz="2400" baseline="-25000" smtClean="0"/>
              <a:t>0</a:t>
            </a:r>
            <a:r>
              <a:rPr lang="en-US" altLang="en-US" sz="2400" smtClean="0"/>
              <a:t> such that for N &gt; N</a:t>
            </a:r>
            <a:r>
              <a:rPr lang="en-US" altLang="en-US" sz="2400" baseline="-25000" smtClean="0"/>
              <a:t>0</a:t>
            </a:r>
            <a:r>
              <a:rPr lang="en-US" altLang="en-US" sz="2400" smtClean="0"/>
              <a:t>, </a:t>
            </a:r>
          </a:p>
          <a:p>
            <a:pPr>
              <a:buFontTx/>
              <a:buNone/>
            </a:pPr>
            <a:r>
              <a:rPr lang="en-GB" altLang="en-US" sz="2400" smtClean="0"/>
              <a:t>			      f(N) </a:t>
            </a:r>
            <a:r>
              <a:rPr lang="en-GB" altLang="en-US" sz="2400" smtClean="0">
                <a:cs typeface="Times New Roman" panose="02020603050405020304" pitchFamily="18" charset="0"/>
              </a:rPr>
              <a:t>≤</a:t>
            </a:r>
            <a:r>
              <a:rPr lang="en-GB" altLang="en-US" sz="2400" smtClean="0"/>
              <a:t> </a:t>
            </a:r>
            <a:r>
              <a:rPr lang="en-GB" altLang="en-US" sz="2400" smtClean="0">
                <a:solidFill>
                  <a:srgbClr val="FF3300"/>
                </a:solidFill>
              </a:rPr>
              <a:t>c *</a:t>
            </a:r>
            <a:r>
              <a:rPr lang="en-GB" altLang="en-US" sz="2400" smtClean="0"/>
              <a:t> g(N)</a:t>
            </a:r>
          </a:p>
          <a:p>
            <a:pPr>
              <a:buFontTx/>
              <a:buNone/>
            </a:pPr>
            <a:r>
              <a:rPr lang="en-GB" altLang="en-US" sz="2400" smtClean="0"/>
              <a:t>for all sufficiently large N.</a:t>
            </a:r>
          </a:p>
          <a:p>
            <a:pPr>
              <a:buFontTx/>
              <a:buNone/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77141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Polynomial and Intractable Algorithms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FC0128"/>
                </a:solidFill>
              </a:rPr>
              <a:t>Polynomial Time complexity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An algorithm is said to be polynomial if it is </a:t>
            </a:r>
            <a:br>
              <a:rPr lang="en-US" altLang="en-US" dirty="0" smtClean="0"/>
            </a:b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O( </a:t>
            </a:r>
            <a:r>
              <a:rPr lang="en-US" altLang="en-US" sz="2800" i="1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800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)</a:t>
            </a:r>
            <a:r>
              <a:rPr lang="en-US" altLang="en-US" dirty="0" smtClean="0"/>
              <a:t>  for some integer  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Polynomial algorithms are said to be </a:t>
            </a:r>
            <a:r>
              <a:rPr lang="en-US" altLang="en-US" dirty="0" smtClean="0">
                <a:solidFill>
                  <a:schemeClr val="hlink"/>
                </a:solidFill>
              </a:rPr>
              <a:t>efficient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They solve problems in reasonable times! </a:t>
            </a:r>
          </a:p>
          <a:p>
            <a:r>
              <a:rPr lang="en-US" altLang="en-US" dirty="0" smtClean="0">
                <a:solidFill>
                  <a:srgbClr val="FC0128"/>
                </a:solidFill>
              </a:rPr>
              <a:t>Intractable algorithms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Algorithms for which there is no </a:t>
            </a:r>
            <a:r>
              <a:rPr lang="en-US" altLang="en-US" i="1" dirty="0" smtClean="0">
                <a:solidFill>
                  <a:srgbClr val="FC0128"/>
                </a:solidFill>
              </a:rPr>
              <a:t>known</a:t>
            </a:r>
            <a:r>
              <a:rPr lang="en-US" altLang="en-US" dirty="0" smtClean="0"/>
              <a:t> polynomial time algorithm</a:t>
            </a:r>
          </a:p>
          <a:p>
            <a:pPr lvl="1"/>
            <a:r>
              <a:rPr lang="en-US" altLang="en-US" i="1" dirty="0" smtClean="0"/>
              <a:t>We will come back to this important class later</a:t>
            </a:r>
          </a:p>
        </p:txBody>
      </p:sp>
    </p:spTree>
    <p:extLst>
      <p:ext uri="{BB962C8B-B14F-4D97-AF65-F5344CB8AC3E}">
        <p14:creationId xmlns:p14="http://schemas.microsoft.com/office/powerpoint/2010/main" val="275478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Comparing Functions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mtClean="0"/>
              <a:t>As inputs get larger, any algorithm of a smaller order will be more efficient than an algorithm of a larger order</a:t>
            </a:r>
          </a:p>
          <a:p>
            <a:endParaRPr lang="en-US" altLang="en-US" smtClean="0"/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 flipV="1">
            <a:off x="1447800" y="3200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1447800" y="5334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 flipV="1">
            <a:off x="1447800" y="3810000"/>
            <a:ext cx="38100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Arc 7"/>
          <p:cNvSpPr>
            <a:spLocks/>
          </p:cNvSpPr>
          <p:nvPr/>
        </p:nvSpPr>
        <p:spPr bwMode="auto">
          <a:xfrm flipV="1">
            <a:off x="1447800" y="3276600"/>
            <a:ext cx="3167063" cy="2057400"/>
          </a:xfrm>
          <a:custGeom>
            <a:avLst/>
            <a:gdLst>
              <a:gd name="T0" fmla="*/ 0 w 21592"/>
              <a:gd name="T1" fmla="*/ 0 h 21600"/>
              <a:gd name="T2" fmla="*/ 2147483646 w 21592"/>
              <a:gd name="T3" fmla="*/ 2147483646 h 21600"/>
              <a:gd name="T4" fmla="*/ 0 w 21592"/>
              <a:gd name="T5" fmla="*/ 2147483646 h 21600"/>
              <a:gd name="T6" fmla="*/ 0 60000 65536"/>
              <a:gd name="T7" fmla="*/ 0 60000 65536"/>
              <a:gd name="T8" fmla="*/ 0 60000 65536"/>
              <a:gd name="T9" fmla="*/ 0 w 21592"/>
              <a:gd name="T10" fmla="*/ 0 h 21600"/>
              <a:gd name="T11" fmla="*/ 21592 w 2159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2" h="21600" fill="none" extrusionOk="0">
                <a:moveTo>
                  <a:pt x="-1" y="0"/>
                </a:moveTo>
                <a:cubicBezTo>
                  <a:pt x="11694" y="0"/>
                  <a:pt x="21265" y="9307"/>
                  <a:pt x="21591" y="20998"/>
                </a:cubicBezTo>
              </a:path>
              <a:path w="21592" h="21600" stroke="0" extrusionOk="0">
                <a:moveTo>
                  <a:pt x="-1" y="0"/>
                </a:moveTo>
                <a:cubicBezTo>
                  <a:pt x="11694" y="0"/>
                  <a:pt x="21265" y="9307"/>
                  <a:pt x="21591" y="2099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4267200" y="5181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 rot="-5400000">
            <a:off x="507207" y="4140993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b="0">
                <a:latin typeface="Times New Roman" panose="02020603050405020304" pitchFamily="18" charset="0"/>
              </a:rPr>
              <a:t>Time (steps)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6080125" y="5448300"/>
            <a:ext cx="1231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b="0">
                <a:latin typeface="Times New Roman" panose="02020603050405020304" pitchFamily="18" charset="0"/>
              </a:rPr>
              <a:t>Input (size)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318125" y="3695700"/>
            <a:ext cx="1189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b="0">
                <a:latin typeface="Times New Roman" panose="02020603050405020304" pitchFamily="18" charset="0"/>
              </a:rPr>
              <a:t>3N = O(N)</a:t>
            </a:r>
            <a:endParaRPr lang="en-GB" altLang="en-US" sz="2000" b="0">
              <a:latin typeface="Times New Roman" panose="02020603050405020304" pitchFamily="18" charset="0"/>
            </a:endParaRP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4724400" y="3048000"/>
            <a:ext cx="1684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b="0">
                <a:latin typeface="Times New Roman" panose="02020603050405020304" pitchFamily="18" charset="0"/>
              </a:rPr>
              <a:t>0.05 N</a:t>
            </a:r>
            <a:r>
              <a:rPr lang="en-GB" altLang="en-US" sz="1800" b="0" baseline="30000">
                <a:latin typeface="Times New Roman" panose="02020603050405020304" pitchFamily="18" charset="0"/>
              </a:rPr>
              <a:t>2</a:t>
            </a:r>
            <a:r>
              <a:rPr lang="en-GB" altLang="en-US" sz="1800" b="0">
                <a:latin typeface="Times New Roman" panose="02020603050405020304" pitchFamily="18" charset="0"/>
              </a:rPr>
              <a:t> = O(N</a:t>
            </a:r>
            <a:r>
              <a:rPr lang="en-GB" altLang="en-US" sz="1800" b="0" baseline="30000">
                <a:latin typeface="Times New Roman" panose="02020603050405020304" pitchFamily="18" charset="0"/>
              </a:rPr>
              <a:t>2</a:t>
            </a:r>
            <a:r>
              <a:rPr lang="en-GB" altLang="en-US" sz="1800" b="0">
                <a:latin typeface="Times New Roman" panose="02020603050405020304" pitchFamily="18" charset="0"/>
              </a:rPr>
              <a:t>)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3886200" y="5562600"/>
            <a:ext cx="820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b="0">
                <a:latin typeface="Times New Roman" panose="02020603050405020304" pitchFamily="18" charset="0"/>
              </a:rPr>
              <a:t>N = 60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V="1">
            <a:off x="4267200" y="4114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8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Asymptotic notation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5410200"/>
            <a:ext cx="7508875" cy="1143000"/>
          </a:xfrm>
        </p:spPr>
        <p:txBody>
          <a:bodyPr/>
          <a:lstStyle/>
          <a:p>
            <a:pPr marL="447675" indent="-447675"/>
            <a:r>
              <a:rPr lang="en-US" altLang="en-US" sz="2400" smtClean="0"/>
              <a:t>Example: </a:t>
            </a:r>
          </a:p>
          <a:p>
            <a:pPr marL="889000" lvl="1" indent="-439738"/>
            <a:r>
              <a:rPr lang="en-US" altLang="en-US" sz="2000" smtClean="0"/>
              <a:t>f(n) = 3n</a:t>
            </a:r>
            <a:r>
              <a:rPr lang="en-US" altLang="en-US" sz="2000" baseline="30000" smtClean="0"/>
              <a:t>5</a:t>
            </a:r>
            <a:r>
              <a:rPr lang="en-US" altLang="en-US" sz="2000" smtClean="0"/>
              <a:t>+n</a:t>
            </a:r>
            <a:r>
              <a:rPr lang="en-US" altLang="en-US" sz="2000" baseline="30000" smtClean="0"/>
              <a:t>4</a:t>
            </a:r>
            <a:r>
              <a:rPr lang="en-US" altLang="en-US" sz="2000" smtClean="0">
                <a:sym typeface="Symbol" panose="05050102010706020507" pitchFamily="18" charset="2"/>
              </a:rPr>
              <a:t> = (n</a:t>
            </a:r>
            <a:r>
              <a:rPr lang="en-US" altLang="en-US" sz="2000" baseline="30000" smtClean="0">
                <a:sym typeface="Symbol" panose="05050102010706020507" pitchFamily="18" charset="2"/>
              </a:rPr>
              <a:t>5</a:t>
            </a:r>
            <a:r>
              <a:rPr lang="en-US" altLang="en-US" sz="2000" smtClean="0">
                <a:sym typeface="Symbol" panose="05050102010706020507" pitchFamily="18" charset="2"/>
              </a:rPr>
              <a:t>)</a:t>
            </a:r>
          </a:p>
        </p:txBody>
      </p:sp>
      <p:pic>
        <p:nvPicPr>
          <p:cNvPr id="1843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828800"/>
            <a:ext cx="8686800" cy="3346450"/>
          </a:xfrm>
          <a:noFill/>
        </p:spPr>
      </p:pic>
    </p:spTree>
    <p:extLst>
      <p:ext uri="{BB962C8B-B14F-4D97-AF65-F5344CB8AC3E}">
        <p14:creationId xmlns:p14="http://schemas.microsoft.com/office/powerpoint/2010/main" val="122562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Performance Classification</a:t>
            </a:r>
          </a:p>
        </p:txBody>
      </p:sp>
      <p:graphicFrame>
        <p:nvGraphicFramePr>
          <p:cNvPr id="90146" name="Group 3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669492"/>
              </p:ext>
            </p:extLst>
          </p:nvPr>
        </p:nvGraphicFramePr>
        <p:xfrm>
          <a:off x="228600" y="990600"/>
          <a:ext cx="8610600" cy="5164160"/>
        </p:xfrm>
        <a:graphic>
          <a:graphicData uri="http://schemas.openxmlformats.org/drawingml/2006/table">
            <a:tbl>
              <a:tblPr/>
              <a:tblGrid>
                <a:gridCol w="12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f(</a:t>
                      </a: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Classification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Constant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 run time is fixed, and does not depend upon n.  Most instructions are executed once, or only a few times, regardless of the amount of information being processed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log</a:t>
                      </a: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n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Logarithmic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 when </a:t>
                      </a: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increases, so does run time, but much slower.  When </a:t>
                      </a: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doubles, 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log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increases by a constant, but does not double until </a:t>
                      </a: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increases to </a:t>
                      </a: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 Common in programs which solve large problems by transforming them into smaller problems.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Linear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 run time varies directly with</a:t>
                      </a: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n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 Typically, a small amount of processing is done on each element.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</a:t>
                      </a: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log</a:t>
                      </a: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n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</a:t>
                      </a: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doubles, run time slightly more than doubles.  Common in programs which break a problem down into smaller sub-problems, solves them independently, then combines solutions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16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Quadratic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when </a:t>
                      </a: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doubles, runtime increases fourfold.  Practical only for small problems; typically the program processes all pairs of input (e.g. in a double nested loop).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16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Cubic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when n doubles, runtime increases eightfold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Exponential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when n doubles, run time squares.  This is often the result of a natural, “brute force” solution.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98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238125"/>
            <a:ext cx="8534400" cy="533400"/>
          </a:xfrm>
          <a:solidFill>
            <a:schemeClr val="bg1"/>
          </a:solidFill>
        </p:spPr>
        <p:txBody>
          <a:bodyPr/>
          <a:lstStyle/>
          <a:p>
            <a:r>
              <a:rPr lang="en-GB" altLang="en-US" smtClean="0"/>
              <a:t>Size does matter</a:t>
            </a:r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746125" y="1717675"/>
            <a:ext cx="7437438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dirty="0">
                <a:latin typeface="Times New Roman" panose="02020603050405020304" pitchFamily="18" charset="0"/>
              </a:rPr>
              <a:t>What happens if we </a:t>
            </a:r>
            <a:r>
              <a:rPr lang="en-GB" altLang="en-US" sz="2400" b="0" dirty="0" smtClean="0">
                <a:latin typeface="Times New Roman" panose="02020603050405020304" pitchFamily="18" charset="0"/>
              </a:rPr>
              <a:t>increase </a:t>
            </a:r>
            <a:r>
              <a:rPr lang="en-GB" altLang="en-US" sz="2400" b="0" dirty="0">
                <a:latin typeface="Times New Roman" panose="02020603050405020304" pitchFamily="18" charset="0"/>
              </a:rPr>
              <a:t>the input size N?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dirty="0">
                <a:latin typeface="Times New Roman" panose="02020603050405020304" pitchFamily="18" charset="0"/>
              </a:rPr>
              <a:t>   N	log</a:t>
            </a:r>
            <a:r>
              <a:rPr lang="en-GB" altLang="en-US" sz="2400" b="0" baseline="-25000" dirty="0">
                <a:latin typeface="Times New Roman" panose="02020603050405020304" pitchFamily="18" charset="0"/>
              </a:rPr>
              <a:t>2</a:t>
            </a:r>
            <a:r>
              <a:rPr lang="en-GB" altLang="en-US" sz="2400" b="0" dirty="0">
                <a:latin typeface="Times New Roman" panose="02020603050405020304" pitchFamily="18" charset="0"/>
              </a:rPr>
              <a:t>N		5N	N log</a:t>
            </a:r>
            <a:r>
              <a:rPr lang="en-GB" altLang="en-US" sz="2400" b="0" baseline="-25000" dirty="0">
                <a:latin typeface="Times New Roman" panose="02020603050405020304" pitchFamily="18" charset="0"/>
              </a:rPr>
              <a:t>2</a:t>
            </a:r>
            <a:r>
              <a:rPr lang="en-GB" altLang="en-US" sz="2400" b="0" dirty="0">
                <a:latin typeface="Times New Roman" panose="02020603050405020304" pitchFamily="18" charset="0"/>
              </a:rPr>
              <a:t>N	N</a:t>
            </a:r>
            <a:r>
              <a:rPr lang="en-GB" altLang="en-US" sz="2400" b="0" baseline="30000" dirty="0">
                <a:latin typeface="Times New Roman" panose="02020603050405020304" pitchFamily="18" charset="0"/>
              </a:rPr>
              <a:t>2</a:t>
            </a:r>
            <a:r>
              <a:rPr lang="en-GB" altLang="en-US" sz="2400" b="0" dirty="0">
                <a:latin typeface="Times New Roman" panose="02020603050405020304" pitchFamily="18" charset="0"/>
              </a:rPr>
              <a:t>	2</a:t>
            </a:r>
            <a:r>
              <a:rPr lang="en-GB" altLang="en-US" sz="2400" b="0" baseline="30000" dirty="0">
                <a:latin typeface="Times New Roman" panose="02020603050405020304" pitchFamily="18" charset="0"/>
              </a:rPr>
              <a:t>N   </a:t>
            </a:r>
            <a:endParaRPr lang="en-GB" altLang="en-US" sz="2400" b="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dirty="0">
                <a:latin typeface="Courier New" panose="02070309020205020404" pitchFamily="49" charset="0"/>
              </a:rPr>
              <a:t>  8	  3	     40	  24	     64	 256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dirty="0">
                <a:latin typeface="Courier New" panose="02070309020205020404" pitchFamily="49" charset="0"/>
              </a:rPr>
              <a:t> 16	  4		80	  64     256  65536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dirty="0">
                <a:latin typeface="Courier New" panose="02070309020205020404" pitchFamily="49" charset="0"/>
              </a:rPr>
              <a:t> 32    5      160    160    1024   ~10</a:t>
            </a:r>
            <a:r>
              <a:rPr lang="en-GB" altLang="en-US" sz="2400" b="0" baseline="30000" dirty="0">
                <a:latin typeface="Courier New" panose="02070309020205020404" pitchFamily="49" charset="0"/>
              </a:rPr>
              <a:t>9</a:t>
            </a:r>
            <a:endParaRPr lang="en-GB" altLang="en-US" sz="2400" b="0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dirty="0">
                <a:latin typeface="Courier New" panose="02070309020205020404" pitchFamily="49" charset="0"/>
              </a:rPr>
              <a:t> 64    6      320    384    4096   ~10</a:t>
            </a:r>
            <a:r>
              <a:rPr lang="en-GB" altLang="en-US" sz="2400" b="0" baseline="30000" dirty="0">
                <a:latin typeface="Courier New" panose="02070309020205020404" pitchFamily="49" charset="0"/>
              </a:rPr>
              <a:t>19</a:t>
            </a:r>
            <a:endParaRPr lang="en-GB" altLang="en-US" sz="2400" b="0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dirty="0">
                <a:latin typeface="Courier New" panose="02070309020205020404" pitchFamily="49" charset="0"/>
              </a:rPr>
              <a:t>128    7      640    896   16384   ~10</a:t>
            </a:r>
            <a:r>
              <a:rPr lang="en-GB" altLang="en-US" sz="2400" b="0" baseline="30000" dirty="0">
                <a:latin typeface="Courier New" panose="02070309020205020404" pitchFamily="49" charset="0"/>
              </a:rPr>
              <a:t>38</a:t>
            </a:r>
            <a:endParaRPr lang="en-GB" altLang="en-US" sz="2400" b="0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dirty="0">
                <a:latin typeface="Courier New" panose="02070309020205020404" pitchFamily="49" charset="0"/>
              </a:rPr>
              <a:t>256    8     1280   2048   65536   ~10</a:t>
            </a:r>
            <a:r>
              <a:rPr lang="en-GB" altLang="en-US" sz="2400" b="0" baseline="30000" dirty="0">
                <a:latin typeface="Courier New" panose="02070309020205020404" pitchFamily="49" charset="0"/>
              </a:rPr>
              <a:t>76</a:t>
            </a:r>
            <a:endParaRPr lang="en-GB" altLang="en-US" sz="2400" b="0" dirty="0">
              <a:latin typeface="Courier New" panose="02070309020205020404" pitchFamily="49" charset="0"/>
            </a:endParaRPr>
          </a:p>
        </p:txBody>
      </p:sp>
      <p:sp>
        <p:nvSpPr>
          <p:cNvPr id="20484" name="Line 5"/>
          <p:cNvSpPr>
            <a:spLocks noChangeShapeType="1"/>
          </p:cNvSpPr>
          <p:nvPr/>
        </p:nvSpPr>
        <p:spPr bwMode="auto">
          <a:xfrm>
            <a:off x="609600" y="2895600"/>
            <a:ext cx="769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609600" y="2438400"/>
            <a:ext cx="76962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2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Review of Three Common Sets</a:t>
            </a:r>
          </a:p>
        </p:txBody>
      </p:sp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533400" y="2209800"/>
            <a:ext cx="80772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600">
                <a:latin typeface="Times New Roman" panose="02020603050405020304" pitchFamily="18" charset="0"/>
              </a:rPr>
              <a:t>g(n) = O(f(n)) </a:t>
            </a:r>
            <a:r>
              <a:rPr lang="en-US" altLang="en-US" sz="2600" b="0">
                <a:latin typeface="Times New Roman" panose="02020603050405020304" pitchFamily="18" charset="0"/>
              </a:rPr>
              <a:t>means c 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600" b="0">
                <a:latin typeface="Times New Roman" panose="02020603050405020304" pitchFamily="18" charset="0"/>
              </a:rPr>
              <a:t> f(n) is an </a:t>
            </a:r>
            <a:r>
              <a:rPr lang="en-US" altLang="en-US" sz="2600" b="0" i="1">
                <a:latin typeface="Times New Roman" panose="02020603050405020304" pitchFamily="18" charset="0"/>
              </a:rPr>
              <a:t>Upper Bound</a:t>
            </a:r>
            <a:r>
              <a:rPr lang="en-US" altLang="en-US" sz="2600" b="0">
                <a:latin typeface="Times New Roman" panose="02020603050405020304" pitchFamily="18" charset="0"/>
              </a:rPr>
              <a:t> on g(n)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6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600">
                <a:latin typeface="Times New Roman" panose="02020603050405020304" pitchFamily="18" charset="0"/>
              </a:rPr>
              <a:t>g(n) = </a:t>
            </a:r>
            <a:r>
              <a:rPr lang="en-US" altLang="en-US" sz="2600">
                <a:latin typeface="Times New Roman" panose="02020603050405020304" pitchFamily="18" charset="0"/>
                <a:sym typeface="Symbol" panose="05050102010706020507" pitchFamily="18" charset="2"/>
              </a:rPr>
              <a:t>(f(n))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 means c  f(n) is a </a:t>
            </a:r>
            <a:r>
              <a:rPr lang="en-US" altLang="en-US" sz="2600" b="0" i="1">
                <a:latin typeface="Times New Roman" panose="02020603050405020304" pitchFamily="18" charset="0"/>
                <a:sym typeface="Symbol" panose="05050102010706020507" pitchFamily="18" charset="2"/>
              </a:rPr>
              <a:t>Lower Bound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 on g(n)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600" b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600">
                <a:latin typeface="Times New Roman" panose="02020603050405020304" pitchFamily="18" charset="0"/>
                <a:sym typeface="Symbol" panose="05050102010706020507" pitchFamily="18" charset="2"/>
              </a:rPr>
              <a:t>g(n) = (f(n))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 means c</a:t>
            </a:r>
            <a:r>
              <a:rPr lang="en-US" altLang="en-US" sz="2600" b="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  f(n) is an </a:t>
            </a:r>
            <a:r>
              <a:rPr lang="en-US" altLang="en-US" sz="2600" b="0" i="1">
                <a:latin typeface="Times New Roman" panose="02020603050405020304" pitchFamily="18" charset="0"/>
                <a:sym typeface="Symbol" panose="05050102010706020507" pitchFamily="18" charset="2"/>
              </a:rPr>
              <a:t>Upper Bound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 on g(n)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		     </a:t>
            </a:r>
            <a:r>
              <a:rPr lang="en-US" altLang="en-US" sz="2600" b="0" i="1">
                <a:latin typeface="Times New Roman" panose="02020603050405020304" pitchFamily="18" charset="0"/>
                <a:sym typeface="Symbol" panose="05050102010706020507" pitchFamily="18" charset="2"/>
              </a:rPr>
              <a:t>and  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2600" b="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  f(n) is a </a:t>
            </a:r>
            <a:r>
              <a:rPr lang="en-US" altLang="en-US" sz="2600" b="0" i="1">
                <a:latin typeface="Times New Roman" panose="02020603050405020304" pitchFamily="18" charset="0"/>
                <a:sym typeface="Symbol" panose="05050102010706020507" pitchFamily="18" charset="2"/>
              </a:rPr>
              <a:t>Lower Bound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 on g(n)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600" b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These bounds hold for all inputs beyond some threshold n</a:t>
            </a:r>
            <a:r>
              <a:rPr lang="en-US" altLang="en-US" sz="2600" b="0" baseline="-250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600" b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400" b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3536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smtClean="0"/>
              <a:t>Standard Analysis Techniques</a:t>
            </a:r>
            <a:endParaRPr lang="en-US" altLang="en-US" sz="3600" dirty="0" smtClean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 smtClean="0">
                <a:solidFill>
                  <a:schemeClr val="tx2"/>
                </a:solidFill>
              </a:rPr>
              <a:t>Constant time</a:t>
            </a:r>
            <a:r>
              <a:rPr lang="en-GB" altLang="en-US" sz="2400" smtClean="0"/>
              <a:t> </a:t>
            </a:r>
            <a:r>
              <a:rPr lang="en-GB" altLang="en-US" sz="2400" smtClean="0">
                <a:solidFill>
                  <a:schemeClr val="tx2"/>
                </a:solidFill>
              </a:rPr>
              <a:t>statements</a:t>
            </a:r>
          </a:p>
          <a:p>
            <a:r>
              <a:rPr lang="en-GB" altLang="en-US" sz="2400" smtClean="0"/>
              <a:t>Analyzing Loops</a:t>
            </a:r>
          </a:p>
          <a:p>
            <a:r>
              <a:rPr lang="en-GB" altLang="en-US" sz="2400" smtClean="0"/>
              <a:t>Analyzing Nested Loops</a:t>
            </a:r>
          </a:p>
          <a:p>
            <a:r>
              <a:rPr lang="en-GB" altLang="en-US" sz="2400" smtClean="0"/>
              <a:t>Analyzing Sequence of Statements</a:t>
            </a:r>
          </a:p>
          <a:p>
            <a:r>
              <a:rPr lang="en-GB" altLang="en-US" sz="2400" smtClean="0"/>
              <a:t>Analyzing Conditional Statements</a:t>
            </a: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1924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/>
              <a:t>Constant time statements</a:t>
            </a:r>
            <a:endParaRPr lang="en-US" altLang="en-US" dirty="0" smtClean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400" smtClean="0"/>
              <a:t>Simplest case: O(1) time statements</a:t>
            </a:r>
          </a:p>
          <a:p>
            <a:pPr>
              <a:lnSpc>
                <a:spcPct val="80000"/>
              </a:lnSpc>
            </a:pPr>
            <a:r>
              <a:rPr lang="en-GB" altLang="en-US" sz="2400" smtClean="0"/>
              <a:t> Assignment statements of simple data types</a:t>
            </a:r>
            <a:br>
              <a:rPr lang="en-GB" altLang="en-US" sz="2400" smtClean="0"/>
            </a:br>
            <a:r>
              <a:rPr lang="en-GB" altLang="en-US" sz="2400" smtClean="0"/>
              <a:t>      int x = y;</a:t>
            </a:r>
          </a:p>
          <a:p>
            <a:pPr>
              <a:lnSpc>
                <a:spcPct val="80000"/>
              </a:lnSpc>
            </a:pPr>
            <a:r>
              <a:rPr lang="en-GB" altLang="en-US" sz="2400" smtClean="0"/>
              <a:t> Arithmetic operations:</a:t>
            </a:r>
            <a:br>
              <a:rPr lang="en-GB" altLang="en-US" sz="2400" smtClean="0"/>
            </a:br>
            <a:r>
              <a:rPr lang="en-GB" altLang="en-US" sz="2400" smtClean="0"/>
              <a:t>   x = 5 * y + 4 - z;</a:t>
            </a:r>
          </a:p>
          <a:p>
            <a:pPr>
              <a:lnSpc>
                <a:spcPct val="80000"/>
              </a:lnSpc>
            </a:pPr>
            <a:r>
              <a:rPr lang="en-GB" altLang="en-US" sz="2400" smtClean="0"/>
              <a:t> Array referencing:</a:t>
            </a:r>
            <a:br>
              <a:rPr lang="en-GB" altLang="en-US" sz="2400" smtClean="0"/>
            </a:br>
            <a:r>
              <a:rPr lang="en-GB" altLang="en-US" sz="2400" smtClean="0"/>
              <a:t>    A[j] = 5;</a:t>
            </a:r>
          </a:p>
          <a:p>
            <a:pPr>
              <a:lnSpc>
                <a:spcPct val="80000"/>
              </a:lnSpc>
            </a:pPr>
            <a:r>
              <a:rPr lang="en-GB" altLang="en-US" sz="2400" smtClean="0"/>
              <a:t>Most conditional tests:</a:t>
            </a:r>
            <a:br>
              <a:rPr lang="en-GB" altLang="en-US" sz="2400" smtClean="0"/>
            </a:br>
            <a:r>
              <a:rPr lang="en-GB" altLang="en-US" sz="2400" smtClean="0"/>
              <a:t>   if (x &lt; 12) ...</a:t>
            </a: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13262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err="1" smtClean="0"/>
              <a:t>Analyzing</a:t>
            </a:r>
            <a:r>
              <a:rPr lang="en-GB" altLang="en-US" sz="3600" dirty="0" smtClean="0"/>
              <a:t> Loops</a:t>
            </a:r>
            <a:endParaRPr lang="en-US" altLang="en-US" sz="3600" dirty="0" smtClean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GB" altLang="en-US" smtClean="0"/>
              <a:t>Any loop has two parts:</a:t>
            </a:r>
          </a:p>
          <a:p>
            <a:pPr lvl="1"/>
            <a:r>
              <a:rPr lang="en-GB" altLang="en-US" smtClean="0"/>
              <a:t>How many iterations are performed?</a:t>
            </a:r>
          </a:p>
          <a:p>
            <a:pPr lvl="1"/>
            <a:r>
              <a:rPr lang="en-GB" altLang="en-US" smtClean="0"/>
              <a:t>How many steps per iteration?</a:t>
            </a:r>
            <a:r>
              <a:rPr lang="en-GB" altLang="en-US" b="0" smtClean="0"/>
              <a:t>   </a:t>
            </a:r>
          </a:p>
          <a:p>
            <a:pPr lvl="1">
              <a:buFontTx/>
              <a:buNone/>
            </a:pPr>
            <a:r>
              <a:rPr lang="en-GB" altLang="en-US" b="0" smtClean="0"/>
              <a:t>    int sum = 0,j;</a:t>
            </a:r>
          </a:p>
          <a:p>
            <a:pPr lvl="1">
              <a:buFontTx/>
              <a:buNone/>
            </a:pPr>
            <a:r>
              <a:rPr lang="en-GB" altLang="en-US" b="0" smtClean="0"/>
              <a:t>    for (j=0; j &lt; N; j++)</a:t>
            </a:r>
          </a:p>
          <a:p>
            <a:pPr lvl="1">
              <a:buFontTx/>
              <a:buNone/>
            </a:pPr>
            <a:r>
              <a:rPr lang="en-GB" altLang="en-US" b="0" smtClean="0"/>
              <a:t>      sum = sum +j;</a:t>
            </a:r>
          </a:p>
          <a:p>
            <a:pPr lvl="1"/>
            <a:r>
              <a:rPr lang="en-GB" altLang="en-US" smtClean="0"/>
              <a:t>Loop executes N times (0..N-1)</a:t>
            </a:r>
          </a:p>
          <a:p>
            <a:pPr lvl="1"/>
            <a:r>
              <a:rPr lang="en-GB" altLang="en-US" smtClean="0"/>
              <a:t>O(1) steps per iteration</a:t>
            </a:r>
          </a:p>
          <a:p>
            <a:r>
              <a:rPr lang="en-GB" altLang="en-US" smtClean="0"/>
              <a:t>Total time is N * O(1) = O(N*1) = O(N)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57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err="1" smtClean="0"/>
              <a:t>Analyzing</a:t>
            </a:r>
            <a:r>
              <a:rPr lang="en-GB" altLang="en-US" sz="3600" dirty="0" smtClean="0"/>
              <a:t> Loops</a:t>
            </a:r>
            <a:endParaRPr lang="en-US" altLang="en-US" sz="3600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mtClean="0"/>
              <a:t>What about this for loop?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b="0" smtClean="0"/>
              <a:t>    int sum =0, j;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b="0" smtClean="0"/>
              <a:t>    for (j=0; j &lt; 100; j++)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b="0" smtClean="0"/>
              <a:t>       sum = sum + j;</a:t>
            </a:r>
          </a:p>
          <a:p>
            <a:pPr>
              <a:lnSpc>
                <a:spcPct val="90000"/>
              </a:lnSpc>
            </a:pPr>
            <a:r>
              <a:rPr lang="en-GB" altLang="en-US" smtClean="0"/>
              <a:t>Loop executes 100 times</a:t>
            </a:r>
          </a:p>
          <a:p>
            <a:pPr>
              <a:lnSpc>
                <a:spcPct val="90000"/>
              </a:lnSpc>
            </a:pPr>
            <a:r>
              <a:rPr lang="en-GB" altLang="en-US" smtClean="0"/>
              <a:t>O(1) steps per iteration</a:t>
            </a:r>
          </a:p>
          <a:p>
            <a:pPr>
              <a:lnSpc>
                <a:spcPct val="90000"/>
              </a:lnSpc>
            </a:pPr>
            <a:r>
              <a:rPr lang="en-GB" altLang="en-US" smtClean="0"/>
              <a:t>Total time is 100 * O(1) = O(100 * 1) = O(100) = O(1)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0765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err="1" smtClean="0"/>
              <a:t>Analyzing</a:t>
            </a:r>
            <a:r>
              <a:rPr lang="en-GB" altLang="en-US" sz="3600" dirty="0" smtClean="0"/>
              <a:t> Nested Loops</a:t>
            </a:r>
            <a:endParaRPr lang="en-US" altLang="en-US" sz="3600" dirty="0" smtClean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400" smtClean="0"/>
              <a:t>Treat just like a single loop and evaluate each level of nesting as needed: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GB" altLang="en-US" sz="2000" smtClean="0"/>
              <a:t>   </a:t>
            </a:r>
            <a:r>
              <a:rPr lang="en-GB" altLang="en-US" sz="2000" b="0" smtClean="0"/>
              <a:t>int j,k;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GB" altLang="en-US" sz="2000" b="0" smtClean="0"/>
              <a:t>   for (j=0; j&lt;N; j++)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GB" altLang="en-US" sz="2000" b="0" smtClean="0"/>
              <a:t>      for (k=N; k&gt;0; k--)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GB" altLang="en-US" sz="2000" b="0" smtClean="0"/>
              <a:t>         sum += k+j;</a:t>
            </a:r>
            <a:endParaRPr lang="en-GB" altLang="en-US" sz="2000" smtClean="0"/>
          </a:p>
          <a:p>
            <a:pPr>
              <a:lnSpc>
                <a:spcPct val="80000"/>
              </a:lnSpc>
            </a:pPr>
            <a:r>
              <a:rPr lang="en-GB" altLang="en-US" sz="2400" smtClean="0"/>
              <a:t>Start with outer loop:</a:t>
            </a:r>
          </a:p>
          <a:p>
            <a:pPr lvl="1">
              <a:lnSpc>
                <a:spcPct val="80000"/>
              </a:lnSpc>
            </a:pPr>
            <a:r>
              <a:rPr lang="en-GB" altLang="en-US" sz="2000" smtClean="0"/>
              <a:t>How many iterations?  N</a:t>
            </a:r>
          </a:p>
          <a:p>
            <a:pPr lvl="1">
              <a:lnSpc>
                <a:spcPct val="80000"/>
              </a:lnSpc>
            </a:pPr>
            <a:r>
              <a:rPr lang="en-GB" altLang="en-US" sz="2000" smtClean="0"/>
              <a:t>How much time per iteration? Need to evaluate inner loop</a:t>
            </a:r>
          </a:p>
          <a:p>
            <a:pPr>
              <a:lnSpc>
                <a:spcPct val="80000"/>
              </a:lnSpc>
            </a:pPr>
            <a:r>
              <a:rPr lang="en-GB" altLang="en-US" sz="2400" smtClean="0"/>
              <a:t>Inner loop uses O(N) time</a:t>
            </a:r>
          </a:p>
          <a:p>
            <a:pPr>
              <a:lnSpc>
                <a:spcPct val="80000"/>
              </a:lnSpc>
            </a:pPr>
            <a:r>
              <a:rPr lang="en-GB" altLang="en-US" sz="2400" smtClean="0"/>
              <a:t>Total time is N * O(N) = O(N*N) = O(N</a:t>
            </a:r>
            <a:r>
              <a:rPr lang="en-GB" altLang="en-US" sz="2400" baseline="30000" smtClean="0"/>
              <a:t>2</a:t>
            </a:r>
            <a:r>
              <a:rPr lang="en-GB" altLang="en-US" sz="2400" smtClean="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62035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err="1" smtClean="0"/>
              <a:t>Analyzing</a:t>
            </a:r>
            <a:r>
              <a:rPr lang="en-GB" altLang="en-US" sz="3600" dirty="0" smtClean="0"/>
              <a:t> Nested Loops</a:t>
            </a:r>
            <a:endParaRPr lang="en-US" altLang="en-US" sz="3600" dirty="0" smtClean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mtClean="0"/>
              <a:t>What if the number of iterations of one loop depends on the counter of the other?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smtClean="0"/>
              <a:t>  </a:t>
            </a:r>
            <a:r>
              <a:rPr lang="en-GB" altLang="en-US" b="0" smtClean="0"/>
              <a:t>    int j,k;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b="0" smtClean="0"/>
              <a:t>      for (j=0; j &lt; N; j++)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b="0" smtClean="0"/>
              <a:t>         for (k=0; k &lt; j; k++)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b="0" smtClean="0"/>
              <a:t>            sum += k+j;</a:t>
            </a:r>
            <a:endParaRPr lang="en-GB" altLang="en-US" smtClean="0"/>
          </a:p>
          <a:p>
            <a:pPr>
              <a:lnSpc>
                <a:spcPct val="90000"/>
              </a:lnSpc>
            </a:pPr>
            <a:r>
              <a:rPr lang="en-GB" altLang="en-US" smtClean="0"/>
              <a:t>Analyze inner and outer loop together:</a:t>
            </a:r>
          </a:p>
          <a:p>
            <a:pPr>
              <a:lnSpc>
                <a:spcPct val="90000"/>
              </a:lnSpc>
            </a:pPr>
            <a:r>
              <a:rPr lang="en-GB" altLang="en-US" smtClean="0"/>
              <a:t>Number of iterations of the inner loop is:</a:t>
            </a:r>
          </a:p>
          <a:p>
            <a:pPr>
              <a:lnSpc>
                <a:spcPct val="90000"/>
              </a:lnSpc>
            </a:pPr>
            <a:r>
              <a:rPr lang="en-GB" altLang="en-US" smtClean="0"/>
              <a:t>    0 + 1 + 2 + ... + (N-1) = O(N</a:t>
            </a:r>
            <a:r>
              <a:rPr lang="en-GB" altLang="en-US" baseline="30000" smtClean="0"/>
              <a:t>2</a:t>
            </a:r>
            <a:r>
              <a:rPr lang="en-GB" altLang="en-US" smtClean="0"/>
              <a:t>)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8090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err="1" smtClean="0"/>
              <a:t>Analyzing</a:t>
            </a:r>
            <a:r>
              <a:rPr lang="en-GB" altLang="en-US" sz="3600" dirty="0" smtClean="0"/>
              <a:t> Sequence of Statements</a:t>
            </a:r>
            <a:endParaRPr lang="en-US" altLang="en-US" sz="3600" dirty="0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mtClean="0"/>
              <a:t>For a sequence of statements, compute their complexity functions individually and add them up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GB" altLang="en-US" smtClean="0"/>
              <a:t>  </a:t>
            </a:r>
            <a:r>
              <a:rPr lang="en-GB" altLang="en-US" b="0" smtClean="0"/>
              <a:t> </a:t>
            </a:r>
            <a:r>
              <a:rPr lang="en-GB" altLang="en-US" smtClean="0"/>
              <a:t>for (j=0; j &lt; N; j++)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GB" altLang="en-US" smtClean="0"/>
              <a:t>      for (k =0; k &lt; j; k++)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GB" altLang="en-US" smtClean="0"/>
              <a:t>         sum = sum + j*k;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GB" altLang="en-US" smtClean="0"/>
              <a:t>   for (l=0; l &lt; N; l++)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GB" altLang="en-US" smtClean="0"/>
              <a:t>      sum = sum - l;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GB" altLang="en-US" smtClean="0"/>
              <a:t>   cout&lt;&lt;“Sum=”&lt;&lt;sum;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GB" altLang="en-US" smtClean="0"/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mtClean="0"/>
              <a:t>Total cost is O(N</a:t>
            </a:r>
            <a:r>
              <a:rPr lang="en-GB" altLang="en-US" baseline="30000" smtClean="0"/>
              <a:t>2</a:t>
            </a:r>
            <a:r>
              <a:rPr lang="en-GB" altLang="en-US" smtClean="0"/>
              <a:t>) + O(N) +O(1) = O(N</a:t>
            </a:r>
            <a:r>
              <a:rPr lang="en-GB" altLang="en-US" baseline="30000" smtClean="0"/>
              <a:t>2</a:t>
            </a:r>
            <a:r>
              <a:rPr lang="en-GB" altLang="en-US" smtClean="0"/>
              <a:t>)</a:t>
            </a:r>
            <a:endParaRPr lang="en-US" altLang="en-US" smtClean="0"/>
          </a:p>
        </p:txBody>
      </p:sp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4343400" y="5791200"/>
            <a:ext cx="2362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en-US" sz="3200" b="0">
                <a:solidFill>
                  <a:srgbClr val="0000FF"/>
                </a:solidFill>
                <a:latin typeface="Times New Roman" panose="02020603050405020304" pitchFamily="18" charset="0"/>
              </a:rPr>
              <a:t>SUM</a:t>
            </a:r>
            <a:r>
              <a:rPr lang="en-US" altLang="en-US" sz="3200" b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0">
                <a:solidFill>
                  <a:srgbClr val="0000FF"/>
                </a:solidFill>
                <a:latin typeface="Times New Roman" panose="02020603050405020304" pitchFamily="18" charset="0"/>
              </a:rPr>
              <a:t>RULE</a:t>
            </a:r>
          </a:p>
        </p:txBody>
      </p:sp>
      <p:sp>
        <p:nvSpPr>
          <p:cNvPr id="100357" name="AutoShape 5"/>
          <p:cNvSpPr>
            <a:spLocks/>
          </p:cNvSpPr>
          <p:nvPr/>
        </p:nvSpPr>
        <p:spPr bwMode="auto">
          <a:xfrm>
            <a:off x="5257800" y="2209800"/>
            <a:ext cx="152400" cy="1219200"/>
          </a:xfrm>
          <a:prstGeom prst="righ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5715000" y="2667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O(N</a:t>
            </a:r>
            <a:r>
              <a:rPr lang="en-GB" altLang="en-US" sz="2000" b="0" baseline="30000">
                <a:latin typeface="Times New Roman" panose="02020603050405020304" pitchFamily="18" charset="0"/>
              </a:rPr>
              <a:t>2</a:t>
            </a:r>
            <a:r>
              <a:rPr lang="en-GB" altLang="en-US" sz="2000" b="0">
                <a:latin typeface="Times New Roman" panose="02020603050405020304" pitchFamily="18" charset="0"/>
              </a:rPr>
              <a:t>)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0359" name="AutoShape 7"/>
          <p:cNvSpPr>
            <a:spLocks/>
          </p:cNvSpPr>
          <p:nvPr/>
        </p:nvSpPr>
        <p:spPr bwMode="auto">
          <a:xfrm>
            <a:off x="5257800" y="3657600"/>
            <a:ext cx="76200" cy="609600"/>
          </a:xfrm>
          <a:prstGeom prst="righ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5715000" y="373380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O(N)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0361" name="AutoShape 9"/>
          <p:cNvSpPr>
            <a:spLocks/>
          </p:cNvSpPr>
          <p:nvPr/>
        </p:nvSpPr>
        <p:spPr bwMode="auto">
          <a:xfrm>
            <a:off x="5257800" y="4419600"/>
            <a:ext cx="76200" cy="3048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0362" name="Text Box 10"/>
          <p:cNvSpPr txBox="1">
            <a:spLocks noChangeArrowheads="1"/>
          </p:cNvSpPr>
          <p:nvPr/>
        </p:nvSpPr>
        <p:spPr bwMode="auto">
          <a:xfrm>
            <a:off x="5737225" y="4419600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000" b="0">
                <a:latin typeface="Times New Roman" panose="02020603050405020304" pitchFamily="18" charset="0"/>
              </a:rPr>
              <a:t>O(1)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42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/>
      <p:bldP spid="100356" grpId="0"/>
      <p:bldP spid="100357" grpId="0" animBg="1"/>
      <p:bldP spid="100358" grpId="0"/>
      <p:bldP spid="100359" grpId="0" animBg="1"/>
      <p:bldP spid="100360" grpId="0"/>
      <p:bldP spid="100361" grpId="0" animBg="1"/>
      <p:bldP spid="10036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 err="1" smtClean="0"/>
              <a:t>Analyzing</a:t>
            </a:r>
            <a:r>
              <a:rPr lang="en-GB" altLang="en-US" sz="3600" dirty="0" smtClean="0"/>
              <a:t> Conditional Statements</a:t>
            </a:r>
            <a:endParaRPr lang="en-US" altLang="en-US" sz="3600" dirty="0" smtClean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smtClean="0"/>
              <a:t>What about conditional statements such as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altLang="en-US" sz="20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smtClean="0"/>
              <a:t>  </a:t>
            </a:r>
            <a:r>
              <a:rPr lang="en-GB" altLang="en-US" sz="2000" b="0" smtClean="0"/>
              <a:t> if (condition)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b="0" smtClean="0"/>
              <a:t>      statement1;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b="0" smtClean="0"/>
              <a:t>   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b="0" smtClean="0"/>
              <a:t>      statement2;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smtClean="0"/>
              <a:t>where statement1 runs in O(N) time and statement2 runs in O(N</a:t>
            </a:r>
            <a:r>
              <a:rPr lang="en-GB" altLang="en-US" sz="2000" baseline="30000" smtClean="0"/>
              <a:t>2</a:t>
            </a:r>
            <a:r>
              <a:rPr lang="en-GB" altLang="en-US" sz="2000" smtClean="0"/>
              <a:t>) time?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altLang="en-US" sz="20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smtClean="0"/>
              <a:t>We use "worst case" complexity: among all inputs of size N, that is the maximum running time?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smtClean="0"/>
              <a:t>The analysis for the example above is O(N</a:t>
            </a:r>
            <a:r>
              <a:rPr lang="en-GB" altLang="en-US" sz="2000" baseline="30000" smtClean="0"/>
              <a:t>2</a:t>
            </a:r>
            <a:r>
              <a:rPr lang="en-GB" altLang="en-US" sz="2000" smtClean="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 smtClean="0"/>
          </a:p>
        </p:txBody>
      </p:sp>
    </p:spTree>
    <p:extLst>
      <p:ext uri="{BB962C8B-B14F-4D97-AF65-F5344CB8AC3E}">
        <p14:creationId xmlns:p14="http://schemas.microsoft.com/office/powerpoint/2010/main" val="213108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/>
              <a:t>Properties of the</a:t>
            </a:r>
            <a:r>
              <a:rPr lang="en-US" altLang="en-US" sz="3600" dirty="0" smtClean="0">
                <a:latin typeface="Times New Roman" panose="02020603050405020304" pitchFamily="18" charset="0"/>
              </a:rPr>
              <a:t> O</a:t>
            </a:r>
            <a:r>
              <a:rPr lang="en-US" altLang="en-US" sz="3600" dirty="0" smtClean="0"/>
              <a:t> notation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848600" cy="4343400"/>
          </a:xfrm>
        </p:spPr>
        <p:txBody>
          <a:bodyPr/>
          <a:lstStyle/>
          <a:p>
            <a:r>
              <a:rPr lang="en-US" altLang="en-US" sz="2400" smtClean="0">
                <a:solidFill>
                  <a:srgbClr val="FC0128"/>
                </a:solidFill>
              </a:rPr>
              <a:t>Constant factors may be ignored</a:t>
            </a:r>
            <a:endParaRPr lang="en-US" altLang="en-US" i="1" smtClean="0">
              <a:latin typeface="Times New Roman" panose="02020603050405020304" pitchFamily="18" charset="0"/>
            </a:endParaRPr>
          </a:p>
          <a:p>
            <a:pPr marL="819150" lvl="1">
              <a:buFontTx/>
              <a:buChar char="·"/>
            </a:pPr>
            <a:r>
              <a:rPr lang="en-US" altLang="en-US" smtClean="0">
                <a:solidFill>
                  <a:schemeClr val="tx1"/>
                </a:solidFill>
                <a:latin typeface="Symbol" panose="05050102010706020507" pitchFamily="18" charset="2"/>
              </a:rPr>
              <a:t>"  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 &gt; 0</a:t>
            </a:r>
            <a:r>
              <a:rPr lang="en-US" altLang="en-US" smtClean="0">
                <a:latin typeface="Symbol" panose="05050102010706020507" pitchFamily="18" charset="2"/>
              </a:rPr>
              <a:t>,  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kf 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Symbol" panose="05050102010706020507" pitchFamily="18" charset="2"/>
              </a:rPr>
              <a:t> </a:t>
            </a:r>
            <a:r>
              <a:rPr lang="en-US" altLang="en-US" smtClean="0"/>
              <a:t>is</a:t>
            </a:r>
            <a:r>
              <a:rPr lang="en-US" altLang="en-US" smtClean="0">
                <a:latin typeface="Symbol" panose="05050102010706020507" pitchFamily="18" charset="2"/>
              </a:rPr>
              <a:t>  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 f) </a:t>
            </a:r>
            <a:endParaRPr lang="en-US" altLang="en-US" smtClean="0"/>
          </a:p>
          <a:p>
            <a:r>
              <a:rPr lang="en-US" altLang="en-US" sz="2400" smtClean="0">
                <a:solidFill>
                  <a:srgbClr val="FC0128"/>
                </a:solidFill>
              </a:rPr>
              <a:t>Higher powers grow faster</a:t>
            </a:r>
            <a:endParaRPr lang="en-US" altLang="en-US" smtClean="0"/>
          </a:p>
          <a:p>
            <a:pPr marL="819150" lvl="1"/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Symbol" panose="05050102010706020507" pitchFamily="18" charset="2"/>
              </a:rPr>
              <a:t> </a:t>
            </a:r>
            <a:r>
              <a:rPr lang="en-US" altLang="en-US" smtClean="0"/>
              <a:t>is</a:t>
            </a:r>
            <a:r>
              <a:rPr lang="en-US" altLang="en-US" smtClean="0">
                <a:latin typeface="Symbol" panose="05050102010706020507" pitchFamily="18" charset="2"/>
              </a:rPr>
              <a:t>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 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)  </a:t>
            </a:r>
            <a:r>
              <a:rPr lang="en-US" altLang="en-US" sz="2800" smtClean="0"/>
              <a:t>if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 0 </a:t>
            </a:r>
            <a:r>
              <a:rPr lang="en-US" altLang="en-US" smtClean="0">
                <a:solidFill>
                  <a:schemeClr val="tx1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r </a:t>
            </a:r>
            <a:r>
              <a:rPr lang="en-US" altLang="en-US" smtClean="0">
                <a:solidFill>
                  <a:schemeClr val="tx1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s</a:t>
            </a:r>
            <a:endParaRPr lang="en-US" altLang="en-US" smtClean="0"/>
          </a:p>
          <a:p>
            <a:pPr>
              <a:buFont typeface="Monotype Sorts" pitchFamily="2" charset="2"/>
              <a:buChar char="ç"/>
            </a:pPr>
            <a:r>
              <a:rPr lang="en-US" altLang="en-US" sz="2400" smtClean="0">
                <a:solidFill>
                  <a:srgbClr val="FC0128"/>
                </a:solidFill>
              </a:rPr>
              <a:t>Fastest growing term dominates a sum</a:t>
            </a:r>
            <a:endParaRPr lang="en-US" altLang="en-US" smtClean="0"/>
          </a:p>
          <a:p>
            <a:pPr marL="819150" lvl="1"/>
            <a:r>
              <a:rPr lang="en-US" altLang="en-US" smtClean="0"/>
              <a:t>If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800" smtClean="0"/>
              <a:t> 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O(g)</a:t>
            </a:r>
            <a:r>
              <a:rPr lang="en-US" altLang="en-US" smtClean="0"/>
              <a:t>,  then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f + g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O(g)</a:t>
            </a:r>
          </a:p>
          <a:p>
            <a:pPr marL="819150" lvl="1">
              <a:buFontTx/>
              <a:buChar char=" "/>
            </a:pPr>
            <a:r>
              <a:rPr lang="en-US" altLang="en-US" sz="2800" b="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eg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 an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+  bn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mtClean="0"/>
              <a:t>is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 O(n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)</a:t>
            </a:r>
            <a:endParaRPr lang="en-US" altLang="en-US" smtClean="0"/>
          </a:p>
          <a:p>
            <a:pPr>
              <a:buFont typeface="Monotype Sorts" pitchFamily="2" charset="2"/>
              <a:buChar char="ç"/>
            </a:pPr>
            <a:r>
              <a:rPr lang="en-US" altLang="en-US" sz="2400" smtClean="0">
                <a:solidFill>
                  <a:srgbClr val="FC0128"/>
                </a:solidFill>
              </a:rPr>
              <a:t>Polynomial’s growth rate is determined by leading term</a:t>
            </a:r>
            <a:endParaRPr lang="en-US" altLang="en-US" smtClean="0"/>
          </a:p>
          <a:p>
            <a:pPr marL="819150" lvl="1"/>
            <a:r>
              <a:rPr lang="en-US" altLang="en-US" smtClean="0"/>
              <a:t>If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800" smtClean="0"/>
              <a:t> </a:t>
            </a:r>
            <a:r>
              <a:rPr lang="en-US" altLang="en-US" smtClean="0"/>
              <a:t> is a polynomial of degree 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mtClean="0"/>
              <a:t>,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/>
            </a:r>
            <a:b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mtClean="0"/>
              <a:t>then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O(n</a:t>
            </a:r>
            <a:r>
              <a:rPr lang="en-US" altLang="en-US" sz="2800" i="1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en-US" altLang="en-US" i="1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72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ChangeArrowheads="1"/>
          </p:cNvSpPr>
          <p:nvPr/>
        </p:nvSpPr>
        <p:spPr bwMode="auto">
          <a:xfrm>
            <a:off x="533400" y="3048000"/>
            <a:ext cx="8229600" cy="29718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57150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r>
              <a:rPr lang="en-US" altLang="en-US" sz="3600" dirty="0" smtClean="0"/>
              <a:t>Properties of the</a:t>
            </a:r>
            <a:r>
              <a:rPr lang="en-US" altLang="en-US" sz="3600" dirty="0" smtClean="0">
                <a:latin typeface="Times New Roman" panose="02020603050405020304" pitchFamily="18" charset="0"/>
              </a:rPr>
              <a:t> O</a:t>
            </a:r>
            <a:r>
              <a:rPr lang="en-US" altLang="en-US" sz="3600" dirty="0" smtClean="0"/>
              <a:t> notation</a:t>
            </a: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848600" cy="4343400"/>
          </a:xfrm>
        </p:spPr>
        <p:txBody>
          <a:bodyPr/>
          <a:lstStyle/>
          <a:p>
            <a:r>
              <a:rPr lang="en-US" altLang="en-US" sz="2400" i="1" smtClean="0">
                <a:latin typeface="Times New Roman" panose="02020603050405020304" pitchFamily="18" charset="0"/>
              </a:rPr>
              <a:t>f</a:t>
            </a:r>
            <a:r>
              <a:rPr lang="en-US" altLang="en-US" sz="2400" smtClean="0">
                <a:solidFill>
                  <a:srgbClr val="FC0128"/>
                </a:solidFill>
              </a:rPr>
              <a:t> is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O(g)</a:t>
            </a:r>
            <a:r>
              <a:rPr lang="en-US" altLang="en-US" sz="2400" smtClean="0">
                <a:solidFill>
                  <a:srgbClr val="FC0128"/>
                </a:solidFill>
              </a:rPr>
              <a:t>  is  transitive</a:t>
            </a:r>
          </a:p>
          <a:p>
            <a:pPr marL="819150" lvl="1"/>
            <a:r>
              <a:rPr lang="en-US" altLang="en-US" smtClean="0"/>
              <a:t>If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800" smtClean="0"/>
              <a:t> 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O(g)</a:t>
            </a:r>
            <a:r>
              <a:rPr lang="en-US" altLang="en-US" smtClean="0"/>
              <a:t> and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2800" smtClean="0"/>
              <a:t> 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O(h) </a:t>
            </a:r>
            <a:r>
              <a:rPr lang="en-US" altLang="en-US" smtClean="0"/>
              <a:t>then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800" smtClean="0"/>
              <a:t> 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O(h)</a:t>
            </a:r>
          </a:p>
          <a:p>
            <a:r>
              <a:rPr lang="en-US" altLang="en-US" sz="2400" smtClean="0">
                <a:solidFill>
                  <a:srgbClr val="FC0128"/>
                </a:solidFill>
              </a:rPr>
              <a:t>Product of upper bounds is upper bound for the product</a:t>
            </a:r>
            <a:endParaRPr lang="en-US" altLang="en-US" i="1" smtClean="0">
              <a:latin typeface="Times New Roman" panose="02020603050405020304" pitchFamily="18" charset="0"/>
            </a:endParaRPr>
          </a:p>
          <a:p>
            <a:pPr marL="819150" lvl="1"/>
            <a:r>
              <a:rPr lang="en-US" altLang="en-US" smtClean="0"/>
              <a:t>If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800" smtClean="0"/>
              <a:t> 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O(g)</a:t>
            </a:r>
            <a:r>
              <a:rPr lang="en-US" altLang="en-US" smtClean="0"/>
              <a:t>  and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O(r) </a:t>
            </a:r>
            <a:r>
              <a:rPr lang="en-US" altLang="en-US" smtClean="0">
                <a:solidFill>
                  <a:schemeClr val="tx1"/>
                </a:solidFill>
                <a:latin typeface="Symbol" panose="05050102010706020507" pitchFamily="18" charset="2"/>
              </a:rPr>
              <a:t> </a:t>
            </a:r>
            <a:r>
              <a:rPr lang="en-US" altLang="en-US" smtClean="0"/>
              <a:t>then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fh</a:t>
            </a:r>
            <a:r>
              <a:rPr lang="en-US" altLang="en-US" sz="2800" smtClean="0"/>
              <a:t> </a:t>
            </a:r>
            <a:r>
              <a:rPr lang="en-US" altLang="en-US" smtClean="0"/>
              <a:t> is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O(gr)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en-US" smtClean="0"/>
          </a:p>
          <a:p>
            <a:r>
              <a:rPr lang="en-US" altLang="en-US" sz="2400" smtClean="0">
                <a:solidFill>
                  <a:srgbClr val="FC0128"/>
                </a:solidFill>
              </a:rPr>
              <a:t>Exponential functions grow faster than powers</a:t>
            </a:r>
            <a:endParaRPr lang="en-US" altLang="en-US" smtClean="0"/>
          </a:p>
          <a:p>
            <a:pPr marL="819150" lvl="1"/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Symbol" panose="05050102010706020507" pitchFamily="18" charset="2"/>
              </a:rPr>
              <a:t> </a:t>
            </a:r>
            <a:r>
              <a:rPr lang="en-US" altLang="en-US" smtClean="0"/>
              <a:t>is</a:t>
            </a:r>
            <a:r>
              <a:rPr lang="en-US" altLang="en-US" smtClean="0">
                <a:latin typeface="Symbol" panose="05050102010706020507" pitchFamily="18" charset="2"/>
              </a:rPr>
              <a:t>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  b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)  </a:t>
            </a:r>
            <a:r>
              <a:rPr lang="en-US" altLang="en-US" smtClean="0">
                <a:latin typeface="Symbol" panose="05050102010706020507" pitchFamily="18" charset="2"/>
              </a:rPr>
              <a:t>"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 b &gt; 1 and k </a:t>
            </a:r>
            <a:r>
              <a:rPr lang="en-US" altLang="en-US" smtClean="0">
                <a:solidFill>
                  <a:schemeClr val="tx1"/>
                </a:solidFill>
                <a:latin typeface="Symbol" panose="05050102010706020507" pitchFamily="18" charset="2"/>
              </a:rPr>
              <a:t>³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0</a:t>
            </a:r>
            <a:b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800" b="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e.g.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 is  O( </a:t>
            </a:r>
            <a:r>
              <a:rPr lang="en-US" altLang="en-US" sz="2800" smtClean="0">
                <a:solidFill>
                  <a:schemeClr val="tx1"/>
                </a:solidFill>
                <a:latin typeface="Times New Roman" panose="02020603050405020304" pitchFamily="18" charset="0"/>
              </a:rPr>
              <a:t>1.05</a:t>
            </a:r>
            <a:r>
              <a:rPr lang="en-US" altLang="en-US" sz="2800" i="1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en-US" altLang="en-US" smtClean="0"/>
          </a:p>
          <a:p>
            <a:r>
              <a:rPr lang="en-US" altLang="en-US" sz="2400" smtClean="0">
                <a:solidFill>
                  <a:srgbClr val="FC0128"/>
                </a:solidFill>
              </a:rPr>
              <a:t>Logarithms grow slower than powers</a:t>
            </a:r>
          </a:p>
          <a:p>
            <a:pPr marL="819150" lvl="1"/>
            <a:r>
              <a:rPr lang="en-US" altLang="en-US" sz="2800" smtClean="0">
                <a:solidFill>
                  <a:schemeClr val="tx1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en-US" sz="2800" i="1" baseline="-25000" smtClean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Symbol" panose="05050102010706020507" pitchFamily="18" charset="2"/>
              </a:rPr>
              <a:t> </a:t>
            </a:r>
            <a:r>
              <a:rPr lang="en-US" altLang="en-US" smtClean="0"/>
              <a:t>is</a:t>
            </a:r>
            <a:r>
              <a:rPr lang="en-US" altLang="en-US" smtClean="0">
                <a:latin typeface="Symbol" panose="05050102010706020507" pitchFamily="18" charset="2"/>
              </a:rPr>
              <a:t>  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O( 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)  </a:t>
            </a:r>
            <a:r>
              <a:rPr lang="en-US" altLang="en-US" smtClean="0">
                <a:latin typeface="Symbol" panose="05050102010706020507" pitchFamily="18" charset="2"/>
              </a:rPr>
              <a:t>"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  b &gt; 1 and k </a:t>
            </a:r>
            <a:r>
              <a:rPr lang="en-US" altLang="en-US" smtClean="0">
                <a:solidFill>
                  <a:schemeClr val="tx1"/>
                </a:solidFill>
                <a:latin typeface="Symbol" panose="05050102010706020507" pitchFamily="18" charset="2"/>
              </a:rPr>
              <a:t>&gt;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0</a:t>
            </a:r>
            <a:b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800" b="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e.g.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 log</a:t>
            </a:r>
            <a:r>
              <a:rPr lang="en-US" altLang="en-US" sz="2800" baseline="-25000" smtClean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n   is  O( n</a:t>
            </a:r>
            <a:r>
              <a:rPr lang="en-US" altLang="en-US" sz="2800" baseline="30000" smtClean="0">
                <a:solidFill>
                  <a:schemeClr val="tx1"/>
                </a:solidFill>
                <a:latin typeface="Times New Roman" panose="02020603050405020304" pitchFamily="18" charset="0"/>
              </a:rPr>
              <a:t>0.5</a:t>
            </a:r>
            <a:r>
              <a:rPr lang="en-US" altLang="en-US" sz="2800" i="1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6172200" y="5486400"/>
            <a:ext cx="1944688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i="1">
                <a:solidFill>
                  <a:schemeClr val="hlink"/>
                </a:solidFill>
              </a:rPr>
              <a:t>Important!</a:t>
            </a:r>
            <a:endParaRPr lang="en-US" altLang="en-US" b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97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r>
              <a:rPr lang="en-US" altLang="en-US" sz="3600" dirty="0" smtClean="0"/>
              <a:t>Properties of the</a:t>
            </a:r>
            <a:r>
              <a:rPr lang="en-US" altLang="en-US" sz="3600" dirty="0" smtClean="0">
                <a:latin typeface="Times New Roman" panose="02020603050405020304" pitchFamily="18" charset="0"/>
              </a:rPr>
              <a:t> O</a:t>
            </a:r>
            <a:r>
              <a:rPr lang="en-US" altLang="en-US" sz="3600" dirty="0" smtClean="0"/>
              <a:t> notation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848600" cy="4343400"/>
          </a:xfrm>
        </p:spPr>
        <p:txBody>
          <a:bodyPr/>
          <a:lstStyle/>
          <a:p>
            <a:r>
              <a:rPr lang="en-US" altLang="en-US" sz="2400" dirty="0" smtClean="0">
                <a:solidFill>
                  <a:srgbClr val="FC0128"/>
                </a:solidFill>
              </a:rPr>
              <a:t>All logarithms grow at the same rate</a:t>
            </a:r>
          </a:p>
          <a:p>
            <a:pPr marL="819150" lvl="1"/>
            <a:r>
              <a:rPr lang="en-US" altLang="en-US" dirty="0" smtClean="0"/>
              <a:t> </a:t>
            </a:r>
            <a:r>
              <a:rPr lang="en-US" alt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en-US" sz="2800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800" i="1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800" dirty="0" smtClean="0"/>
              <a:t> </a:t>
            </a:r>
            <a:r>
              <a:rPr lang="en-US" altLang="en-US" dirty="0" smtClean="0"/>
              <a:t> is 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en-US" sz="2800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800" i="1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dirty="0" smtClean="0"/>
              <a:t> </a:t>
            </a:r>
            <a:r>
              <a:rPr lang="en-US" altLang="en-US" dirty="0" smtClean="0">
                <a:latin typeface="Symbol" panose="05050102010706020507" pitchFamily="18" charset="2"/>
              </a:rPr>
              <a:t>"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b, d &gt; 1 </a:t>
            </a:r>
            <a:r>
              <a:rPr lang="en-US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en-US" dirty="0" smtClean="0"/>
          </a:p>
          <a:p>
            <a:endParaRPr lang="en-US" altLang="en-US" sz="2400" dirty="0" smtClean="0">
              <a:solidFill>
                <a:srgbClr val="FC0128"/>
              </a:solidFill>
            </a:endParaRPr>
          </a:p>
          <a:p>
            <a:r>
              <a:rPr lang="en-US" altLang="en-US" sz="2400" dirty="0" smtClean="0">
                <a:solidFill>
                  <a:srgbClr val="FC0128"/>
                </a:solidFill>
              </a:rPr>
              <a:t>Sum of first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n 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r</a:t>
            </a:r>
            <a:r>
              <a:rPr lang="en-US" altLang="en-US" sz="2400" i="1" baseline="30000" dirty="0" err="1" smtClean="0">
                <a:latin typeface="Times New Roman" panose="02020603050405020304" pitchFamily="18" charset="0"/>
              </a:rPr>
              <a:t>th</a:t>
            </a:r>
            <a:r>
              <a:rPr lang="en-US" altLang="en-US" sz="2400" dirty="0" smtClean="0">
                <a:solidFill>
                  <a:srgbClr val="FC0128"/>
                </a:solidFill>
              </a:rPr>
              <a:t> powers grows as the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(r+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1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)</a:t>
            </a:r>
            <a:r>
              <a:rPr lang="en-US" altLang="en-US" sz="2400" i="1" baseline="30000" dirty="0" err="1" smtClean="0">
                <a:latin typeface="Times New Roman" panose="02020603050405020304" pitchFamily="18" charset="0"/>
              </a:rPr>
              <a:t>th</a:t>
            </a:r>
            <a:r>
              <a:rPr lang="en-US" altLang="en-US" sz="2400" dirty="0" smtClean="0">
                <a:solidFill>
                  <a:srgbClr val="FC0128"/>
                </a:solidFill>
              </a:rPr>
              <a:t> power</a:t>
            </a:r>
            <a:endParaRPr lang="en-US" altLang="en-US" sz="3200" i="1" dirty="0" smtClean="0">
              <a:latin typeface="Times New Roman" panose="02020603050405020304" pitchFamily="18" charset="0"/>
            </a:endParaRPr>
          </a:p>
          <a:p>
            <a:pPr marL="819150" lvl="1">
              <a:buFontTx/>
              <a:buChar char="·"/>
            </a:pPr>
            <a:r>
              <a:rPr lang="en-US" altLang="en-US" sz="2800" i="1" dirty="0" smtClean="0">
                <a:solidFill>
                  <a:schemeClr val="tx1"/>
                </a:solidFill>
                <a:latin typeface="Symbol" panose="05050102010706020507" pitchFamily="18" charset="2"/>
              </a:rPr>
              <a:t>S  </a:t>
            </a:r>
            <a:r>
              <a:rPr lang="en-US" altLang="en-US" sz="2800" i="1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800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dirty="0" smtClean="0">
                <a:latin typeface="Times New Roman" panose="02020603050405020304" pitchFamily="18" charset="0"/>
              </a:rPr>
              <a:t> </a:t>
            </a:r>
            <a:r>
              <a:rPr lang="en-US" altLang="en-US" dirty="0" smtClean="0">
                <a:latin typeface="Symbol" panose="05050102010706020507" pitchFamily="18" charset="2"/>
              </a:rPr>
              <a:t> </a:t>
            </a:r>
            <a:r>
              <a:rPr lang="en-US" altLang="en-US" dirty="0" smtClean="0"/>
              <a:t>is</a:t>
            </a:r>
            <a:r>
              <a:rPr lang="en-US" altLang="en-US" dirty="0" smtClean="0">
                <a:latin typeface="Symbol" panose="05050102010706020507" pitchFamily="18" charset="2"/>
              </a:rPr>
              <a:t>  </a:t>
            </a:r>
            <a:r>
              <a:rPr lang="en-US" altLang="en-US" sz="2800" i="1" dirty="0" smtClean="0">
                <a:solidFill>
                  <a:schemeClr val="tx1"/>
                </a:solidFill>
                <a:latin typeface="Symbol" panose="05050102010706020507" pitchFamily="18" charset="2"/>
              </a:rPr>
              <a:t>Q 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(  n</a:t>
            </a:r>
            <a:r>
              <a:rPr lang="en-US" altLang="en-US" sz="2800" i="1" baseline="30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aseline="30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+1 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 marL="819150" lvl="1">
              <a:buFontTx/>
              <a:buChar char=" "/>
            </a:pP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/>
            </a:r>
            <a:b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800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e.g.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sz="2800" i="1" dirty="0" smtClean="0">
                <a:solidFill>
                  <a:schemeClr val="tx1"/>
                </a:solidFill>
                <a:latin typeface="Symbol" panose="05050102010706020507" pitchFamily="18" charset="2"/>
              </a:rPr>
              <a:t>S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k =                  </a:t>
            </a:r>
            <a:r>
              <a:rPr lang="en-US" altLang="en-US" sz="2800" dirty="0" smtClean="0"/>
              <a:t>is 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800" i="1" dirty="0" smtClean="0">
                <a:solidFill>
                  <a:schemeClr val="tx1"/>
                </a:solidFill>
                <a:latin typeface="Symbol" panose="05050102010706020507" pitchFamily="18" charset="2"/>
              </a:rPr>
              <a:t>Q 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(  n</a:t>
            </a:r>
            <a:r>
              <a:rPr lang="en-US" altLang="en-US" sz="2800" baseline="30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en-US" sz="2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en-US" altLang="en-US" dirty="0" smtClean="0"/>
          </a:p>
          <a:p>
            <a:endParaRPr lang="en-US" altLang="en-US" sz="3200" i="1" dirty="0" smtClean="0">
              <a:latin typeface="Times New Roman" panose="02020603050405020304" pitchFamily="18" charset="0"/>
            </a:endParaRP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447800" y="2971800"/>
            <a:ext cx="582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</a:rPr>
              <a:t>k</a:t>
            </a:r>
            <a:r>
              <a:rPr lang="en-US" altLang="en-US" sz="2000">
                <a:latin typeface="Times New Roman" panose="02020603050405020304" pitchFamily="18" charset="0"/>
              </a:rPr>
              <a:t>=1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600200" y="24384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2286000" y="3870325"/>
            <a:ext cx="582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</a:rPr>
              <a:t>k</a:t>
            </a:r>
            <a:r>
              <a:rPr lang="en-US" altLang="en-US" sz="2000">
                <a:latin typeface="Times New Roman" panose="02020603050405020304" pitchFamily="18" charset="0"/>
              </a:rPr>
              <a:t>=1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2463800" y="33369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3352800" y="3429000"/>
            <a:ext cx="1052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n(n+</a:t>
            </a:r>
            <a:r>
              <a:rPr lang="en-US" altLang="en-US" sz="2400">
                <a:latin typeface="Times New Roman" panose="02020603050405020304" pitchFamily="18" charset="0"/>
              </a:rPr>
              <a:t>1</a:t>
            </a:r>
            <a:r>
              <a:rPr lang="en-US" altLang="en-US" sz="2400" i="1">
                <a:latin typeface="Times New Roman" panose="02020603050405020304" pitchFamily="18" charset="0"/>
              </a:rPr>
              <a:t>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3625850" y="3810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3429000" y="38862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5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3277</TotalTime>
  <Words>1762</Words>
  <Application>Microsoft Office PowerPoint</Application>
  <PresentationFormat>On-screen Show (4:3)</PresentationFormat>
  <Paragraphs>324</Paragraphs>
  <Slides>36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Courier New</vt:lpstr>
      <vt:lpstr>Garamond</vt:lpstr>
      <vt:lpstr>Monotype Sorts</vt:lpstr>
      <vt:lpstr>Symbol</vt:lpstr>
      <vt:lpstr>Times New Roman</vt:lpstr>
      <vt:lpstr>Wingdings</vt:lpstr>
      <vt:lpstr>Edge</vt:lpstr>
      <vt:lpstr>   Design and Analysis of Algorithms</vt:lpstr>
      <vt:lpstr>PowerPoint Presentation</vt:lpstr>
      <vt:lpstr>Instructor’s and TA’s Information</vt:lpstr>
      <vt:lpstr>Text book and reference material</vt:lpstr>
      <vt:lpstr>Algorithm</vt:lpstr>
      <vt:lpstr>Correctness of an algorithm</vt:lpstr>
      <vt:lpstr>Practical applications</vt:lpstr>
      <vt:lpstr>Why Study Algorithms and Performance of Algorithms</vt:lpstr>
      <vt:lpstr>Complexity Analysis</vt:lpstr>
      <vt:lpstr>Analyzing an Algorithm</vt:lpstr>
      <vt:lpstr>Analyzing an Algorithm</vt:lpstr>
      <vt:lpstr>Analysing an Algorithm</vt:lpstr>
      <vt:lpstr>Analyzing an Algorithm</vt:lpstr>
      <vt:lpstr>Analyzing an Algorithm</vt:lpstr>
      <vt:lpstr>Analyzing an Algorithm  Growth of 5n+3</vt:lpstr>
      <vt:lpstr>What Dominates in Previous Example?</vt:lpstr>
      <vt:lpstr>Asymptotic Complexity</vt:lpstr>
      <vt:lpstr>Comparing Functions: Asymptotic Notation</vt:lpstr>
      <vt:lpstr>Big Oh Notation</vt:lpstr>
      <vt:lpstr>Polynomial and Intractable Algorithms</vt:lpstr>
      <vt:lpstr>Comparing Functions</vt:lpstr>
      <vt:lpstr>Asymptotic notation</vt:lpstr>
      <vt:lpstr>Performance Classification</vt:lpstr>
      <vt:lpstr>Size does matter</vt:lpstr>
      <vt:lpstr>Review of Three Common Sets</vt:lpstr>
      <vt:lpstr>Standard Analysis Techniques</vt:lpstr>
      <vt:lpstr>Constant time statements</vt:lpstr>
      <vt:lpstr>Analyzing Loops</vt:lpstr>
      <vt:lpstr>Analyzing Loops</vt:lpstr>
      <vt:lpstr>Analyzing Nested Loops</vt:lpstr>
      <vt:lpstr>Analyzing Nested Loops</vt:lpstr>
      <vt:lpstr>Analyzing Sequence of Statements</vt:lpstr>
      <vt:lpstr>Analyzing Conditional Statements</vt:lpstr>
      <vt:lpstr>Properties of the O notation</vt:lpstr>
      <vt:lpstr>Properties of the O notation</vt:lpstr>
      <vt:lpstr>Properties of the O notation</vt:lpstr>
    </vt:vector>
  </TitlesOfParts>
  <Company>UIBK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</dc:title>
  <dc:creator>Dr. Kashif Munir</dc:creator>
  <cp:lastModifiedBy>Kashif Munir</cp:lastModifiedBy>
  <cp:revision>772</cp:revision>
  <dcterms:created xsi:type="dcterms:W3CDTF">2005-10-13T05:19:49Z</dcterms:created>
  <dcterms:modified xsi:type="dcterms:W3CDTF">2024-01-18T00:38:31Z</dcterms:modified>
</cp:coreProperties>
</file>