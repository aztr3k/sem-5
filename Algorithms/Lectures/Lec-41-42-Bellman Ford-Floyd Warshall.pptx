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5"/>
  </p:notesMasterIdLst>
  <p:handoutMasterIdLst>
    <p:handoutMasterId r:id="rId46"/>
  </p:handoutMasterIdLst>
  <p:sldIdLst>
    <p:sldId id="418" r:id="rId2"/>
    <p:sldId id="369" r:id="rId3"/>
    <p:sldId id="370" r:id="rId4"/>
    <p:sldId id="371" r:id="rId5"/>
    <p:sldId id="372" r:id="rId6"/>
    <p:sldId id="421" r:id="rId7"/>
    <p:sldId id="373" r:id="rId8"/>
    <p:sldId id="374" r:id="rId9"/>
    <p:sldId id="422" r:id="rId10"/>
    <p:sldId id="426" r:id="rId11"/>
    <p:sldId id="425" r:id="rId12"/>
    <p:sldId id="427" r:id="rId13"/>
    <p:sldId id="431" r:id="rId14"/>
    <p:sldId id="430" r:id="rId15"/>
    <p:sldId id="429" r:id="rId16"/>
    <p:sldId id="428" r:id="rId17"/>
    <p:sldId id="433" r:id="rId18"/>
    <p:sldId id="432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42" r:id="rId27"/>
    <p:sldId id="445" r:id="rId28"/>
    <p:sldId id="446" r:id="rId29"/>
    <p:sldId id="414" r:id="rId30"/>
    <p:sldId id="460" r:id="rId31"/>
    <p:sldId id="450" r:id="rId32"/>
    <p:sldId id="451" r:id="rId33"/>
    <p:sldId id="452" r:id="rId34"/>
    <p:sldId id="461" r:id="rId35"/>
    <p:sldId id="454" r:id="rId36"/>
    <p:sldId id="449" r:id="rId37"/>
    <p:sldId id="455" r:id="rId38"/>
    <p:sldId id="462" r:id="rId39"/>
    <p:sldId id="463" r:id="rId40"/>
    <p:sldId id="456" r:id="rId41"/>
    <p:sldId id="457" r:id="rId42"/>
    <p:sldId id="458" r:id="rId43"/>
    <p:sldId id="459" r:id="rId4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64" autoAdjust="0"/>
  </p:normalViewPr>
  <p:slideViewPr>
    <p:cSldViewPr>
      <p:cViewPr varScale="1">
        <p:scale>
          <a:sx n="73" d="100"/>
          <a:sy n="73" d="100"/>
        </p:scale>
        <p:origin x="129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5834826-3169-47AE-844C-0A2375A1C9A1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930159E-F8F9-44EC-9481-1C11BCF7C1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68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482E95-47AE-49B1-8CB6-F1B58DC56F9A}" type="datetimeFigureOut">
              <a:rPr lang="en-US" smtClean="0"/>
              <a:t>5/7/2023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DADB0-CA90-46FA-A187-735DD73B4F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331714-DE9E-4352-A7E7-33E74F8D4C7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39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0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D31C6B16-7F67-482A-BD39-22FD1363F206}" type="datetime1">
              <a:rPr lang="en-US" smtClean="0"/>
              <a:t>5/7/2023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18A22C3-17C3-429C-B04D-9A99EC5E254F}" type="datetime1">
              <a:rPr lang="en-US" smtClean="0"/>
              <a:t>5/7/2023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22FBA-3E15-40F3-AF7F-16EB2757FB08}" type="datetime1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C2071-300E-4273-BB6E-62101C796414}" type="datetime1">
              <a:rPr lang="en-US" smtClean="0"/>
              <a:t>5/7/2023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1073-5438-4C3B-A3F1-259ECA989B2D}" type="datetime1">
              <a:rPr lang="en-US" smtClean="0"/>
              <a:t>5/7/2023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562"/>
            <a:ext cx="7467600" cy="65563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372DC73-9E06-4EAE-A70B-D412C3D992E6}" type="datetime1">
              <a:rPr lang="en-US" smtClean="0"/>
              <a:t>5/7/2023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73CD-5BED-409E-B8E2-C9345FCB3C55}" type="datetime1">
              <a:rPr lang="en-US" smtClean="0"/>
              <a:t>5/7/2023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1AFCB02-FA47-41E8-9AAA-94A23F164915}" type="datetime1">
              <a:rPr lang="en-US" smtClean="0"/>
              <a:t>5/7/2023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276ED8E-9F02-46B3-848D-95E0565887A3}" type="datetime1">
              <a:rPr lang="en-US" smtClean="0"/>
              <a:t>5/7/2023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2855-4566-4CFE-B504-6F6184648318}" type="datetime1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6213B-E278-4AF5-83FB-1C7AF5B2C9E7}" type="datetime1">
              <a:rPr lang="en-US" smtClean="0"/>
              <a:t>5/7/2023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81000" y="76200"/>
            <a:ext cx="7467600" cy="655638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7467600" cy="54071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87D65C8-C6EA-4AC9-9BEC-6F74BE9200FA}" type="datetime1">
              <a:rPr lang="en-US" smtClean="0"/>
              <a:t>5/7/2023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3A9B76-793E-4B03-B0E0-2F9798CF6A6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1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L="1116330">
              <a:lnSpc>
                <a:spcPct val="100000"/>
              </a:lnSpc>
              <a:spcBef>
                <a:spcPts val="15"/>
              </a:spcBef>
            </a:pPr>
            <a:r>
              <a:rPr lang="en-US" sz="4400" spc="-5" dirty="0" smtClean="0">
                <a:solidFill>
                  <a:schemeClr val="tx1"/>
                </a:solidFill>
                <a:latin typeface="Times New Roman"/>
                <a:cs typeface="Times New Roman"/>
              </a:rPr>
              <a:t>Bellman-Ford</a:t>
            </a:r>
            <a:r>
              <a:rPr lang="en-US" sz="4400" spc="-35" dirty="0" smtClean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lang="en-US" sz="4400" spc="-5" dirty="0">
                <a:solidFill>
                  <a:schemeClr val="tx1"/>
                </a:solidFill>
                <a:latin typeface="Times New Roman"/>
                <a:cs typeface="Times New Roman"/>
              </a:rPr>
              <a:t>algorithm</a:t>
            </a:r>
            <a:r>
              <a:rPr lang="en-US" sz="4400" dirty="0">
                <a:latin typeface="Times New Roman"/>
                <a:cs typeface="Times New Roman"/>
              </a:rPr>
              <a:t/>
            </a:r>
            <a:br>
              <a:rPr lang="en-US" sz="4400" dirty="0">
                <a:latin typeface="Times New Roman"/>
                <a:cs typeface="Times New Roman"/>
              </a:rPr>
            </a:br>
            <a:endParaRPr lang="en-US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Design and Analysis of Algorithms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Spring-2023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21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406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Negative-weight</a:t>
            </a:r>
            <a:r>
              <a:rPr spc="-65" dirty="0"/>
              <a:t> </a:t>
            </a:r>
            <a:r>
              <a:rPr spc="-5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89736"/>
            <a:ext cx="8677910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3335" marR="5080" indent="-1270">
              <a:lnSpc>
                <a:spcPts val="3460"/>
              </a:lnSpc>
              <a:spcBef>
                <a:spcPts val="530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Recall: </a:t>
            </a:r>
            <a:r>
              <a:rPr sz="3200" spc="-5" dirty="0">
                <a:latin typeface="Times New Roman"/>
                <a:cs typeface="Times New Roman"/>
              </a:rPr>
              <a:t>If a 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=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contains a negative-  weight cycle, then some shortest paths may not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358" y="2184793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L18.2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1430337" y="2068957"/>
            <a:ext cx="6571615" cy="2693225"/>
            <a:chOff x="1430337" y="2068957"/>
            <a:chExt cx="6571615" cy="2693225"/>
          </a:xfrm>
        </p:grpSpPr>
        <p:grpSp>
          <p:nvGrpSpPr>
            <p:cNvPr id="5" name="object 5"/>
            <p:cNvGrpSpPr/>
            <p:nvPr/>
          </p:nvGrpSpPr>
          <p:grpSpPr>
            <a:xfrm>
              <a:off x="1430337" y="3995737"/>
              <a:ext cx="868044" cy="766445"/>
              <a:chOff x="1430337" y="3995737"/>
              <a:chExt cx="868044" cy="766445"/>
            </a:xfrm>
          </p:grpSpPr>
          <p:sp>
            <p:nvSpPr>
              <p:cNvPr id="6" name="object 6"/>
              <p:cNvSpPr/>
              <p:nvPr/>
            </p:nvSpPr>
            <p:spPr>
              <a:xfrm>
                <a:off x="1505711" y="4071365"/>
                <a:ext cx="690371" cy="69037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1887258" y="4050030"/>
                <a:ext cx="410933" cy="611124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1504188" y="4050030"/>
                <a:ext cx="94043" cy="84734"/>
              </a:xfrm>
              <a:prstGeom prst="rect">
                <a:avLst/>
              </a:prstGeom>
              <a:blipFill>
                <a:blip r:embed="rId4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1504188" y="4545660"/>
                <a:ext cx="158521" cy="115493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1435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339725" y="0"/>
                    </a:moveTo>
                    <a:lnTo>
                      <a:pt x="293625" y="3101"/>
                    </a:lnTo>
                    <a:lnTo>
                      <a:pt x="249410" y="12134"/>
                    </a:lnTo>
                    <a:lnTo>
                      <a:pt x="207486" y="26696"/>
                    </a:lnTo>
                    <a:lnTo>
                      <a:pt x="168257" y="46381"/>
                    </a:lnTo>
                    <a:lnTo>
                      <a:pt x="132127" y="70784"/>
                    </a:lnTo>
                    <a:lnTo>
                      <a:pt x="99501" y="99501"/>
                    </a:lnTo>
                    <a:lnTo>
                      <a:pt x="70784" y="132127"/>
                    </a:lnTo>
                    <a:lnTo>
                      <a:pt x="46381" y="168257"/>
                    </a:lnTo>
                    <a:lnTo>
                      <a:pt x="26696" y="207486"/>
                    </a:lnTo>
                    <a:lnTo>
                      <a:pt x="12134" y="249410"/>
                    </a:lnTo>
                    <a:lnTo>
                      <a:pt x="3101" y="293625"/>
                    </a:lnTo>
                    <a:lnTo>
                      <a:pt x="0" y="339725"/>
                    </a:lnTo>
                    <a:lnTo>
                      <a:pt x="3101" y="385824"/>
                    </a:lnTo>
                    <a:lnTo>
                      <a:pt x="12134" y="430039"/>
                    </a:lnTo>
                    <a:lnTo>
                      <a:pt x="26696" y="471963"/>
                    </a:lnTo>
                    <a:lnTo>
                      <a:pt x="46381" y="511192"/>
                    </a:lnTo>
                    <a:lnTo>
                      <a:pt x="70784" y="547322"/>
                    </a:lnTo>
                    <a:lnTo>
                      <a:pt x="99501" y="579948"/>
                    </a:lnTo>
                    <a:lnTo>
                      <a:pt x="132127" y="608665"/>
                    </a:lnTo>
                    <a:lnTo>
                      <a:pt x="168257" y="633068"/>
                    </a:lnTo>
                    <a:lnTo>
                      <a:pt x="207486" y="652753"/>
                    </a:lnTo>
                    <a:lnTo>
                      <a:pt x="249410" y="667315"/>
                    </a:lnTo>
                    <a:lnTo>
                      <a:pt x="293625" y="676348"/>
                    </a:lnTo>
                    <a:lnTo>
                      <a:pt x="339725" y="679450"/>
                    </a:lnTo>
                    <a:lnTo>
                      <a:pt x="385824" y="676348"/>
                    </a:lnTo>
                    <a:lnTo>
                      <a:pt x="430039" y="667315"/>
                    </a:lnTo>
                    <a:lnTo>
                      <a:pt x="471963" y="652753"/>
                    </a:lnTo>
                    <a:lnTo>
                      <a:pt x="511192" y="633068"/>
                    </a:lnTo>
                    <a:lnTo>
                      <a:pt x="547322" y="608665"/>
                    </a:lnTo>
                    <a:lnTo>
                      <a:pt x="579948" y="579948"/>
                    </a:lnTo>
                    <a:lnTo>
                      <a:pt x="608665" y="547322"/>
                    </a:lnTo>
                    <a:lnTo>
                      <a:pt x="633068" y="511192"/>
                    </a:lnTo>
                    <a:lnTo>
                      <a:pt x="652753" y="471963"/>
                    </a:lnTo>
                    <a:lnTo>
                      <a:pt x="667315" y="430039"/>
                    </a:lnTo>
                    <a:lnTo>
                      <a:pt x="676348" y="385824"/>
                    </a:lnTo>
                    <a:lnTo>
                      <a:pt x="679450" y="339725"/>
                    </a:lnTo>
                    <a:lnTo>
                      <a:pt x="676348" y="293625"/>
                    </a:lnTo>
                    <a:lnTo>
                      <a:pt x="667315" y="249410"/>
                    </a:lnTo>
                    <a:lnTo>
                      <a:pt x="652753" y="207486"/>
                    </a:lnTo>
                    <a:lnTo>
                      <a:pt x="633068" y="168257"/>
                    </a:lnTo>
                    <a:lnTo>
                      <a:pt x="608665" y="132127"/>
                    </a:lnTo>
                    <a:lnTo>
                      <a:pt x="579948" y="99501"/>
                    </a:lnTo>
                    <a:lnTo>
                      <a:pt x="547322" y="70784"/>
                    </a:lnTo>
                    <a:lnTo>
                      <a:pt x="511192" y="46381"/>
                    </a:lnTo>
                    <a:lnTo>
                      <a:pt x="471963" y="26696"/>
                    </a:lnTo>
                    <a:lnTo>
                      <a:pt x="430039" y="12134"/>
                    </a:lnTo>
                    <a:lnTo>
                      <a:pt x="385824" y="3101"/>
                    </a:lnTo>
                    <a:lnTo>
                      <a:pt x="339725" y="0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1435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0" y="339725"/>
                    </a:moveTo>
                    <a:lnTo>
                      <a:pt x="3101" y="293625"/>
                    </a:lnTo>
                    <a:lnTo>
                      <a:pt x="12134" y="249410"/>
                    </a:lnTo>
                    <a:lnTo>
                      <a:pt x="26696" y="207486"/>
                    </a:lnTo>
                    <a:lnTo>
                      <a:pt x="46381" y="168257"/>
                    </a:lnTo>
                    <a:lnTo>
                      <a:pt x="70784" y="132127"/>
                    </a:lnTo>
                    <a:lnTo>
                      <a:pt x="99501" y="99501"/>
                    </a:lnTo>
                    <a:lnTo>
                      <a:pt x="132127" y="70784"/>
                    </a:lnTo>
                    <a:lnTo>
                      <a:pt x="168257" y="46381"/>
                    </a:lnTo>
                    <a:lnTo>
                      <a:pt x="207486" y="26696"/>
                    </a:lnTo>
                    <a:lnTo>
                      <a:pt x="249410" y="12134"/>
                    </a:lnTo>
                    <a:lnTo>
                      <a:pt x="293625" y="3101"/>
                    </a:lnTo>
                    <a:lnTo>
                      <a:pt x="339725" y="0"/>
                    </a:lnTo>
                    <a:lnTo>
                      <a:pt x="385824" y="3101"/>
                    </a:lnTo>
                    <a:lnTo>
                      <a:pt x="430039" y="12134"/>
                    </a:lnTo>
                    <a:lnTo>
                      <a:pt x="471963" y="26696"/>
                    </a:lnTo>
                    <a:lnTo>
                      <a:pt x="511192" y="46381"/>
                    </a:lnTo>
                    <a:lnTo>
                      <a:pt x="547322" y="70784"/>
                    </a:lnTo>
                    <a:lnTo>
                      <a:pt x="579948" y="99501"/>
                    </a:lnTo>
                    <a:lnTo>
                      <a:pt x="608665" y="132127"/>
                    </a:lnTo>
                    <a:lnTo>
                      <a:pt x="633068" y="168257"/>
                    </a:lnTo>
                    <a:lnTo>
                      <a:pt x="652753" y="207486"/>
                    </a:lnTo>
                    <a:lnTo>
                      <a:pt x="667315" y="249410"/>
                    </a:lnTo>
                    <a:lnTo>
                      <a:pt x="676348" y="293625"/>
                    </a:lnTo>
                    <a:lnTo>
                      <a:pt x="679450" y="339725"/>
                    </a:lnTo>
                    <a:lnTo>
                      <a:pt x="676348" y="385824"/>
                    </a:lnTo>
                    <a:lnTo>
                      <a:pt x="667315" y="430039"/>
                    </a:lnTo>
                    <a:lnTo>
                      <a:pt x="652753" y="471963"/>
                    </a:lnTo>
                    <a:lnTo>
                      <a:pt x="633068" y="511192"/>
                    </a:lnTo>
                    <a:lnTo>
                      <a:pt x="608665" y="547322"/>
                    </a:lnTo>
                    <a:lnTo>
                      <a:pt x="579948" y="579948"/>
                    </a:lnTo>
                    <a:lnTo>
                      <a:pt x="547322" y="608665"/>
                    </a:lnTo>
                    <a:lnTo>
                      <a:pt x="511192" y="633068"/>
                    </a:lnTo>
                    <a:lnTo>
                      <a:pt x="471963" y="652753"/>
                    </a:lnTo>
                    <a:lnTo>
                      <a:pt x="430039" y="667315"/>
                    </a:lnTo>
                    <a:lnTo>
                      <a:pt x="385824" y="676348"/>
                    </a:lnTo>
                    <a:lnTo>
                      <a:pt x="339725" y="679450"/>
                    </a:lnTo>
                    <a:lnTo>
                      <a:pt x="293625" y="676348"/>
                    </a:lnTo>
                    <a:lnTo>
                      <a:pt x="249410" y="667315"/>
                    </a:lnTo>
                    <a:lnTo>
                      <a:pt x="207486" y="652753"/>
                    </a:lnTo>
                    <a:lnTo>
                      <a:pt x="168257" y="633068"/>
                    </a:lnTo>
                    <a:lnTo>
                      <a:pt x="132127" y="608665"/>
                    </a:lnTo>
                    <a:lnTo>
                      <a:pt x="99501" y="579948"/>
                    </a:lnTo>
                    <a:lnTo>
                      <a:pt x="70784" y="547322"/>
                    </a:lnTo>
                    <a:lnTo>
                      <a:pt x="46381" y="511192"/>
                    </a:lnTo>
                    <a:lnTo>
                      <a:pt x="26696" y="471963"/>
                    </a:lnTo>
                    <a:lnTo>
                      <a:pt x="12134" y="430039"/>
                    </a:lnTo>
                    <a:lnTo>
                      <a:pt x="3101" y="385824"/>
                    </a:lnTo>
                    <a:lnTo>
                      <a:pt x="0" y="3397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1660017" y="4069969"/>
              <a:ext cx="228600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200" i="1" spc="-5" dirty="0">
                  <a:solidFill>
                    <a:srgbClr val="008A87"/>
                  </a:solidFill>
                  <a:latin typeface="Times New Roman"/>
                  <a:cs typeface="Times New Roman"/>
                </a:rPr>
                <a:t>u</a:t>
              </a:r>
              <a:endParaRPr sz="3200">
                <a:latin typeface="Times New Roman"/>
                <a:cs typeface="Times New Roman"/>
              </a:endParaRPr>
            </a:p>
          </p:txBody>
        </p:sp>
        <p:grpSp>
          <p:nvGrpSpPr>
            <p:cNvPr id="13" name="object 13"/>
            <p:cNvGrpSpPr/>
            <p:nvPr/>
          </p:nvGrpSpPr>
          <p:grpSpPr>
            <a:xfrm>
              <a:off x="3335337" y="3995737"/>
              <a:ext cx="4666615" cy="766445"/>
              <a:chOff x="3335337" y="3995737"/>
              <a:chExt cx="4666615" cy="766445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3410711" y="4071365"/>
                <a:ext cx="690372" cy="690371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3340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339725" y="0"/>
                    </a:moveTo>
                    <a:lnTo>
                      <a:pt x="293625" y="3101"/>
                    </a:lnTo>
                    <a:lnTo>
                      <a:pt x="249410" y="12134"/>
                    </a:lnTo>
                    <a:lnTo>
                      <a:pt x="207486" y="26696"/>
                    </a:lnTo>
                    <a:lnTo>
                      <a:pt x="168257" y="46381"/>
                    </a:lnTo>
                    <a:lnTo>
                      <a:pt x="132127" y="70784"/>
                    </a:lnTo>
                    <a:lnTo>
                      <a:pt x="99501" y="99501"/>
                    </a:lnTo>
                    <a:lnTo>
                      <a:pt x="70784" y="132127"/>
                    </a:lnTo>
                    <a:lnTo>
                      <a:pt x="46381" y="168257"/>
                    </a:lnTo>
                    <a:lnTo>
                      <a:pt x="26696" y="207486"/>
                    </a:lnTo>
                    <a:lnTo>
                      <a:pt x="12134" y="249410"/>
                    </a:lnTo>
                    <a:lnTo>
                      <a:pt x="3101" y="293625"/>
                    </a:lnTo>
                    <a:lnTo>
                      <a:pt x="0" y="339725"/>
                    </a:lnTo>
                    <a:lnTo>
                      <a:pt x="3101" y="385824"/>
                    </a:lnTo>
                    <a:lnTo>
                      <a:pt x="12134" y="430039"/>
                    </a:lnTo>
                    <a:lnTo>
                      <a:pt x="26696" y="471963"/>
                    </a:lnTo>
                    <a:lnTo>
                      <a:pt x="46381" y="511192"/>
                    </a:lnTo>
                    <a:lnTo>
                      <a:pt x="70784" y="547322"/>
                    </a:lnTo>
                    <a:lnTo>
                      <a:pt x="99501" y="579948"/>
                    </a:lnTo>
                    <a:lnTo>
                      <a:pt x="132127" y="608665"/>
                    </a:lnTo>
                    <a:lnTo>
                      <a:pt x="168257" y="633068"/>
                    </a:lnTo>
                    <a:lnTo>
                      <a:pt x="207486" y="652753"/>
                    </a:lnTo>
                    <a:lnTo>
                      <a:pt x="249410" y="667315"/>
                    </a:lnTo>
                    <a:lnTo>
                      <a:pt x="293625" y="676348"/>
                    </a:lnTo>
                    <a:lnTo>
                      <a:pt x="339725" y="679450"/>
                    </a:lnTo>
                    <a:lnTo>
                      <a:pt x="385824" y="676348"/>
                    </a:lnTo>
                    <a:lnTo>
                      <a:pt x="430039" y="667315"/>
                    </a:lnTo>
                    <a:lnTo>
                      <a:pt x="471963" y="652753"/>
                    </a:lnTo>
                    <a:lnTo>
                      <a:pt x="511192" y="633068"/>
                    </a:lnTo>
                    <a:lnTo>
                      <a:pt x="547322" y="608665"/>
                    </a:lnTo>
                    <a:lnTo>
                      <a:pt x="579948" y="579948"/>
                    </a:lnTo>
                    <a:lnTo>
                      <a:pt x="608665" y="547322"/>
                    </a:lnTo>
                    <a:lnTo>
                      <a:pt x="633068" y="511192"/>
                    </a:lnTo>
                    <a:lnTo>
                      <a:pt x="652753" y="471963"/>
                    </a:lnTo>
                    <a:lnTo>
                      <a:pt x="667315" y="430039"/>
                    </a:lnTo>
                    <a:lnTo>
                      <a:pt x="676348" y="385824"/>
                    </a:lnTo>
                    <a:lnTo>
                      <a:pt x="679450" y="339725"/>
                    </a:lnTo>
                    <a:lnTo>
                      <a:pt x="676348" y="293625"/>
                    </a:lnTo>
                    <a:lnTo>
                      <a:pt x="667315" y="249410"/>
                    </a:lnTo>
                    <a:lnTo>
                      <a:pt x="652753" y="207486"/>
                    </a:lnTo>
                    <a:lnTo>
                      <a:pt x="633068" y="168257"/>
                    </a:lnTo>
                    <a:lnTo>
                      <a:pt x="608665" y="132127"/>
                    </a:lnTo>
                    <a:lnTo>
                      <a:pt x="579948" y="99501"/>
                    </a:lnTo>
                    <a:lnTo>
                      <a:pt x="547322" y="70784"/>
                    </a:lnTo>
                    <a:lnTo>
                      <a:pt x="511192" y="46381"/>
                    </a:lnTo>
                    <a:lnTo>
                      <a:pt x="471963" y="26696"/>
                    </a:lnTo>
                    <a:lnTo>
                      <a:pt x="430039" y="12134"/>
                    </a:lnTo>
                    <a:lnTo>
                      <a:pt x="385824" y="3101"/>
                    </a:lnTo>
                    <a:lnTo>
                      <a:pt x="339725" y="0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3340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0" y="339725"/>
                    </a:moveTo>
                    <a:lnTo>
                      <a:pt x="3101" y="293625"/>
                    </a:lnTo>
                    <a:lnTo>
                      <a:pt x="12134" y="249410"/>
                    </a:lnTo>
                    <a:lnTo>
                      <a:pt x="26696" y="207486"/>
                    </a:lnTo>
                    <a:lnTo>
                      <a:pt x="46381" y="168257"/>
                    </a:lnTo>
                    <a:lnTo>
                      <a:pt x="70784" y="132127"/>
                    </a:lnTo>
                    <a:lnTo>
                      <a:pt x="99501" y="99501"/>
                    </a:lnTo>
                    <a:lnTo>
                      <a:pt x="132127" y="70784"/>
                    </a:lnTo>
                    <a:lnTo>
                      <a:pt x="168257" y="46381"/>
                    </a:lnTo>
                    <a:lnTo>
                      <a:pt x="207486" y="26696"/>
                    </a:lnTo>
                    <a:lnTo>
                      <a:pt x="249410" y="12134"/>
                    </a:lnTo>
                    <a:lnTo>
                      <a:pt x="293625" y="3101"/>
                    </a:lnTo>
                    <a:lnTo>
                      <a:pt x="339725" y="0"/>
                    </a:lnTo>
                    <a:lnTo>
                      <a:pt x="385824" y="3101"/>
                    </a:lnTo>
                    <a:lnTo>
                      <a:pt x="430039" y="12134"/>
                    </a:lnTo>
                    <a:lnTo>
                      <a:pt x="471963" y="26696"/>
                    </a:lnTo>
                    <a:lnTo>
                      <a:pt x="511192" y="46381"/>
                    </a:lnTo>
                    <a:lnTo>
                      <a:pt x="547322" y="70784"/>
                    </a:lnTo>
                    <a:lnTo>
                      <a:pt x="579948" y="99501"/>
                    </a:lnTo>
                    <a:lnTo>
                      <a:pt x="608665" y="132127"/>
                    </a:lnTo>
                    <a:lnTo>
                      <a:pt x="633068" y="168257"/>
                    </a:lnTo>
                    <a:lnTo>
                      <a:pt x="652753" y="207486"/>
                    </a:lnTo>
                    <a:lnTo>
                      <a:pt x="667315" y="249410"/>
                    </a:lnTo>
                    <a:lnTo>
                      <a:pt x="676348" y="293625"/>
                    </a:lnTo>
                    <a:lnTo>
                      <a:pt x="679450" y="339725"/>
                    </a:lnTo>
                    <a:lnTo>
                      <a:pt x="676348" y="385824"/>
                    </a:lnTo>
                    <a:lnTo>
                      <a:pt x="667315" y="430039"/>
                    </a:lnTo>
                    <a:lnTo>
                      <a:pt x="652753" y="471963"/>
                    </a:lnTo>
                    <a:lnTo>
                      <a:pt x="633068" y="511192"/>
                    </a:lnTo>
                    <a:lnTo>
                      <a:pt x="608665" y="547322"/>
                    </a:lnTo>
                    <a:lnTo>
                      <a:pt x="579948" y="579948"/>
                    </a:lnTo>
                    <a:lnTo>
                      <a:pt x="547322" y="608665"/>
                    </a:lnTo>
                    <a:lnTo>
                      <a:pt x="511192" y="633068"/>
                    </a:lnTo>
                    <a:lnTo>
                      <a:pt x="471963" y="652753"/>
                    </a:lnTo>
                    <a:lnTo>
                      <a:pt x="430039" y="667315"/>
                    </a:lnTo>
                    <a:lnTo>
                      <a:pt x="385824" y="676348"/>
                    </a:lnTo>
                    <a:lnTo>
                      <a:pt x="339725" y="679450"/>
                    </a:lnTo>
                    <a:lnTo>
                      <a:pt x="293625" y="676348"/>
                    </a:lnTo>
                    <a:lnTo>
                      <a:pt x="249410" y="667315"/>
                    </a:lnTo>
                    <a:lnTo>
                      <a:pt x="207486" y="652753"/>
                    </a:lnTo>
                    <a:lnTo>
                      <a:pt x="168257" y="633068"/>
                    </a:lnTo>
                    <a:lnTo>
                      <a:pt x="132127" y="608665"/>
                    </a:lnTo>
                    <a:lnTo>
                      <a:pt x="99501" y="579948"/>
                    </a:lnTo>
                    <a:lnTo>
                      <a:pt x="70784" y="547322"/>
                    </a:lnTo>
                    <a:lnTo>
                      <a:pt x="46381" y="511192"/>
                    </a:lnTo>
                    <a:lnTo>
                      <a:pt x="26696" y="471963"/>
                    </a:lnTo>
                    <a:lnTo>
                      <a:pt x="12134" y="430039"/>
                    </a:lnTo>
                    <a:lnTo>
                      <a:pt x="3101" y="385824"/>
                    </a:lnTo>
                    <a:lnTo>
                      <a:pt x="0" y="3397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5315711" y="4071365"/>
                <a:ext cx="690372" cy="69037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245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339725" y="0"/>
                    </a:moveTo>
                    <a:lnTo>
                      <a:pt x="293625" y="3101"/>
                    </a:lnTo>
                    <a:lnTo>
                      <a:pt x="249410" y="12134"/>
                    </a:lnTo>
                    <a:lnTo>
                      <a:pt x="207486" y="26696"/>
                    </a:lnTo>
                    <a:lnTo>
                      <a:pt x="168257" y="46381"/>
                    </a:lnTo>
                    <a:lnTo>
                      <a:pt x="132127" y="70784"/>
                    </a:lnTo>
                    <a:lnTo>
                      <a:pt x="99501" y="99501"/>
                    </a:lnTo>
                    <a:lnTo>
                      <a:pt x="70784" y="132127"/>
                    </a:lnTo>
                    <a:lnTo>
                      <a:pt x="46381" y="168257"/>
                    </a:lnTo>
                    <a:lnTo>
                      <a:pt x="26696" y="207486"/>
                    </a:lnTo>
                    <a:lnTo>
                      <a:pt x="12134" y="249410"/>
                    </a:lnTo>
                    <a:lnTo>
                      <a:pt x="3101" y="293625"/>
                    </a:lnTo>
                    <a:lnTo>
                      <a:pt x="0" y="339725"/>
                    </a:lnTo>
                    <a:lnTo>
                      <a:pt x="3101" y="385824"/>
                    </a:lnTo>
                    <a:lnTo>
                      <a:pt x="12134" y="430039"/>
                    </a:lnTo>
                    <a:lnTo>
                      <a:pt x="26696" y="471963"/>
                    </a:lnTo>
                    <a:lnTo>
                      <a:pt x="46381" y="511192"/>
                    </a:lnTo>
                    <a:lnTo>
                      <a:pt x="70784" y="547322"/>
                    </a:lnTo>
                    <a:lnTo>
                      <a:pt x="99501" y="579948"/>
                    </a:lnTo>
                    <a:lnTo>
                      <a:pt x="132127" y="608665"/>
                    </a:lnTo>
                    <a:lnTo>
                      <a:pt x="168257" y="633068"/>
                    </a:lnTo>
                    <a:lnTo>
                      <a:pt x="207486" y="652753"/>
                    </a:lnTo>
                    <a:lnTo>
                      <a:pt x="249410" y="667315"/>
                    </a:lnTo>
                    <a:lnTo>
                      <a:pt x="293625" y="676348"/>
                    </a:lnTo>
                    <a:lnTo>
                      <a:pt x="339725" y="679450"/>
                    </a:lnTo>
                    <a:lnTo>
                      <a:pt x="385824" y="676348"/>
                    </a:lnTo>
                    <a:lnTo>
                      <a:pt x="430039" y="667315"/>
                    </a:lnTo>
                    <a:lnTo>
                      <a:pt x="471963" y="652753"/>
                    </a:lnTo>
                    <a:lnTo>
                      <a:pt x="511192" y="633068"/>
                    </a:lnTo>
                    <a:lnTo>
                      <a:pt x="547322" y="608665"/>
                    </a:lnTo>
                    <a:lnTo>
                      <a:pt x="579948" y="579948"/>
                    </a:lnTo>
                    <a:lnTo>
                      <a:pt x="608665" y="547322"/>
                    </a:lnTo>
                    <a:lnTo>
                      <a:pt x="633068" y="511192"/>
                    </a:lnTo>
                    <a:lnTo>
                      <a:pt x="652753" y="471963"/>
                    </a:lnTo>
                    <a:lnTo>
                      <a:pt x="667315" y="430039"/>
                    </a:lnTo>
                    <a:lnTo>
                      <a:pt x="676348" y="385824"/>
                    </a:lnTo>
                    <a:lnTo>
                      <a:pt x="679450" y="339725"/>
                    </a:lnTo>
                    <a:lnTo>
                      <a:pt x="676348" y="293625"/>
                    </a:lnTo>
                    <a:lnTo>
                      <a:pt x="667315" y="249410"/>
                    </a:lnTo>
                    <a:lnTo>
                      <a:pt x="652753" y="207486"/>
                    </a:lnTo>
                    <a:lnTo>
                      <a:pt x="633068" y="168257"/>
                    </a:lnTo>
                    <a:lnTo>
                      <a:pt x="608665" y="132127"/>
                    </a:lnTo>
                    <a:lnTo>
                      <a:pt x="579948" y="99501"/>
                    </a:lnTo>
                    <a:lnTo>
                      <a:pt x="547322" y="70784"/>
                    </a:lnTo>
                    <a:lnTo>
                      <a:pt x="511192" y="46381"/>
                    </a:lnTo>
                    <a:lnTo>
                      <a:pt x="471963" y="26696"/>
                    </a:lnTo>
                    <a:lnTo>
                      <a:pt x="430039" y="12134"/>
                    </a:lnTo>
                    <a:lnTo>
                      <a:pt x="385824" y="3101"/>
                    </a:lnTo>
                    <a:lnTo>
                      <a:pt x="339725" y="0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5245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0" y="339725"/>
                    </a:moveTo>
                    <a:lnTo>
                      <a:pt x="3101" y="293625"/>
                    </a:lnTo>
                    <a:lnTo>
                      <a:pt x="12134" y="249410"/>
                    </a:lnTo>
                    <a:lnTo>
                      <a:pt x="26696" y="207486"/>
                    </a:lnTo>
                    <a:lnTo>
                      <a:pt x="46381" y="168257"/>
                    </a:lnTo>
                    <a:lnTo>
                      <a:pt x="70784" y="132127"/>
                    </a:lnTo>
                    <a:lnTo>
                      <a:pt x="99501" y="99501"/>
                    </a:lnTo>
                    <a:lnTo>
                      <a:pt x="132127" y="70784"/>
                    </a:lnTo>
                    <a:lnTo>
                      <a:pt x="168257" y="46381"/>
                    </a:lnTo>
                    <a:lnTo>
                      <a:pt x="207486" y="26696"/>
                    </a:lnTo>
                    <a:lnTo>
                      <a:pt x="249410" y="12134"/>
                    </a:lnTo>
                    <a:lnTo>
                      <a:pt x="293625" y="3101"/>
                    </a:lnTo>
                    <a:lnTo>
                      <a:pt x="339725" y="0"/>
                    </a:lnTo>
                    <a:lnTo>
                      <a:pt x="385824" y="3101"/>
                    </a:lnTo>
                    <a:lnTo>
                      <a:pt x="430039" y="12134"/>
                    </a:lnTo>
                    <a:lnTo>
                      <a:pt x="471963" y="26696"/>
                    </a:lnTo>
                    <a:lnTo>
                      <a:pt x="511192" y="46381"/>
                    </a:lnTo>
                    <a:lnTo>
                      <a:pt x="547322" y="70784"/>
                    </a:lnTo>
                    <a:lnTo>
                      <a:pt x="579948" y="99501"/>
                    </a:lnTo>
                    <a:lnTo>
                      <a:pt x="608665" y="132127"/>
                    </a:lnTo>
                    <a:lnTo>
                      <a:pt x="633068" y="168257"/>
                    </a:lnTo>
                    <a:lnTo>
                      <a:pt x="652753" y="207486"/>
                    </a:lnTo>
                    <a:lnTo>
                      <a:pt x="667315" y="249410"/>
                    </a:lnTo>
                    <a:lnTo>
                      <a:pt x="676348" y="293625"/>
                    </a:lnTo>
                    <a:lnTo>
                      <a:pt x="679450" y="339725"/>
                    </a:lnTo>
                    <a:lnTo>
                      <a:pt x="676348" y="385824"/>
                    </a:lnTo>
                    <a:lnTo>
                      <a:pt x="667315" y="430039"/>
                    </a:lnTo>
                    <a:lnTo>
                      <a:pt x="652753" y="471963"/>
                    </a:lnTo>
                    <a:lnTo>
                      <a:pt x="633068" y="511192"/>
                    </a:lnTo>
                    <a:lnTo>
                      <a:pt x="608665" y="547322"/>
                    </a:lnTo>
                    <a:lnTo>
                      <a:pt x="579948" y="579948"/>
                    </a:lnTo>
                    <a:lnTo>
                      <a:pt x="547322" y="608665"/>
                    </a:lnTo>
                    <a:lnTo>
                      <a:pt x="511192" y="633068"/>
                    </a:lnTo>
                    <a:lnTo>
                      <a:pt x="471963" y="652753"/>
                    </a:lnTo>
                    <a:lnTo>
                      <a:pt x="430039" y="667315"/>
                    </a:lnTo>
                    <a:lnTo>
                      <a:pt x="385824" y="676348"/>
                    </a:lnTo>
                    <a:lnTo>
                      <a:pt x="339725" y="679450"/>
                    </a:lnTo>
                    <a:lnTo>
                      <a:pt x="293625" y="676348"/>
                    </a:lnTo>
                    <a:lnTo>
                      <a:pt x="249410" y="667315"/>
                    </a:lnTo>
                    <a:lnTo>
                      <a:pt x="207486" y="652753"/>
                    </a:lnTo>
                    <a:lnTo>
                      <a:pt x="168257" y="633068"/>
                    </a:lnTo>
                    <a:lnTo>
                      <a:pt x="132127" y="608665"/>
                    </a:lnTo>
                    <a:lnTo>
                      <a:pt x="99501" y="579948"/>
                    </a:lnTo>
                    <a:lnTo>
                      <a:pt x="70784" y="547322"/>
                    </a:lnTo>
                    <a:lnTo>
                      <a:pt x="46381" y="511192"/>
                    </a:lnTo>
                    <a:lnTo>
                      <a:pt x="26696" y="471963"/>
                    </a:lnTo>
                    <a:lnTo>
                      <a:pt x="12134" y="430039"/>
                    </a:lnTo>
                    <a:lnTo>
                      <a:pt x="3101" y="385824"/>
                    </a:lnTo>
                    <a:lnTo>
                      <a:pt x="0" y="3397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7220711" y="4071365"/>
                <a:ext cx="690372" cy="69037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7602130" y="4050030"/>
                <a:ext cx="399630" cy="611124"/>
              </a:xfrm>
              <a:prstGeom prst="rect">
                <a:avLst/>
              </a:prstGeom>
              <a:blipFill>
                <a:blip r:embed="rId7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7230617" y="4050030"/>
                <a:ext cx="82638" cy="70751"/>
              </a:xfrm>
              <a:prstGeom prst="rect">
                <a:avLst/>
              </a:prstGeom>
              <a:blipFill>
                <a:blip r:embed="rId8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7230617" y="4559655"/>
                <a:ext cx="147027" cy="101498"/>
              </a:xfrm>
              <a:prstGeom prst="rect">
                <a:avLst/>
              </a:prstGeom>
              <a:blipFill>
                <a:blip r:embed="rId9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7150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339725" y="0"/>
                    </a:moveTo>
                    <a:lnTo>
                      <a:pt x="293625" y="3101"/>
                    </a:lnTo>
                    <a:lnTo>
                      <a:pt x="249410" y="12134"/>
                    </a:lnTo>
                    <a:lnTo>
                      <a:pt x="207486" y="26696"/>
                    </a:lnTo>
                    <a:lnTo>
                      <a:pt x="168257" y="46381"/>
                    </a:lnTo>
                    <a:lnTo>
                      <a:pt x="132127" y="70784"/>
                    </a:lnTo>
                    <a:lnTo>
                      <a:pt x="99501" y="99501"/>
                    </a:lnTo>
                    <a:lnTo>
                      <a:pt x="70784" y="132127"/>
                    </a:lnTo>
                    <a:lnTo>
                      <a:pt x="46381" y="168257"/>
                    </a:lnTo>
                    <a:lnTo>
                      <a:pt x="26696" y="207486"/>
                    </a:lnTo>
                    <a:lnTo>
                      <a:pt x="12134" y="249410"/>
                    </a:lnTo>
                    <a:lnTo>
                      <a:pt x="3101" y="293625"/>
                    </a:lnTo>
                    <a:lnTo>
                      <a:pt x="0" y="339725"/>
                    </a:lnTo>
                    <a:lnTo>
                      <a:pt x="3101" y="385824"/>
                    </a:lnTo>
                    <a:lnTo>
                      <a:pt x="12134" y="430039"/>
                    </a:lnTo>
                    <a:lnTo>
                      <a:pt x="26696" y="471963"/>
                    </a:lnTo>
                    <a:lnTo>
                      <a:pt x="46381" y="511192"/>
                    </a:lnTo>
                    <a:lnTo>
                      <a:pt x="70784" y="547322"/>
                    </a:lnTo>
                    <a:lnTo>
                      <a:pt x="99501" y="579948"/>
                    </a:lnTo>
                    <a:lnTo>
                      <a:pt x="132127" y="608665"/>
                    </a:lnTo>
                    <a:lnTo>
                      <a:pt x="168257" y="633068"/>
                    </a:lnTo>
                    <a:lnTo>
                      <a:pt x="207486" y="652753"/>
                    </a:lnTo>
                    <a:lnTo>
                      <a:pt x="249410" y="667315"/>
                    </a:lnTo>
                    <a:lnTo>
                      <a:pt x="293625" y="676348"/>
                    </a:lnTo>
                    <a:lnTo>
                      <a:pt x="339725" y="679450"/>
                    </a:lnTo>
                    <a:lnTo>
                      <a:pt x="385824" y="676348"/>
                    </a:lnTo>
                    <a:lnTo>
                      <a:pt x="430039" y="667315"/>
                    </a:lnTo>
                    <a:lnTo>
                      <a:pt x="471963" y="652753"/>
                    </a:lnTo>
                    <a:lnTo>
                      <a:pt x="511192" y="633068"/>
                    </a:lnTo>
                    <a:lnTo>
                      <a:pt x="547322" y="608665"/>
                    </a:lnTo>
                    <a:lnTo>
                      <a:pt x="579948" y="579948"/>
                    </a:lnTo>
                    <a:lnTo>
                      <a:pt x="608665" y="547322"/>
                    </a:lnTo>
                    <a:lnTo>
                      <a:pt x="633068" y="511192"/>
                    </a:lnTo>
                    <a:lnTo>
                      <a:pt x="652753" y="471963"/>
                    </a:lnTo>
                    <a:lnTo>
                      <a:pt x="667315" y="430039"/>
                    </a:lnTo>
                    <a:lnTo>
                      <a:pt x="676348" y="385824"/>
                    </a:lnTo>
                    <a:lnTo>
                      <a:pt x="679450" y="339725"/>
                    </a:lnTo>
                    <a:lnTo>
                      <a:pt x="676348" y="293625"/>
                    </a:lnTo>
                    <a:lnTo>
                      <a:pt x="667315" y="249410"/>
                    </a:lnTo>
                    <a:lnTo>
                      <a:pt x="652753" y="207486"/>
                    </a:lnTo>
                    <a:lnTo>
                      <a:pt x="633068" y="168257"/>
                    </a:lnTo>
                    <a:lnTo>
                      <a:pt x="608665" y="132127"/>
                    </a:lnTo>
                    <a:lnTo>
                      <a:pt x="579948" y="99501"/>
                    </a:lnTo>
                    <a:lnTo>
                      <a:pt x="547322" y="70784"/>
                    </a:lnTo>
                    <a:lnTo>
                      <a:pt x="511192" y="46381"/>
                    </a:lnTo>
                    <a:lnTo>
                      <a:pt x="471963" y="26696"/>
                    </a:lnTo>
                    <a:lnTo>
                      <a:pt x="430039" y="12134"/>
                    </a:lnTo>
                    <a:lnTo>
                      <a:pt x="385824" y="3101"/>
                    </a:lnTo>
                    <a:lnTo>
                      <a:pt x="339725" y="0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7150100" y="4000500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0" y="339725"/>
                    </a:moveTo>
                    <a:lnTo>
                      <a:pt x="3101" y="293625"/>
                    </a:lnTo>
                    <a:lnTo>
                      <a:pt x="12134" y="249410"/>
                    </a:lnTo>
                    <a:lnTo>
                      <a:pt x="26696" y="207486"/>
                    </a:lnTo>
                    <a:lnTo>
                      <a:pt x="46381" y="168257"/>
                    </a:lnTo>
                    <a:lnTo>
                      <a:pt x="70784" y="132127"/>
                    </a:lnTo>
                    <a:lnTo>
                      <a:pt x="99501" y="99501"/>
                    </a:lnTo>
                    <a:lnTo>
                      <a:pt x="132127" y="70784"/>
                    </a:lnTo>
                    <a:lnTo>
                      <a:pt x="168257" y="46381"/>
                    </a:lnTo>
                    <a:lnTo>
                      <a:pt x="207486" y="26696"/>
                    </a:lnTo>
                    <a:lnTo>
                      <a:pt x="249410" y="12134"/>
                    </a:lnTo>
                    <a:lnTo>
                      <a:pt x="293625" y="3101"/>
                    </a:lnTo>
                    <a:lnTo>
                      <a:pt x="339725" y="0"/>
                    </a:lnTo>
                    <a:lnTo>
                      <a:pt x="385824" y="3101"/>
                    </a:lnTo>
                    <a:lnTo>
                      <a:pt x="430039" y="12134"/>
                    </a:lnTo>
                    <a:lnTo>
                      <a:pt x="471963" y="26696"/>
                    </a:lnTo>
                    <a:lnTo>
                      <a:pt x="511192" y="46381"/>
                    </a:lnTo>
                    <a:lnTo>
                      <a:pt x="547322" y="70784"/>
                    </a:lnTo>
                    <a:lnTo>
                      <a:pt x="579948" y="99501"/>
                    </a:lnTo>
                    <a:lnTo>
                      <a:pt x="608665" y="132127"/>
                    </a:lnTo>
                    <a:lnTo>
                      <a:pt x="633068" y="168257"/>
                    </a:lnTo>
                    <a:lnTo>
                      <a:pt x="652753" y="207486"/>
                    </a:lnTo>
                    <a:lnTo>
                      <a:pt x="667315" y="249410"/>
                    </a:lnTo>
                    <a:lnTo>
                      <a:pt x="676348" y="293625"/>
                    </a:lnTo>
                    <a:lnTo>
                      <a:pt x="679450" y="339725"/>
                    </a:lnTo>
                    <a:lnTo>
                      <a:pt x="676348" y="385824"/>
                    </a:lnTo>
                    <a:lnTo>
                      <a:pt x="667315" y="430039"/>
                    </a:lnTo>
                    <a:lnTo>
                      <a:pt x="652753" y="471963"/>
                    </a:lnTo>
                    <a:lnTo>
                      <a:pt x="633068" y="511192"/>
                    </a:lnTo>
                    <a:lnTo>
                      <a:pt x="608665" y="547322"/>
                    </a:lnTo>
                    <a:lnTo>
                      <a:pt x="579948" y="579948"/>
                    </a:lnTo>
                    <a:lnTo>
                      <a:pt x="547322" y="608665"/>
                    </a:lnTo>
                    <a:lnTo>
                      <a:pt x="511192" y="633068"/>
                    </a:lnTo>
                    <a:lnTo>
                      <a:pt x="471963" y="652753"/>
                    </a:lnTo>
                    <a:lnTo>
                      <a:pt x="430039" y="667315"/>
                    </a:lnTo>
                    <a:lnTo>
                      <a:pt x="385824" y="676348"/>
                    </a:lnTo>
                    <a:lnTo>
                      <a:pt x="339725" y="679450"/>
                    </a:lnTo>
                    <a:lnTo>
                      <a:pt x="293625" y="676348"/>
                    </a:lnTo>
                    <a:lnTo>
                      <a:pt x="249410" y="667315"/>
                    </a:lnTo>
                    <a:lnTo>
                      <a:pt x="207486" y="652753"/>
                    </a:lnTo>
                    <a:lnTo>
                      <a:pt x="168257" y="633068"/>
                    </a:lnTo>
                    <a:lnTo>
                      <a:pt x="132127" y="608665"/>
                    </a:lnTo>
                    <a:lnTo>
                      <a:pt x="99501" y="579948"/>
                    </a:lnTo>
                    <a:lnTo>
                      <a:pt x="70784" y="547322"/>
                    </a:lnTo>
                    <a:lnTo>
                      <a:pt x="46381" y="511192"/>
                    </a:lnTo>
                    <a:lnTo>
                      <a:pt x="26696" y="471963"/>
                    </a:lnTo>
                    <a:lnTo>
                      <a:pt x="12134" y="430039"/>
                    </a:lnTo>
                    <a:lnTo>
                      <a:pt x="3101" y="385824"/>
                    </a:lnTo>
                    <a:lnTo>
                      <a:pt x="0" y="3397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6" name="object 26"/>
            <p:cNvSpPr txBox="1"/>
            <p:nvPr/>
          </p:nvSpPr>
          <p:spPr>
            <a:xfrm>
              <a:off x="7386446" y="4069969"/>
              <a:ext cx="205740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200" i="1" spc="-5" dirty="0">
                  <a:solidFill>
                    <a:srgbClr val="008A87"/>
                  </a:solidFill>
                  <a:latin typeface="Times New Roman"/>
                  <a:cs typeface="Times New Roman"/>
                </a:rPr>
                <a:t>v</a:t>
              </a:r>
              <a:endParaRPr sz="3200">
                <a:latin typeface="Times New Roman"/>
                <a:cs typeface="Times New Roman"/>
              </a:endParaRPr>
            </a:p>
          </p:txBody>
        </p:sp>
        <p:grpSp>
          <p:nvGrpSpPr>
            <p:cNvPr id="27" name="object 27"/>
            <p:cNvGrpSpPr/>
            <p:nvPr/>
          </p:nvGrpSpPr>
          <p:grpSpPr>
            <a:xfrm>
              <a:off x="2114550" y="2436939"/>
              <a:ext cx="5035550" cy="1946275"/>
              <a:chOff x="2114550" y="2436939"/>
              <a:chExt cx="5035550" cy="1946275"/>
            </a:xfrm>
          </p:grpSpPr>
          <p:sp>
            <p:nvSpPr>
              <p:cNvPr id="28" name="object 28"/>
              <p:cNvSpPr/>
              <p:nvPr/>
            </p:nvSpPr>
            <p:spPr>
              <a:xfrm>
                <a:off x="2114550" y="4340225"/>
                <a:ext cx="11684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68400">
                    <a:moveTo>
                      <a:pt x="0" y="0"/>
                    </a:moveTo>
                    <a:lnTo>
                      <a:pt x="11684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9"/>
              <p:cNvSpPr/>
              <p:nvPr/>
            </p:nvSpPr>
            <p:spPr>
              <a:xfrm>
                <a:off x="3254375" y="42973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28575" y="42862"/>
                    </a:lnTo>
                    <a:lnTo>
                      <a:pt x="0" y="85725"/>
                    </a:lnTo>
                    <a:lnTo>
                      <a:pt x="85725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4019550" y="4340225"/>
                <a:ext cx="11684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68400">
                    <a:moveTo>
                      <a:pt x="0" y="0"/>
                    </a:moveTo>
                    <a:lnTo>
                      <a:pt x="11684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5159375" y="42973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28575" y="42862"/>
                    </a:lnTo>
                    <a:lnTo>
                      <a:pt x="0" y="85725"/>
                    </a:lnTo>
                    <a:lnTo>
                      <a:pt x="85725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5924550" y="4340225"/>
                <a:ext cx="11684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68400">
                    <a:moveTo>
                      <a:pt x="0" y="0"/>
                    </a:moveTo>
                    <a:lnTo>
                      <a:pt x="116840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7064375" y="42973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28575" y="42862"/>
                    </a:lnTo>
                    <a:lnTo>
                      <a:pt x="0" y="85725"/>
                    </a:lnTo>
                    <a:lnTo>
                      <a:pt x="85725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6153911" y="3038093"/>
                <a:ext cx="690371" cy="690371"/>
              </a:xfrm>
              <a:prstGeom prst="rect">
                <a:avLst/>
              </a:prstGeom>
              <a:blipFill>
                <a:blip r:embed="rId10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35"/>
              <p:cNvSpPr/>
              <p:nvPr/>
            </p:nvSpPr>
            <p:spPr>
              <a:xfrm>
                <a:off x="6083300" y="2967037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339725" y="0"/>
                    </a:moveTo>
                    <a:lnTo>
                      <a:pt x="293625" y="3101"/>
                    </a:lnTo>
                    <a:lnTo>
                      <a:pt x="249410" y="12134"/>
                    </a:lnTo>
                    <a:lnTo>
                      <a:pt x="207486" y="26696"/>
                    </a:lnTo>
                    <a:lnTo>
                      <a:pt x="168257" y="46381"/>
                    </a:lnTo>
                    <a:lnTo>
                      <a:pt x="132127" y="70784"/>
                    </a:lnTo>
                    <a:lnTo>
                      <a:pt x="99501" y="99501"/>
                    </a:lnTo>
                    <a:lnTo>
                      <a:pt x="70784" y="132127"/>
                    </a:lnTo>
                    <a:lnTo>
                      <a:pt x="46381" y="168257"/>
                    </a:lnTo>
                    <a:lnTo>
                      <a:pt x="26696" y="207486"/>
                    </a:lnTo>
                    <a:lnTo>
                      <a:pt x="12134" y="249410"/>
                    </a:lnTo>
                    <a:lnTo>
                      <a:pt x="3101" y="293625"/>
                    </a:lnTo>
                    <a:lnTo>
                      <a:pt x="0" y="339725"/>
                    </a:lnTo>
                    <a:lnTo>
                      <a:pt x="3101" y="385824"/>
                    </a:lnTo>
                    <a:lnTo>
                      <a:pt x="12134" y="430039"/>
                    </a:lnTo>
                    <a:lnTo>
                      <a:pt x="26696" y="471963"/>
                    </a:lnTo>
                    <a:lnTo>
                      <a:pt x="46381" y="511192"/>
                    </a:lnTo>
                    <a:lnTo>
                      <a:pt x="70784" y="547322"/>
                    </a:lnTo>
                    <a:lnTo>
                      <a:pt x="99501" y="579948"/>
                    </a:lnTo>
                    <a:lnTo>
                      <a:pt x="132127" y="608665"/>
                    </a:lnTo>
                    <a:lnTo>
                      <a:pt x="168257" y="633068"/>
                    </a:lnTo>
                    <a:lnTo>
                      <a:pt x="207486" y="652753"/>
                    </a:lnTo>
                    <a:lnTo>
                      <a:pt x="249410" y="667315"/>
                    </a:lnTo>
                    <a:lnTo>
                      <a:pt x="293625" y="676348"/>
                    </a:lnTo>
                    <a:lnTo>
                      <a:pt x="339725" y="679450"/>
                    </a:lnTo>
                    <a:lnTo>
                      <a:pt x="385824" y="676348"/>
                    </a:lnTo>
                    <a:lnTo>
                      <a:pt x="430039" y="667315"/>
                    </a:lnTo>
                    <a:lnTo>
                      <a:pt x="471963" y="652753"/>
                    </a:lnTo>
                    <a:lnTo>
                      <a:pt x="511192" y="633068"/>
                    </a:lnTo>
                    <a:lnTo>
                      <a:pt x="547322" y="608665"/>
                    </a:lnTo>
                    <a:lnTo>
                      <a:pt x="579948" y="579948"/>
                    </a:lnTo>
                    <a:lnTo>
                      <a:pt x="608665" y="547322"/>
                    </a:lnTo>
                    <a:lnTo>
                      <a:pt x="633068" y="511192"/>
                    </a:lnTo>
                    <a:lnTo>
                      <a:pt x="652753" y="471963"/>
                    </a:lnTo>
                    <a:lnTo>
                      <a:pt x="667315" y="430039"/>
                    </a:lnTo>
                    <a:lnTo>
                      <a:pt x="676348" y="385824"/>
                    </a:lnTo>
                    <a:lnTo>
                      <a:pt x="679450" y="339725"/>
                    </a:lnTo>
                    <a:lnTo>
                      <a:pt x="676348" y="293625"/>
                    </a:lnTo>
                    <a:lnTo>
                      <a:pt x="667315" y="249410"/>
                    </a:lnTo>
                    <a:lnTo>
                      <a:pt x="652753" y="207486"/>
                    </a:lnTo>
                    <a:lnTo>
                      <a:pt x="633068" y="168257"/>
                    </a:lnTo>
                    <a:lnTo>
                      <a:pt x="608665" y="132127"/>
                    </a:lnTo>
                    <a:lnTo>
                      <a:pt x="579948" y="99501"/>
                    </a:lnTo>
                    <a:lnTo>
                      <a:pt x="547322" y="70784"/>
                    </a:lnTo>
                    <a:lnTo>
                      <a:pt x="511192" y="46381"/>
                    </a:lnTo>
                    <a:lnTo>
                      <a:pt x="471963" y="26696"/>
                    </a:lnTo>
                    <a:lnTo>
                      <a:pt x="430039" y="12134"/>
                    </a:lnTo>
                    <a:lnTo>
                      <a:pt x="385824" y="3101"/>
                    </a:lnTo>
                    <a:lnTo>
                      <a:pt x="339725" y="0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6083300" y="2967037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0" y="339725"/>
                    </a:moveTo>
                    <a:lnTo>
                      <a:pt x="3101" y="293625"/>
                    </a:lnTo>
                    <a:lnTo>
                      <a:pt x="12134" y="249410"/>
                    </a:lnTo>
                    <a:lnTo>
                      <a:pt x="26696" y="207486"/>
                    </a:lnTo>
                    <a:lnTo>
                      <a:pt x="46381" y="168257"/>
                    </a:lnTo>
                    <a:lnTo>
                      <a:pt x="70784" y="132127"/>
                    </a:lnTo>
                    <a:lnTo>
                      <a:pt x="99501" y="99501"/>
                    </a:lnTo>
                    <a:lnTo>
                      <a:pt x="132127" y="70784"/>
                    </a:lnTo>
                    <a:lnTo>
                      <a:pt x="168257" y="46381"/>
                    </a:lnTo>
                    <a:lnTo>
                      <a:pt x="207486" y="26696"/>
                    </a:lnTo>
                    <a:lnTo>
                      <a:pt x="249410" y="12134"/>
                    </a:lnTo>
                    <a:lnTo>
                      <a:pt x="293625" y="3101"/>
                    </a:lnTo>
                    <a:lnTo>
                      <a:pt x="339725" y="0"/>
                    </a:lnTo>
                    <a:lnTo>
                      <a:pt x="385824" y="3101"/>
                    </a:lnTo>
                    <a:lnTo>
                      <a:pt x="430039" y="12134"/>
                    </a:lnTo>
                    <a:lnTo>
                      <a:pt x="471963" y="26696"/>
                    </a:lnTo>
                    <a:lnTo>
                      <a:pt x="511192" y="46381"/>
                    </a:lnTo>
                    <a:lnTo>
                      <a:pt x="547322" y="70784"/>
                    </a:lnTo>
                    <a:lnTo>
                      <a:pt x="579948" y="99501"/>
                    </a:lnTo>
                    <a:lnTo>
                      <a:pt x="608665" y="132127"/>
                    </a:lnTo>
                    <a:lnTo>
                      <a:pt x="633068" y="168257"/>
                    </a:lnTo>
                    <a:lnTo>
                      <a:pt x="652753" y="207486"/>
                    </a:lnTo>
                    <a:lnTo>
                      <a:pt x="667315" y="249410"/>
                    </a:lnTo>
                    <a:lnTo>
                      <a:pt x="676348" y="293625"/>
                    </a:lnTo>
                    <a:lnTo>
                      <a:pt x="679450" y="339725"/>
                    </a:lnTo>
                    <a:lnTo>
                      <a:pt x="676348" y="385824"/>
                    </a:lnTo>
                    <a:lnTo>
                      <a:pt x="667315" y="430039"/>
                    </a:lnTo>
                    <a:lnTo>
                      <a:pt x="652753" y="471963"/>
                    </a:lnTo>
                    <a:lnTo>
                      <a:pt x="633068" y="511192"/>
                    </a:lnTo>
                    <a:lnTo>
                      <a:pt x="608665" y="547322"/>
                    </a:lnTo>
                    <a:lnTo>
                      <a:pt x="579948" y="579948"/>
                    </a:lnTo>
                    <a:lnTo>
                      <a:pt x="547322" y="608665"/>
                    </a:lnTo>
                    <a:lnTo>
                      <a:pt x="511192" y="633068"/>
                    </a:lnTo>
                    <a:lnTo>
                      <a:pt x="471963" y="652753"/>
                    </a:lnTo>
                    <a:lnTo>
                      <a:pt x="430039" y="667315"/>
                    </a:lnTo>
                    <a:lnTo>
                      <a:pt x="385824" y="676348"/>
                    </a:lnTo>
                    <a:lnTo>
                      <a:pt x="339725" y="679450"/>
                    </a:lnTo>
                    <a:lnTo>
                      <a:pt x="293625" y="676348"/>
                    </a:lnTo>
                    <a:lnTo>
                      <a:pt x="249410" y="667315"/>
                    </a:lnTo>
                    <a:lnTo>
                      <a:pt x="207486" y="652753"/>
                    </a:lnTo>
                    <a:lnTo>
                      <a:pt x="168257" y="633068"/>
                    </a:lnTo>
                    <a:lnTo>
                      <a:pt x="132127" y="608665"/>
                    </a:lnTo>
                    <a:lnTo>
                      <a:pt x="99501" y="579948"/>
                    </a:lnTo>
                    <a:lnTo>
                      <a:pt x="70784" y="547322"/>
                    </a:lnTo>
                    <a:lnTo>
                      <a:pt x="46381" y="511192"/>
                    </a:lnTo>
                    <a:lnTo>
                      <a:pt x="26696" y="471963"/>
                    </a:lnTo>
                    <a:lnTo>
                      <a:pt x="12134" y="430039"/>
                    </a:lnTo>
                    <a:lnTo>
                      <a:pt x="3101" y="385824"/>
                    </a:lnTo>
                    <a:lnTo>
                      <a:pt x="0" y="3397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5982004" y="2477604"/>
                <a:ext cx="441325" cy="489584"/>
              </a:xfrm>
              <a:custGeom>
                <a:avLst/>
                <a:gdLst/>
                <a:ahLst/>
                <a:cxnLst/>
                <a:rect l="l" t="t" r="r" b="b"/>
                <a:pathLst>
                  <a:path w="441325" h="489585">
                    <a:moveTo>
                      <a:pt x="441020" y="489432"/>
                    </a:moveTo>
                    <a:lnTo>
                      <a:pt x="438247" y="443919"/>
                    </a:lnTo>
                    <a:lnTo>
                      <a:pt x="430160" y="398752"/>
                    </a:lnTo>
                    <a:lnTo>
                      <a:pt x="417108" y="354275"/>
                    </a:lnTo>
                    <a:lnTo>
                      <a:pt x="399439" y="310833"/>
                    </a:lnTo>
                    <a:lnTo>
                      <a:pt x="377501" y="268771"/>
                    </a:lnTo>
                    <a:lnTo>
                      <a:pt x="351643" y="228435"/>
                    </a:lnTo>
                    <a:lnTo>
                      <a:pt x="322213" y="190169"/>
                    </a:lnTo>
                    <a:lnTo>
                      <a:pt x="289560" y="154320"/>
                    </a:lnTo>
                    <a:lnTo>
                      <a:pt x="254032" y="121231"/>
                    </a:lnTo>
                    <a:lnTo>
                      <a:pt x="215978" y="91248"/>
                    </a:lnTo>
                    <a:lnTo>
                      <a:pt x="175745" y="64716"/>
                    </a:lnTo>
                    <a:lnTo>
                      <a:pt x="133682" y="41980"/>
                    </a:lnTo>
                    <a:lnTo>
                      <a:pt x="90138" y="23385"/>
                    </a:lnTo>
                    <a:lnTo>
                      <a:pt x="45461" y="9276"/>
                    </a:lnTo>
                    <a:lnTo>
                      <a:pt x="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38"/>
              <p:cNvSpPr/>
              <p:nvPr/>
            </p:nvSpPr>
            <p:spPr>
              <a:xfrm>
                <a:off x="5924550" y="2436939"/>
                <a:ext cx="889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5725">
                    <a:moveTo>
                      <a:pt x="88671" y="0"/>
                    </a:moveTo>
                    <a:lnTo>
                      <a:pt x="0" y="36385"/>
                    </a:lnTo>
                    <a:lnTo>
                      <a:pt x="82308" y="85496"/>
                    </a:lnTo>
                    <a:lnTo>
                      <a:pt x="56997" y="40627"/>
                    </a:lnTo>
                    <a:lnTo>
                      <a:pt x="88671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39"/>
              <p:cNvSpPr/>
              <p:nvPr/>
            </p:nvSpPr>
            <p:spPr>
              <a:xfrm>
                <a:off x="5884862" y="3704069"/>
                <a:ext cx="534035" cy="455295"/>
              </a:xfrm>
              <a:custGeom>
                <a:avLst/>
                <a:gdLst/>
                <a:ahLst/>
                <a:cxnLst/>
                <a:rect l="l" t="t" r="r" b="b"/>
                <a:pathLst>
                  <a:path w="534035" h="455295">
                    <a:moveTo>
                      <a:pt x="0" y="455180"/>
                    </a:moveTo>
                    <a:lnTo>
                      <a:pt x="46615" y="452659"/>
                    </a:lnTo>
                    <a:lnTo>
                      <a:pt x="92920" y="445294"/>
                    </a:lnTo>
                    <a:lnTo>
                      <a:pt x="138600" y="433381"/>
                    </a:lnTo>
                    <a:lnTo>
                      <a:pt x="183345" y="417220"/>
                    </a:lnTo>
                    <a:lnTo>
                      <a:pt x="226842" y="397105"/>
                    </a:lnTo>
                    <a:lnTo>
                      <a:pt x="268779" y="373336"/>
                    </a:lnTo>
                    <a:lnTo>
                      <a:pt x="308845" y="346208"/>
                    </a:lnTo>
                    <a:lnTo>
                      <a:pt x="346727" y="316020"/>
                    </a:lnTo>
                    <a:lnTo>
                      <a:pt x="382113" y="283068"/>
                    </a:lnTo>
                    <a:lnTo>
                      <a:pt x="414692" y="247651"/>
                    </a:lnTo>
                    <a:lnTo>
                      <a:pt x="444151" y="210064"/>
                    </a:lnTo>
                    <a:lnTo>
                      <a:pt x="470178" y="170605"/>
                    </a:lnTo>
                    <a:lnTo>
                      <a:pt x="492461" y="129572"/>
                    </a:lnTo>
                    <a:lnTo>
                      <a:pt x="510689" y="87262"/>
                    </a:lnTo>
                    <a:lnTo>
                      <a:pt x="524549" y="43972"/>
                    </a:lnTo>
                    <a:lnTo>
                      <a:pt x="533730" y="0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40"/>
              <p:cNvSpPr/>
              <p:nvPr/>
            </p:nvSpPr>
            <p:spPr>
              <a:xfrm>
                <a:off x="6373710" y="3646487"/>
                <a:ext cx="857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8900">
                    <a:moveTo>
                      <a:pt x="49314" y="0"/>
                    </a:moveTo>
                    <a:lnTo>
                      <a:pt x="0" y="82181"/>
                    </a:lnTo>
                    <a:lnTo>
                      <a:pt x="44932" y="56984"/>
                    </a:lnTo>
                    <a:lnTo>
                      <a:pt x="85471" y="88760"/>
                    </a:lnTo>
                    <a:lnTo>
                      <a:pt x="4931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41"/>
              <p:cNvSpPr/>
              <p:nvPr/>
            </p:nvSpPr>
            <p:spPr>
              <a:xfrm>
                <a:off x="4483607" y="3038093"/>
                <a:ext cx="691133" cy="690371"/>
              </a:xfrm>
              <a:prstGeom prst="rect">
                <a:avLst/>
              </a:prstGeom>
              <a:blipFill>
                <a:blip r:embed="rId11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4413250" y="2967037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339725" y="0"/>
                    </a:moveTo>
                    <a:lnTo>
                      <a:pt x="293625" y="3101"/>
                    </a:lnTo>
                    <a:lnTo>
                      <a:pt x="249410" y="12134"/>
                    </a:lnTo>
                    <a:lnTo>
                      <a:pt x="207486" y="26696"/>
                    </a:lnTo>
                    <a:lnTo>
                      <a:pt x="168257" y="46381"/>
                    </a:lnTo>
                    <a:lnTo>
                      <a:pt x="132127" y="70784"/>
                    </a:lnTo>
                    <a:lnTo>
                      <a:pt x="99501" y="99501"/>
                    </a:lnTo>
                    <a:lnTo>
                      <a:pt x="70784" y="132127"/>
                    </a:lnTo>
                    <a:lnTo>
                      <a:pt x="46381" y="168257"/>
                    </a:lnTo>
                    <a:lnTo>
                      <a:pt x="26696" y="207486"/>
                    </a:lnTo>
                    <a:lnTo>
                      <a:pt x="12134" y="249410"/>
                    </a:lnTo>
                    <a:lnTo>
                      <a:pt x="3101" y="293625"/>
                    </a:lnTo>
                    <a:lnTo>
                      <a:pt x="0" y="339725"/>
                    </a:lnTo>
                    <a:lnTo>
                      <a:pt x="3101" y="385824"/>
                    </a:lnTo>
                    <a:lnTo>
                      <a:pt x="12134" y="430039"/>
                    </a:lnTo>
                    <a:lnTo>
                      <a:pt x="26696" y="471963"/>
                    </a:lnTo>
                    <a:lnTo>
                      <a:pt x="46381" y="511192"/>
                    </a:lnTo>
                    <a:lnTo>
                      <a:pt x="70784" y="547322"/>
                    </a:lnTo>
                    <a:lnTo>
                      <a:pt x="99501" y="579948"/>
                    </a:lnTo>
                    <a:lnTo>
                      <a:pt x="132127" y="608665"/>
                    </a:lnTo>
                    <a:lnTo>
                      <a:pt x="168257" y="633068"/>
                    </a:lnTo>
                    <a:lnTo>
                      <a:pt x="207486" y="652753"/>
                    </a:lnTo>
                    <a:lnTo>
                      <a:pt x="249410" y="667315"/>
                    </a:lnTo>
                    <a:lnTo>
                      <a:pt x="293625" y="676348"/>
                    </a:lnTo>
                    <a:lnTo>
                      <a:pt x="339725" y="679450"/>
                    </a:lnTo>
                    <a:lnTo>
                      <a:pt x="385824" y="676348"/>
                    </a:lnTo>
                    <a:lnTo>
                      <a:pt x="430039" y="667315"/>
                    </a:lnTo>
                    <a:lnTo>
                      <a:pt x="471963" y="652753"/>
                    </a:lnTo>
                    <a:lnTo>
                      <a:pt x="511192" y="633068"/>
                    </a:lnTo>
                    <a:lnTo>
                      <a:pt x="547322" y="608665"/>
                    </a:lnTo>
                    <a:lnTo>
                      <a:pt x="579948" y="579948"/>
                    </a:lnTo>
                    <a:lnTo>
                      <a:pt x="608665" y="547322"/>
                    </a:lnTo>
                    <a:lnTo>
                      <a:pt x="633068" y="511192"/>
                    </a:lnTo>
                    <a:lnTo>
                      <a:pt x="652753" y="471963"/>
                    </a:lnTo>
                    <a:lnTo>
                      <a:pt x="667315" y="430039"/>
                    </a:lnTo>
                    <a:lnTo>
                      <a:pt x="676348" y="385824"/>
                    </a:lnTo>
                    <a:lnTo>
                      <a:pt x="679450" y="339725"/>
                    </a:lnTo>
                    <a:lnTo>
                      <a:pt x="676348" y="293625"/>
                    </a:lnTo>
                    <a:lnTo>
                      <a:pt x="667315" y="249410"/>
                    </a:lnTo>
                    <a:lnTo>
                      <a:pt x="652753" y="207486"/>
                    </a:lnTo>
                    <a:lnTo>
                      <a:pt x="633068" y="168257"/>
                    </a:lnTo>
                    <a:lnTo>
                      <a:pt x="608665" y="132127"/>
                    </a:lnTo>
                    <a:lnTo>
                      <a:pt x="579948" y="99501"/>
                    </a:lnTo>
                    <a:lnTo>
                      <a:pt x="547322" y="70784"/>
                    </a:lnTo>
                    <a:lnTo>
                      <a:pt x="511192" y="46381"/>
                    </a:lnTo>
                    <a:lnTo>
                      <a:pt x="471963" y="26696"/>
                    </a:lnTo>
                    <a:lnTo>
                      <a:pt x="430039" y="12134"/>
                    </a:lnTo>
                    <a:lnTo>
                      <a:pt x="385824" y="3101"/>
                    </a:lnTo>
                    <a:lnTo>
                      <a:pt x="339725" y="0"/>
                    </a:lnTo>
                    <a:close/>
                  </a:path>
                </a:pathLst>
              </a:custGeom>
              <a:solidFill>
                <a:srgbClr val="FFFF6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43"/>
              <p:cNvSpPr/>
              <p:nvPr/>
            </p:nvSpPr>
            <p:spPr>
              <a:xfrm>
                <a:off x="4413250" y="2967037"/>
                <a:ext cx="679450" cy="679450"/>
              </a:xfrm>
              <a:custGeom>
                <a:avLst/>
                <a:gdLst/>
                <a:ahLst/>
                <a:cxnLst/>
                <a:rect l="l" t="t" r="r" b="b"/>
                <a:pathLst>
                  <a:path w="679450" h="679450">
                    <a:moveTo>
                      <a:pt x="0" y="339725"/>
                    </a:moveTo>
                    <a:lnTo>
                      <a:pt x="3101" y="293625"/>
                    </a:lnTo>
                    <a:lnTo>
                      <a:pt x="12134" y="249410"/>
                    </a:lnTo>
                    <a:lnTo>
                      <a:pt x="26696" y="207486"/>
                    </a:lnTo>
                    <a:lnTo>
                      <a:pt x="46381" y="168257"/>
                    </a:lnTo>
                    <a:lnTo>
                      <a:pt x="70784" y="132127"/>
                    </a:lnTo>
                    <a:lnTo>
                      <a:pt x="99501" y="99501"/>
                    </a:lnTo>
                    <a:lnTo>
                      <a:pt x="132127" y="70784"/>
                    </a:lnTo>
                    <a:lnTo>
                      <a:pt x="168257" y="46381"/>
                    </a:lnTo>
                    <a:lnTo>
                      <a:pt x="207486" y="26696"/>
                    </a:lnTo>
                    <a:lnTo>
                      <a:pt x="249410" y="12134"/>
                    </a:lnTo>
                    <a:lnTo>
                      <a:pt x="293625" y="3101"/>
                    </a:lnTo>
                    <a:lnTo>
                      <a:pt x="339725" y="0"/>
                    </a:lnTo>
                    <a:lnTo>
                      <a:pt x="385824" y="3101"/>
                    </a:lnTo>
                    <a:lnTo>
                      <a:pt x="430039" y="12134"/>
                    </a:lnTo>
                    <a:lnTo>
                      <a:pt x="471963" y="26696"/>
                    </a:lnTo>
                    <a:lnTo>
                      <a:pt x="511192" y="46381"/>
                    </a:lnTo>
                    <a:lnTo>
                      <a:pt x="547322" y="70784"/>
                    </a:lnTo>
                    <a:lnTo>
                      <a:pt x="579948" y="99501"/>
                    </a:lnTo>
                    <a:lnTo>
                      <a:pt x="608665" y="132127"/>
                    </a:lnTo>
                    <a:lnTo>
                      <a:pt x="633068" y="168257"/>
                    </a:lnTo>
                    <a:lnTo>
                      <a:pt x="652753" y="207486"/>
                    </a:lnTo>
                    <a:lnTo>
                      <a:pt x="667315" y="249410"/>
                    </a:lnTo>
                    <a:lnTo>
                      <a:pt x="676348" y="293625"/>
                    </a:lnTo>
                    <a:lnTo>
                      <a:pt x="679450" y="339725"/>
                    </a:lnTo>
                    <a:lnTo>
                      <a:pt x="676348" y="385824"/>
                    </a:lnTo>
                    <a:lnTo>
                      <a:pt x="667315" y="430039"/>
                    </a:lnTo>
                    <a:lnTo>
                      <a:pt x="652753" y="471963"/>
                    </a:lnTo>
                    <a:lnTo>
                      <a:pt x="633068" y="511192"/>
                    </a:lnTo>
                    <a:lnTo>
                      <a:pt x="608665" y="547322"/>
                    </a:lnTo>
                    <a:lnTo>
                      <a:pt x="579948" y="579948"/>
                    </a:lnTo>
                    <a:lnTo>
                      <a:pt x="547322" y="608665"/>
                    </a:lnTo>
                    <a:lnTo>
                      <a:pt x="511192" y="633068"/>
                    </a:lnTo>
                    <a:lnTo>
                      <a:pt x="471963" y="652753"/>
                    </a:lnTo>
                    <a:lnTo>
                      <a:pt x="430039" y="667315"/>
                    </a:lnTo>
                    <a:lnTo>
                      <a:pt x="385824" y="676348"/>
                    </a:lnTo>
                    <a:lnTo>
                      <a:pt x="339725" y="679450"/>
                    </a:lnTo>
                    <a:lnTo>
                      <a:pt x="293625" y="676348"/>
                    </a:lnTo>
                    <a:lnTo>
                      <a:pt x="249410" y="667315"/>
                    </a:lnTo>
                    <a:lnTo>
                      <a:pt x="207486" y="652753"/>
                    </a:lnTo>
                    <a:lnTo>
                      <a:pt x="168257" y="633068"/>
                    </a:lnTo>
                    <a:lnTo>
                      <a:pt x="132127" y="608665"/>
                    </a:lnTo>
                    <a:lnTo>
                      <a:pt x="99501" y="579948"/>
                    </a:lnTo>
                    <a:lnTo>
                      <a:pt x="70784" y="547322"/>
                    </a:lnTo>
                    <a:lnTo>
                      <a:pt x="46381" y="511192"/>
                    </a:lnTo>
                    <a:lnTo>
                      <a:pt x="26696" y="471963"/>
                    </a:lnTo>
                    <a:lnTo>
                      <a:pt x="12134" y="430039"/>
                    </a:lnTo>
                    <a:lnTo>
                      <a:pt x="3101" y="385824"/>
                    </a:lnTo>
                    <a:lnTo>
                      <a:pt x="0" y="339725"/>
                    </a:lnTo>
                    <a:close/>
                  </a:path>
                </a:pathLst>
              </a:custGeom>
              <a:ln w="952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44"/>
              <p:cNvSpPr/>
              <p:nvPr/>
            </p:nvSpPr>
            <p:spPr>
              <a:xfrm>
                <a:off x="4757343" y="2473324"/>
                <a:ext cx="488315" cy="436245"/>
              </a:xfrm>
              <a:custGeom>
                <a:avLst/>
                <a:gdLst/>
                <a:ahLst/>
                <a:cxnLst/>
                <a:rect l="l" t="t" r="r" b="b"/>
                <a:pathLst>
                  <a:path w="488314" h="436244">
                    <a:moveTo>
                      <a:pt x="487756" y="0"/>
                    </a:moveTo>
                    <a:lnTo>
                      <a:pt x="442438" y="2740"/>
                    </a:lnTo>
                    <a:lnTo>
                      <a:pt x="397464" y="10733"/>
                    </a:lnTo>
                    <a:lnTo>
                      <a:pt x="353175" y="23634"/>
                    </a:lnTo>
                    <a:lnTo>
                      <a:pt x="309915" y="41099"/>
                    </a:lnTo>
                    <a:lnTo>
                      <a:pt x="268026" y="62785"/>
                    </a:lnTo>
                    <a:lnTo>
                      <a:pt x="227852" y="88346"/>
                    </a:lnTo>
                    <a:lnTo>
                      <a:pt x="189734" y="117440"/>
                    </a:lnTo>
                    <a:lnTo>
                      <a:pt x="154017" y="149721"/>
                    </a:lnTo>
                    <a:lnTo>
                      <a:pt x="121043" y="184847"/>
                    </a:lnTo>
                    <a:lnTo>
                      <a:pt x="91154" y="222473"/>
                    </a:lnTo>
                    <a:lnTo>
                      <a:pt x="64695" y="262256"/>
                    </a:lnTo>
                    <a:lnTo>
                      <a:pt x="42006" y="303850"/>
                    </a:lnTo>
                    <a:lnTo>
                      <a:pt x="23433" y="346913"/>
                    </a:lnTo>
                    <a:lnTo>
                      <a:pt x="9316" y="391100"/>
                    </a:lnTo>
                    <a:lnTo>
                      <a:pt x="0" y="436067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4716716" y="2878315"/>
                <a:ext cx="857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8900">
                    <a:moveTo>
                      <a:pt x="0" y="0"/>
                    </a:moveTo>
                    <a:lnTo>
                      <a:pt x="36258" y="88722"/>
                    </a:lnTo>
                    <a:lnTo>
                      <a:pt x="85470" y="6489"/>
                    </a:lnTo>
                    <a:lnTo>
                      <a:pt x="40576" y="317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4752975" y="3646487"/>
                <a:ext cx="481330" cy="509270"/>
              </a:xfrm>
              <a:custGeom>
                <a:avLst/>
                <a:gdLst/>
                <a:ahLst/>
                <a:cxnLst/>
                <a:rect l="l" t="t" r="r" b="b"/>
                <a:pathLst>
                  <a:path w="481329" h="509270">
                    <a:moveTo>
                      <a:pt x="0" y="0"/>
                    </a:moveTo>
                    <a:lnTo>
                      <a:pt x="2668" y="44607"/>
                    </a:lnTo>
                    <a:lnTo>
                      <a:pt x="10464" y="88914"/>
                    </a:lnTo>
                    <a:lnTo>
                      <a:pt x="23071" y="132618"/>
                    </a:lnTo>
                    <a:lnTo>
                      <a:pt x="40172" y="175420"/>
                    </a:lnTo>
                    <a:lnTo>
                      <a:pt x="61452" y="217016"/>
                    </a:lnTo>
                    <a:lnTo>
                      <a:pt x="86595" y="257108"/>
                    </a:lnTo>
                    <a:lnTo>
                      <a:pt x="115285" y="295392"/>
                    </a:lnTo>
                    <a:lnTo>
                      <a:pt x="147205" y="331570"/>
                    </a:lnTo>
                    <a:lnTo>
                      <a:pt x="182040" y="365338"/>
                    </a:lnTo>
                    <a:lnTo>
                      <a:pt x="219474" y="396396"/>
                    </a:lnTo>
                    <a:lnTo>
                      <a:pt x="259190" y="424444"/>
                    </a:lnTo>
                    <a:lnTo>
                      <a:pt x="300873" y="449179"/>
                    </a:lnTo>
                    <a:lnTo>
                      <a:pt x="344206" y="470301"/>
                    </a:lnTo>
                    <a:lnTo>
                      <a:pt x="388874" y="487509"/>
                    </a:lnTo>
                    <a:lnTo>
                      <a:pt x="434560" y="500501"/>
                    </a:lnTo>
                    <a:lnTo>
                      <a:pt x="480948" y="508977"/>
                    </a:lnTo>
                  </a:path>
                </a:pathLst>
              </a:custGeom>
              <a:ln w="285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7" name="object 47"/>
              <p:cNvSpPr/>
              <p:nvPr/>
            </p:nvSpPr>
            <p:spPr>
              <a:xfrm>
                <a:off x="5202770" y="4110824"/>
                <a:ext cx="889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5725">
                    <a:moveTo>
                      <a:pt x="5664" y="0"/>
                    </a:moveTo>
                    <a:lnTo>
                      <a:pt x="31343" y="44653"/>
                    </a:lnTo>
                    <a:lnTo>
                      <a:pt x="0" y="85534"/>
                    </a:lnTo>
                    <a:lnTo>
                      <a:pt x="88366" y="48425"/>
                    </a:lnTo>
                    <a:lnTo>
                      <a:pt x="56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8" name="object 48"/>
            <p:cNvSpPr txBox="1"/>
            <p:nvPr/>
          </p:nvSpPr>
          <p:spPr>
            <a:xfrm>
              <a:off x="5368925" y="2068957"/>
              <a:ext cx="431800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200" spc="-5" dirty="0">
                  <a:latin typeface="Times New Roman"/>
                  <a:cs typeface="Times New Roman"/>
                </a:rPr>
                <a:t>…</a:t>
              </a:r>
              <a:endParaRPr sz="3200">
                <a:latin typeface="Times New Roman"/>
                <a:cs typeface="Times New Roman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5323840" y="3097466"/>
              <a:ext cx="558165" cy="51308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3200" spc="-5" dirty="0">
                  <a:solidFill>
                    <a:srgbClr val="008A87"/>
                  </a:solidFill>
                  <a:latin typeface="Times New Roman"/>
                  <a:cs typeface="Times New Roman"/>
                </a:rPr>
                <a:t>&lt;</a:t>
              </a:r>
              <a:r>
                <a:rPr sz="3200" spc="-95" dirty="0">
                  <a:solidFill>
                    <a:srgbClr val="008A87"/>
                  </a:solidFill>
                  <a:latin typeface="Times New Roman"/>
                  <a:cs typeface="Times New Roman"/>
                </a:rPr>
                <a:t> </a:t>
              </a:r>
              <a:r>
                <a:rPr sz="3200" spc="-5" dirty="0">
                  <a:solidFill>
                    <a:srgbClr val="008A87"/>
                  </a:solidFill>
                  <a:latin typeface="Times New Roman"/>
                  <a:cs typeface="Times New Roman"/>
                </a:rPr>
                <a:t>0</a:t>
              </a:r>
              <a:endParaRPr sz="3200">
                <a:latin typeface="Times New Roman"/>
                <a:cs typeface="Times New Roman"/>
              </a:endParaRPr>
            </a:p>
          </p:txBody>
        </p:sp>
      </p:grpSp>
      <p:sp>
        <p:nvSpPr>
          <p:cNvPr id="53" name="Slide Number Placeholder 5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1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4063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Negative-weight</a:t>
            </a:r>
            <a:r>
              <a:rPr spc="-65" dirty="0"/>
              <a:t> </a:t>
            </a:r>
            <a:r>
              <a:rPr spc="-5" dirty="0"/>
              <a:t>cycles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189736"/>
            <a:ext cx="8677910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3335" marR="5080" indent="-1270">
              <a:lnSpc>
                <a:spcPts val="3460"/>
              </a:lnSpc>
              <a:spcBef>
                <a:spcPts val="530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Recall: </a:t>
            </a:r>
            <a:r>
              <a:rPr sz="3200" spc="-5" dirty="0">
                <a:latin typeface="Times New Roman"/>
                <a:cs typeface="Times New Roman"/>
              </a:rPr>
              <a:t>If a 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=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contains a negative-  weight cycle, then some shortest paths may not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358" y="2184793"/>
            <a:ext cx="1696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Example: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30337" y="2436939"/>
            <a:ext cx="6571615" cy="2325370"/>
            <a:chOff x="1430337" y="2436939"/>
            <a:chExt cx="6571615" cy="2325370"/>
          </a:xfrm>
        </p:grpSpPr>
        <p:sp>
          <p:nvSpPr>
            <p:cNvPr id="6" name="object 6"/>
            <p:cNvSpPr/>
            <p:nvPr/>
          </p:nvSpPr>
          <p:spPr>
            <a:xfrm>
              <a:off x="1505711" y="4071366"/>
              <a:ext cx="690371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87258" y="4050029"/>
              <a:ext cx="410933" cy="611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04188" y="4050029"/>
              <a:ext cx="94043" cy="8473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04188" y="4545660"/>
              <a:ext cx="158521" cy="11549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3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14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10711" y="4071366"/>
              <a:ext cx="690372" cy="69037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4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4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54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19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15711" y="4071366"/>
              <a:ext cx="690372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24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45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59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924550" y="4340225"/>
              <a:ext cx="1168400" cy="0"/>
            </a:xfrm>
            <a:custGeom>
              <a:avLst/>
              <a:gdLst/>
              <a:ahLst/>
              <a:cxnLst/>
              <a:rect l="l" t="t" r="r" b="b"/>
              <a:pathLst>
                <a:path w="1168400">
                  <a:moveTo>
                    <a:pt x="0" y="0"/>
                  </a:moveTo>
                  <a:lnTo>
                    <a:pt x="11684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20711" y="4071366"/>
              <a:ext cx="690372" cy="6903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02130" y="4050029"/>
              <a:ext cx="399630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0617" y="4050029"/>
              <a:ext cx="82638" cy="7075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30617" y="4559655"/>
              <a:ext cx="147027" cy="10149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5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50100" y="4000499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64375" y="42973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0" y="0"/>
                  </a:moveTo>
                  <a:lnTo>
                    <a:pt x="28575" y="42862"/>
                  </a:ln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53911" y="3038093"/>
              <a:ext cx="690371" cy="69037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8330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08330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82004" y="2477604"/>
              <a:ext cx="441325" cy="489584"/>
            </a:xfrm>
            <a:custGeom>
              <a:avLst/>
              <a:gdLst/>
              <a:ahLst/>
              <a:cxnLst/>
              <a:rect l="l" t="t" r="r" b="b"/>
              <a:pathLst>
                <a:path w="441325" h="489585">
                  <a:moveTo>
                    <a:pt x="441020" y="489432"/>
                  </a:moveTo>
                  <a:lnTo>
                    <a:pt x="438247" y="443919"/>
                  </a:lnTo>
                  <a:lnTo>
                    <a:pt x="430160" y="398752"/>
                  </a:lnTo>
                  <a:lnTo>
                    <a:pt x="417108" y="354275"/>
                  </a:lnTo>
                  <a:lnTo>
                    <a:pt x="399439" y="310833"/>
                  </a:lnTo>
                  <a:lnTo>
                    <a:pt x="377501" y="268771"/>
                  </a:lnTo>
                  <a:lnTo>
                    <a:pt x="351643" y="228435"/>
                  </a:lnTo>
                  <a:lnTo>
                    <a:pt x="322213" y="190169"/>
                  </a:lnTo>
                  <a:lnTo>
                    <a:pt x="289560" y="154320"/>
                  </a:lnTo>
                  <a:lnTo>
                    <a:pt x="254032" y="121231"/>
                  </a:lnTo>
                  <a:lnTo>
                    <a:pt x="215978" y="91248"/>
                  </a:lnTo>
                  <a:lnTo>
                    <a:pt x="175745" y="64716"/>
                  </a:lnTo>
                  <a:lnTo>
                    <a:pt x="133682" y="41980"/>
                  </a:lnTo>
                  <a:lnTo>
                    <a:pt x="90138" y="23385"/>
                  </a:lnTo>
                  <a:lnTo>
                    <a:pt x="45461" y="9276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24550" y="2436939"/>
              <a:ext cx="88900" cy="85725"/>
            </a:xfrm>
            <a:custGeom>
              <a:avLst/>
              <a:gdLst/>
              <a:ahLst/>
              <a:cxnLst/>
              <a:rect l="l" t="t" r="r" b="b"/>
              <a:pathLst>
                <a:path w="88900" h="85725">
                  <a:moveTo>
                    <a:pt x="88671" y="0"/>
                  </a:moveTo>
                  <a:lnTo>
                    <a:pt x="0" y="36385"/>
                  </a:lnTo>
                  <a:lnTo>
                    <a:pt x="82308" y="85496"/>
                  </a:lnTo>
                  <a:lnTo>
                    <a:pt x="56997" y="40627"/>
                  </a:lnTo>
                  <a:lnTo>
                    <a:pt x="886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84862" y="3704069"/>
              <a:ext cx="534035" cy="455295"/>
            </a:xfrm>
            <a:custGeom>
              <a:avLst/>
              <a:gdLst/>
              <a:ahLst/>
              <a:cxnLst/>
              <a:rect l="l" t="t" r="r" b="b"/>
              <a:pathLst>
                <a:path w="534035" h="455295">
                  <a:moveTo>
                    <a:pt x="0" y="455180"/>
                  </a:moveTo>
                  <a:lnTo>
                    <a:pt x="46615" y="452659"/>
                  </a:lnTo>
                  <a:lnTo>
                    <a:pt x="92920" y="445294"/>
                  </a:lnTo>
                  <a:lnTo>
                    <a:pt x="138600" y="433381"/>
                  </a:lnTo>
                  <a:lnTo>
                    <a:pt x="183345" y="417220"/>
                  </a:lnTo>
                  <a:lnTo>
                    <a:pt x="226842" y="397105"/>
                  </a:lnTo>
                  <a:lnTo>
                    <a:pt x="268779" y="373336"/>
                  </a:lnTo>
                  <a:lnTo>
                    <a:pt x="308845" y="346208"/>
                  </a:lnTo>
                  <a:lnTo>
                    <a:pt x="346727" y="316020"/>
                  </a:lnTo>
                  <a:lnTo>
                    <a:pt x="382113" y="283068"/>
                  </a:lnTo>
                  <a:lnTo>
                    <a:pt x="414692" y="247651"/>
                  </a:lnTo>
                  <a:lnTo>
                    <a:pt x="444151" y="210064"/>
                  </a:lnTo>
                  <a:lnTo>
                    <a:pt x="470178" y="170605"/>
                  </a:lnTo>
                  <a:lnTo>
                    <a:pt x="492461" y="129572"/>
                  </a:lnTo>
                  <a:lnTo>
                    <a:pt x="510689" y="87262"/>
                  </a:lnTo>
                  <a:lnTo>
                    <a:pt x="524549" y="43972"/>
                  </a:lnTo>
                  <a:lnTo>
                    <a:pt x="53373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373710" y="3646487"/>
              <a:ext cx="85725" cy="88900"/>
            </a:xfrm>
            <a:custGeom>
              <a:avLst/>
              <a:gdLst/>
              <a:ahLst/>
              <a:cxnLst/>
              <a:rect l="l" t="t" r="r" b="b"/>
              <a:pathLst>
                <a:path w="85725" h="88900">
                  <a:moveTo>
                    <a:pt x="49314" y="0"/>
                  </a:moveTo>
                  <a:lnTo>
                    <a:pt x="0" y="82181"/>
                  </a:lnTo>
                  <a:lnTo>
                    <a:pt x="44932" y="56984"/>
                  </a:lnTo>
                  <a:lnTo>
                    <a:pt x="85471" y="88760"/>
                  </a:lnTo>
                  <a:lnTo>
                    <a:pt x="493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83607" y="3038093"/>
              <a:ext cx="691133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1325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13250" y="2967037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757343" y="2473324"/>
              <a:ext cx="488315" cy="436245"/>
            </a:xfrm>
            <a:custGeom>
              <a:avLst/>
              <a:gdLst/>
              <a:ahLst/>
              <a:cxnLst/>
              <a:rect l="l" t="t" r="r" b="b"/>
              <a:pathLst>
                <a:path w="488314" h="436244">
                  <a:moveTo>
                    <a:pt x="487756" y="0"/>
                  </a:moveTo>
                  <a:lnTo>
                    <a:pt x="442438" y="2740"/>
                  </a:lnTo>
                  <a:lnTo>
                    <a:pt x="397464" y="10733"/>
                  </a:lnTo>
                  <a:lnTo>
                    <a:pt x="353175" y="23634"/>
                  </a:lnTo>
                  <a:lnTo>
                    <a:pt x="309915" y="41099"/>
                  </a:lnTo>
                  <a:lnTo>
                    <a:pt x="268026" y="62785"/>
                  </a:lnTo>
                  <a:lnTo>
                    <a:pt x="227852" y="88346"/>
                  </a:lnTo>
                  <a:lnTo>
                    <a:pt x="189734" y="117440"/>
                  </a:lnTo>
                  <a:lnTo>
                    <a:pt x="154017" y="149721"/>
                  </a:lnTo>
                  <a:lnTo>
                    <a:pt x="121043" y="184847"/>
                  </a:lnTo>
                  <a:lnTo>
                    <a:pt x="91154" y="222473"/>
                  </a:lnTo>
                  <a:lnTo>
                    <a:pt x="64695" y="262256"/>
                  </a:lnTo>
                  <a:lnTo>
                    <a:pt x="42006" y="303850"/>
                  </a:lnTo>
                  <a:lnTo>
                    <a:pt x="23433" y="346913"/>
                  </a:lnTo>
                  <a:lnTo>
                    <a:pt x="9316" y="391100"/>
                  </a:lnTo>
                  <a:lnTo>
                    <a:pt x="0" y="43606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716716" y="2878315"/>
              <a:ext cx="85725" cy="88900"/>
            </a:xfrm>
            <a:custGeom>
              <a:avLst/>
              <a:gdLst/>
              <a:ahLst/>
              <a:cxnLst/>
              <a:rect l="l" t="t" r="r" b="b"/>
              <a:pathLst>
                <a:path w="85725" h="88900">
                  <a:moveTo>
                    <a:pt x="0" y="0"/>
                  </a:moveTo>
                  <a:lnTo>
                    <a:pt x="36258" y="88722"/>
                  </a:lnTo>
                  <a:lnTo>
                    <a:pt x="85470" y="6489"/>
                  </a:lnTo>
                  <a:lnTo>
                    <a:pt x="40576" y="31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752975" y="3646487"/>
              <a:ext cx="481330" cy="509270"/>
            </a:xfrm>
            <a:custGeom>
              <a:avLst/>
              <a:gdLst/>
              <a:ahLst/>
              <a:cxnLst/>
              <a:rect l="l" t="t" r="r" b="b"/>
              <a:pathLst>
                <a:path w="481329" h="509270">
                  <a:moveTo>
                    <a:pt x="0" y="0"/>
                  </a:moveTo>
                  <a:lnTo>
                    <a:pt x="2668" y="44607"/>
                  </a:lnTo>
                  <a:lnTo>
                    <a:pt x="10464" y="88914"/>
                  </a:lnTo>
                  <a:lnTo>
                    <a:pt x="23071" y="132618"/>
                  </a:lnTo>
                  <a:lnTo>
                    <a:pt x="40172" y="175420"/>
                  </a:lnTo>
                  <a:lnTo>
                    <a:pt x="61452" y="217016"/>
                  </a:lnTo>
                  <a:lnTo>
                    <a:pt x="86595" y="257108"/>
                  </a:lnTo>
                  <a:lnTo>
                    <a:pt x="115285" y="295392"/>
                  </a:lnTo>
                  <a:lnTo>
                    <a:pt x="147205" y="331570"/>
                  </a:lnTo>
                  <a:lnTo>
                    <a:pt x="182040" y="365338"/>
                  </a:lnTo>
                  <a:lnTo>
                    <a:pt x="219474" y="396396"/>
                  </a:lnTo>
                  <a:lnTo>
                    <a:pt x="259190" y="424444"/>
                  </a:lnTo>
                  <a:lnTo>
                    <a:pt x="300873" y="449179"/>
                  </a:lnTo>
                  <a:lnTo>
                    <a:pt x="344206" y="470301"/>
                  </a:lnTo>
                  <a:lnTo>
                    <a:pt x="388874" y="487509"/>
                  </a:lnTo>
                  <a:lnTo>
                    <a:pt x="434560" y="500501"/>
                  </a:lnTo>
                  <a:lnTo>
                    <a:pt x="480948" y="508977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02770" y="4110824"/>
              <a:ext cx="88900" cy="85725"/>
            </a:xfrm>
            <a:custGeom>
              <a:avLst/>
              <a:gdLst/>
              <a:ahLst/>
              <a:cxnLst/>
              <a:rect l="l" t="t" r="r" b="b"/>
              <a:pathLst>
                <a:path w="88900" h="85725">
                  <a:moveTo>
                    <a:pt x="5664" y="0"/>
                  </a:moveTo>
                  <a:lnTo>
                    <a:pt x="31343" y="44653"/>
                  </a:lnTo>
                  <a:lnTo>
                    <a:pt x="0" y="85534"/>
                  </a:lnTo>
                  <a:lnTo>
                    <a:pt x="88366" y="48425"/>
                  </a:lnTo>
                  <a:lnTo>
                    <a:pt x="56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5368925" y="2068957"/>
            <a:ext cx="4318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…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1175" y="3097466"/>
            <a:ext cx="8016240" cy="32653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04765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&lt;</a:t>
            </a:r>
            <a:r>
              <a:rPr sz="3200" spc="-1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774065" algn="ctr">
              <a:lnSpc>
                <a:spcPct val="100000"/>
              </a:lnSpc>
              <a:tabLst>
                <a:tab pos="6500495" algn="l"/>
              </a:tabLst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u	v</a:t>
            </a:r>
            <a:endParaRPr sz="3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90000"/>
              </a:lnSpc>
            </a:pP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Bellman-Ford algorithm: </a:t>
            </a:r>
            <a:r>
              <a:rPr sz="3200" spc="-5" dirty="0">
                <a:latin typeface="Times New Roman"/>
                <a:cs typeface="Times New Roman"/>
              </a:rPr>
              <a:t>Finds all shortest-path  lengths from a 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source </a:t>
            </a:r>
            <a:r>
              <a:rPr lang="en-US"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3200" i="1" spc="-5" dirty="0" smtClean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latin typeface="Times New Roman"/>
                <a:cs typeface="Times New Roman"/>
              </a:rPr>
              <a:t>to all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latin typeface="Times New Roman"/>
                <a:cs typeface="Times New Roman"/>
              </a:rPr>
              <a:t>or  determines that a negative-weight cycle</a:t>
            </a:r>
            <a:r>
              <a:rPr sz="3200" spc="2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exists.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9" name="Slide Number Placeholder 4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37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8781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Bellman-Ford</a:t>
            </a:r>
            <a:r>
              <a:rPr spc="-4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274317"/>
            <a:ext cx="12858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spc="-10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658284"/>
            <a:ext cx="2947670" cy="836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each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</a:t>
            </a:r>
            <a:r>
              <a:rPr sz="2800" spc="-12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{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68630">
              <a:lnSpc>
                <a:spcPts val="3190"/>
              </a:lnSpc>
            </a:pPr>
            <a:r>
              <a:rPr sz="2800" b="1" dirty="0">
                <a:latin typeface="Times New Roman"/>
                <a:cs typeface="Times New Roman"/>
              </a:rPr>
              <a:t>do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spc="-4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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328" y="2540163"/>
            <a:ext cx="5676265" cy="2245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837815" algn="ctr">
              <a:lnSpc>
                <a:spcPts val="417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for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i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1 </a:t>
            </a:r>
            <a:r>
              <a:rPr sz="2800" b="1" dirty="0">
                <a:latin typeface="Times New Roman"/>
                <a:cs typeface="Times New Roman"/>
              </a:rPr>
              <a:t>to </a:t>
            </a:r>
            <a:r>
              <a:rPr sz="3600" b="1" spc="75" dirty="0">
                <a:solidFill>
                  <a:srgbClr val="008A87"/>
                </a:solidFill>
                <a:latin typeface="Times New Roman"/>
                <a:cs typeface="Times New Roman"/>
              </a:rPr>
              <a:t>|</a:t>
            </a:r>
            <a:r>
              <a:rPr sz="2800" i="1" spc="7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600" b="1" spc="75" dirty="0">
                <a:solidFill>
                  <a:srgbClr val="008A87"/>
                </a:solidFill>
                <a:latin typeface="Times New Roman"/>
                <a:cs typeface="Times New Roman"/>
              </a:rPr>
              <a:t>|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</a:t>
            </a:r>
            <a:r>
              <a:rPr sz="2800" spc="-39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R="822960" algn="ctr">
              <a:lnSpc>
                <a:spcPts val="3040"/>
              </a:lnSpc>
            </a:pPr>
            <a:r>
              <a:rPr sz="2800" b="1" dirty="0">
                <a:latin typeface="Times New Roman"/>
                <a:cs typeface="Times New Roman"/>
              </a:rPr>
              <a:t>do for </a:t>
            </a:r>
            <a:r>
              <a:rPr sz="2800" spc="-5" dirty="0">
                <a:latin typeface="Times New Roman"/>
                <a:cs typeface="Times New Roman"/>
              </a:rPr>
              <a:t>each edge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2800" spc="-7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  <a:p>
            <a:pPr marR="132080" algn="ctr">
              <a:lnSpc>
                <a:spcPts val="3025"/>
              </a:lnSpc>
            </a:pPr>
            <a:r>
              <a:rPr sz="2800" b="1" dirty="0">
                <a:latin typeface="Times New Roman"/>
                <a:cs typeface="Times New Roman"/>
              </a:rPr>
              <a:t>do if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&gt;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+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5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828800" algn="ctr">
              <a:lnSpc>
                <a:spcPts val="3195"/>
              </a:lnSpc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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+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6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R="2204085" algn="ctr">
              <a:lnSpc>
                <a:spcPct val="100000"/>
              </a:lnSpc>
              <a:spcBef>
                <a:spcPts val="690"/>
              </a:spcBef>
            </a:pPr>
            <a:r>
              <a:rPr sz="2800" b="1" dirty="0">
                <a:latin typeface="Times New Roman"/>
                <a:cs typeface="Times New Roman"/>
              </a:rPr>
              <a:t>for </a:t>
            </a:r>
            <a:r>
              <a:rPr sz="2800" spc="-5" dirty="0">
                <a:latin typeface="Times New Roman"/>
                <a:cs typeface="Times New Roman"/>
              </a:rPr>
              <a:t>each edge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2800" spc="-10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040" y="4716584"/>
            <a:ext cx="7985759" cy="173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>
              <a:lnSpc>
                <a:spcPts val="319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do if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&gt;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] +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w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</a:t>
            </a:r>
            <a:r>
              <a:rPr sz="2800" spc="-6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383030">
              <a:lnSpc>
                <a:spcPts val="3190"/>
              </a:lnSpc>
            </a:pPr>
            <a:r>
              <a:rPr sz="2800" b="1" spc="-5" dirty="0">
                <a:latin typeface="Times New Roman"/>
                <a:cs typeface="Times New Roman"/>
              </a:rPr>
              <a:t>then </a:t>
            </a:r>
            <a:r>
              <a:rPr sz="2800" spc="-5" dirty="0">
                <a:latin typeface="Times New Roman"/>
                <a:cs typeface="Times New Roman"/>
              </a:rPr>
              <a:t>report that </a:t>
            </a:r>
            <a:r>
              <a:rPr sz="2800" dirty="0">
                <a:latin typeface="Times New Roman"/>
                <a:cs typeface="Times New Roman"/>
              </a:rPr>
              <a:t>a </a:t>
            </a:r>
            <a:r>
              <a:rPr sz="2800" spc="-5" dirty="0">
                <a:latin typeface="Times New Roman"/>
                <a:cs typeface="Times New Roman"/>
              </a:rPr>
              <a:t>negative-weight cycle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exists</a:t>
            </a:r>
            <a:endParaRPr sz="2800">
              <a:latin typeface="Times New Roman"/>
              <a:cs typeface="Times New Roman"/>
            </a:endParaRPr>
          </a:p>
          <a:p>
            <a:pPr marL="12700" marR="187325">
              <a:lnSpc>
                <a:spcPts val="3020"/>
              </a:lnSpc>
              <a:spcBef>
                <a:spcPts val="1095"/>
              </a:spcBef>
            </a:pPr>
            <a:r>
              <a:rPr sz="2800" spc="-5" dirty="0">
                <a:latin typeface="Times New Roman"/>
                <a:cs typeface="Times New Roman"/>
              </a:rPr>
              <a:t>At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end,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[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]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2800" dirty="0">
                <a:solidFill>
                  <a:srgbClr val="008A87"/>
                </a:solidFill>
                <a:latin typeface="Symbol"/>
                <a:cs typeface="Symbol"/>
              </a:rPr>
              <a:t>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2800" spc="-5" dirty="0">
                <a:latin typeface="Times New Roman"/>
                <a:cs typeface="Times New Roman"/>
              </a:rPr>
              <a:t>, </a:t>
            </a:r>
            <a:r>
              <a:rPr sz="2800" dirty="0">
                <a:latin typeface="Times New Roman"/>
                <a:cs typeface="Times New Roman"/>
              </a:rPr>
              <a:t>if no </a:t>
            </a:r>
            <a:r>
              <a:rPr sz="2800" spc="-5" dirty="0">
                <a:latin typeface="Times New Roman"/>
                <a:cs typeface="Times New Roman"/>
              </a:rPr>
              <a:t>negative-weight cycles.  </a:t>
            </a:r>
            <a:r>
              <a:rPr sz="2800" spc="-30" dirty="0">
                <a:latin typeface="Times New Roman"/>
                <a:cs typeface="Times New Roman"/>
              </a:rPr>
              <a:t>Time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= </a:t>
            </a:r>
            <a:r>
              <a:rPr sz="2800" i="1" spc="40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spc="4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40" dirty="0">
                <a:solidFill>
                  <a:srgbClr val="008A87"/>
                </a:solidFill>
                <a:latin typeface="Times New Roman"/>
                <a:cs typeface="Times New Roman"/>
              </a:rPr>
              <a:t>VE</a:t>
            </a:r>
            <a:r>
              <a:rPr sz="2800" spc="4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2800" spc="4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57600" y="1346200"/>
            <a:ext cx="228600" cy="1143000"/>
          </a:xfrm>
          <a:custGeom>
            <a:avLst/>
            <a:gdLst/>
            <a:ahLst/>
            <a:cxnLst/>
            <a:rect l="l" t="t" r="r" b="b"/>
            <a:pathLst>
              <a:path w="228600" h="1143000">
                <a:moveTo>
                  <a:pt x="0" y="0"/>
                </a:moveTo>
                <a:lnTo>
                  <a:pt x="44493" y="7485"/>
                </a:lnTo>
                <a:lnTo>
                  <a:pt x="80824" y="27898"/>
                </a:lnTo>
                <a:lnTo>
                  <a:pt x="105318" y="58175"/>
                </a:lnTo>
                <a:lnTo>
                  <a:pt x="114300" y="95250"/>
                </a:lnTo>
                <a:lnTo>
                  <a:pt x="114300" y="476250"/>
                </a:lnTo>
                <a:lnTo>
                  <a:pt x="123281" y="513324"/>
                </a:lnTo>
                <a:lnTo>
                  <a:pt x="147775" y="543601"/>
                </a:lnTo>
                <a:lnTo>
                  <a:pt x="184106" y="564014"/>
                </a:lnTo>
                <a:lnTo>
                  <a:pt x="228600" y="571500"/>
                </a:lnTo>
                <a:lnTo>
                  <a:pt x="184106" y="578985"/>
                </a:lnTo>
                <a:lnTo>
                  <a:pt x="147775" y="599398"/>
                </a:lnTo>
                <a:lnTo>
                  <a:pt x="123281" y="629675"/>
                </a:lnTo>
                <a:lnTo>
                  <a:pt x="114300" y="666750"/>
                </a:lnTo>
                <a:lnTo>
                  <a:pt x="114300" y="1047750"/>
                </a:lnTo>
                <a:lnTo>
                  <a:pt x="105318" y="1084824"/>
                </a:lnTo>
                <a:lnTo>
                  <a:pt x="80824" y="1115101"/>
                </a:lnTo>
                <a:lnTo>
                  <a:pt x="44493" y="1135514"/>
                </a:lnTo>
                <a:lnTo>
                  <a:pt x="0" y="1143000"/>
                </a:lnTo>
              </a:path>
            </a:pathLst>
          </a:custGeom>
          <a:ln w="127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77665" y="1623123"/>
            <a:ext cx="20802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latin typeface="Times New Roman"/>
                <a:cs typeface="Times New Roman"/>
              </a:rPr>
              <a:t>initialization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24600" y="3581400"/>
            <a:ext cx="228600" cy="762000"/>
          </a:xfrm>
          <a:custGeom>
            <a:avLst/>
            <a:gdLst/>
            <a:ahLst/>
            <a:cxnLst/>
            <a:rect l="l" t="t" r="r" b="b"/>
            <a:pathLst>
              <a:path w="228600" h="762000">
                <a:moveTo>
                  <a:pt x="0" y="0"/>
                </a:moveTo>
                <a:lnTo>
                  <a:pt x="44493" y="4990"/>
                </a:lnTo>
                <a:lnTo>
                  <a:pt x="80824" y="18600"/>
                </a:lnTo>
                <a:lnTo>
                  <a:pt x="105318" y="38785"/>
                </a:lnTo>
                <a:lnTo>
                  <a:pt x="114300" y="63500"/>
                </a:lnTo>
                <a:lnTo>
                  <a:pt x="114300" y="317500"/>
                </a:lnTo>
                <a:lnTo>
                  <a:pt x="123281" y="342214"/>
                </a:lnTo>
                <a:lnTo>
                  <a:pt x="147775" y="362399"/>
                </a:lnTo>
                <a:lnTo>
                  <a:pt x="184106" y="376009"/>
                </a:lnTo>
                <a:lnTo>
                  <a:pt x="228600" y="381000"/>
                </a:lnTo>
                <a:lnTo>
                  <a:pt x="184106" y="385990"/>
                </a:lnTo>
                <a:lnTo>
                  <a:pt x="147775" y="399600"/>
                </a:lnTo>
                <a:lnTo>
                  <a:pt x="123281" y="419785"/>
                </a:lnTo>
                <a:lnTo>
                  <a:pt x="114300" y="444500"/>
                </a:lnTo>
                <a:lnTo>
                  <a:pt x="114300" y="698500"/>
                </a:lnTo>
                <a:lnTo>
                  <a:pt x="105318" y="723214"/>
                </a:lnTo>
                <a:lnTo>
                  <a:pt x="80824" y="743399"/>
                </a:lnTo>
                <a:lnTo>
                  <a:pt x="44493" y="757009"/>
                </a:lnTo>
                <a:lnTo>
                  <a:pt x="0" y="762000"/>
                </a:lnTo>
              </a:path>
            </a:pathLst>
          </a:custGeom>
          <a:ln w="12700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844665" y="3399535"/>
            <a:ext cx="1742439" cy="9518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0"/>
              </a:spcBef>
            </a:pPr>
            <a:r>
              <a:rPr sz="3200" b="1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r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e</a:t>
            </a:r>
            <a:r>
              <a:rPr sz="3200" b="1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l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axa</a:t>
            </a:r>
            <a:r>
              <a:rPr sz="3200" b="1" i="1" spc="-10" dirty="0">
                <a:solidFill>
                  <a:srgbClr val="CC0000"/>
                </a:solidFill>
                <a:latin typeface="Times New Roman"/>
                <a:cs typeface="Times New Roman"/>
              </a:rPr>
              <a:t>ti</a:t>
            </a:r>
            <a:r>
              <a:rPr sz="3200" b="1" i="1" spc="-5" dirty="0">
                <a:solidFill>
                  <a:srgbClr val="CC0000"/>
                </a:solidFill>
                <a:latin typeface="Times New Roman"/>
                <a:cs typeface="Times New Roman"/>
              </a:rPr>
              <a:t>on  step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07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891540" cy="766445"/>
            <a:chOff x="4222750" y="2090737"/>
            <a:chExt cx="891540" cy="76644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30331" y="216496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99187" y="3100387"/>
            <a:ext cx="890905" cy="766445"/>
            <a:chOff x="6199187" y="3100387"/>
            <a:chExt cx="890905" cy="766445"/>
          </a:xfrm>
        </p:grpSpPr>
        <p:sp>
          <p:nvSpPr>
            <p:cNvPr id="20" name="object 20"/>
            <p:cNvSpPr/>
            <p:nvPr/>
          </p:nvSpPr>
          <p:spPr>
            <a:xfrm>
              <a:off x="6274307" y="3176015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59162" y="4110037"/>
            <a:ext cx="902969" cy="766445"/>
            <a:chOff x="3459162" y="4110037"/>
            <a:chExt cx="902969" cy="766445"/>
          </a:xfrm>
        </p:grpSpPr>
        <p:sp>
          <p:nvSpPr>
            <p:cNvPr id="28" name="object 28"/>
            <p:cNvSpPr/>
            <p:nvPr/>
          </p:nvSpPr>
          <p:spPr>
            <a:xfrm>
              <a:off x="3534918" y="4185665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09" y="4164330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5" y="4164330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5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5339" y="4184269"/>
            <a:ext cx="2965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86337" y="4110037"/>
            <a:ext cx="913130" cy="766445"/>
            <a:chOff x="4986337" y="4110037"/>
            <a:chExt cx="913130" cy="766445"/>
          </a:xfrm>
        </p:grpSpPr>
        <p:sp>
          <p:nvSpPr>
            <p:cNvPr id="36" name="object 36"/>
            <p:cNvSpPr/>
            <p:nvPr/>
          </p:nvSpPr>
          <p:spPr>
            <a:xfrm>
              <a:off x="5061965" y="4185665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42788" y="4164330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15484" y="4164330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15484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71097" y="4184269"/>
            <a:ext cx="318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813050" y="2420937"/>
            <a:ext cx="3491229" cy="2105025"/>
            <a:chOff x="2813050" y="2420937"/>
            <a:chExt cx="3491229" cy="2105025"/>
          </a:xfrm>
        </p:grpSpPr>
        <p:sp>
          <p:nvSpPr>
            <p:cNvPr id="44" name="object 44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30572" y="390244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72056" y="3825933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60" name="object 6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66" name="object 6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Slide Number Placeholder 7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0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>
                <a:solidFill>
                  <a:srgbClr val="7030A0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A</a:t>
            </a:r>
            <a:endParaRPr sz="3200" b="1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891540" cy="766445"/>
            <a:chOff x="4222750" y="2090737"/>
            <a:chExt cx="891540" cy="76644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430331" y="216496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99187" y="3100387"/>
            <a:ext cx="890905" cy="766445"/>
            <a:chOff x="6199187" y="3100387"/>
            <a:chExt cx="890905" cy="766445"/>
          </a:xfrm>
        </p:grpSpPr>
        <p:sp>
          <p:nvSpPr>
            <p:cNvPr id="20" name="object 20"/>
            <p:cNvSpPr/>
            <p:nvPr/>
          </p:nvSpPr>
          <p:spPr>
            <a:xfrm>
              <a:off x="6274307" y="3176015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459162" y="4110037"/>
            <a:ext cx="902969" cy="766445"/>
            <a:chOff x="3459162" y="4110037"/>
            <a:chExt cx="902969" cy="766445"/>
          </a:xfrm>
        </p:grpSpPr>
        <p:sp>
          <p:nvSpPr>
            <p:cNvPr id="28" name="object 28"/>
            <p:cNvSpPr/>
            <p:nvPr/>
          </p:nvSpPr>
          <p:spPr>
            <a:xfrm>
              <a:off x="3534918" y="4185665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09" y="4164330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5" y="4164330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5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655339" y="4184269"/>
            <a:ext cx="2965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86337" y="4110037"/>
            <a:ext cx="913130" cy="766445"/>
            <a:chOff x="4986337" y="4110037"/>
            <a:chExt cx="913130" cy="766445"/>
          </a:xfrm>
        </p:grpSpPr>
        <p:sp>
          <p:nvSpPr>
            <p:cNvPr id="36" name="object 36"/>
            <p:cNvSpPr/>
            <p:nvPr/>
          </p:nvSpPr>
          <p:spPr>
            <a:xfrm>
              <a:off x="5061965" y="4185665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442788" y="4164330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15484" y="4164330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15484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71097" y="4184269"/>
            <a:ext cx="3187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813050" y="2420937"/>
            <a:ext cx="3491229" cy="2105025"/>
            <a:chOff x="2813050" y="2420937"/>
            <a:chExt cx="3491229" cy="2105025"/>
          </a:xfrm>
        </p:grpSpPr>
        <p:sp>
          <p:nvSpPr>
            <p:cNvPr id="44" name="object 44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930572" y="390244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972056" y="3825933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60" name="object 6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66" name="object 6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Slide Number Placeholder 7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50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>
                <a:solidFill>
                  <a:srgbClr val="7030A0"/>
                </a:solidFill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7030A0"/>
                </a:solidFill>
                <a:latin typeface="Times New Roman"/>
                <a:cs typeface="Times New Roman"/>
              </a:rPr>
              <a:t>A</a:t>
            </a:r>
            <a:endParaRPr sz="3200" b="1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30572" y="390244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72056" y="3825933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2" name="object 52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8" name="object 58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7030A0"/>
                </a:solidFill>
                <a:latin typeface="Times New Roman"/>
                <a:cs typeface="Times New Roman"/>
              </a:rPr>
              <a:t>0</a:t>
            </a:r>
            <a:endParaRPr sz="3200" b="1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319462" y="5427217"/>
            <a:ext cx="2475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 smtClean="0">
                <a:latin typeface="Times New Roman"/>
                <a:cs typeface="Times New Roman"/>
              </a:rPr>
              <a:t>Initialization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69" name="object 69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4" name="Slide Number Placeholder 7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8</a:t>
            </a:fld>
            <a:endParaRPr lang="en-US"/>
          </a:p>
        </p:txBody>
      </p:sp>
      <p:sp>
        <p:nvSpPr>
          <p:cNvPr id="81" name="object 72"/>
          <p:cNvSpPr txBox="1"/>
          <p:nvPr/>
        </p:nvSpPr>
        <p:spPr>
          <a:xfrm>
            <a:off x="914399" y="5427217"/>
            <a:ext cx="6512303" cy="8745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Note: Red number with edges is showing order of edge relation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103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7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8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755265"/>
            <a:ext cx="800506" cy="1459776"/>
            <a:chOff x="4548962" y="2755265"/>
            <a:chExt cx="800506" cy="1459776"/>
          </a:xfrm>
        </p:grpSpPr>
        <p:sp>
          <p:nvSpPr>
            <p:cNvPr id="56" name="object 56"/>
            <p:cNvSpPr/>
            <p:nvPr/>
          </p:nvSpPr>
          <p:spPr>
            <a:xfrm>
              <a:off x="4806950" y="2755265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31496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8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9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776732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4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4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  <a:solidFill>
            <a:srgbClr val="FF0000"/>
          </a:solidFill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9003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50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47074" y="5427217"/>
            <a:ext cx="4620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smtClean="0">
                <a:latin typeface="Times New Roman"/>
                <a:cs typeface="Times New Roman"/>
              </a:rPr>
              <a:t>End of Pass 1</a:t>
            </a:r>
            <a:endParaRPr sz="36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1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3" y="1479118"/>
            <a:ext cx="716121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3149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47074" y="5427217"/>
            <a:ext cx="46202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600" spc="-5" dirty="0">
                <a:latin typeface="Times New Roman"/>
                <a:cs typeface="Times New Roman"/>
              </a:rPr>
              <a:t>End of Pass </a:t>
            </a:r>
            <a:r>
              <a:rPr lang="en-US" sz="3600" spc="-5" dirty="0" smtClean="0">
                <a:latin typeface="Times New Roman"/>
                <a:cs typeface="Times New Roman"/>
              </a:rPr>
              <a:t>1</a:t>
            </a:r>
            <a:endParaRPr lang="en-US" sz="36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511925"/>
            <a:ext cx="6877184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 smtClean="0"/>
              <a:t>Bellman-Ford</a:t>
            </a:r>
            <a:r>
              <a:rPr lang="en-US" spc="-5" dirty="0" smtClean="0"/>
              <a:t>-Pass2</a:t>
            </a:r>
            <a:endParaRPr spc="-5" dirty="0"/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6" y="4075502"/>
            <a:ext cx="493201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19</a:t>
            </a:fld>
            <a:endParaRPr lang="en-US"/>
          </a:p>
        </p:txBody>
      </p:sp>
      <p:sp>
        <p:nvSpPr>
          <p:cNvPr id="81" name="object 72"/>
          <p:cNvSpPr txBox="1"/>
          <p:nvPr/>
        </p:nvSpPr>
        <p:spPr>
          <a:xfrm>
            <a:off x="914399" y="5427217"/>
            <a:ext cx="6512303" cy="87459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Note: Red number with edges is showing order of edge relation</a:t>
            </a:r>
            <a:endParaRPr sz="2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0961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948284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sz="3200" b="1" spc="-5" dirty="0">
                <a:solidFill>
                  <a:srgbClr val="FF0000"/>
                </a:solidFill>
                <a:latin typeface="Symbol"/>
                <a:cs typeface="Symbol"/>
              </a:rPr>
              <a:t>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73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755265"/>
            <a:ext cx="800506" cy="1459776"/>
            <a:chOff x="4548962" y="2755265"/>
            <a:chExt cx="800506" cy="1459776"/>
          </a:xfrm>
        </p:grpSpPr>
        <p:sp>
          <p:nvSpPr>
            <p:cNvPr id="56" name="object 56"/>
            <p:cNvSpPr/>
            <p:nvPr/>
          </p:nvSpPr>
          <p:spPr>
            <a:xfrm>
              <a:off x="4806950" y="2755265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9916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43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34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776732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5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587630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5" y="2646926"/>
            <a:ext cx="69667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6" y="4075502"/>
            <a:ext cx="557555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  <a:solidFill>
            <a:srgbClr val="FF0000"/>
          </a:solidFill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grpFill/>
            <a:ln w="57150">
              <a:solidFill>
                <a:srgbClr val="FF0000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31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90030" cy="119888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318770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5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 w="76200"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7" y="4075502"/>
            <a:ext cx="801014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2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6" y="4075502"/>
            <a:ext cx="737171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8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623379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Example of</a:t>
            </a:r>
            <a:r>
              <a:rPr spc="-45" dirty="0"/>
              <a:t> </a:t>
            </a:r>
            <a:r>
              <a:rPr spc="-5" dirty="0"/>
              <a:t>Bellman-Ford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43137" y="3100387"/>
            <a:ext cx="891540" cy="766445"/>
            <a:chOff x="2243137" y="3100387"/>
            <a:chExt cx="891540" cy="766445"/>
          </a:xfrm>
        </p:grpSpPr>
        <p:sp>
          <p:nvSpPr>
            <p:cNvPr id="4" name="object 4"/>
            <p:cNvSpPr/>
            <p:nvPr/>
          </p:nvSpPr>
          <p:spPr>
            <a:xfrm>
              <a:off x="2318765" y="3176015"/>
              <a:ext cx="690371" cy="6903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99880" y="3154680"/>
              <a:ext cx="434225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5143" y="3154680"/>
              <a:ext cx="115862" cy="1174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95143" y="3617518"/>
              <a:ext cx="180251" cy="14828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4790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5071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22750" y="2090737"/>
            <a:ext cx="2867025" cy="1776095"/>
            <a:chOff x="4222750" y="2090737"/>
            <a:chExt cx="2867025" cy="1776095"/>
          </a:xfrm>
        </p:grpSpPr>
        <p:sp>
          <p:nvSpPr>
            <p:cNvPr id="12" name="object 12"/>
            <p:cNvSpPr/>
            <p:nvPr/>
          </p:nvSpPr>
          <p:spPr>
            <a:xfrm>
              <a:off x="4298442" y="2166365"/>
              <a:ext cx="690372" cy="69037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78616" y="2145030"/>
              <a:ext cx="435165" cy="611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74819" y="2145030"/>
              <a:ext cx="115290" cy="1170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74819" y="2608427"/>
              <a:ext cx="180670" cy="14772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27512" y="20955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74307" y="3176016"/>
              <a:ext cx="691134" cy="69037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55955" y="3154680"/>
              <a:ext cx="433692" cy="6111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0685" y="3154680"/>
              <a:ext cx="116395" cy="1183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50685" y="3616629"/>
              <a:ext cx="180784" cy="14917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3950" y="310515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406769" y="3174619"/>
            <a:ext cx="2736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813050" y="2420937"/>
            <a:ext cx="3491229" cy="2455545"/>
            <a:chOff x="2813050" y="2420937"/>
            <a:chExt cx="3491229" cy="2455545"/>
          </a:xfrm>
        </p:grpSpPr>
        <p:sp>
          <p:nvSpPr>
            <p:cNvPr id="26" name="object 26"/>
            <p:cNvSpPr/>
            <p:nvPr/>
          </p:nvSpPr>
          <p:spPr>
            <a:xfrm>
              <a:off x="2827337" y="2476525"/>
              <a:ext cx="1325245" cy="728980"/>
            </a:xfrm>
            <a:custGeom>
              <a:avLst/>
              <a:gdLst/>
              <a:ahLst/>
              <a:cxnLst/>
              <a:rect l="l" t="t" r="r" b="b"/>
              <a:pathLst>
                <a:path w="1325245" h="728980">
                  <a:moveTo>
                    <a:pt x="0" y="728637"/>
                  </a:moveTo>
                  <a:lnTo>
                    <a:pt x="1325054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67898" y="2435225"/>
              <a:ext cx="160020" cy="131445"/>
            </a:xfrm>
            <a:custGeom>
              <a:avLst/>
              <a:gdLst/>
              <a:ahLst/>
              <a:cxnLst/>
              <a:rect l="l" t="t" r="r" b="b"/>
              <a:pathLst>
                <a:path w="160020" h="131444">
                  <a:moveTo>
                    <a:pt x="159613" y="0"/>
                  </a:moveTo>
                  <a:lnTo>
                    <a:pt x="0" y="6235"/>
                  </a:lnTo>
                  <a:lnTo>
                    <a:pt x="84493" y="41300"/>
                  </a:lnTo>
                  <a:lnTo>
                    <a:pt x="68834" y="131432"/>
                  </a:lnTo>
                  <a:lnTo>
                    <a:pt x="15961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34918" y="4185666"/>
              <a:ext cx="690372" cy="69037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915410" y="4164329"/>
              <a:ext cx="446277" cy="6111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99866" y="4164329"/>
              <a:ext cx="127000" cy="13830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499866" y="4606721"/>
              <a:ext cx="191947" cy="1687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463925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27337" y="3684587"/>
              <a:ext cx="667385" cy="480695"/>
            </a:xfrm>
            <a:custGeom>
              <a:avLst/>
              <a:gdLst/>
              <a:ahLst/>
              <a:cxnLst/>
              <a:rect l="l" t="t" r="r" b="b"/>
              <a:pathLst>
                <a:path w="667385" h="480695">
                  <a:moveTo>
                    <a:pt x="0" y="0"/>
                  </a:moveTo>
                  <a:lnTo>
                    <a:pt x="667029" y="480148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406254" y="4073359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83464" y="0"/>
                  </a:moveTo>
                  <a:lnTo>
                    <a:pt x="88112" y="91363"/>
                  </a:lnTo>
                  <a:lnTo>
                    <a:pt x="0" y="115950"/>
                  </a:lnTo>
                  <a:lnTo>
                    <a:pt x="157683" y="141452"/>
                  </a:lnTo>
                  <a:lnTo>
                    <a:pt x="834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06962" y="2435225"/>
              <a:ext cx="1322070" cy="728980"/>
            </a:xfrm>
            <a:custGeom>
              <a:avLst/>
              <a:gdLst/>
              <a:ahLst/>
              <a:cxnLst/>
              <a:rect l="l" t="t" r="r" b="b"/>
              <a:pathLst>
                <a:path w="1322070" h="728980">
                  <a:moveTo>
                    <a:pt x="0" y="0"/>
                  </a:moveTo>
                  <a:lnTo>
                    <a:pt x="1321917" y="72856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44361" y="3073641"/>
              <a:ext cx="160020" cy="132080"/>
            </a:xfrm>
            <a:custGeom>
              <a:avLst/>
              <a:gdLst/>
              <a:ahLst/>
              <a:cxnLst/>
              <a:rect l="l" t="t" r="r" b="b"/>
              <a:pathLst>
                <a:path w="160020" h="132080">
                  <a:moveTo>
                    <a:pt x="68961" y="0"/>
                  </a:moveTo>
                  <a:lnTo>
                    <a:pt x="84531" y="90144"/>
                  </a:lnTo>
                  <a:lnTo>
                    <a:pt x="0" y="125120"/>
                  </a:lnTo>
                  <a:lnTo>
                    <a:pt x="159600" y="131521"/>
                  </a:lnTo>
                  <a:lnTo>
                    <a:pt x="68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61966" y="4185666"/>
              <a:ext cx="690372" cy="69037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42788" y="4164329"/>
              <a:ext cx="456615" cy="6111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5483" y="4164329"/>
              <a:ext cx="138607" cy="16338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15483" y="4581664"/>
              <a:ext cx="203644" cy="19378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339725" y="0"/>
                  </a:moveTo>
                  <a:lnTo>
                    <a:pt x="293625" y="3101"/>
                  </a:lnTo>
                  <a:lnTo>
                    <a:pt x="249410" y="12134"/>
                  </a:lnTo>
                  <a:lnTo>
                    <a:pt x="207486" y="26696"/>
                  </a:lnTo>
                  <a:lnTo>
                    <a:pt x="168257" y="46381"/>
                  </a:lnTo>
                  <a:lnTo>
                    <a:pt x="132127" y="70784"/>
                  </a:lnTo>
                  <a:lnTo>
                    <a:pt x="99501" y="99501"/>
                  </a:lnTo>
                  <a:lnTo>
                    <a:pt x="70784" y="132127"/>
                  </a:lnTo>
                  <a:lnTo>
                    <a:pt x="46381" y="168257"/>
                  </a:lnTo>
                  <a:lnTo>
                    <a:pt x="26696" y="207486"/>
                  </a:lnTo>
                  <a:lnTo>
                    <a:pt x="12134" y="249410"/>
                  </a:lnTo>
                  <a:lnTo>
                    <a:pt x="3101" y="293625"/>
                  </a:lnTo>
                  <a:lnTo>
                    <a:pt x="0" y="339725"/>
                  </a:lnTo>
                  <a:lnTo>
                    <a:pt x="3101" y="385824"/>
                  </a:lnTo>
                  <a:lnTo>
                    <a:pt x="12134" y="430039"/>
                  </a:lnTo>
                  <a:lnTo>
                    <a:pt x="26696" y="471963"/>
                  </a:lnTo>
                  <a:lnTo>
                    <a:pt x="46381" y="511192"/>
                  </a:lnTo>
                  <a:lnTo>
                    <a:pt x="70784" y="547322"/>
                  </a:lnTo>
                  <a:lnTo>
                    <a:pt x="99501" y="579948"/>
                  </a:lnTo>
                  <a:lnTo>
                    <a:pt x="132127" y="608665"/>
                  </a:lnTo>
                  <a:lnTo>
                    <a:pt x="168257" y="633068"/>
                  </a:lnTo>
                  <a:lnTo>
                    <a:pt x="207486" y="652753"/>
                  </a:lnTo>
                  <a:lnTo>
                    <a:pt x="249410" y="667315"/>
                  </a:lnTo>
                  <a:lnTo>
                    <a:pt x="293625" y="676348"/>
                  </a:lnTo>
                  <a:lnTo>
                    <a:pt x="339725" y="679450"/>
                  </a:lnTo>
                  <a:lnTo>
                    <a:pt x="385824" y="676348"/>
                  </a:lnTo>
                  <a:lnTo>
                    <a:pt x="430039" y="667315"/>
                  </a:lnTo>
                  <a:lnTo>
                    <a:pt x="471963" y="652753"/>
                  </a:lnTo>
                  <a:lnTo>
                    <a:pt x="511192" y="633068"/>
                  </a:lnTo>
                  <a:lnTo>
                    <a:pt x="547322" y="608665"/>
                  </a:lnTo>
                  <a:lnTo>
                    <a:pt x="579948" y="579948"/>
                  </a:lnTo>
                  <a:lnTo>
                    <a:pt x="608665" y="547322"/>
                  </a:lnTo>
                  <a:lnTo>
                    <a:pt x="633068" y="511192"/>
                  </a:lnTo>
                  <a:lnTo>
                    <a:pt x="652753" y="471963"/>
                  </a:lnTo>
                  <a:lnTo>
                    <a:pt x="667315" y="430039"/>
                  </a:lnTo>
                  <a:lnTo>
                    <a:pt x="676348" y="385824"/>
                  </a:lnTo>
                  <a:lnTo>
                    <a:pt x="679450" y="339725"/>
                  </a:lnTo>
                  <a:lnTo>
                    <a:pt x="676348" y="293625"/>
                  </a:lnTo>
                  <a:lnTo>
                    <a:pt x="667315" y="249410"/>
                  </a:lnTo>
                  <a:lnTo>
                    <a:pt x="652753" y="207486"/>
                  </a:lnTo>
                  <a:lnTo>
                    <a:pt x="633068" y="168257"/>
                  </a:lnTo>
                  <a:lnTo>
                    <a:pt x="608665" y="132127"/>
                  </a:lnTo>
                  <a:lnTo>
                    <a:pt x="579948" y="99501"/>
                  </a:lnTo>
                  <a:lnTo>
                    <a:pt x="547322" y="70784"/>
                  </a:lnTo>
                  <a:lnTo>
                    <a:pt x="511192" y="46381"/>
                  </a:lnTo>
                  <a:lnTo>
                    <a:pt x="471963" y="26696"/>
                  </a:lnTo>
                  <a:lnTo>
                    <a:pt x="430039" y="12134"/>
                  </a:lnTo>
                  <a:lnTo>
                    <a:pt x="385824" y="3101"/>
                  </a:lnTo>
                  <a:lnTo>
                    <a:pt x="339725" y="0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991100" y="4114800"/>
              <a:ext cx="679450" cy="679450"/>
            </a:xfrm>
            <a:custGeom>
              <a:avLst/>
              <a:gdLst/>
              <a:ahLst/>
              <a:cxnLst/>
              <a:rect l="l" t="t" r="r" b="b"/>
              <a:pathLst>
                <a:path w="679450" h="679450">
                  <a:moveTo>
                    <a:pt x="0" y="339725"/>
                  </a:moveTo>
                  <a:lnTo>
                    <a:pt x="3101" y="293625"/>
                  </a:lnTo>
                  <a:lnTo>
                    <a:pt x="12134" y="249410"/>
                  </a:lnTo>
                  <a:lnTo>
                    <a:pt x="26696" y="207486"/>
                  </a:lnTo>
                  <a:lnTo>
                    <a:pt x="46381" y="168257"/>
                  </a:lnTo>
                  <a:lnTo>
                    <a:pt x="70784" y="132127"/>
                  </a:lnTo>
                  <a:lnTo>
                    <a:pt x="99501" y="99501"/>
                  </a:lnTo>
                  <a:lnTo>
                    <a:pt x="132127" y="70784"/>
                  </a:lnTo>
                  <a:lnTo>
                    <a:pt x="168257" y="46381"/>
                  </a:lnTo>
                  <a:lnTo>
                    <a:pt x="207486" y="26696"/>
                  </a:lnTo>
                  <a:lnTo>
                    <a:pt x="249410" y="12134"/>
                  </a:lnTo>
                  <a:lnTo>
                    <a:pt x="293625" y="3101"/>
                  </a:lnTo>
                  <a:lnTo>
                    <a:pt x="339725" y="0"/>
                  </a:lnTo>
                  <a:lnTo>
                    <a:pt x="385824" y="3101"/>
                  </a:lnTo>
                  <a:lnTo>
                    <a:pt x="430039" y="12134"/>
                  </a:lnTo>
                  <a:lnTo>
                    <a:pt x="471963" y="26696"/>
                  </a:lnTo>
                  <a:lnTo>
                    <a:pt x="511192" y="46381"/>
                  </a:lnTo>
                  <a:lnTo>
                    <a:pt x="547322" y="70784"/>
                  </a:lnTo>
                  <a:lnTo>
                    <a:pt x="579948" y="99501"/>
                  </a:lnTo>
                  <a:lnTo>
                    <a:pt x="608665" y="132127"/>
                  </a:lnTo>
                  <a:lnTo>
                    <a:pt x="633068" y="168257"/>
                  </a:lnTo>
                  <a:lnTo>
                    <a:pt x="652753" y="207486"/>
                  </a:lnTo>
                  <a:lnTo>
                    <a:pt x="667315" y="249410"/>
                  </a:lnTo>
                  <a:lnTo>
                    <a:pt x="676348" y="293625"/>
                  </a:lnTo>
                  <a:lnTo>
                    <a:pt x="679450" y="339725"/>
                  </a:lnTo>
                  <a:lnTo>
                    <a:pt x="676348" y="385824"/>
                  </a:lnTo>
                  <a:lnTo>
                    <a:pt x="667315" y="430039"/>
                  </a:lnTo>
                  <a:lnTo>
                    <a:pt x="652753" y="471963"/>
                  </a:lnTo>
                  <a:lnTo>
                    <a:pt x="633068" y="511192"/>
                  </a:lnTo>
                  <a:lnTo>
                    <a:pt x="608665" y="547322"/>
                  </a:lnTo>
                  <a:lnTo>
                    <a:pt x="579948" y="579948"/>
                  </a:lnTo>
                  <a:lnTo>
                    <a:pt x="547322" y="608665"/>
                  </a:lnTo>
                  <a:lnTo>
                    <a:pt x="511192" y="633068"/>
                  </a:lnTo>
                  <a:lnTo>
                    <a:pt x="471963" y="652753"/>
                  </a:lnTo>
                  <a:lnTo>
                    <a:pt x="430039" y="667315"/>
                  </a:lnTo>
                  <a:lnTo>
                    <a:pt x="385824" y="676348"/>
                  </a:lnTo>
                  <a:lnTo>
                    <a:pt x="339725" y="679450"/>
                  </a:lnTo>
                  <a:lnTo>
                    <a:pt x="293625" y="676348"/>
                  </a:lnTo>
                  <a:lnTo>
                    <a:pt x="249410" y="667315"/>
                  </a:lnTo>
                  <a:lnTo>
                    <a:pt x="207486" y="652753"/>
                  </a:lnTo>
                  <a:lnTo>
                    <a:pt x="168257" y="633068"/>
                  </a:lnTo>
                  <a:lnTo>
                    <a:pt x="132127" y="608665"/>
                  </a:lnTo>
                  <a:lnTo>
                    <a:pt x="99501" y="579948"/>
                  </a:lnTo>
                  <a:lnTo>
                    <a:pt x="70784" y="547322"/>
                  </a:lnTo>
                  <a:lnTo>
                    <a:pt x="46381" y="511192"/>
                  </a:lnTo>
                  <a:lnTo>
                    <a:pt x="26696" y="471963"/>
                  </a:lnTo>
                  <a:lnTo>
                    <a:pt x="12134" y="430039"/>
                  </a:lnTo>
                  <a:lnTo>
                    <a:pt x="3101" y="385824"/>
                  </a:lnTo>
                  <a:lnTo>
                    <a:pt x="0" y="339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06725" y="2392552"/>
            <a:ext cx="3816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30847" y="3307097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16578" y="3064049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540049" y="2301810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338" y="4435511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3785361" y="2660650"/>
            <a:ext cx="2533015" cy="1554480"/>
            <a:chOff x="3785361" y="2660650"/>
            <a:chExt cx="2533015" cy="1554480"/>
          </a:xfrm>
        </p:grpSpPr>
        <p:sp>
          <p:nvSpPr>
            <p:cNvPr id="50" name="object 50"/>
            <p:cNvSpPr/>
            <p:nvPr/>
          </p:nvSpPr>
          <p:spPr>
            <a:xfrm>
              <a:off x="5640006" y="3684587"/>
              <a:ext cx="664210" cy="480059"/>
            </a:xfrm>
            <a:custGeom>
              <a:avLst/>
              <a:gdLst/>
              <a:ahLst/>
              <a:cxnLst/>
              <a:rect l="l" t="t" r="r" b="b"/>
              <a:pathLst>
                <a:path w="664210" h="480060">
                  <a:moveTo>
                    <a:pt x="663955" y="0"/>
                  </a:moveTo>
                  <a:lnTo>
                    <a:pt x="0" y="479996"/>
                  </a:lnTo>
                </a:path>
              </a:pathLst>
            </a:custGeom>
            <a:ln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70537" y="4073207"/>
              <a:ext cx="158115" cy="141605"/>
            </a:xfrm>
            <a:custGeom>
              <a:avLst/>
              <a:gdLst/>
              <a:ahLst/>
              <a:cxnLst/>
              <a:rect l="l" t="t" r="r" b="b"/>
              <a:pathLst>
                <a:path w="158114" h="141604">
                  <a:moveTo>
                    <a:pt x="73926" y="0"/>
                  </a:moveTo>
                  <a:lnTo>
                    <a:pt x="0" y="141604"/>
                  </a:lnTo>
                  <a:lnTo>
                    <a:pt x="157632" y="115785"/>
                  </a:lnTo>
                  <a:lnTo>
                    <a:pt x="69469" y="91376"/>
                  </a:lnTo>
                  <a:lnTo>
                    <a:pt x="739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832961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0"/>
                  </a:moveTo>
                  <a:lnTo>
                    <a:pt x="0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85361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0" y="0"/>
                  </a:moveTo>
                  <a:lnTo>
                    <a:pt x="18287" y="158686"/>
                  </a:lnTo>
                  <a:lnTo>
                    <a:pt x="134264" y="48844"/>
                  </a:lnTo>
                  <a:lnTo>
                    <a:pt x="47599" y="78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711575" y="3140265"/>
            <a:ext cx="2038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548962" y="2660650"/>
            <a:ext cx="800735" cy="1568450"/>
            <a:chOff x="4548962" y="2660650"/>
            <a:chExt cx="800735" cy="1568450"/>
          </a:xfrm>
        </p:grpSpPr>
        <p:sp>
          <p:nvSpPr>
            <p:cNvPr id="56" name="object 56"/>
            <p:cNvSpPr/>
            <p:nvPr/>
          </p:nvSpPr>
          <p:spPr>
            <a:xfrm>
              <a:off x="4806950" y="2674937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0" y="0"/>
                  </a:moveTo>
                  <a:lnTo>
                    <a:pt x="494563" y="1359306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214848" y="3956113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34264" y="0"/>
                  </a:moveTo>
                  <a:lnTo>
                    <a:pt x="86664" y="78130"/>
                  </a:lnTo>
                  <a:lnTo>
                    <a:pt x="0" y="48844"/>
                  </a:lnTo>
                  <a:lnTo>
                    <a:pt x="115976" y="158686"/>
                  </a:lnTo>
                  <a:lnTo>
                    <a:pt x="1342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96549" y="2855506"/>
              <a:ext cx="494665" cy="1359535"/>
            </a:xfrm>
            <a:custGeom>
              <a:avLst/>
              <a:gdLst/>
              <a:ahLst/>
              <a:cxnLst/>
              <a:rect l="l" t="t" r="r" b="b"/>
              <a:pathLst>
                <a:path w="494664" h="1359535">
                  <a:moveTo>
                    <a:pt x="494563" y="1359306"/>
                  </a:moveTo>
                  <a:lnTo>
                    <a:pt x="0" y="0"/>
                  </a:lnTo>
                </a:path>
              </a:pathLst>
            </a:custGeom>
            <a:ln w="285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4548962" y="2774950"/>
              <a:ext cx="134620" cy="158750"/>
            </a:xfrm>
            <a:custGeom>
              <a:avLst/>
              <a:gdLst/>
              <a:ahLst/>
              <a:cxnLst/>
              <a:rect l="l" t="t" r="r" b="b"/>
              <a:pathLst>
                <a:path w="134620" h="158750">
                  <a:moveTo>
                    <a:pt x="18275" y="0"/>
                  </a:moveTo>
                  <a:lnTo>
                    <a:pt x="0" y="158686"/>
                  </a:lnTo>
                  <a:lnTo>
                    <a:pt x="47586" y="80556"/>
                  </a:lnTo>
                  <a:lnTo>
                    <a:pt x="134264" y="109829"/>
                  </a:lnTo>
                  <a:lnTo>
                    <a:pt x="18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4401184" y="1479118"/>
            <a:ext cx="653098" cy="1200329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  <a:p>
            <a:pPr marL="41275">
              <a:lnSpc>
                <a:spcPct val="100000"/>
              </a:lnSpc>
              <a:spcBef>
                <a:spcPts val="77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B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098743" y="2639209"/>
            <a:ext cx="2286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0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730026" y="2646926"/>
            <a:ext cx="50897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1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45347" y="4075502"/>
            <a:ext cx="314960" cy="121793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C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>
                <a:solidFill>
                  <a:srgbClr val="FF0000"/>
                </a:solidFill>
                <a:latin typeface="Symbol"/>
                <a:cs typeface="Symbol"/>
              </a:rPr>
              <a:t>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171096" y="4075502"/>
            <a:ext cx="737171" cy="1222771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D</a:t>
            </a:r>
            <a:endParaRPr sz="3200" dirty="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850"/>
              </a:spcBef>
            </a:pPr>
            <a:r>
              <a:rPr lang="en-US" sz="3200" b="1" spc="-5" dirty="0" smtClean="0">
                <a:solidFill>
                  <a:srgbClr val="FF0000"/>
                </a:solidFill>
                <a:latin typeface="Symbol"/>
                <a:cs typeface="Symbol"/>
              </a:rPr>
              <a:t>-2</a:t>
            </a:r>
            <a:endParaRPr sz="3200" b="1" dirty="0">
              <a:solidFill>
                <a:srgbClr val="FF0000"/>
              </a:solidFill>
              <a:latin typeface="Symbol"/>
              <a:cs typeface="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222240" y="22352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739665" y="369732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5038216" y="2882823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</a:p>
        </p:txBody>
      </p:sp>
      <p:sp>
        <p:nvSpPr>
          <p:cNvPr id="68" name="object 68"/>
          <p:cNvSpPr txBox="1"/>
          <p:nvPr/>
        </p:nvSpPr>
        <p:spPr>
          <a:xfrm>
            <a:off x="3069742" y="30353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930572" y="3468077"/>
            <a:ext cx="298450" cy="88709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70815">
              <a:lnSpc>
                <a:spcPct val="100000"/>
              </a:lnSpc>
              <a:spcBef>
                <a:spcPts val="59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5</a:t>
            </a: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926992" y="28590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</a:p>
        </p:txBody>
      </p:sp>
      <p:sp>
        <p:nvSpPr>
          <p:cNvPr id="71" name="object 71"/>
          <p:cNvSpPr txBox="1"/>
          <p:nvPr/>
        </p:nvSpPr>
        <p:spPr>
          <a:xfrm>
            <a:off x="5908268" y="3530675"/>
            <a:ext cx="445770" cy="748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8</a:t>
            </a:r>
          </a:p>
          <a:p>
            <a:pPr marL="76200">
              <a:lnSpc>
                <a:spcPct val="100000"/>
              </a:lnSpc>
              <a:spcBef>
                <a:spcPts val="165"/>
              </a:spcBef>
            </a:pP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–3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143375" y="4383087"/>
            <a:ext cx="847725" cy="142875"/>
            <a:chOff x="4143375" y="4383087"/>
            <a:chExt cx="847725" cy="142875"/>
          </a:xfrm>
        </p:grpSpPr>
        <p:sp>
          <p:nvSpPr>
            <p:cNvPr id="74" name="object 74"/>
            <p:cNvSpPr/>
            <p:nvPr/>
          </p:nvSpPr>
          <p:spPr>
            <a:xfrm>
              <a:off x="4229100" y="4454525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143375" y="4383087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0"/>
                  </a:moveTo>
                  <a:lnTo>
                    <a:pt x="0" y="71437"/>
                  </a:lnTo>
                  <a:lnTo>
                    <a:pt x="142875" y="142875"/>
                  </a:lnTo>
                  <a:lnTo>
                    <a:pt x="85725" y="71437"/>
                  </a:lnTo>
                  <a:lnTo>
                    <a:pt x="1428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676140" y="411480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</a:p>
        </p:txBody>
      </p:sp>
      <p:sp>
        <p:nvSpPr>
          <p:cNvPr id="78" name="object 78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L18.7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0" name="Slide Number Placeholder 7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28</a:t>
            </a:fld>
            <a:endParaRPr lang="en-US"/>
          </a:p>
        </p:txBody>
      </p:sp>
      <p:sp>
        <p:nvSpPr>
          <p:cNvPr id="82" name="object 79"/>
          <p:cNvSpPr txBox="1"/>
          <p:nvPr/>
        </p:nvSpPr>
        <p:spPr>
          <a:xfrm>
            <a:off x="1717386" y="5427217"/>
            <a:ext cx="5154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End of </a:t>
            </a:r>
            <a:r>
              <a:rPr sz="3600" spc="-5" dirty="0">
                <a:latin typeface="Times New Roman"/>
                <a:cs typeface="Times New Roman"/>
              </a:rPr>
              <a:t>pass </a:t>
            </a:r>
            <a:r>
              <a:rPr sz="3600" dirty="0">
                <a:latin typeface="Times New Roman"/>
                <a:cs typeface="Times New Roman"/>
              </a:rPr>
              <a:t>2 </a:t>
            </a:r>
            <a:r>
              <a:rPr sz="3600" spc="-5" dirty="0">
                <a:latin typeface="Times New Roman"/>
                <a:cs typeface="Times New Roman"/>
              </a:rPr>
              <a:t>(and </a:t>
            </a:r>
            <a:r>
              <a:rPr sz="3600" dirty="0">
                <a:latin typeface="Times New Roman"/>
                <a:cs typeface="Times New Roman"/>
              </a:rPr>
              <a:t>3 </a:t>
            </a:r>
            <a:r>
              <a:rPr sz="3600" spc="-5" dirty="0">
                <a:latin typeface="Times New Roman"/>
                <a:cs typeface="Times New Roman"/>
              </a:rPr>
              <a:t>and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4).</a:t>
            </a:r>
          </a:p>
        </p:txBody>
      </p:sp>
    </p:spTree>
    <p:extLst>
      <p:ext uri="{BB962C8B-B14F-4D97-AF65-F5344CB8AC3E}">
        <p14:creationId xmlns:p14="http://schemas.microsoft.com/office/powerpoint/2010/main" val="412984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345567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Shortest</a:t>
            </a:r>
            <a:r>
              <a:rPr spc="-60" dirty="0"/>
              <a:t> </a:t>
            </a:r>
            <a:r>
              <a:rPr spc="-5" dirty="0"/>
              <a:t>paths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30548" y="6523256"/>
            <a:ext cx="4796155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i="1" spc="-5" dirty="0">
                <a:latin typeface="Times New Roman"/>
                <a:cs typeface="Times New Roman"/>
              </a:rPr>
              <a:t>Copyright © 2001-5 by Erik D. Demaine and Charles E.</a:t>
            </a:r>
            <a:r>
              <a:rPr sz="1400" i="1" spc="85" dirty="0">
                <a:latin typeface="Times New Roman"/>
                <a:cs typeface="Times New Roman"/>
              </a:rPr>
              <a:t> </a:t>
            </a:r>
            <a:r>
              <a:rPr sz="1400" i="1" spc="-5" dirty="0">
                <a:latin typeface="Times New Roman"/>
                <a:cs typeface="Times New Roman"/>
              </a:rPr>
              <a:t>Leiserson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43653" y="6523256"/>
            <a:ext cx="560070" cy="222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25"/>
              </a:lnSpc>
            </a:pPr>
            <a:r>
              <a:rPr sz="1400" spc="-5" dirty="0">
                <a:latin typeface="Times New Roman"/>
                <a:cs typeface="Times New Roman"/>
              </a:rPr>
              <a:t>L18.2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3252" y="1189736"/>
            <a:ext cx="6691948" cy="21537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95"/>
              </a:spcBef>
            </a:pP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Single-source 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shortest</a:t>
            </a:r>
            <a:r>
              <a:rPr sz="3200" b="1" spc="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paths</a:t>
            </a:r>
            <a:endParaRPr sz="3200" dirty="0">
              <a:latin typeface="Times New Roman"/>
              <a:cs typeface="Times New Roman"/>
            </a:endParaRPr>
          </a:p>
          <a:p>
            <a:pPr marL="238125" indent="-226060">
              <a:lnSpc>
                <a:spcPts val="3490"/>
              </a:lnSpc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Nonnegative edge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weights</a:t>
            </a:r>
            <a:endParaRPr sz="3200" dirty="0">
              <a:latin typeface="Times New Roman"/>
              <a:cs typeface="Times New Roman"/>
            </a:endParaRPr>
          </a:p>
          <a:p>
            <a:pPr marL="700405" lvl="1" indent="-231140">
              <a:lnSpc>
                <a:spcPts val="3000"/>
              </a:lnSpc>
              <a:buClr>
                <a:srgbClr val="008A87"/>
              </a:buClr>
              <a:buFont typeface="Arial"/>
              <a:buChar char=""/>
              <a:tabLst>
                <a:tab pos="701040" algn="l"/>
              </a:tabLst>
            </a:pPr>
            <a:r>
              <a:rPr sz="2800" spc="-20" dirty="0">
                <a:latin typeface="Times New Roman"/>
                <a:cs typeface="Times New Roman"/>
              </a:rPr>
              <a:t>Dijkstra’s </a:t>
            </a:r>
            <a:r>
              <a:rPr sz="2800" spc="-5" dirty="0">
                <a:latin typeface="Times New Roman"/>
                <a:cs typeface="Times New Roman"/>
              </a:rPr>
              <a:t>algorithm: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E </a:t>
            </a:r>
            <a:r>
              <a:rPr lang="en-US" sz="2800" dirty="0" err="1">
                <a:solidFill>
                  <a:srgbClr val="008A87"/>
                </a:solidFill>
                <a:latin typeface="Times New Roman"/>
                <a:cs typeface="Times New Roman"/>
              </a:rPr>
              <a:t>lg</a:t>
            </a:r>
            <a:r>
              <a:rPr lang="en-US" sz="2800" spc="-5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lang="en-US"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 smtClean="0">
                <a:solidFill>
                  <a:srgbClr val="008A87"/>
                </a:solidFill>
                <a:latin typeface="Times New Roman"/>
                <a:cs typeface="Times New Roman"/>
              </a:rPr>
              <a:t>+ </a:t>
            </a:r>
            <a:r>
              <a:rPr sz="2800" i="1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2800" dirty="0">
                <a:solidFill>
                  <a:srgbClr val="008A87"/>
                </a:solidFill>
                <a:latin typeface="Times New Roman"/>
                <a:cs typeface="Times New Roman"/>
              </a:rPr>
              <a:t>lg</a:t>
            </a:r>
            <a:r>
              <a:rPr sz="2800" spc="-5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238125" indent="-226060">
              <a:lnSpc>
                <a:spcPts val="3479"/>
              </a:lnSpc>
              <a:buClr>
                <a:srgbClr val="CC0000"/>
              </a:buClr>
              <a:buChar char="•"/>
              <a:tabLst>
                <a:tab pos="238760" algn="l"/>
              </a:tabLst>
            </a:pPr>
            <a:r>
              <a:rPr sz="3200" spc="-5" dirty="0">
                <a:latin typeface="Times New Roman"/>
                <a:cs typeface="Times New Roman"/>
              </a:rPr>
              <a:t>General</a:t>
            </a:r>
            <a:endParaRPr sz="3200" dirty="0">
              <a:latin typeface="Times New Roman"/>
              <a:cs typeface="Times New Roman"/>
            </a:endParaRPr>
          </a:p>
          <a:p>
            <a:pPr marL="700405" lvl="1" indent="-231140">
              <a:lnSpc>
                <a:spcPts val="3000"/>
              </a:lnSpc>
              <a:buClr>
                <a:srgbClr val="008A87"/>
              </a:buClr>
              <a:buFont typeface="Arial"/>
              <a:buChar char=""/>
              <a:tabLst>
                <a:tab pos="701040" algn="l"/>
              </a:tabLst>
            </a:pPr>
            <a:r>
              <a:rPr sz="2800" spc="-5" dirty="0">
                <a:latin typeface="Times New Roman"/>
                <a:cs typeface="Times New Roman"/>
              </a:rPr>
              <a:t>Bellman-Ford algorithm: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O</a:t>
            </a:r>
            <a:r>
              <a:rPr sz="28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28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VE</a:t>
            </a:r>
            <a:r>
              <a:rPr sz="2800" spc="-5" dirty="0" smtClean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1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10120"/>
            <a:ext cx="8530066" cy="100072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1289" tIns="90644" rIns="181289" bIns="90644">
            <a:normAutofit/>
          </a:bodyPr>
          <a:lstStyle/>
          <a:p>
            <a:pPr algn="ctr"/>
            <a:r>
              <a:rPr lang="en-US" sz="4800" dirty="0" smtClean="0"/>
              <a:t>Reference</a:t>
            </a: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468" y="2367458"/>
            <a:ext cx="7759805" cy="2509342"/>
          </a:xfrm>
        </p:spPr>
        <p:txBody>
          <a:bodyPr lIns="181289" tIns="90644" rIns="181289" bIns="90644">
            <a:normAutofit/>
          </a:bodyPr>
          <a:lstStyle/>
          <a:p>
            <a:r>
              <a:rPr lang="en-US" sz="3600" b="1" dirty="0"/>
              <a:t>Introduction to Algorithms</a:t>
            </a:r>
          </a:p>
          <a:p>
            <a:pPr lvl="1"/>
            <a:r>
              <a:rPr lang="en-US" dirty="0"/>
              <a:t>Single Source Shortest Path</a:t>
            </a:r>
          </a:p>
          <a:p>
            <a:pPr lvl="1"/>
            <a:r>
              <a:rPr lang="en-US"/>
              <a:t>Chapter # 24</a:t>
            </a:r>
          </a:p>
          <a:p>
            <a:pPr lvl="1"/>
            <a:r>
              <a:rPr lang="en-US" smtClean="0"/>
              <a:t>Thomas </a:t>
            </a:r>
            <a:r>
              <a:rPr lang="en-US" dirty="0"/>
              <a:t>H. </a:t>
            </a:r>
            <a:r>
              <a:rPr lang="en-US" dirty="0" err="1"/>
              <a:t>Cormen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4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All Pairs Shortest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/>
          </a:bodyPr>
          <a:lstStyle/>
          <a:p>
            <a:r>
              <a:rPr lang="en-US" sz="3200" dirty="0"/>
              <a:t>given edge-weighted graph, G =(V, </a:t>
            </a:r>
            <a:r>
              <a:rPr lang="en-US" sz="3200" dirty="0" err="1"/>
              <a:t>E,w</a:t>
            </a:r>
            <a:r>
              <a:rPr lang="en-US" sz="3200" dirty="0"/>
              <a:t>)</a:t>
            </a:r>
          </a:p>
          <a:p>
            <a:r>
              <a:rPr lang="en-US" sz="3200" dirty="0" smtClean="0"/>
              <a:t>find </a:t>
            </a:r>
            <a:r>
              <a:rPr lang="en-US" sz="3200" dirty="0"/>
              <a:t>δ(u, v) for all u, v ∈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9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>
                <a:latin typeface="Times New Roman"/>
                <a:cs typeface="Times New Roman"/>
              </a:rPr>
              <a:t/>
            </a:r>
            <a:br>
              <a:rPr lang="en-US" sz="2800" dirty="0">
                <a:latin typeface="Times New Roman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82000" cy="4873752"/>
          </a:xfrm>
        </p:spPr>
        <p:txBody>
          <a:bodyPr/>
          <a:lstStyle/>
          <a:p>
            <a:pPr marL="481965" indent="-457200">
              <a:lnSpc>
                <a:spcPts val="3490"/>
              </a:lnSpc>
              <a:buClr>
                <a:srgbClr val="CC0000"/>
              </a:buClr>
              <a:buFont typeface="Wingdings" pitchFamily="2" charset="2"/>
              <a:buChar char="q"/>
              <a:tabLst>
                <a:tab pos="251460" algn="l"/>
              </a:tabLst>
            </a:pPr>
            <a:r>
              <a:rPr lang="en-US" sz="3200" b="1" spc="-5" dirty="0" smtClean="0">
                <a:latin typeface="Times New Roman"/>
                <a:cs typeface="Times New Roman"/>
              </a:rPr>
              <a:t>Non-negative </a:t>
            </a:r>
            <a:r>
              <a:rPr lang="en-US" sz="3200" b="1" spc="-5" dirty="0">
                <a:latin typeface="Times New Roman"/>
                <a:cs typeface="Times New Roman"/>
              </a:rPr>
              <a:t>edge</a:t>
            </a:r>
            <a:r>
              <a:rPr lang="en-US" sz="3200" b="1" dirty="0">
                <a:latin typeface="Times New Roman"/>
                <a:cs typeface="Times New Roman"/>
              </a:rPr>
              <a:t> </a:t>
            </a:r>
            <a:r>
              <a:rPr lang="en-US" sz="3200" b="1" spc="-5" dirty="0" smtClean="0">
                <a:latin typeface="Times New Roman"/>
                <a:cs typeface="Times New Roman"/>
              </a:rPr>
              <a:t>weights</a:t>
            </a:r>
          </a:p>
          <a:p>
            <a:pPr marL="481965" indent="-457200">
              <a:lnSpc>
                <a:spcPts val="3490"/>
              </a:lnSpc>
              <a:buClr>
                <a:srgbClr val="CC0000"/>
              </a:buClr>
              <a:buFont typeface="Wingdings" pitchFamily="2" charset="2"/>
              <a:buChar char="q"/>
              <a:tabLst>
                <a:tab pos="251460" algn="l"/>
              </a:tabLst>
            </a:pPr>
            <a:r>
              <a:rPr lang="en-US" sz="3200" spc="-20" dirty="0" err="1">
                <a:latin typeface="Times New Roman"/>
                <a:cs typeface="Times New Roman"/>
              </a:rPr>
              <a:t>Dijkstra’s</a:t>
            </a:r>
            <a:r>
              <a:rPr lang="en-US" sz="3200" spc="-20" dirty="0">
                <a:latin typeface="Times New Roman"/>
                <a:cs typeface="Times New Roman"/>
              </a:rPr>
              <a:t> </a:t>
            </a:r>
            <a:r>
              <a:rPr lang="en-US" sz="3200" spc="-5" dirty="0" smtClean="0">
                <a:latin typeface="Times New Roman"/>
                <a:cs typeface="Times New Roman"/>
              </a:rPr>
              <a:t>algorithm</a:t>
            </a:r>
            <a:endParaRPr lang="en-US" sz="3200" dirty="0" smtClean="0">
              <a:latin typeface="Times New Roman"/>
              <a:cs typeface="Times New Roman"/>
            </a:endParaRPr>
          </a:p>
          <a:p>
            <a:pPr marL="481965" indent="-457200">
              <a:lnSpc>
                <a:spcPts val="3490"/>
              </a:lnSpc>
              <a:buClr>
                <a:srgbClr val="CC0000"/>
              </a:buClr>
              <a:buFont typeface="Courier New" pitchFamily="49" charset="0"/>
              <a:buChar char="o"/>
              <a:tabLst>
                <a:tab pos="251460" algn="l"/>
              </a:tabLst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linear-array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implementation of the min-priority queue, the running time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s-ES" sz="32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O(V</a:t>
            </a:r>
            <a:r>
              <a:rPr lang="es-ES" sz="3200" i="1" baseline="30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s-ES" sz="32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+VE</a:t>
            </a:r>
            <a:r>
              <a:rPr lang="es-ES" sz="3200" i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s-ES" sz="32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= O(V</a:t>
            </a:r>
            <a:r>
              <a:rPr lang="en-US" sz="3200" i="1" baseline="30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en-US" sz="3200" i="1" spc="-2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32</a:t>
            </a:fld>
            <a:endParaRPr lang="en-US"/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1526539" y="289813"/>
            <a:ext cx="5612765" cy="6959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065" rIns="0" bIns="0" rtlCol="0" anchor="b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000" b="0" kern="1200" cap="sm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en-US" spc="-5" smtClean="0"/>
              <a:t>All-pairs shortest</a:t>
            </a:r>
            <a:r>
              <a:rPr lang="en-US" spc="-30" smtClean="0"/>
              <a:t> </a:t>
            </a:r>
            <a:r>
              <a:rPr lang="en-US" spc="-5" smtClean="0"/>
              <a:t>paths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260548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6539" y="289813"/>
            <a:ext cx="5612765" cy="6959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All-pairs shortest</a:t>
            </a:r>
            <a:r>
              <a:rPr spc="-30" dirty="0"/>
              <a:t> </a:t>
            </a:r>
            <a:r>
              <a:rPr spc="-5" dirty="0"/>
              <a:t>paths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0267" y="1274661"/>
            <a:ext cx="7487920" cy="53136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3610"/>
              </a:lnSpc>
              <a:spcBef>
                <a:spcPts val="95"/>
              </a:spcBef>
            </a:pPr>
            <a:r>
              <a:rPr lang="en-US" sz="3200" b="1" spc="-10" dirty="0" smtClean="0">
                <a:solidFill>
                  <a:srgbClr val="CC0000"/>
                </a:solidFill>
                <a:latin typeface="Times New Roman"/>
                <a:cs typeface="Times New Roman"/>
              </a:rPr>
              <a:t>Negative Edge Weight:</a:t>
            </a:r>
          </a:p>
          <a:p>
            <a:pPr marL="25400">
              <a:lnSpc>
                <a:spcPts val="3610"/>
              </a:lnSpc>
              <a:spcBef>
                <a:spcPts val="95"/>
              </a:spcBef>
            </a:pPr>
            <a:r>
              <a:rPr sz="3200" b="1" spc="-10" dirty="0" smtClean="0">
                <a:solidFill>
                  <a:srgbClr val="CC0000"/>
                </a:solidFill>
                <a:latin typeface="Times New Roman"/>
                <a:cs typeface="Times New Roman"/>
              </a:rPr>
              <a:t>Input</a:t>
            </a:r>
            <a:r>
              <a:rPr sz="3200" b="1" spc="-10" dirty="0">
                <a:solidFill>
                  <a:srgbClr val="CC0000"/>
                </a:solidFill>
                <a:latin typeface="Times New Roman"/>
                <a:cs typeface="Times New Roman"/>
              </a:rPr>
              <a:t>: </a:t>
            </a:r>
            <a:r>
              <a:rPr sz="3200" spc="-5" dirty="0">
                <a:latin typeface="Times New Roman"/>
                <a:cs typeface="Times New Roman"/>
              </a:rPr>
              <a:t>Digraph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G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spc="-5" dirty="0">
                <a:latin typeface="Times New Roman"/>
                <a:cs typeface="Times New Roman"/>
              </a:rPr>
              <a:t>, where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{1,</a:t>
            </a:r>
            <a:r>
              <a:rPr sz="3200" spc="-37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2,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560"/>
              </a:lnSpc>
            </a:pP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…,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}</a:t>
            </a:r>
            <a:r>
              <a:rPr sz="3200" spc="-5" dirty="0">
                <a:latin typeface="Times New Roman"/>
                <a:cs typeface="Times New Roman"/>
              </a:rPr>
              <a:t>, with edge-weight function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w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E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</a:t>
            </a:r>
            <a:r>
              <a:rPr sz="3200" spc="4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A87"/>
                </a:solidFill>
                <a:latin typeface="Arial"/>
                <a:cs typeface="Arial"/>
              </a:rPr>
              <a:t>R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595"/>
              </a:lnSpc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Output: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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200" spc="-5" dirty="0">
                <a:latin typeface="Times New Roman"/>
                <a:cs typeface="Times New Roman"/>
              </a:rPr>
              <a:t>matrix of shortest-path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lengths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650"/>
              </a:lnSpc>
            </a:pP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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for all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i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,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j </a:t>
            </a:r>
            <a:r>
              <a:rPr sz="3200" spc="-5" dirty="0">
                <a:solidFill>
                  <a:srgbClr val="008A87"/>
                </a:solidFill>
                <a:latin typeface="Symbol"/>
                <a:cs typeface="Symbol"/>
              </a:rPr>
              <a:t>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ts val="3650"/>
              </a:lnSpc>
              <a:spcBef>
                <a:spcPts val="1245"/>
              </a:spcBef>
            </a:pP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I</a:t>
            </a:r>
            <a:r>
              <a:rPr sz="24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DEA</a:t>
            </a:r>
            <a:r>
              <a:rPr sz="3200" b="1" spc="-5" dirty="0">
                <a:solidFill>
                  <a:srgbClr val="CC0000"/>
                </a:solidFill>
                <a:latin typeface="Times New Roman"/>
                <a:cs typeface="Times New Roman"/>
              </a:rPr>
              <a:t>:</a:t>
            </a:r>
            <a:endParaRPr sz="32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54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Run Bellman-Ford once from each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vertex.</a:t>
            </a:r>
            <a:endParaRPr sz="3200" dirty="0">
              <a:latin typeface="Times New Roman"/>
              <a:cs typeface="Times New Roman"/>
            </a:endParaRPr>
          </a:p>
          <a:p>
            <a:pPr marL="250825" indent="-226060">
              <a:lnSpc>
                <a:spcPts val="3460"/>
              </a:lnSpc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35" dirty="0">
                <a:latin typeface="Times New Roman"/>
                <a:cs typeface="Times New Roman"/>
              </a:rPr>
              <a:t>Time 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= O(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V</a:t>
            </a:r>
            <a:r>
              <a:rPr sz="3200" i="1" spc="-280" dirty="0">
                <a:solidFill>
                  <a:srgbClr val="008A87"/>
                </a:solidFill>
                <a:latin typeface="Times New Roman"/>
                <a:cs typeface="Times New Roman"/>
              </a:rPr>
              <a:t> </a:t>
            </a:r>
            <a:r>
              <a:rPr sz="3150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2</a:t>
            </a:r>
            <a:r>
              <a:rPr sz="3200" i="1" dirty="0">
                <a:solidFill>
                  <a:srgbClr val="008A87"/>
                </a:solidFill>
                <a:latin typeface="Times New Roman"/>
                <a:cs typeface="Times New Roman"/>
              </a:rPr>
              <a:t>E</a:t>
            </a:r>
            <a:r>
              <a:rPr sz="3200" dirty="0">
                <a:solidFill>
                  <a:srgbClr val="008A87"/>
                </a:solidFill>
                <a:latin typeface="Times New Roman"/>
                <a:cs typeface="Times New Roman"/>
              </a:rPr>
              <a:t>)</a:t>
            </a:r>
            <a:r>
              <a:rPr sz="3200" dirty="0">
                <a:latin typeface="Times New Roman"/>
                <a:cs typeface="Times New Roman"/>
              </a:rPr>
              <a:t>.</a:t>
            </a:r>
          </a:p>
          <a:p>
            <a:pPr marL="250825" marR="54610" indent="-226060">
              <a:lnSpc>
                <a:spcPts val="3440"/>
              </a:lnSpc>
              <a:spcBef>
                <a:spcPts val="265"/>
              </a:spcBef>
              <a:buClr>
                <a:srgbClr val="CC0000"/>
              </a:buClr>
              <a:buChar char="•"/>
              <a:tabLst>
                <a:tab pos="251460" algn="l"/>
              </a:tabLst>
            </a:pPr>
            <a:r>
              <a:rPr sz="3200" spc="-5" dirty="0">
                <a:latin typeface="Times New Roman"/>
                <a:cs typeface="Times New Roman"/>
              </a:rPr>
              <a:t>Dense graph (</a:t>
            </a:r>
            <a:r>
              <a:rPr sz="3200" spc="-5" dirty="0">
                <a:solidFill>
                  <a:srgbClr val="008380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8380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380"/>
                </a:solidFill>
                <a:latin typeface="Times New Roman"/>
                <a:cs typeface="Times New Roman"/>
              </a:rPr>
              <a:t>n</a:t>
            </a:r>
            <a:r>
              <a:rPr sz="3150" spc="-7" baseline="25132" dirty="0">
                <a:solidFill>
                  <a:srgbClr val="008380"/>
                </a:solidFill>
                <a:latin typeface="Times New Roman"/>
                <a:cs typeface="Times New Roman"/>
              </a:rPr>
              <a:t>2</a:t>
            </a:r>
            <a:r>
              <a:rPr sz="3200" spc="-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edges) </a:t>
            </a:r>
            <a:r>
              <a:rPr sz="3200" spc="-5" dirty="0">
                <a:latin typeface="Symbol"/>
                <a:cs typeface="Symbol"/>
              </a:rPr>
              <a:t>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008380"/>
                </a:solidFill>
                <a:latin typeface="Symbol"/>
                <a:cs typeface="Symbol"/>
              </a:rPr>
              <a:t></a:t>
            </a:r>
            <a:r>
              <a:rPr sz="3200" spc="-5" dirty="0">
                <a:solidFill>
                  <a:srgbClr val="008380"/>
                </a:solidFill>
                <a:latin typeface="Times New Roman"/>
                <a:cs typeface="Times New Roman"/>
              </a:rPr>
              <a:t>(</a:t>
            </a:r>
            <a:r>
              <a:rPr sz="3200" i="1" spc="-5" dirty="0">
                <a:solidFill>
                  <a:srgbClr val="008A87"/>
                </a:solidFill>
                <a:latin typeface="Times New Roman"/>
                <a:cs typeface="Times New Roman"/>
              </a:rPr>
              <a:t>n </a:t>
            </a:r>
            <a:r>
              <a:rPr sz="3150" spc="7" baseline="25132" dirty="0">
                <a:solidFill>
                  <a:srgbClr val="008A87"/>
                </a:solidFill>
                <a:latin typeface="Times New Roman"/>
                <a:cs typeface="Times New Roman"/>
              </a:rPr>
              <a:t>4</a:t>
            </a:r>
            <a:r>
              <a:rPr sz="3200" spc="5" dirty="0">
                <a:solidFill>
                  <a:srgbClr val="008A87"/>
                </a:solidFill>
                <a:latin typeface="Times New Roman"/>
                <a:cs typeface="Times New Roman"/>
              </a:rPr>
              <a:t>) </a:t>
            </a:r>
            <a:r>
              <a:rPr sz="3200" spc="-5" dirty="0">
                <a:latin typeface="Times New Roman"/>
                <a:cs typeface="Times New Roman"/>
              </a:rPr>
              <a:t>time</a:t>
            </a:r>
            <a:r>
              <a:rPr sz="3200" spc="-26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in  the </a:t>
            </a:r>
            <a:r>
              <a:rPr sz="3200" b="1" spc="-5" dirty="0">
                <a:latin typeface="Times New Roman"/>
                <a:cs typeface="Times New Roman"/>
              </a:rPr>
              <a:t>worst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case</a:t>
            </a:r>
            <a:r>
              <a:rPr sz="3200" spc="-5" dirty="0">
                <a:latin typeface="Times New Roman"/>
                <a:cs typeface="Times New Roman"/>
              </a:rPr>
              <a:t>.</a:t>
            </a:r>
            <a:endParaRPr sz="32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40"/>
              </a:spcBef>
            </a:pPr>
            <a:r>
              <a:rPr sz="3200" i="1" spc="-5" dirty="0">
                <a:latin typeface="Times New Roman"/>
                <a:cs typeface="Times New Roman"/>
              </a:rPr>
              <a:t>Good first</a:t>
            </a:r>
            <a:r>
              <a:rPr sz="3200" i="1" spc="10" dirty="0">
                <a:latin typeface="Times New Roman"/>
                <a:cs typeface="Times New Roman"/>
              </a:rPr>
              <a:t> </a:t>
            </a:r>
            <a:r>
              <a:rPr sz="3200" i="1" spc="-5" dirty="0">
                <a:latin typeface="Times New Roman"/>
                <a:cs typeface="Times New Roman"/>
              </a:rPr>
              <a:t>try!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31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 (Dynamic Programming)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1. Characterize the structure of an optimal solution.</a:t>
            </a:r>
          </a:p>
          <a:p>
            <a:r>
              <a:rPr lang="en-US" dirty="0"/>
              <a:t>2. Recursively define the value of an optimal solution.</a:t>
            </a:r>
          </a:p>
          <a:p>
            <a:r>
              <a:rPr lang="en-US" dirty="0"/>
              <a:t>3. Compute the value of an optimal solution in a bottom-up fashion.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97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Approach</a:t>
            </a:r>
            <a:r>
              <a:rPr lang="en-US" dirty="0" smtClean="0"/>
              <a:t>!!!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12192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800" dirty="0" smtClean="0"/>
              <a:t>Dynamic Programming</a:t>
            </a:r>
            <a:endParaRPr lang="en-US" sz="4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4400" dirty="0" err="1" smtClean="0"/>
              <a:t>FlOYD</a:t>
            </a:r>
            <a:r>
              <a:rPr lang="en-US" sz="4400" dirty="0" smtClean="0"/>
              <a:t>-WARSHALL</a:t>
            </a:r>
            <a:endParaRPr lang="en-US" sz="44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2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3550"/>
            <a:ext cx="9277350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44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53571" y="914400"/>
            <a:ext cx="8479183" cy="3632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098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908" y="477593"/>
            <a:ext cx="7467600" cy="655638"/>
          </a:xfrm>
        </p:spPr>
        <p:txBody>
          <a:bodyPr>
            <a:normAutofit fontScale="90000"/>
          </a:bodyPr>
          <a:lstStyle/>
          <a:p>
            <a:r>
              <a:rPr lang="en-US" dirty="0"/>
              <a:t>A recursive solution to the all-pairs shortest-paths problem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28600" y="1600200"/>
            <a:ext cx="8034255" cy="304641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3A9B76-793E-4B03-B0E0-2F9798CF6A6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8203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>
          <a:xfrm>
            <a:off x="8116019" y="5900468"/>
            <a:ext cx="609600" cy="521208"/>
          </a:xfrm>
        </p:spPr>
        <p:txBody>
          <a:bodyPr/>
          <a:lstStyle/>
          <a:p>
            <a:fld id="{D46B8EC2-79DC-4D91-A125-9987AE897EFA}" type="slidenum">
              <a:rPr lang="en-US" smtClean="0"/>
              <a:t>40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https://www.programming-algorithms.net/image/id/508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-228600"/>
            <a:ext cx="30391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15" y="457200"/>
            <a:ext cx="256222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 descr="https://www.programming-algorithms.net/latexImage/id/5107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20" y="2945921"/>
            <a:ext cx="8381999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71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each iteration of Floyd-</a:t>
            </a:r>
            <a:r>
              <a:rPr lang="en-US" dirty="0" err="1"/>
              <a:t>Warshall</a:t>
            </a:r>
            <a:r>
              <a:rPr lang="en-US" dirty="0"/>
              <a:t> algorithm is this matrix recalculated, so it contains lengths of paths among all pairs of nodes using gradually enlarging set of intermediate nodes.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matrix 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rgbClr val="0070C0"/>
                </a:solidFill>
              </a:rPr>
              <a:t>D</a:t>
            </a:r>
            <a:r>
              <a:rPr lang="en-US" sz="2800" b="1" baseline="-25000" dirty="0" smtClean="0">
                <a:solidFill>
                  <a:srgbClr val="0070C0"/>
                </a:solidFill>
              </a:rPr>
              <a:t>1</a:t>
            </a:r>
            <a:r>
              <a:rPr lang="en-US" dirty="0" smtClean="0"/>
              <a:t>, </a:t>
            </a:r>
            <a:r>
              <a:rPr lang="en-US" dirty="0"/>
              <a:t>which is created by the first iteration of the procedure, contains paths among all nodes using </a:t>
            </a:r>
            <a:r>
              <a:rPr lang="en-US" b="1" dirty="0"/>
              <a:t>exactly one (predefined) intermediate node. </a:t>
            </a:r>
            <a:endParaRPr lang="en-US" b="1" dirty="0" smtClean="0"/>
          </a:p>
          <a:p>
            <a:r>
              <a:rPr lang="en-US" sz="2800" b="1" dirty="0"/>
              <a:t> </a:t>
            </a:r>
            <a:r>
              <a:rPr lang="en-US" sz="2800" b="1" dirty="0" smtClean="0">
                <a:solidFill>
                  <a:srgbClr val="0070C0"/>
                </a:solidFill>
              </a:rPr>
              <a:t>D</a:t>
            </a:r>
            <a:r>
              <a:rPr lang="en-US" sz="2800" b="1" baseline="-25000" dirty="0" smtClean="0">
                <a:solidFill>
                  <a:srgbClr val="0070C0"/>
                </a:solidFill>
              </a:rPr>
              <a:t>2</a:t>
            </a:r>
            <a:r>
              <a:rPr lang="en-US" sz="2800" b="1" baseline="-25000" dirty="0" smtClean="0"/>
              <a:t> </a:t>
            </a:r>
            <a:r>
              <a:rPr lang="en-US" dirty="0" smtClean="0"/>
              <a:t>contains </a:t>
            </a:r>
            <a:r>
              <a:rPr lang="en-US" dirty="0"/>
              <a:t>lengths using </a:t>
            </a:r>
            <a:r>
              <a:rPr lang="en-US" b="1" dirty="0"/>
              <a:t>two predefined intermediate nodes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Finally </a:t>
            </a:r>
            <a:r>
              <a:rPr lang="en-US" dirty="0"/>
              <a:t>the matrix </a:t>
            </a:r>
            <a:r>
              <a:rPr lang="en-US" dirty="0" smtClean="0"/>
              <a:t> </a:t>
            </a:r>
            <a:r>
              <a:rPr lang="en-US" sz="2800" b="1" dirty="0" err="1" smtClean="0">
                <a:solidFill>
                  <a:srgbClr val="0070C0"/>
                </a:solidFill>
              </a:rPr>
              <a:t>D</a:t>
            </a:r>
            <a:r>
              <a:rPr lang="en-US" sz="2800" b="1" baseline="-25000" dirty="0" err="1" smtClean="0">
                <a:solidFill>
                  <a:srgbClr val="0070C0"/>
                </a:solidFill>
              </a:rPr>
              <a:t>n</a:t>
            </a:r>
            <a:r>
              <a:rPr lang="en-US" sz="2800" b="1" baseline="-25000" dirty="0" smtClean="0">
                <a:solidFill>
                  <a:srgbClr val="0070C0"/>
                </a:solidFill>
              </a:rPr>
              <a:t> </a:t>
            </a:r>
            <a:r>
              <a:rPr lang="en-US" sz="2800" b="1" dirty="0">
                <a:solidFill>
                  <a:srgbClr val="0070C0"/>
                </a:solidFill>
              </a:rPr>
              <a:t> uses </a:t>
            </a:r>
            <a:r>
              <a:rPr lang="en-US" sz="2800" b="1" dirty="0" smtClean="0">
                <a:solidFill>
                  <a:srgbClr val="0070C0"/>
                </a:solidFill>
              </a:rPr>
              <a:t> n</a:t>
            </a:r>
            <a:r>
              <a:rPr lang="en-US" sz="2800" b="1" dirty="0">
                <a:solidFill>
                  <a:srgbClr val="0070C0"/>
                </a:solidFill>
              </a:rPr>
              <a:t> intermediate nodes.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2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Floyd-</a:t>
            </a:r>
            <a:r>
              <a:rPr lang="en-US" dirty="0" err="1"/>
              <a:t>Warshall</a:t>
            </a:r>
            <a:r>
              <a:rPr lang="en-US" dirty="0"/>
              <a:t>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" y="1524000"/>
            <a:ext cx="5638800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181600" y="609600"/>
            <a:ext cx="2971800" cy="30480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This Dynamic Program contains O(V</a:t>
            </a:r>
            <a:r>
              <a:rPr lang="en-US" baseline="30000" dirty="0"/>
              <a:t>3</a:t>
            </a:r>
            <a:r>
              <a:rPr lang="en-US" dirty="0"/>
              <a:t>) </a:t>
            </a:r>
            <a:r>
              <a:rPr lang="en-US" dirty="0" smtClean="0"/>
              <a:t>problems</a:t>
            </a:r>
          </a:p>
          <a:p>
            <a:r>
              <a:rPr lang="en-US" dirty="0" smtClean="0"/>
              <a:t>O(1</a:t>
            </a:r>
            <a:r>
              <a:rPr lang="en-US" dirty="0"/>
              <a:t>) time to solve each </a:t>
            </a:r>
            <a:r>
              <a:rPr lang="en-US" dirty="0" smtClean="0"/>
              <a:t>sub-problem </a:t>
            </a:r>
          </a:p>
          <a:p>
            <a:r>
              <a:rPr lang="en-US" dirty="0" smtClean="0"/>
              <a:t>total </a:t>
            </a:r>
            <a:r>
              <a:rPr lang="en-US" dirty="0"/>
              <a:t>runtime </a:t>
            </a:r>
            <a:r>
              <a:rPr lang="en-US" dirty="0" smtClean="0"/>
              <a:t>is </a:t>
            </a:r>
            <a:r>
              <a:rPr lang="en-US" dirty="0"/>
              <a:t>O(V</a:t>
            </a:r>
            <a:r>
              <a:rPr lang="en-US" baseline="30000" dirty="0"/>
              <a:t>3</a:t>
            </a:r>
            <a:r>
              <a:rPr lang="en-US" dirty="0"/>
              <a:t>).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6862" y="5486400"/>
            <a:ext cx="5023338" cy="1913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765">
              <a:lnSpc>
                <a:spcPts val="3490"/>
              </a:lnSpc>
              <a:buClr>
                <a:srgbClr val="CC0000"/>
              </a:buClr>
              <a:tabLst>
                <a:tab pos="251460" algn="l"/>
              </a:tabLst>
            </a:pPr>
            <a:r>
              <a:rPr lang="en-US" sz="36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O(V</a:t>
            </a:r>
            <a:r>
              <a:rPr lang="en-US" sz="3600" i="1" baseline="30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600" i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263525" indent="-226060">
              <a:lnSpc>
                <a:spcPts val="3450"/>
              </a:lnSpc>
              <a:buClr>
                <a:srgbClr val="CC0000"/>
              </a:buClr>
              <a:buChar char="•"/>
              <a:tabLst>
                <a:tab pos="264160" algn="l"/>
              </a:tabLst>
            </a:pPr>
            <a:r>
              <a:rPr lang="en-US" sz="3600" spc="-5" dirty="0">
                <a:latin typeface="Times New Roman"/>
                <a:cs typeface="Times New Roman"/>
              </a:rPr>
              <a:t>Simple to code.</a:t>
            </a:r>
            <a:endParaRPr lang="en-US" sz="3600" dirty="0">
              <a:latin typeface="Times New Roman"/>
              <a:cs typeface="Times New Roman"/>
            </a:endParaRPr>
          </a:p>
          <a:p>
            <a:pPr marL="263525" indent="-226060">
              <a:lnSpc>
                <a:spcPts val="3650"/>
              </a:lnSpc>
              <a:buClr>
                <a:srgbClr val="CC0000"/>
              </a:buClr>
              <a:buChar char="•"/>
              <a:tabLst>
                <a:tab pos="264160" algn="l"/>
              </a:tabLst>
            </a:pPr>
            <a:r>
              <a:rPr lang="en-US" sz="3600" spc="-10" dirty="0">
                <a:latin typeface="Times New Roman"/>
                <a:cs typeface="Times New Roman"/>
              </a:rPr>
              <a:t>Efficient </a:t>
            </a:r>
            <a:r>
              <a:rPr lang="en-US" sz="3600" spc="-5" dirty="0">
                <a:latin typeface="Times New Roman"/>
                <a:cs typeface="Times New Roman"/>
              </a:rPr>
              <a:t>in practice.</a:t>
            </a:r>
            <a:endParaRPr lang="en-US" sz="3600" dirty="0">
              <a:latin typeface="Times New Roman"/>
              <a:cs typeface="Times New Roman"/>
            </a:endParaRPr>
          </a:p>
          <a:p>
            <a:pPr marL="24765">
              <a:lnSpc>
                <a:spcPts val="3490"/>
              </a:lnSpc>
              <a:buClr>
                <a:srgbClr val="CC0000"/>
              </a:buClr>
              <a:tabLst>
                <a:tab pos="251460" algn="l"/>
              </a:tabLst>
            </a:pPr>
            <a:endParaRPr lang="en-US" sz="3600" i="1" spc="-2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13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10120"/>
            <a:ext cx="8530066" cy="1000720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1289" tIns="90644" rIns="181289" bIns="90644">
            <a:normAutofit/>
          </a:bodyPr>
          <a:lstStyle/>
          <a:p>
            <a:pPr algn="ctr"/>
            <a:r>
              <a:rPr lang="en-US" sz="4800" dirty="0" smtClean="0"/>
              <a:t>Reference</a:t>
            </a: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468" y="2367458"/>
            <a:ext cx="7759805" cy="2509342"/>
          </a:xfrm>
        </p:spPr>
        <p:txBody>
          <a:bodyPr lIns="181289" tIns="90644" rIns="181289" bIns="90644">
            <a:normAutofit/>
          </a:bodyPr>
          <a:lstStyle/>
          <a:p>
            <a:r>
              <a:rPr lang="en-US" sz="3600" b="1" dirty="0"/>
              <a:t>Introduction to Algorithms</a:t>
            </a:r>
          </a:p>
          <a:p>
            <a:pPr lvl="1"/>
            <a:r>
              <a:rPr lang="en-US" dirty="0" smtClean="0"/>
              <a:t>All Pairs Shortest </a:t>
            </a:r>
            <a:r>
              <a:rPr lang="en-US" dirty="0"/>
              <a:t>Path</a:t>
            </a:r>
          </a:p>
          <a:p>
            <a:pPr lvl="1"/>
            <a:r>
              <a:rPr lang="en-US" dirty="0"/>
              <a:t>Chapter # </a:t>
            </a:r>
            <a:r>
              <a:rPr lang="en-US" dirty="0" smtClean="0"/>
              <a:t>25</a:t>
            </a:r>
            <a:endParaRPr lang="en-US" dirty="0"/>
          </a:p>
          <a:p>
            <a:pPr lvl="1"/>
            <a:r>
              <a:rPr lang="en-US" dirty="0" smtClean="0"/>
              <a:t>Thomas </a:t>
            </a:r>
            <a:r>
              <a:rPr lang="en-US" dirty="0"/>
              <a:t>H. </a:t>
            </a:r>
            <a:r>
              <a:rPr lang="en-US" dirty="0" err="1"/>
              <a:t>Cormen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46B8EC2-79DC-4D91-A125-9987AE897EF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78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10429</TotalTime>
  <Words>1731</Words>
  <Application>Microsoft Office PowerPoint</Application>
  <PresentationFormat>On-screen Show (4:3)</PresentationFormat>
  <Paragraphs>808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Century Schoolbook</vt:lpstr>
      <vt:lpstr>Courier New</vt:lpstr>
      <vt:lpstr>Symbol</vt:lpstr>
      <vt:lpstr>Times New Roman</vt:lpstr>
      <vt:lpstr>Wingdings</vt:lpstr>
      <vt:lpstr>Wingdings 2</vt:lpstr>
      <vt:lpstr>Oriel</vt:lpstr>
      <vt:lpstr>Bellman-Ford algorithm </vt:lpstr>
      <vt:lpstr>Negative-weight cycles</vt:lpstr>
      <vt:lpstr>Negative-weight cycles</vt:lpstr>
      <vt:lpstr>Bellman-Ford algorithm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Bellman-Ford-Pass2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Example of Bellman-Ford</vt:lpstr>
      <vt:lpstr>Shortest paths</vt:lpstr>
      <vt:lpstr>Reference</vt:lpstr>
      <vt:lpstr>All Pairs Shortest Path</vt:lpstr>
      <vt:lpstr> </vt:lpstr>
      <vt:lpstr>All-pairs shortest paths</vt:lpstr>
      <vt:lpstr>Recap (Dynamic Programming)</vt:lpstr>
      <vt:lpstr>Better Approach!!!</vt:lpstr>
      <vt:lpstr>FlOYD-WARSHALL</vt:lpstr>
      <vt:lpstr>Floyd-Warshall: </vt:lpstr>
      <vt:lpstr>PowerPoint Presentation</vt:lpstr>
      <vt:lpstr>A recursive solution to the all-pairs shortest-paths problem</vt:lpstr>
      <vt:lpstr>PowerPoint Presentation</vt:lpstr>
      <vt:lpstr>Floyd-Warshall: </vt:lpstr>
      <vt:lpstr>Floyd-Warshall: 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130</cp:revision>
  <cp:lastPrinted>2020-03-05T04:46:42Z</cp:lastPrinted>
  <dcterms:created xsi:type="dcterms:W3CDTF">2020-02-27T06:19:36Z</dcterms:created>
  <dcterms:modified xsi:type="dcterms:W3CDTF">2023-05-07T09:40:30Z</dcterms:modified>
</cp:coreProperties>
</file>