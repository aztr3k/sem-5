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960" r:id="rId2"/>
    <p:sldId id="1080" r:id="rId3"/>
    <p:sldId id="1082" r:id="rId4"/>
    <p:sldId id="1206" r:id="rId5"/>
    <p:sldId id="1081" r:id="rId6"/>
    <p:sldId id="1207" r:id="rId7"/>
    <p:sldId id="1087" r:id="rId8"/>
    <p:sldId id="1208" r:id="rId9"/>
    <p:sldId id="1090" r:id="rId10"/>
    <p:sldId id="1097" r:id="rId11"/>
    <p:sldId id="1092" r:id="rId12"/>
    <p:sldId id="1209" r:id="rId13"/>
    <p:sldId id="1210" r:id="rId14"/>
    <p:sldId id="1211" r:id="rId15"/>
    <p:sldId id="1212" r:id="rId16"/>
    <p:sldId id="1215" r:id="rId17"/>
    <p:sldId id="1238" r:id="rId18"/>
    <p:sldId id="1240" r:id="rId19"/>
    <p:sldId id="1241" r:id="rId20"/>
    <p:sldId id="1044" r:id="rId21"/>
    <p:sldId id="1096" r:id="rId22"/>
    <p:sldId id="1217" r:id="rId23"/>
    <p:sldId id="1216" r:id="rId24"/>
    <p:sldId id="1203" r:id="rId25"/>
    <p:sldId id="1098" r:id="rId26"/>
    <p:sldId id="1218" r:id="rId27"/>
    <p:sldId id="1220" r:id="rId28"/>
    <p:sldId id="1221" r:id="rId29"/>
    <p:sldId id="1222" r:id="rId30"/>
    <p:sldId id="1223" r:id="rId31"/>
    <p:sldId id="1224" r:id="rId32"/>
    <p:sldId id="1225" r:id="rId33"/>
    <p:sldId id="1226" r:id="rId34"/>
    <p:sldId id="1227" r:id="rId35"/>
    <p:sldId id="1099" r:id="rId36"/>
    <p:sldId id="1235" r:id="rId37"/>
    <p:sldId id="1236" r:id="rId38"/>
    <p:sldId id="1237" r:id="rId39"/>
    <p:sldId id="1228" r:id="rId40"/>
    <p:sldId id="1104" r:id="rId41"/>
    <p:sldId id="1230" r:id="rId42"/>
    <p:sldId id="1231" r:id="rId43"/>
    <p:sldId id="1232" r:id="rId44"/>
    <p:sldId id="1233" r:id="rId45"/>
    <p:sldId id="1234" r:id="rId46"/>
    <p:sldId id="1110" r:id="rId47"/>
    <p:sldId id="1108"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3C6CDF"/>
    <a:srgbClr val="ED356A"/>
    <a:srgbClr val="E40000"/>
    <a:srgbClr val="FFB3D3"/>
    <a:srgbClr val="FA376E"/>
    <a:srgbClr val="9CDFF9"/>
    <a:srgbClr val="0000A8"/>
    <a:srgbClr val="B8C2C9"/>
    <a:srgbClr val="D6D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09" autoAdjust="0"/>
    <p:restoredTop sz="93979" autoAdjust="0"/>
  </p:normalViewPr>
  <p:slideViewPr>
    <p:cSldViewPr snapToGrid="0" snapToObjects="1">
      <p:cViewPr varScale="1">
        <p:scale>
          <a:sx n="82" d="100"/>
          <a:sy n="82" d="100"/>
        </p:scale>
        <p:origin x="307" y="62"/>
      </p:cViewPr>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10/6/2024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History</a:t>
            </a:r>
          </a:p>
          <a:p>
            <a:endParaRPr lang="en-US" dirty="0"/>
          </a:p>
          <a:p>
            <a:r>
              <a:rPr lang="en-US" dirty="0"/>
              <a:t>8.0  (April 2020)</a:t>
            </a:r>
          </a:p>
          <a:p>
            <a:pPr marL="171450" indent="-171450">
              <a:buFont typeface="Arial" panose="020B0604020202020204" pitchFamily="34" charset="0"/>
              <a:buChar char="•"/>
            </a:pPr>
            <a:r>
              <a:rPr lang="en-US" dirty="0"/>
              <a:t>All slides reformatted for 16:9 aspect ratio</a:t>
            </a:r>
          </a:p>
          <a:p>
            <a:pPr marL="171450" indent="-171450">
              <a:buFont typeface="Arial" panose="020B0604020202020204" pitchFamily="34" charset="0"/>
              <a:buChar char="•"/>
            </a:pPr>
            <a:r>
              <a:rPr lang="en-US" dirty="0"/>
              <a:t>All slides updated to 8</a:t>
            </a:r>
            <a:r>
              <a:rPr lang="en-US" baseline="30000" dirty="0"/>
              <a:t>th</a:t>
            </a:r>
            <a:r>
              <a:rPr lang="en-US" dirty="0"/>
              <a:t> edition material</a:t>
            </a:r>
          </a:p>
          <a:p>
            <a:pPr marL="171450" indent="-171450">
              <a:buFont typeface="Arial" panose="020B0604020202020204" pitchFamily="34" charset="0"/>
              <a:buChar char="•"/>
            </a:pPr>
            <a:r>
              <a:rPr lang="en-US" dirty="0"/>
              <a:t>Use of Calibri font, rather that Gill Sans MT</a:t>
            </a:r>
          </a:p>
          <a:p>
            <a:pPr marL="171450" indent="-171450">
              <a:buFont typeface="Arial" panose="020B0604020202020204" pitchFamily="34" charset="0"/>
              <a:buChar char="•"/>
            </a:pPr>
            <a:r>
              <a:rPr lang="en-US" dirty="0"/>
              <a:t>Add LOTS more animation throughout</a:t>
            </a:r>
          </a:p>
          <a:p>
            <a:pPr marL="171450" indent="-171450">
              <a:buFont typeface="Arial" panose="020B0604020202020204" pitchFamily="34" charset="0"/>
              <a:buChar char="•"/>
            </a:pPr>
            <a:r>
              <a:rPr lang="en-US" dirty="0"/>
              <a:t>added new  8</a:t>
            </a:r>
            <a:r>
              <a:rPr lang="en-US" baseline="30000" dirty="0"/>
              <a:t>th</a:t>
            </a:r>
            <a:r>
              <a:rPr lang="en-US" dirty="0"/>
              <a:t> edition material on QUIC, CUBIC, delay-based congestion control</a:t>
            </a:r>
          </a:p>
          <a:p>
            <a:pPr marL="171450" indent="-171450">
              <a:buFont typeface="Arial" panose="020B0604020202020204" pitchFamily="34" charset="0"/>
              <a:buChar char="•"/>
            </a:pPr>
            <a:r>
              <a:rPr lang="en-US" dirty="0"/>
              <a:t>lighter header font</a:t>
            </a:r>
          </a:p>
        </p:txBody>
      </p:sp>
      <p:sp>
        <p:nvSpPr>
          <p:cNvPr id="4" name="Slide Number Placeholder 3"/>
          <p:cNvSpPr>
            <a:spLocks noGrp="1"/>
          </p:cNvSpPr>
          <p:nvPr>
            <p:ph type="sldNum" sz="quarter" idx="5"/>
          </p:nvPr>
        </p:nvSpPr>
        <p:spPr/>
        <p:txBody>
          <a:bodyPr/>
          <a:lstStyle/>
          <a:p>
            <a:fld id="{3D91EEAC-CFEF-9647-876F-EABC6B8338D7}" type="slidenum">
              <a:rPr lang="en-US" smtClean="0"/>
              <a:t>1</a:t>
            </a:fld>
            <a:endParaRPr lang="en-US"/>
          </a:p>
        </p:txBody>
      </p:sp>
    </p:spTree>
    <p:extLst>
      <p:ext uri="{BB962C8B-B14F-4D97-AF65-F5344CB8AC3E}">
        <p14:creationId xmlns:p14="http://schemas.microsoft.com/office/powerpoint/2010/main" val="279266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if RTT=30 </a:t>
            </a:r>
            <a:r>
              <a:rPr kumimoji="0" lang="en-US" sz="1200" b="0" i="0" u="none" strike="noStrike" kern="1200" cap="none" spc="0" normalizeH="0" baseline="0" noProof="0" dirty="0" err="1">
                <a:ln>
                  <a:noFill/>
                </a:ln>
                <a:solidFill>
                  <a:prstClr val="black"/>
                </a:solidFill>
                <a:effectLst/>
                <a:uLnTx/>
                <a:uFillTx/>
                <a:latin typeface="+mn-lt"/>
                <a:ea typeface="ＭＳ Ｐゴシック" charset="0"/>
                <a:cs typeface="+mn-cs"/>
              </a:rPr>
              <a:t>msec</a:t>
            </a: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 1KB pkt every 30 </a:t>
            </a:r>
            <a:r>
              <a:rPr kumimoji="0" lang="en-US" sz="1200" b="0" i="0" u="none" strike="noStrike" kern="1200" cap="none" spc="0" normalizeH="0" baseline="0" noProof="0" dirty="0" err="1">
                <a:ln>
                  <a:noFill/>
                </a:ln>
                <a:solidFill>
                  <a:prstClr val="black"/>
                </a:solidFill>
                <a:effectLst/>
                <a:uLnTx/>
                <a:uFillTx/>
                <a:latin typeface="+mn-lt"/>
                <a:ea typeface="ＭＳ Ｐゴシック" charset="0"/>
                <a:cs typeface="+mn-cs"/>
              </a:rPr>
              <a:t>msec</a:t>
            </a: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 33kB/sec </a:t>
            </a:r>
            <a:r>
              <a:rPr kumimoji="0" lang="en-US" sz="1200" b="0" i="0" u="none" strike="noStrike" kern="1200" cap="none" spc="0" normalizeH="0" baseline="0" noProof="0" dirty="0" err="1">
                <a:ln>
                  <a:noFill/>
                </a:ln>
                <a:solidFill>
                  <a:prstClr val="black"/>
                </a:solidFill>
                <a:effectLst/>
                <a:uLnTx/>
                <a:uFillTx/>
                <a:latin typeface="+mn-lt"/>
                <a:ea typeface="ＭＳ Ｐゴシック" charset="0"/>
                <a:cs typeface="+mn-cs"/>
              </a:rPr>
              <a:t>thruput</a:t>
            </a: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 over 1 Gbps link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network protocol limits use of physical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Let’s develop a formula for utilization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5262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2799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4603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7885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two generic forms of pipelined protocols: </a:t>
            </a:r>
            <a:r>
              <a:rPr kumimoji="0" lang="en-US" sz="1200" b="0" i="1" u="none" strike="noStrike" kern="1200" cap="none" spc="0" normalizeH="0" baseline="0" noProof="0" dirty="0">
                <a:ln>
                  <a:noFill/>
                </a:ln>
                <a:solidFill>
                  <a:srgbClr val="CC0000"/>
                </a:solidFill>
                <a:effectLst/>
                <a:uLnTx/>
                <a:uFillTx/>
                <a:latin typeface="+mn-lt"/>
                <a:ea typeface="+mn-ea"/>
                <a:cs typeface="+mn-cs"/>
              </a:rPr>
              <a:t>go-Back-N, selective repeat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1122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window size of 14, 8 have been sent but are not yet </a:t>
            </a:r>
            <a:r>
              <a:rPr lang="en-US" dirty="0" err="1"/>
              <a:t>ackowledgedm</a:t>
            </a:r>
            <a:r>
              <a:rPr lang="en-US" dirty="0"/>
              <a:t> 6 sequence numbers are available for us. In </a:t>
            </a:r>
            <a:r>
              <a:rPr lang="en-US" dirty="0" err="1"/>
              <a:t>woindow</a:t>
            </a:r>
            <a:r>
              <a:rPr lang="en-US" dirty="0"/>
              <a:t>, but no calls from above to use them.</a:t>
            </a:r>
          </a:p>
          <a:p>
            <a:endParaRPr lang="en-US" dirty="0"/>
          </a:p>
          <a:p>
            <a:r>
              <a:rPr lang="en-US" dirty="0"/>
              <a:t>Note – we’ll skip the Go-Back-N FSM specification you can </a:t>
            </a:r>
            <a:r>
              <a:rPr lang="en-US" dirty="0" err="1"/>
              <a:t>chack</a:t>
            </a:r>
            <a:r>
              <a:rPr lang="en-US" dirty="0"/>
              <a:t> that out in </a:t>
            </a:r>
            <a:r>
              <a:rPr lang="en-US" dirty="0" err="1"/>
              <a:t>powerpoitn</a:t>
            </a:r>
            <a:r>
              <a:rPr lang="en-US" dirty="0"/>
              <a:t> slides or book)</a:t>
            </a:r>
          </a:p>
          <a:p>
            <a:endParaRPr lang="en-US" dirty="0"/>
          </a:p>
          <a:p>
            <a:r>
              <a:rPr lang="en-US" dirty="0"/>
              <a:t>TCP uses cumulative ACK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414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Note – we’ll skip the Go-Back-N FSM specification (actually it’s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9117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Let’s skip FSM specification for GBN – check out the book or ppt – and let’s watch GBN sender and receivers  in action.</a:t>
            </a:r>
          </a:p>
          <a:p>
            <a:r>
              <a:rPr lang="en-US" dirty="0"/>
              <a:t>Let assume a window size of 4.  at t=0, sender sends packets 0, 1, 2 3, 4, and packet 2 will be lost</a:t>
            </a:r>
          </a:p>
          <a:p>
            <a:endParaRPr lang="en-US" dirty="0"/>
          </a:p>
          <a:p>
            <a:r>
              <a:rPr lang="en-US" dirty="0"/>
              <a:t>At the receiver:</a:t>
            </a:r>
          </a:p>
          <a:p>
            <a:r>
              <a:rPr lang="en-US" dirty="0"/>
              <a:t>Packet 0 received ACK0 generated</a:t>
            </a:r>
          </a:p>
          <a:p>
            <a:r>
              <a:rPr lang="en-US" dirty="0"/>
              <a:t>Packet 1 received ACK1 generated</a:t>
            </a:r>
          </a:p>
          <a:p>
            <a:r>
              <a:rPr lang="en-US" dirty="0"/>
              <a:t>Packet 2 is lost, and so when packet 3 is received, ACK 1 is sent – that’s the cumulative ACK, re-Acknowledging the receipt of packet 1. and in this implementation packet 3 is discarded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4386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An important mechanism of GBN was the use of the cumulative acknowledgements, and as we mentioned, cumulative ACKs are used in TCP</a:t>
            </a:r>
          </a:p>
          <a:p>
            <a:endParaRPr lang="en-US" dirty="0"/>
          </a:p>
          <a:p>
            <a:r>
              <a:rPr lang="en-US" dirty="0"/>
              <a:t>An alternate ACK mechanism would be for the receiver to </a:t>
            </a:r>
            <a:r>
              <a:rPr lang="en-US" dirty="0" err="1"/>
              <a:t>indiviually</a:t>
            </a:r>
            <a:r>
              <a:rPr lang="en-US" dirty="0"/>
              <a:t> acknowledge specific packets as they are received.  This mechanism is at the heart of the Selective repeat protocol.</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3894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1147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If the packet is in order, its data will be delivered, as will any buffered data that can now be </a:t>
            </a:r>
            <a:r>
              <a:rPr lang="en-US" dirty="0" err="1"/>
              <a:t>delived</a:t>
            </a:r>
            <a:r>
              <a:rPr lang="en-US" dirty="0"/>
              <a:t> in order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2124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6270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9876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4306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Espace réservé de l'image des diapositives 1"/>
          <p:cNvSpPr>
            <a:spLocks noGrp="1" noRot="1" noChangeAspect="1" noTextEdit="1"/>
          </p:cNvSpPr>
          <p:nvPr>
            <p:ph type="sldImg"/>
          </p:nvPr>
        </p:nvSpPr>
        <p:spPr>
          <a:ln/>
        </p:spPr>
      </p:sp>
      <p:sp>
        <p:nvSpPr>
          <p:cNvPr id="4096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In all other cases, the receiver discards the packet and resends an ACK for the most recently received in-order packet. </a:t>
            </a:r>
          </a:p>
          <a:p>
            <a:endParaRPr lang="fr-FR" altLang="en-US">
              <a:latin typeface="Arial" panose="020B0604020202020204" pitchFamily="34" charset="0"/>
              <a:ea typeface="ＭＳ Ｐゴシック" panose="020B0600070205080204" pitchFamily="34" charset="-128"/>
            </a:endParaRPr>
          </a:p>
        </p:txBody>
      </p:sp>
      <p:sp>
        <p:nvSpPr>
          <p:cNvPr id="4096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62C2CA5-C7CB-49E5-BEF0-7C51D024F557}" type="slidenum">
              <a:rPr lang="en-US" altLang="en-US"/>
              <a:pPr>
                <a:spcBef>
                  <a:spcPct val="0"/>
                </a:spcBef>
              </a:pPr>
              <a:t>19</a:t>
            </a:fld>
            <a:endParaRPr lang="en-US" altLang="en-US"/>
          </a:p>
        </p:txBody>
      </p:sp>
    </p:spTree>
    <p:extLst>
      <p:ext uri="{BB962C8B-B14F-4D97-AF65-F5344CB8AC3E}">
        <p14:creationId xmlns:p14="http://schemas.microsoft.com/office/powerpoint/2010/main" val="35817098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20</a:t>
            </a:fld>
            <a:endParaRPr lang="en-US"/>
          </a:p>
        </p:txBody>
      </p:sp>
    </p:spTree>
    <p:extLst>
      <p:ext uri="{BB962C8B-B14F-4D97-AF65-F5344CB8AC3E}">
        <p14:creationId xmlns:p14="http://schemas.microsoft.com/office/powerpoint/2010/main" val="3882601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14400" lvl="1" indent="-457200">
              <a:buFont typeface="+mj-lt"/>
              <a:buAutoNum type="arabicPeriod"/>
            </a:pPr>
            <a:r>
              <a:rPr lang="en-US" altLang="en-US" sz="2000" dirty="0">
                <a:latin typeface="Gill Sans MT" panose="020B0502020104020203" pitchFamily="34" charset="0"/>
              </a:rPr>
              <a:t>between a single sender and a single receiver. The transfer of data from one sender to many receivers in a single send operation</a:t>
            </a:r>
            <a:r>
              <a:rPr lang="en-US" altLang="en-US" sz="2000" baseline="0" dirty="0">
                <a:latin typeface="Gill Sans MT" panose="020B0502020104020203" pitchFamily="34" charset="0"/>
              </a:rPr>
              <a:t> </a:t>
            </a:r>
            <a:r>
              <a:rPr lang="en-US" altLang="en-US" sz="2000" dirty="0">
                <a:latin typeface="Gill Sans MT" panose="020B0502020104020203" pitchFamily="34" charset="0"/>
              </a:rPr>
              <a:t>is not possible</a:t>
            </a:r>
          </a:p>
          <a:p>
            <a:pPr marL="914400" marR="0" lvl="1"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Typical MSS is 1460 bytes</a:t>
            </a:r>
          </a:p>
          <a:p>
            <a:pPr marL="914400" marR="0" lvl="1"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dirty="0"/>
          </a:p>
          <a:p>
            <a:pPr marL="914400" lvl="1" indent="-457200">
              <a:buFont typeface="+mj-lt"/>
              <a:buAutoNum type="arabicPeriod"/>
            </a:pPr>
            <a:endParaRPr lang="en-US" altLang="en-US" sz="2000" dirty="0">
              <a:latin typeface="Gill Sans MT" panose="020B0502020104020203" pitchFamily="34"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35840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TCP connection is logical one. NOT like TDM or FDM  circuit</a:t>
            </a:r>
            <a:r>
              <a:rPr lang="en-US" altLang="en-US" baseline="0" dirty="0">
                <a:latin typeface="Arial" panose="020B0604020202020204" pitchFamily="34" charset="0"/>
                <a:ea typeface="ＭＳ Ｐゴシック" panose="020B0600070205080204" pitchFamily="34" charset="-128"/>
              </a:rPr>
              <a:t> as in Circuit switched networks in which states are reserved in intermediate nodes or elements. TCP connection is logical one where common states are only stored on end system. So intermediate nodes or routers have no idea about TCP connections.</a:t>
            </a:r>
            <a:endParaRPr lang="en-US" altLang="en-US" dirty="0">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ＭＳ Ｐゴシック" panose="020B0600070205080204" pitchFamily="34" charset="-128"/>
              </a:defRPr>
            </a:lvl1pPr>
            <a:lvl2pPr marL="742950" indent="-285750">
              <a:defRPr sz="2800">
                <a:solidFill>
                  <a:schemeClr val="tx1"/>
                </a:solidFill>
                <a:latin typeface="Arial" panose="020B0604020202020204" pitchFamily="34" charset="0"/>
                <a:ea typeface="ＭＳ Ｐゴシック" panose="020B0600070205080204" pitchFamily="34" charset="-128"/>
              </a:defRPr>
            </a:lvl2pPr>
            <a:lvl3pPr marL="1143000" indent="-228600">
              <a:defRPr sz="2800">
                <a:solidFill>
                  <a:schemeClr val="tx1"/>
                </a:solidFill>
                <a:latin typeface="Arial" panose="020B0604020202020204" pitchFamily="34" charset="0"/>
                <a:ea typeface="ＭＳ Ｐゴシック" panose="020B0600070205080204" pitchFamily="34" charset="-128"/>
              </a:defRPr>
            </a:lvl3pPr>
            <a:lvl4pPr marL="1600200" indent="-228600">
              <a:defRPr sz="2800">
                <a:solidFill>
                  <a:schemeClr val="tx1"/>
                </a:solidFill>
                <a:latin typeface="Arial" panose="020B0604020202020204" pitchFamily="34" charset="0"/>
                <a:ea typeface="ＭＳ Ｐゴシック" panose="020B0600070205080204" pitchFamily="34" charset="-128"/>
              </a:defRPr>
            </a:lvl4pPr>
            <a:lvl5pPr marL="2057400" indent="-22860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fld id="{98D10C3B-6DAF-4FBA-A91F-EF0C84CEC9C8}" type="slidenum">
              <a:rPr lang="en-US" altLang="en-US" sz="1200" smtClean="0"/>
              <a:pPr/>
              <a:t>22</a:t>
            </a:fld>
            <a:endParaRPr lang="en-US" altLang="en-US" sz="1200"/>
          </a:p>
        </p:txBody>
      </p:sp>
    </p:spTree>
    <p:extLst>
      <p:ext uri="{BB962C8B-B14F-4D97-AF65-F5344CB8AC3E}">
        <p14:creationId xmlns:p14="http://schemas.microsoft.com/office/powerpoint/2010/main" val="3542244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client process is one that initiates</a:t>
            </a:r>
            <a:r>
              <a:rPr lang="en-US" baseline="0" dirty="0"/>
              <a:t> the connection. </a:t>
            </a:r>
            <a:endParaRPr lang="en-US" dirty="0"/>
          </a:p>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23</a:t>
            </a:fld>
            <a:endParaRPr lang="en-US"/>
          </a:p>
        </p:txBody>
      </p:sp>
    </p:spTree>
    <p:extLst>
      <p:ext uri="{BB962C8B-B14F-4D97-AF65-F5344CB8AC3E}">
        <p14:creationId xmlns:p14="http://schemas.microsoft.com/office/powerpoint/2010/main" val="25826537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33942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9887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2458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64D97D9F-571A-42C1-A078-1ED56C5B6FB2}" type="slidenum">
              <a:rPr lang="en-US" altLang="en-US" smtClean="0"/>
              <a:pPr>
                <a:spcBef>
                  <a:spcPct val="0"/>
                </a:spcBef>
              </a:pPr>
              <a:t>30</a:t>
            </a:fld>
            <a:endParaRPr lang="en-US" altLang="en-US"/>
          </a:p>
        </p:txBody>
      </p:sp>
    </p:spTree>
    <p:extLst>
      <p:ext uri="{BB962C8B-B14F-4D97-AF65-F5344CB8AC3E}">
        <p14:creationId xmlns:p14="http://schemas.microsoft.com/office/powerpoint/2010/main" val="503579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Espace réservé de l'image des diapositives 1"/>
          <p:cNvSpPr>
            <a:spLocks noGrp="1" noRot="1" noChangeAspect="1" noTextEdit="1"/>
          </p:cNvSpPr>
          <p:nvPr>
            <p:ph type="sldImg"/>
          </p:nvPr>
        </p:nvSpPr>
        <p:spPr>
          <a:ln/>
        </p:spPr>
      </p:sp>
      <p:sp>
        <p:nvSpPr>
          <p:cNvPr id="2969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dirty="0">
                <a:latin typeface="Arial" panose="020B0604020202020204" pitchFamily="34" charset="0"/>
                <a:ea typeface="ＭＳ Ｐゴシック" panose="020B0600070205080204" pitchFamily="34" charset="-128"/>
              </a:rPr>
              <a:t>This </a:t>
            </a:r>
            <a:r>
              <a:rPr lang="fr-FR" altLang="en-US" dirty="0" err="1">
                <a:latin typeface="Arial" panose="020B0604020202020204" pitchFamily="34" charset="0"/>
                <a:ea typeface="ＭＳ Ｐゴシック" panose="020B0600070205080204" pitchFamily="34" charset="-128"/>
              </a:rPr>
              <a:t>is</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done</a:t>
            </a:r>
            <a:r>
              <a:rPr lang="fr-FR" altLang="en-US" dirty="0">
                <a:latin typeface="Arial" panose="020B0604020202020204" pitchFamily="34" charset="0"/>
                <a:ea typeface="ＭＳ Ｐゴシック" panose="020B0600070205080204" pitchFamily="34" charset="-128"/>
              </a:rPr>
              <a:t> to </a:t>
            </a:r>
            <a:r>
              <a:rPr lang="fr-FR" altLang="en-US" dirty="0" err="1">
                <a:latin typeface="Arial" panose="020B0604020202020204" pitchFamily="34" charset="0"/>
                <a:ea typeface="ＭＳ Ｐゴシック" panose="020B0600070205080204" pitchFamily="34" charset="-128"/>
              </a:rPr>
              <a:t>minimize</a:t>
            </a:r>
            <a:r>
              <a:rPr lang="fr-FR" altLang="en-US" dirty="0">
                <a:latin typeface="Arial" panose="020B0604020202020204" pitchFamily="34" charset="0"/>
                <a:ea typeface="ＭＳ Ｐゴシック" panose="020B0600070205080204" pitchFamily="34" charset="-128"/>
              </a:rPr>
              <a:t> the </a:t>
            </a:r>
            <a:r>
              <a:rPr lang="fr-FR" altLang="en-US" dirty="0" err="1">
                <a:latin typeface="Arial" panose="020B0604020202020204" pitchFamily="34" charset="0"/>
                <a:ea typeface="ＭＳ Ｐゴシック" panose="020B0600070205080204" pitchFamily="34" charset="-128"/>
              </a:rPr>
              <a:t>possibility</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that</a:t>
            </a:r>
            <a:r>
              <a:rPr lang="fr-FR" altLang="en-US" dirty="0">
                <a:latin typeface="Arial" panose="020B0604020202020204" pitchFamily="34" charset="0"/>
                <a:ea typeface="ＭＳ Ｐゴシック" panose="020B0600070205080204" pitchFamily="34" charset="-128"/>
              </a:rPr>
              <a:t> a segment </a:t>
            </a:r>
            <a:r>
              <a:rPr lang="fr-FR" altLang="en-US" dirty="0" err="1">
                <a:latin typeface="Arial" panose="020B0604020202020204" pitchFamily="34" charset="0"/>
                <a:ea typeface="ＭＳ Ｐゴシック" panose="020B0600070205080204" pitchFamily="34" charset="-128"/>
              </a:rPr>
              <a:t>that</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is</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still</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present</a:t>
            </a:r>
            <a:r>
              <a:rPr lang="fr-FR" altLang="en-US" dirty="0">
                <a:latin typeface="Arial" panose="020B0604020202020204" pitchFamily="34" charset="0"/>
                <a:ea typeface="ＭＳ Ｐゴシック" panose="020B0600070205080204" pitchFamily="34" charset="-128"/>
              </a:rPr>
              <a:t> in the network </a:t>
            </a:r>
            <a:r>
              <a:rPr lang="fr-FR" altLang="en-US" dirty="0" err="1">
                <a:latin typeface="Arial" panose="020B0604020202020204" pitchFamily="34" charset="0"/>
                <a:ea typeface="ＭＳ Ｐゴシック" panose="020B0600070205080204" pitchFamily="34" charset="-128"/>
              </a:rPr>
              <a:t>from</a:t>
            </a:r>
            <a:r>
              <a:rPr lang="fr-FR" altLang="en-US" dirty="0">
                <a:latin typeface="Arial" panose="020B0604020202020204" pitchFamily="34" charset="0"/>
                <a:ea typeface="ＭＳ Ｐゴシック" panose="020B0600070205080204" pitchFamily="34" charset="-128"/>
              </a:rPr>
              <a:t> an </a:t>
            </a:r>
            <a:r>
              <a:rPr lang="fr-FR" altLang="en-US" dirty="0" err="1">
                <a:latin typeface="Arial" panose="020B0604020202020204" pitchFamily="34" charset="0"/>
                <a:ea typeface="ＭＳ Ｐゴシック" panose="020B0600070205080204" pitchFamily="34" charset="-128"/>
              </a:rPr>
              <a:t>earlier</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already-terminated</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connection</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between</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two</a:t>
            </a:r>
            <a:r>
              <a:rPr lang="fr-FR" altLang="en-US" dirty="0">
                <a:latin typeface="Arial" panose="020B0604020202020204" pitchFamily="34" charset="0"/>
                <a:ea typeface="ＭＳ Ｐゴシック" panose="020B0600070205080204" pitchFamily="34" charset="-128"/>
              </a:rPr>
              <a:t> hosts </a:t>
            </a:r>
            <a:r>
              <a:rPr lang="fr-FR" altLang="en-US" dirty="0" err="1">
                <a:latin typeface="Arial" panose="020B0604020202020204" pitchFamily="34" charset="0"/>
                <a:ea typeface="ＭＳ Ｐゴシック" panose="020B0600070205080204" pitchFamily="34" charset="-128"/>
              </a:rPr>
              <a:t>is</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mistaken</a:t>
            </a:r>
            <a:r>
              <a:rPr lang="fr-FR" altLang="en-US" dirty="0">
                <a:latin typeface="Arial" panose="020B0604020202020204" pitchFamily="34" charset="0"/>
                <a:ea typeface="ＭＳ Ｐゴシック" panose="020B0600070205080204" pitchFamily="34" charset="-128"/>
              </a:rPr>
              <a:t> for a </a:t>
            </a:r>
            <a:r>
              <a:rPr lang="fr-FR" altLang="en-US" dirty="0" err="1">
                <a:latin typeface="Arial" panose="020B0604020202020204" pitchFamily="34" charset="0"/>
                <a:ea typeface="ＭＳ Ｐゴシック" panose="020B0600070205080204" pitchFamily="34" charset="-128"/>
              </a:rPr>
              <a:t>valid</a:t>
            </a:r>
            <a:r>
              <a:rPr lang="fr-FR" altLang="en-US" dirty="0">
                <a:latin typeface="Arial" panose="020B0604020202020204" pitchFamily="34" charset="0"/>
                <a:ea typeface="ＭＳ Ｐゴシック" panose="020B0600070205080204" pitchFamily="34" charset="-128"/>
              </a:rPr>
              <a:t> segment in a </a:t>
            </a:r>
            <a:r>
              <a:rPr lang="fr-FR" altLang="en-US" dirty="0" err="1">
                <a:latin typeface="Arial" panose="020B0604020202020204" pitchFamily="34" charset="0"/>
                <a:ea typeface="ＭＳ Ｐゴシック" panose="020B0600070205080204" pitchFamily="34" charset="-128"/>
              </a:rPr>
              <a:t>later</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connection</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between</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these</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same</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two</a:t>
            </a:r>
            <a:r>
              <a:rPr lang="fr-FR" altLang="en-US" dirty="0">
                <a:latin typeface="Arial" panose="020B0604020202020204" pitchFamily="34" charset="0"/>
                <a:ea typeface="ＭＳ Ｐゴシック" panose="020B0600070205080204" pitchFamily="34" charset="-128"/>
              </a:rPr>
              <a:t> hosts (</a:t>
            </a:r>
            <a:r>
              <a:rPr lang="fr-FR" altLang="en-US" dirty="0" err="1">
                <a:latin typeface="Arial" panose="020B0604020202020204" pitchFamily="34" charset="0"/>
                <a:ea typeface="ＭＳ Ｐゴシック" panose="020B0600070205080204" pitchFamily="34" charset="-128"/>
              </a:rPr>
              <a:t>which</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also</a:t>
            </a:r>
            <a:r>
              <a:rPr lang="fr-FR" altLang="en-US" dirty="0">
                <a:latin typeface="Arial" panose="020B0604020202020204" pitchFamily="34" charset="0"/>
                <a:ea typeface="ＭＳ Ｐゴシック" panose="020B0600070205080204" pitchFamily="34" charset="-128"/>
              </a:rPr>
              <a:t> </a:t>
            </a:r>
            <a:r>
              <a:rPr lang="fr-FR" altLang="en-US">
                <a:latin typeface="Arial" panose="020B0604020202020204" pitchFamily="34" charset="0"/>
                <a:ea typeface="ＭＳ Ｐゴシック" panose="020B0600070205080204" pitchFamily="34" charset="-128"/>
              </a:rPr>
              <a:t>happen</a:t>
            </a:r>
            <a:r>
              <a:rPr lang="fr-FR" altLang="en-US" dirty="0">
                <a:latin typeface="Arial" panose="020B0604020202020204" pitchFamily="34" charset="0"/>
                <a:ea typeface="ＭＳ Ｐゴシック" panose="020B0600070205080204" pitchFamily="34" charset="-128"/>
              </a:rPr>
              <a:t> to </a:t>
            </a:r>
            <a:r>
              <a:rPr lang="fr-FR" altLang="en-US" dirty="0" err="1">
                <a:latin typeface="Arial" panose="020B0604020202020204" pitchFamily="34" charset="0"/>
                <a:ea typeface="ＭＳ Ｐゴシック" panose="020B0600070205080204" pitchFamily="34" charset="-128"/>
              </a:rPr>
              <a:t>be</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using</a:t>
            </a:r>
            <a:r>
              <a:rPr lang="fr-FR" altLang="en-US" dirty="0">
                <a:latin typeface="Arial" panose="020B0604020202020204" pitchFamily="34" charset="0"/>
                <a:ea typeface="ＭＳ Ｐゴシック" panose="020B0600070205080204" pitchFamily="34" charset="-128"/>
              </a:rPr>
              <a:t> the </a:t>
            </a:r>
            <a:r>
              <a:rPr lang="fr-FR" altLang="en-US" dirty="0" err="1">
                <a:latin typeface="Arial" panose="020B0604020202020204" pitchFamily="34" charset="0"/>
                <a:ea typeface="ＭＳ Ｐゴシック" panose="020B0600070205080204" pitchFamily="34" charset="-128"/>
              </a:rPr>
              <a:t>same</a:t>
            </a:r>
            <a:r>
              <a:rPr lang="fr-FR" altLang="en-US" dirty="0">
                <a:latin typeface="Arial" panose="020B0604020202020204" pitchFamily="34" charset="0"/>
                <a:ea typeface="ＭＳ Ｐゴシック" panose="020B0600070205080204" pitchFamily="34" charset="-128"/>
              </a:rPr>
              <a:t> port </a:t>
            </a:r>
            <a:r>
              <a:rPr lang="fr-FR" altLang="en-US" dirty="0" err="1">
                <a:latin typeface="Arial" panose="020B0604020202020204" pitchFamily="34" charset="0"/>
                <a:ea typeface="ＭＳ Ｐゴシック" panose="020B0600070205080204" pitchFamily="34" charset="-128"/>
              </a:rPr>
              <a:t>numbers</a:t>
            </a:r>
            <a:r>
              <a:rPr lang="fr-FR" altLang="en-US" dirty="0">
                <a:latin typeface="Arial" panose="020B0604020202020204" pitchFamily="34" charset="0"/>
                <a:ea typeface="ＭＳ Ｐゴシック" panose="020B0600070205080204" pitchFamily="34" charset="-128"/>
              </a:rPr>
              <a:t> as the </a:t>
            </a:r>
            <a:r>
              <a:rPr lang="fr-FR" altLang="en-US" dirty="0" err="1">
                <a:latin typeface="Arial" panose="020B0604020202020204" pitchFamily="34" charset="0"/>
                <a:ea typeface="ＭＳ Ｐゴシック" panose="020B0600070205080204" pitchFamily="34" charset="-128"/>
              </a:rPr>
              <a:t>old</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connection</a:t>
            </a:r>
            <a:r>
              <a:rPr lang="fr-FR" altLang="en-US" dirty="0">
                <a:latin typeface="Arial" panose="020B0604020202020204" pitchFamily="34" charset="0"/>
                <a:ea typeface="ＭＳ Ｐゴシック" panose="020B0600070205080204" pitchFamily="34" charset="-128"/>
              </a:rPr>
              <a:t>) </a:t>
            </a:r>
          </a:p>
          <a:p>
            <a:endParaRPr lang="fr-FR" altLang="en-US" dirty="0">
              <a:latin typeface="Arial" panose="020B0604020202020204" pitchFamily="34" charset="0"/>
              <a:ea typeface="ＭＳ Ｐゴシック" panose="020B0600070205080204" pitchFamily="34" charset="-128"/>
            </a:endParaRPr>
          </a:p>
        </p:txBody>
      </p:sp>
      <p:sp>
        <p:nvSpPr>
          <p:cNvPr id="29700"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D1022A63-F521-4045-B2C2-2F0E7CFB74FE}" type="slidenum">
              <a:rPr lang="en-US" altLang="en-US" smtClean="0"/>
              <a:pPr>
                <a:spcBef>
                  <a:spcPct val="0"/>
                </a:spcBef>
              </a:pPr>
              <a:t>34</a:t>
            </a:fld>
            <a:endParaRPr lang="en-US" altLang="en-US"/>
          </a:p>
        </p:txBody>
      </p:sp>
    </p:spTree>
    <p:extLst>
      <p:ext uri="{BB962C8B-B14F-4D97-AF65-F5344CB8AC3E}">
        <p14:creationId xmlns:p14="http://schemas.microsoft.com/office/powerpoint/2010/main" val="33404891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thing to note here is that the ACK number (43) on the B-to-A segment is one more than the sequence number (42) on the A-</a:t>
            </a:r>
            <a:r>
              <a:rPr lang="en-US" dirty="0" err="1"/>
              <a:t>toB</a:t>
            </a:r>
            <a:r>
              <a:rPr lang="en-US" dirty="0"/>
              <a:t> segment that triggered that ACK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Similarly, the ACK number (80) on the </a:t>
            </a:r>
            <a:r>
              <a:rPr lang="en-US"/>
              <a:t>last A-to-B </a:t>
            </a:r>
            <a:r>
              <a:rPr lang="en-US" dirty="0"/>
              <a:t>segment is one more than the sequence number (79) on the B-to-A segment that triggered that ACK</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1822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Given these details of TCP sequence numbers, acks, and timers, we can now describe the big picture view of how the TCP sender and receiver operate</a:t>
            </a:r>
          </a:p>
          <a:p>
            <a:endParaRPr lang="en-US" dirty="0"/>
          </a:p>
          <a:p>
            <a:r>
              <a:rPr lang="en-US" dirty="0"/>
              <a:t>You can check out FSMs in book; let’s just give an English text description here and let’s start with the sender.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89377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defRPr/>
            </a:pPr>
            <a:fld id="{3F8F6550-35AC-4930-B2C9-5D1849CB8BDB}" type="slidenum">
              <a:rPr lang="en-US" altLang="en-US" smtClean="0">
                <a:latin typeface="Times New Roman" panose="02020603050405020304" pitchFamily="18" charset="0"/>
              </a:rPr>
              <a:pPr eaLnBrk="1" hangingPunct="1">
                <a:spcBef>
                  <a:spcPct val="0"/>
                </a:spcBef>
                <a:defRPr/>
              </a:pPr>
              <a:t>42</a:t>
            </a:fld>
            <a:endParaRPr lang="en-US" altLang="en-US">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p:txBody>
          <a:bodyPr/>
          <a:lstStyle/>
          <a:p>
            <a:pPr>
              <a:defRPr/>
            </a:pPr>
            <a:endParaRPr lang="en-US">
              <a:latin typeface="Times New Roman" charset="0"/>
              <a:cs typeface="+mn-cs"/>
            </a:endParaRPr>
          </a:p>
        </p:txBody>
      </p:sp>
    </p:spTree>
    <p:extLst>
      <p:ext uri="{BB962C8B-B14F-4D97-AF65-F5344CB8AC3E}">
        <p14:creationId xmlns:p14="http://schemas.microsoft.com/office/powerpoint/2010/main" val="13611217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defRPr/>
            </a:pPr>
            <a:fld id="{701050D4-D2CE-4B1C-9BDE-9C8DC236DE11}" type="slidenum">
              <a:rPr lang="en-US" altLang="en-US" smtClean="0">
                <a:latin typeface="Times New Roman" panose="02020603050405020304" pitchFamily="18" charset="0"/>
              </a:rPr>
              <a:pPr eaLnBrk="1" hangingPunct="1">
                <a:spcBef>
                  <a:spcPct val="0"/>
                </a:spcBef>
                <a:defRPr/>
              </a:pPr>
              <a:t>43</a:t>
            </a:fld>
            <a:endParaRPr lang="en-US" altLang="en-US">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p:txBody>
          <a:bodyPr/>
          <a:lstStyle/>
          <a:p>
            <a:pPr>
              <a:defRPr/>
            </a:pPr>
            <a:endParaRPr lang="en-US">
              <a:latin typeface="Times New Roman" charset="0"/>
              <a:cs typeface="+mn-cs"/>
            </a:endParaRPr>
          </a:p>
        </p:txBody>
      </p:sp>
    </p:spTree>
    <p:extLst>
      <p:ext uri="{BB962C8B-B14F-4D97-AF65-F5344CB8AC3E}">
        <p14:creationId xmlns:p14="http://schemas.microsoft.com/office/powerpoint/2010/main" val="4403200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defRPr/>
            </a:pPr>
            <a:r>
              <a:rPr lang="fr-FR" altLang="en-US">
                <a:latin typeface="Arial" pitchFamily="34" charset="0"/>
                <a:ea typeface="ＭＳ Ｐゴシック" pitchFamily="34" charset="-128"/>
              </a:rPr>
              <a:t>For example, suppose TimeoutInterval associated with the oldest not yet acknowledged segment is .75 sec when the timer first expires. TCP will then retransmit this segment and set the new expiration time to 1.5 sec. If the timer expires again 1.5 sec later, TCP will again retransmit this segment, now setting the expiration time to 3.0 sec. </a:t>
            </a:r>
          </a:p>
          <a:p>
            <a:pPr>
              <a:defRPr/>
            </a:pPr>
            <a:endParaRPr lang="fr-FR" altLang="en-US">
              <a:latin typeface="Arial" pitchFamily="34" charset="0"/>
              <a:ea typeface="ＭＳ Ｐゴシック" pitchFamily="34" charset="-128"/>
            </a:endParaRPr>
          </a:p>
        </p:txBody>
      </p:sp>
      <p:sp>
        <p:nvSpPr>
          <p:cNvPr id="4" name="Espace réservé du numéro de diapositive 3"/>
          <p:cNvSpPr>
            <a:spLocks noGrp="1"/>
          </p:cNvSpPr>
          <p:nvPr>
            <p:ph type="sldNum" sz="quarter" idx="5"/>
          </p:nvPr>
        </p:nvSpPr>
        <p:spPr/>
        <p:txBody>
          <a:bodyPr/>
          <a:lstStyle>
            <a:lvl1pPr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defRPr/>
            </a:pPr>
            <a:fld id="{D7697385-120B-444C-BE4E-D3F6841063AF}" type="slidenum">
              <a:rPr lang="en-US" altLang="en-US" smtClean="0"/>
              <a:pPr eaLnBrk="1" hangingPunct="1">
                <a:spcBef>
                  <a:spcPct val="0"/>
                </a:spcBef>
                <a:defRPr/>
              </a:pPr>
              <a:t>44</a:t>
            </a:fld>
            <a:endParaRPr lang="en-US" altLang="en-US"/>
          </a:p>
        </p:txBody>
      </p:sp>
    </p:spTree>
    <p:extLst>
      <p:ext uri="{BB962C8B-B14F-4D97-AF65-F5344CB8AC3E}">
        <p14:creationId xmlns:p14="http://schemas.microsoft.com/office/powerpoint/2010/main" val="34470503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defRPr/>
            </a:pPr>
            <a:endParaRPr lang="fr-FR" dirty="0"/>
          </a:p>
        </p:txBody>
      </p:sp>
      <p:sp>
        <p:nvSpPr>
          <p:cNvPr id="4" name="Espace réservé du numéro de diapositive 3"/>
          <p:cNvSpPr>
            <a:spLocks noGrp="1"/>
          </p:cNvSpPr>
          <p:nvPr>
            <p:ph type="sldNum" sz="quarter" idx="5"/>
          </p:nvPr>
        </p:nvSpPr>
        <p:spPr/>
        <p:txBody>
          <a:bodyPr/>
          <a:lstStyle>
            <a:lvl1pPr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defRPr/>
            </a:pPr>
            <a:fld id="{EC31B4AE-A114-4214-B075-D816F31007BF}" type="slidenum">
              <a:rPr lang="en-US" altLang="en-US" smtClean="0"/>
              <a:pPr eaLnBrk="1" hangingPunct="1">
                <a:spcBef>
                  <a:spcPct val="0"/>
                </a:spcBef>
                <a:defRPr/>
              </a:pPr>
              <a:t>45</a:t>
            </a:fld>
            <a:endParaRPr lang="en-US" altLang="en-US"/>
          </a:p>
        </p:txBody>
      </p:sp>
    </p:spTree>
    <p:extLst>
      <p:ext uri="{BB962C8B-B14F-4D97-AF65-F5344CB8AC3E}">
        <p14:creationId xmlns:p14="http://schemas.microsoft.com/office/powerpoint/2010/main" val="5428743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a:t>
            </a:r>
            <a:r>
              <a:rPr lang="en-US" dirty="0" err="1"/>
              <a:t>unACKed</a:t>
            </a:r>
            <a:r>
              <a:rPr lang="en-US" dirty="0"/>
              <a:t>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1026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Rather than immediately </a:t>
            </a:r>
            <a:r>
              <a:rPr lang="en-US" dirty="0" err="1"/>
              <a:t>ACKnowledig</a:t>
            </a:r>
            <a:r>
              <a:rPr lang="en-US" dirty="0"/>
              <a:t>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5711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BD3F215-6F5B-4997-8B5B-0F7ADC17D93C}" type="slidenum">
              <a:rPr lang="en-US" altLang="en-US"/>
              <a:pPr>
                <a:defRPr/>
              </a:pPr>
              <a:t>‹#›</a:t>
            </a:fld>
            <a:endParaRPr lang="en-US" altLang="en-US"/>
          </a:p>
        </p:txBody>
      </p:sp>
    </p:spTree>
    <p:extLst>
      <p:ext uri="{BB962C8B-B14F-4D97-AF65-F5344CB8AC3E}">
        <p14:creationId xmlns:p14="http://schemas.microsoft.com/office/powerpoint/2010/main" val="23674209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www2.tkn.tu-berlin.de/teaching/rn/animations/gbn_s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2.bin"/><Relationship Id="rId1" Type="http://schemas.openxmlformats.org/officeDocument/2006/relationships/slideLayout" Target="../slideLayouts/slideLayout5.xml"/><Relationship Id="rId4" Type="http://schemas.openxmlformats.org/officeDocument/2006/relationships/oleObject" Target="../embeddings/oleObject3.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9C77C5-A377-3E44-9802-7A06ED6AD0D8}"/>
              </a:ext>
            </a:extLst>
          </p:cNvPr>
          <p:cNvSpPr>
            <a:spLocks noChangeArrowheads="1"/>
          </p:cNvSpPr>
          <p:nvPr/>
        </p:nvSpPr>
        <p:spPr bwMode="auto">
          <a:xfrm>
            <a:off x="7981312" y="4289908"/>
            <a:ext cx="3981504"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dirty="0">
                <a:solidFill>
                  <a:srgbClr val="0000A3"/>
                </a:solidFill>
                <a:latin typeface="+mn-lt"/>
              </a:rPr>
              <a:t>Computer Networking: A Top-Down Approach </a:t>
            </a:r>
            <a:br>
              <a:rPr lang="en-US" altLang="en-US" sz="2800" dirty="0">
                <a:solidFill>
                  <a:srgbClr val="008000"/>
                </a:solidFill>
                <a:latin typeface="+mn-lt"/>
              </a:rPr>
            </a:br>
            <a:r>
              <a:rPr lang="en-US" altLang="en-US" sz="1800" dirty="0">
                <a:latin typeface="+mn-lt"/>
              </a:rPr>
              <a:t>8</a:t>
            </a:r>
            <a:r>
              <a:rPr lang="en-US" altLang="en-US" sz="1800" baseline="30000" dirty="0">
                <a:latin typeface="+mn-lt"/>
              </a:rPr>
              <a:t>th</a:t>
            </a:r>
            <a:r>
              <a:rPr lang="en-US" altLang="en-US" sz="1800" dirty="0">
                <a:latin typeface="+mn-lt"/>
              </a:rPr>
              <a:t> edition </a:t>
            </a:r>
            <a:br>
              <a:rPr lang="en-US" altLang="en-US" sz="1800" dirty="0">
                <a:latin typeface="+mn-lt"/>
              </a:rPr>
            </a:br>
            <a:r>
              <a:rPr lang="en-US" altLang="en-US" sz="1800" dirty="0">
                <a:latin typeface="+mn-lt"/>
              </a:rPr>
              <a:t>Jim Kurose, Keith Ross</a:t>
            </a:r>
            <a:br>
              <a:rPr lang="en-US" altLang="en-US" sz="1800" dirty="0">
                <a:latin typeface="+mn-lt"/>
              </a:rPr>
            </a:br>
            <a:r>
              <a:rPr lang="en-US" altLang="en-US" sz="1800" dirty="0">
                <a:latin typeface="+mn-lt"/>
              </a:rPr>
              <a:t>Pearson, 2020</a:t>
            </a:r>
            <a:endParaRPr lang="en-US" altLang="en-US" sz="2000" dirty="0">
              <a:latin typeface="+mn-lt"/>
            </a:endParaRPr>
          </a:p>
        </p:txBody>
      </p:sp>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1325035" y="561975"/>
            <a:ext cx="5052616"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Chapter 3</a:t>
            </a:r>
            <a:br>
              <a:rPr lang="en-US" altLang="en-US" sz="6000" b="1" dirty="0">
                <a:solidFill>
                  <a:srgbClr val="000099"/>
                </a:solidFill>
                <a:latin typeface="+mj-lt"/>
              </a:rPr>
            </a:br>
            <a:r>
              <a:rPr lang="en-US" altLang="en-US" sz="5400" b="1" dirty="0">
                <a:solidFill>
                  <a:srgbClr val="000099"/>
                </a:solidFill>
                <a:latin typeface="+mj-lt"/>
              </a:rPr>
              <a:t>Transport Layer</a:t>
            </a:r>
          </a:p>
        </p:txBody>
      </p:sp>
      <p:sp>
        <p:nvSpPr>
          <p:cNvPr id="7" name="Text Box 6">
            <a:extLst>
              <a:ext uri="{FF2B5EF4-FFF2-40B4-BE49-F238E27FC236}">
                <a16:creationId xmlns:a16="http://schemas.microsoft.com/office/drawing/2014/main" id="{8A719B73-7005-5F48-AB23-FCC253DE1BCB}"/>
              </a:ext>
            </a:extLst>
          </p:cNvPr>
          <p:cNvSpPr txBox="1">
            <a:spLocks noChangeArrowheads="1"/>
          </p:cNvSpPr>
          <p:nvPr/>
        </p:nvSpPr>
        <p:spPr bwMode="auto">
          <a:xfrm>
            <a:off x="1350014" y="2647662"/>
            <a:ext cx="5378450" cy="1629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latin typeface="+mn-lt"/>
              </a:rPr>
              <a:t>A note on the use of these PowerPoint slides:</a:t>
            </a:r>
          </a:p>
          <a:p>
            <a:r>
              <a:rPr lang="en-US" altLang="en-US" sz="1400" dirty="0">
                <a:latin typeface="+mn-lt"/>
              </a:rPr>
              <a:t>We’</a:t>
            </a:r>
            <a:r>
              <a:rPr lang="en-US" altLang="ja-JP" sz="1400" dirty="0">
                <a:latin typeface="+mn-lt"/>
              </a:rPr>
              <a:t>re making these slides freely available to all (faculty, students, readers). They’re in PowerPoint form so you see the animations; and can add, modify, and delete slides  (including this one) and slide content to suit your needs. They obviously represent a </a:t>
            </a:r>
            <a:r>
              <a:rPr lang="en-US" altLang="ja-JP" sz="1400" i="1" dirty="0">
                <a:latin typeface="+mn-lt"/>
              </a:rPr>
              <a:t>lot</a:t>
            </a:r>
            <a:r>
              <a:rPr lang="en-US" altLang="ja-JP" sz="1400" dirty="0">
                <a:latin typeface="+mn-lt"/>
              </a:rPr>
              <a:t> of work on our part. In return for use, we only ask the following:</a:t>
            </a:r>
          </a:p>
          <a:p>
            <a:pPr>
              <a:lnSpc>
                <a:spcPct val="85000"/>
              </a:lnSpc>
            </a:pPr>
            <a:endParaRPr lang="en-US" altLang="en-US" sz="1400" dirty="0"/>
          </a:p>
        </p:txBody>
      </p:sp>
      <p:sp>
        <p:nvSpPr>
          <p:cNvPr id="8" name="Text Box 7">
            <a:extLst>
              <a:ext uri="{FF2B5EF4-FFF2-40B4-BE49-F238E27FC236}">
                <a16:creationId xmlns:a16="http://schemas.microsoft.com/office/drawing/2014/main" id="{BD221538-7929-D34F-8387-EA57F966E19A}"/>
              </a:ext>
            </a:extLst>
          </p:cNvPr>
          <p:cNvSpPr txBox="1">
            <a:spLocks noChangeArrowheads="1"/>
          </p:cNvSpPr>
          <p:nvPr/>
        </p:nvSpPr>
        <p:spPr bwMode="auto">
          <a:xfrm>
            <a:off x="1325035" y="3894603"/>
            <a:ext cx="5378450" cy="263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5000"/>
              </a:lnSpc>
            </a:pPr>
            <a:endParaRPr lang="en-US" altLang="en-US" sz="1400" dirty="0">
              <a:latin typeface="Gill Sans MT" panose="020B0502020104020203" pitchFamily="34" charset="77"/>
            </a:endParaRP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use these slides (e.g., in a class) that you mention their source (after all, we’</a:t>
            </a:r>
            <a:r>
              <a:rPr lang="en-US" altLang="ja-JP" sz="1400" dirty="0">
                <a:latin typeface="+mn-lt"/>
                <a:cs typeface="Calibri" panose="020F0502020204030204" pitchFamily="34" charset="0"/>
              </a:rPr>
              <a:t>d like people to use our book!)</a:t>
            </a: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post any slides on a www site, that you note that they are adapted from (or perhaps identical to) our slides, and note our copyright of this material.</a:t>
            </a:r>
          </a:p>
          <a:p>
            <a:pPr>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For a revision history, see the slide note for this page. </a:t>
            </a:r>
          </a:p>
          <a:p>
            <a:pPr marL="15875" indent="0">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Thanks and enjoy!  JFK/KWR</a:t>
            </a:r>
          </a:p>
          <a:p>
            <a:pPr>
              <a:lnSpc>
                <a:spcPct val="85000"/>
              </a:lnSpc>
            </a:pPr>
            <a:endParaRPr lang="en-US" altLang="en-US" sz="1400" dirty="0">
              <a:latin typeface="+mn-lt"/>
            </a:endParaRPr>
          </a:p>
          <a:p>
            <a:pPr>
              <a:lnSpc>
                <a:spcPct val="85000"/>
              </a:lnSpc>
            </a:pPr>
            <a:r>
              <a:rPr lang="en-US" altLang="en-US" sz="1400" dirty="0">
                <a:latin typeface="+mn-lt"/>
              </a:rPr>
              <a:t>     All material copyright 1996-2020</a:t>
            </a:r>
          </a:p>
          <a:p>
            <a:pPr>
              <a:lnSpc>
                <a:spcPct val="85000"/>
              </a:lnSpc>
            </a:pPr>
            <a:r>
              <a:rPr lang="en-US" altLang="en-US" sz="1400" dirty="0">
                <a:latin typeface="+mn-lt"/>
              </a:rPr>
              <a:t>     J.F Kurose and K.W. Ross, All Rights Reserved</a:t>
            </a:r>
            <a:endParaRPr lang="en-US" altLang="en-US" sz="1200" dirty="0">
              <a:latin typeface="+mn-lt"/>
            </a:endParaRPr>
          </a:p>
        </p:txBody>
      </p:sp>
      <p:sp>
        <p:nvSpPr>
          <p:cNvPr id="2" name="Slide Number Placeholder 1">
            <a:extLst>
              <a:ext uri="{FF2B5EF4-FFF2-40B4-BE49-F238E27FC236}">
                <a16:creationId xmlns:a16="http://schemas.microsoft.com/office/drawing/2014/main" id="{B46B45F3-5B52-354C-801C-007B1F52150F}"/>
              </a:ext>
            </a:extLst>
          </p:cNvPr>
          <p:cNvSpPr>
            <a:spLocks noGrp="1"/>
          </p:cNvSpPr>
          <p:nvPr>
            <p:ph type="sldNum" sz="quarter" idx="4"/>
          </p:nvPr>
        </p:nvSpPr>
        <p:spPr/>
        <p:txBody>
          <a:bodyPr/>
          <a:lstStyle/>
          <a:p>
            <a:r>
              <a:rPr lang="en-US"/>
              <a:t>Transport Layer: 3-</a:t>
            </a:r>
            <a:fld id="{C4204591-24BD-A542-B9D5-F8D8A88D2FEE}" type="slidenum">
              <a:rPr lang="en-US" smtClean="0"/>
              <a:pPr/>
              <a:t>1</a:t>
            </a:fld>
            <a:endParaRPr lang="en-US" dirty="0"/>
          </a:p>
        </p:txBody>
      </p:sp>
      <p:pic>
        <p:nvPicPr>
          <p:cNvPr id="9" name="Picture 8" descr="A picture containing outdoor, water, bridge, building&#10;&#10;Description automatically generated">
            <a:extLst>
              <a:ext uri="{FF2B5EF4-FFF2-40B4-BE49-F238E27FC236}">
                <a16:creationId xmlns:a16="http://schemas.microsoft.com/office/drawing/2014/main" id="{F92E998D-891C-8C4D-A1FD-4079E0691FBD}"/>
              </a:ext>
            </a:extLst>
          </p:cNvPr>
          <p:cNvPicPr>
            <a:picLocks noChangeAspect="1"/>
          </p:cNvPicPr>
          <p:nvPr/>
        </p:nvPicPr>
        <p:blipFill>
          <a:blip r:embed="rId3"/>
          <a:stretch>
            <a:fillRect/>
          </a:stretch>
        </p:blipFill>
        <p:spPr>
          <a:xfrm>
            <a:off x="8135257" y="887185"/>
            <a:ext cx="3040743" cy="3800929"/>
          </a:xfrm>
          <a:prstGeom prst="rect">
            <a:avLst/>
          </a:prstGeom>
        </p:spPr>
      </p:pic>
    </p:spTree>
    <p:extLst>
      <p:ext uri="{BB962C8B-B14F-4D97-AF65-F5344CB8AC3E}">
        <p14:creationId xmlns:p14="http://schemas.microsoft.com/office/powerpoint/2010/main" val="2314825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Performance of rdt3.0 </a:t>
            </a:r>
            <a:r>
              <a:rPr lang="en-US" sz="3200" dirty="0"/>
              <a:t>(stop-and-wait)</a:t>
            </a:r>
            <a:endParaRPr lang="en-US" sz="4400" dirty="0"/>
          </a:p>
        </p:txBody>
      </p:sp>
      <p:sp>
        <p:nvSpPr>
          <p:cNvPr id="121" name="Rectangle 3">
            <a:extLst>
              <a:ext uri="{FF2B5EF4-FFF2-40B4-BE49-F238E27FC236}">
                <a16:creationId xmlns:a16="http://schemas.microsoft.com/office/drawing/2014/main" id="{FDDA46F1-23DA-904A-99AA-BA36ED7A6857}"/>
              </a:ext>
            </a:extLst>
          </p:cNvPr>
          <p:cNvSpPr txBox="1">
            <a:spLocks noChangeArrowheads="1"/>
          </p:cNvSpPr>
          <p:nvPr/>
        </p:nvSpPr>
        <p:spPr>
          <a:xfrm>
            <a:off x="870314" y="2451713"/>
            <a:ext cx="10532792" cy="104452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9575" marR="0" lvl="0" indent="-2794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example: 1 Gbps link, 15 </a:t>
            </a:r>
            <a:r>
              <a:rPr kumimoji="0" lang="en-US" sz="3200" b="0" i="0" u="none" strike="noStrike" kern="1200" cap="none" spc="0" normalizeH="0" baseline="0" noProof="0" dirty="0" err="1">
                <a:ln>
                  <a:noFill/>
                </a:ln>
                <a:solidFill>
                  <a:prstClr val="black"/>
                </a:solidFill>
                <a:effectLst/>
                <a:uLnTx/>
                <a:uFillTx/>
                <a:latin typeface="Calibri" panose="020F0502020204030204"/>
                <a:ea typeface="+mn-ea"/>
                <a:cs typeface="+mn-cs"/>
              </a:rPr>
              <a:t>ms</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prop. delay, 8000 bit packet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 name="Rectangle 4">
            <a:extLst>
              <a:ext uri="{FF2B5EF4-FFF2-40B4-BE49-F238E27FC236}">
                <a16:creationId xmlns:a16="http://schemas.microsoft.com/office/drawing/2014/main" id="{04DE9E77-9329-F04E-A15C-5F38550FB2FA}"/>
              </a:ext>
            </a:extLst>
          </p:cNvPr>
          <p:cNvSpPr>
            <a:spLocks noChangeArrowheads="1"/>
          </p:cNvSpPr>
          <p:nvPr/>
        </p:nvSpPr>
        <p:spPr bwMode="auto">
          <a:xfrm>
            <a:off x="536827" y="1472895"/>
            <a:ext cx="10752586"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688975" indent="-23177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688975" marR="0" lvl="1" indent="-23177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 </a:t>
            </a:r>
            <a:r>
              <a:rPr kumimoji="0" lang="en-US" altLang="en-US" sz="3200" b="0" i="1" u="none" strike="noStrike" kern="1200" cap="none" spc="0" normalizeH="0" baseline="-25000" noProof="0" dirty="0">
                <a:ln>
                  <a:noFill/>
                </a:ln>
                <a:solidFill>
                  <a:prstClr val="black"/>
                </a:solidFill>
                <a:effectLst/>
                <a:uLnTx/>
                <a:uFillTx/>
                <a:latin typeface="Calibri" panose="020F0502020204030204"/>
                <a:ea typeface="ＭＳ Ｐゴシック" panose="020B0600070205080204" pitchFamily="34" charset="-128"/>
                <a:cs typeface="+mn-cs"/>
              </a:rPr>
              <a:t>sender</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utilization</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 fraction of time sender busy sending</a:t>
            </a:r>
          </a:p>
        </p:txBody>
      </p:sp>
      <p:grpSp>
        <p:nvGrpSpPr>
          <p:cNvPr id="125" name="Group 24">
            <a:extLst>
              <a:ext uri="{FF2B5EF4-FFF2-40B4-BE49-F238E27FC236}">
                <a16:creationId xmlns:a16="http://schemas.microsoft.com/office/drawing/2014/main" id="{276312A9-6509-DC4A-B34D-FF403C6ACCF6}"/>
              </a:ext>
            </a:extLst>
          </p:cNvPr>
          <p:cNvGrpSpPr>
            <a:grpSpLocks/>
          </p:cNvGrpSpPr>
          <p:nvPr/>
        </p:nvGrpSpPr>
        <p:grpSpPr bwMode="auto">
          <a:xfrm>
            <a:off x="1782678" y="3526869"/>
            <a:ext cx="5724525" cy="812800"/>
            <a:chOff x="137" y="1675"/>
            <a:chExt cx="3606" cy="512"/>
          </a:xfrm>
        </p:grpSpPr>
        <p:sp>
          <p:nvSpPr>
            <p:cNvPr id="126" name="Text Box 10">
              <a:extLst>
                <a:ext uri="{FF2B5EF4-FFF2-40B4-BE49-F238E27FC236}">
                  <a16:creationId xmlns:a16="http://schemas.microsoft.com/office/drawing/2014/main" id="{F8134D58-7EAB-C542-A474-3D41F6C9577D}"/>
                </a:ext>
              </a:extLst>
            </p:cNvPr>
            <p:cNvSpPr txBox="1">
              <a:spLocks noChangeArrowheads="1"/>
            </p:cNvSpPr>
            <p:nvPr/>
          </p:nvSpPr>
          <p:spPr bwMode="auto">
            <a:xfrm>
              <a:off x="137" y="1795"/>
              <a:ext cx="647"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D</a:t>
              </a:r>
              <a:r>
                <a:rPr kumimoji="0" lang="en-US" sz="2400" b="0" i="1" u="none" strike="noStrike" kern="1200" cap="none" spc="0" normalizeH="0" baseline="-25000" noProof="0" dirty="0" err="1">
                  <a:ln>
                    <a:noFill/>
                  </a:ln>
                  <a:solidFill>
                    <a:prstClr val="black"/>
                  </a:solidFill>
                  <a:effectLst/>
                  <a:uLnTx/>
                  <a:uFillTx/>
                  <a:latin typeface="Calibri" panose="020F0502020204030204"/>
                  <a:ea typeface="ＭＳ Ｐゴシック" charset="0"/>
                  <a:cs typeface="+mn-cs"/>
                </a:rPr>
                <a:t>trans</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p:txBody>
        </p:sp>
        <p:grpSp>
          <p:nvGrpSpPr>
            <p:cNvPr id="127" name="Group 14">
              <a:extLst>
                <a:ext uri="{FF2B5EF4-FFF2-40B4-BE49-F238E27FC236}">
                  <a16:creationId xmlns:a16="http://schemas.microsoft.com/office/drawing/2014/main" id="{A1CD218D-EFB4-7747-AA6F-A8CADF318971}"/>
                </a:ext>
              </a:extLst>
            </p:cNvPr>
            <p:cNvGrpSpPr>
              <a:grpSpLocks/>
            </p:cNvGrpSpPr>
            <p:nvPr/>
          </p:nvGrpSpPr>
          <p:grpSpPr bwMode="auto">
            <a:xfrm>
              <a:off x="827" y="1677"/>
              <a:ext cx="235" cy="499"/>
              <a:chOff x="155" y="2937"/>
              <a:chExt cx="235" cy="499"/>
            </a:xfrm>
          </p:grpSpPr>
          <p:sp>
            <p:nvSpPr>
              <p:cNvPr id="136" name="Text Box 11">
                <a:extLst>
                  <a:ext uri="{FF2B5EF4-FFF2-40B4-BE49-F238E27FC236}">
                    <a16:creationId xmlns:a16="http://schemas.microsoft.com/office/drawing/2014/main" id="{212B965A-7A53-E448-A951-4473C08E3FC2}"/>
                  </a:ext>
                </a:extLst>
              </p:cNvPr>
              <p:cNvSpPr txBox="1">
                <a:spLocks noChangeArrowheads="1"/>
              </p:cNvSpPr>
              <p:nvPr/>
            </p:nvSpPr>
            <p:spPr bwMode="auto">
              <a:xfrm>
                <a:off x="176" y="2937"/>
                <a:ext cx="198"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prstClr val="black"/>
                    </a:solidFill>
                    <a:effectLst/>
                    <a:uLnTx/>
                    <a:uFillTx/>
                    <a:latin typeface="Calibri" panose="020F0502020204030204"/>
                    <a:ea typeface="ＭＳ Ｐゴシック" charset="0"/>
                    <a:cs typeface="+mn-cs"/>
                  </a:rPr>
                  <a:t>L</a:t>
                </a:r>
              </a:p>
            </p:txBody>
          </p:sp>
          <p:sp>
            <p:nvSpPr>
              <p:cNvPr id="137" name="Text Box 12">
                <a:extLst>
                  <a:ext uri="{FF2B5EF4-FFF2-40B4-BE49-F238E27FC236}">
                    <a16:creationId xmlns:a16="http://schemas.microsoft.com/office/drawing/2014/main" id="{C0714D4B-8571-E443-B70B-3B39AC0A694F}"/>
                  </a:ext>
                </a:extLst>
              </p:cNvPr>
              <p:cNvSpPr txBox="1">
                <a:spLocks noChangeArrowheads="1"/>
              </p:cNvSpPr>
              <p:nvPr/>
            </p:nvSpPr>
            <p:spPr bwMode="auto">
              <a:xfrm>
                <a:off x="155" y="3145"/>
                <a:ext cx="22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prstClr val="black"/>
                    </a:solidFill>
                    <a:effectLst/>
                    <a:uLnTx/>
                    <a:uFillTx/>
                    <a:latin typeface="Calibri" panose="020F0502020204030204"/>
                    <a:ea typeface="ＭＳ Ｐゴシック" charset="0"/>
                    <a:cs typeface="+mn-cs"/>
                  </a:rPr>
                  <a:t>R</a:t>
                </a:r>
              </a:p>
            </p:txBody>
          </p:sp>
          <p:sp>
            <p:nvSpPr>
              <p:cNvPr id="138" name="Line 13">
                <a:extLst>
                  <a:ext uri="{FF2B5EF4-FFF2-40B4-BE49-F238E27FC236}">
                    <a16:creationId xmlns:a16="http://schemas.microsoft.com/office/drawing/2014/main" id="{487E8E54-B689-7340-8E19-EEBA8D6E7B88}"/>
                  </a:ext>
                </a:extLst>
              </p:cNvPr>
              <p:cNvSpPr>
                <a:spLocks noChangeShapeType="1"/>
              </p:cNvSpPr>
              <p:nvPr/>
            </p:nvSpPr>
            <p:spPr bwMode="auto">
              <a:xfrm>
                <a:off x="204" y="3192"/>
                <a:ext cx="186"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grpSp>
          <p:nvGrpSpPr>
            <p:cNvPr id="128" name="Group 19">
              <a:extLst>
                <a:ext uri="{FF2B5EF4-FFF2-40B4-BE49-F238E27FC236}">
                  <a16:creationId xmlns:a16="http://schemas.microsoft.com/office/drawing/2014/main" id="{458C4EA2-733B-9843-BEDB-1D21ADD2E2DA}"/>
                </a:ext>
              </a:extLst>
            </p:cNvPr>
            <p:cNvGrpSpPr>
              <a:grpSpLocks/>
            </p:cNvGrpSpPr>
            <p:nvPr/>
          </p:nvGrpSpPr>
          <p:grpSpPr bwMode="auto">
            <a:xfrm>
              <a:off x="1233" y="1675"/>
              <a:ext cx="1225" cy="512"/>
              <a:chOff x="1401" y="1693"/>
              <a:chExt cx="1225" cy="512"/>
            </a:xfrm>
          </p:grpSpPr>
          <p:sp>
            <p:nvSpPr>
              <p:cNvPr id="132" name="Text Box 6">
                <a:extLst>
                  <a:ext uri="{FF2B5EF4-FFF2-40B4-BE49-F238E27FC236}">
                    <a16:creationId xmlns:a16="http://schemas.microsoft.com/office/drawing/2014/main" id="{9DB04C83-679A-3C40-AE3F-F5626A9A46D1}"/>
                  </a:ext>
                </a:extLst>
              </p:cNvPr>
              <p:cNvSpPr txBox="1">
                <a:spLocks noChangeArrowheads="1"/>
              </p:cNvSpPr>
              <p:nvPr/>
            </p:nvSpPr>
            <p:spPr bwMode="auto">
              <a:xfrm>
                <a:off x="2085" y="1748"/>
                <a:ext cx="153" cy="25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 </a:t>
                </a:r>
                <a:endPar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133" name="Text Box 16">
                <a:extLst>
                  <a:ext uri="{FF2B5EF4-FFF2-40B4-BE49-F238E27FC236}">
                    <a16:creationId xmlns:a16="http://schemas.microsoft.com/office/drawing/2014/main" id="{9A4E21FE-242E-F24A-8DFD-378A92E72AEE}"/>
                  </a:ext>
                </a:extLst>
              </p:cNvPr>
              <p:cNvSpPr txBox="1">
                <a:spLocks noChangeArrowheads="1"/>
              </p:cNvSpPr>
              <p:nvPr/>
            </p:nvSpPr>
            <p:spPr bwMode="auto">
              <a:xfrm>
                <a:off x="1563" y="1693"/>
                <a:ext cx="836"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8000 bits</a:t>
                </a:r>
              </a:p>
            </p:txBody>
          </p:sp>
          <p:sp>
            <p:nvSpPr>
              <p:cNvPr id="134" name="Text Box 17">
                <a:extLst>
                  <a:ext uri="{FF2B5EF4-FFF2-40B4-BE49-F238E27FC236}">
                    <a16:creationId xmlns:a16="http://schemas.microsoft.com/office/drawing/2014/main" id="{261ED350-3F07-A542-906D-6B34A19F57B4}"/>
                  </a:ext>
                </a:extLst>
              </p:cNvPr>
              <p:cNvSpPr txBox="1">
                <a:spLocks noChangeArrowheads="1"/>
              </p:cNvSpPr>
              <p:nvPr/>
            </p:nvSpPr>
            <p:spPr bwMode="auto">
              <a:xfrm>
                <a:off x="1401" y="1917"/>
                <a:ext cx="1225"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10</a:t>
                </a:r>
                <a:r>
                  <a:rPr kumimoji="0" lang="en-US" sz="2400" b="0" i="1" u="none" strike="noStrike" kern="1200" cap="none" spc="0" normalizeH="0" baseline="30000" noProof="0" dirty="0">
                    <a:ln>
                      <a:noFill/>
                    </a:ln>
                    <a:solidFill>
                      <a:prstClr val="black"/>
                    </a:solidFill>
                    <a:effectLst/>
                    <a:uLnTx/>
                    <a:uFillTx/>
                    <a:latin typeface="Calibri" panose="020F0502020204030204"/>
                    <a:ea typeface="ＭＳ Ｐゴシック" charset="0"/>
                    <a:cs typeface="+mn-cs"/>
                  </a:rPr>
                  <a:t>9 </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bits/sec</a:t>
                </a:r>
              </a:p>
            </p:txBody>
          </p:sp>
          <p:sp>
            <p:nvSpPr>
              <p:cNvPr id="135" name="Line 18">
                <a:extLst>
                  <a:ext uri="{FF2B5EF4-FFF2-40B4-BE49-F238E27FC236}">
                    <a16:creationId xmlns:a16="http://schemas.microsoft.com/office/drawing/2014/main" id="{EDB1D7D2-C87C-9F49-A2A1-833D85EAB9F9}"/>
                  </a:ext>
                </a:extLst>
              </p:cNvPr>
              <p:cNvSpPr>
                <a:spLocks noChangeShapeType="1"/>
              </p:cNvSpPr>
              <p:nvPr/>
            </p:nvSpPr>
            <p:spPr bwMode="auto">
              <a:xfrm>
                <a:off x="1604" y="1950"/>
                <a:ext cx="970"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sp>
          <p:nvSpPr>
            <p:cNvPr id="129" name="Text Box 20">
              <a:extLst>
                <a:ext uri="{FF2B5EF4-FFF2-40B4-BE49-F238E27FC236}">
                  <a16:creationId xmlns:a16="http://schemas.microsoft.com/office/drawing/2014/main" id="{93AC931A-E76C-A440-8E87-B489914F35FD}"/>
                </a:ext>
              </a:extLst>
            </p:cNvPr>
            <p:cNvSpPr txBox="1">
              <a:spLocks noChangeArrowheads="1"/>
            </p:cNvSpPr>
            <p:nvPr/>
          </p:nvSpPr>
          <p:spPr bwMode="auto">
            <a:xfrm>
              <a:off x="1093" y="1789"/>
              <a:ext cx="213"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a:t>
              </a:r>
            </a:p>
          </p:txBody>
        </p:sp>
        <p:sp>
          <p:nvSpPr>
            <p:cNvPr id="130" name="Text Box 22">
              <a:extLst>
                <a:ext uri="{FF2B5EF4-FFF2-40B4-BE49-F238E27FC236}">
                  <a16:creationId xmlns:a16="http://schemas.microsoft.com/office/drawing/2014/main" id="{14ADD697-C49B-F141-9DE7-07AC5BD26EA5}"/>
                </a:ext>
              </a:extLst>
            </p:cNvPr>
            <p:cNvSpPr txBox="1">
              <a:spLocks noChangeArrowheads="1"/>
            </p:cNvSpPr>
            <p:nvPr/>
          </p:nvSpPr>
          <p:spPr bwMode="auto">
            <a:xfrm>
              <a:off x="2509" y="1789"/>
              <a:ext cx="213"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a:t>
              </a:r>
            </a:p>
          </p:txBody>
        </p:sp>
        <p:sp>
          <p:nvSpPr>
            <p:cNvPr id="131" name="Text Box 23">
              <a:extLst>
                <a:ext uri="{FF2B5EF4-FFF2-40B4-BE49-F238E27FC236}">
                  <a16:creationId xmlns:a16="http://schemas.microsoft.com/office/drawing/2014/main" id="{108AD146-F5D0-F14B-AF3A-D8ADCB55A4C6}"/>
                </a:ext>
              </a:extLst>
            </p:cNvPr>
            <p:cNvSpPr txBox="1">
              <a:spLocks noChangeArrowheads="1"/>
            </p:cNvSpPr>
            <p:nvPr/>
          </p:nvSpPr>
          <p:spPr bwMode="auto">
            <a:xfrm>
              <a:off x="2715" y="1777"/>
              <a:ext cx="1028"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prstClr val="black"/>
                  </a:solidFill>
                  <a:effectLst/>
                  <a:uLnTx/>
                  <a:uFillTx/>
                  <a:latin typeface="Calibri" panose="020F0502020204030204"/>
                  <a:ea typeface="ＭＳ Ｐゴシック" charset="0"/>
                  <a:cs typeface="+mn-cs"/>
                </a:rPr>
                <a:t>8 microsecs</a:t>
              </a:r>
            </a:p>
          </p:txBody>
        </p:sp>
      </p:grpSp>
      <p:sp>
        <p:nvSpPr>
          <p:cNvPr id="20" name="Rectangle 3">
            <a:extLst>
              <a:ext uri="{FF2B5EF4-FFF2-40B4-BE49-F238E27FC236}">
                <a16:creationId xmlns:a16="http://schemas.microsoft.com/office/drawing/2014/main" id="{B3DFFB42-6FBF-BC4B-ABC2-8ADE611947F8}"/>
              </a:ext>
            </a:extLst>
          </p:cNvPr>
          <p:cNvSpPr txBox="1">
            <a:spLocks noChangeArrowheads="1"/>
          </p:cNvSpPr>
          <p:nvPr/>
        </p:nvSpPr>
        <p:spPr>
          <a:xfrm>
            <a:off x="829076" y="3163511"/>
            <a:ext cx="9723349" cy="104452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30275" marR="0" lvl="1" indent="-457200"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ime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to transmit packet into channel:</a:t>
            </a:r>
          </a:p>
        </p:txBody>
      </p:sp>
      <p:sp>
        <p:nvSpPr>
          <p:cNvPr id="21" name="Slide Number Placeholder 2">
            <a:extLst>
              <a:ext uri="{FF2B5EF4-FFF2-40B4-BE49-F238E27FC236}">
                <a16:creationId xmlns:a16="http://schemas.microsoft.com/office/drawing/2014/main" id="{5A944CFA-EDBD-154A-A022-BFEE848C7BD3}"/>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a:t>
            </a:fld>
            <a:endParaRPr lang="en-US" dirty="0"/>
          </a:p>
        </p:txBody>
      </p:sp>
    </p:spTree>
    <p:extLst>
      <p:ext uri="{BB962C8B-B14F-4D97-AF65-F5344CB8AC3E}">
        <p14:creationId xmlns:p14="http://schemas.microsoft.com/office/powerpoint/2010/main" val="259503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dissolve">
                                      <p:cBhvr>
                                        <p:cTn id="7" dur="500"/>
                                        <p:tgtEl>
                                          <p:spTgt spid="1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1">
                                            <p:txEl>
                                              <p:pRg st="0" end="0"/>
                                            </p:txEl>
                                          </p:spTgt>
                                        </p:tgtEl>
                                        <p:attrNameLst>
                                          <p:attrName>style.visibility</p:attrName>
                                        </p:attrNameLst>
                                      </p:cBhvr>
                                      <p:to>
                                        <p:strVal val="visible"/>
                                      </p:to>
                                    </p:set>
                                    <p:animEffect transition="in" filter="dissolve">
                                      <p:cBhvr>
                                        <p:cTn id="12" dur="500"/>
                                        <p:tgtEl>
                                          <p:spTgt spid="1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5"/>
                                        </p:tgtEl>
                                        <p:attrNameLst>
                                          <p:attrName>style.visibility</p:attrName>
                                        </p:attrNameLst>
                                      </p:cBhvr>
                                      <p:to>
                                        <p:strVal val="visible"/>
                                      </p:to>
                                    </p:set>
                                    <p:animEffect transition="in" filter="dissolve">
                                      <p:cBhvr>
                                        <p:cTn id="17" dur="500"/>
                                        <p:tgtEl>
                                          <p:spTgt spid="125"/>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0">
                                            <p:txEl>
                                              <p:pRg st="0" end="0"/>
                                            </p:txEl>
                                          </p:spTgt>
                                        </p:tgtEl>
                                        <p:attrNameLst>
                                          <p:attrName>style.visibility</p:attrName>
                                        </p:attrNameLst>
                                      </p:cBhvr>
                                      <p:to>
                                        <p:strVal val="visible"/>
                                      </p:to>
                                    </p:set>
                                    <p:animEffect transition="in" filter="dissolve">
                                      <p:cBhvr>
                                        <p:cTn id="20"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build="p"/>
      <p:bldP spid="122" grpId="0"/>
      <p:bldP spid="2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stop-and-wait operation</a:t>
            </a:r>
            <a:endParaRPr lang="en-US" sz="4400" dirty="0"/>
          </a:p>
        </p:txBody>
      </p:sp>
      <p:grpSp>
        <p:nvGrpSpPr>
          <p:cNvPr id="4" name="Group 3">
            <a:extLst>
              <a:ext uri="{FF2B5EF4-FFF2-40B4-BE49-F238E27FC236}">
                <a16:creationId xmlns:a16="http://schemas.microsoft.com/office/drawing/2014/main" id="{1E77F652-670F-A845-B285-3845722C99C1}"/>
              </a:ext>
            </a:extLst>
          </p:cNvPr>
          <p:cNvGrpSpPr/>
          <p:nvPr/>
        </p:nvGrpSpPr>
        <p:grpSpPr>
          <a:xfrm>
            <a:off x="3188111" y="1436688"/>
            <a:ext cx="8729662" cy="3249612"/>
            <a:chOff x="1660525" y="1638643"/>
            <a:chExt cx="8729662" cy="3249612"/>
          </a:xfrm>
        </p:grpSpPr>
        <p:sp>
          <p:nvSpPr>
            <p:cNvPr id="50" name="Line 3">
              <a:extLst>
                <a:ext uri="{FF2B5EF4-FFF2-40B4-BE49-F238E27FC236}">
                  <a16:creationId xmlns:a16="http://schemas.microsoft.com/office/drawing/2014/main" id="{65EF62F5-AF0F-154C-9C6E-93BB51897ED0}"/>
                </a:ext>
              </a:extLst>
            </p:cNvPr>
            <p:cNvSpPr>
              <a:spLocks noChangeShapeType="1"/>
            </p:cNvSpPr>
            <p:nvPr/>
          </p:nvSpPr>
          <p:spPr bwMode="auto">
            <a:xfrm>
              <a:off x="4984750" y="2194268"/>
              <a:ext cx="2227262" cy="922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1" name="Text Box 4">
              <a:extLst>
                <a:ext uri="{FF2B5EF4-FFF2-40B4-BE49-F238E27FC236}">
                  <a16:creationId xmlns:a16="http://schemas.microsoft.com/office/drawing/2014/main" id="{9C568413-E7C8-034A-A01A-070E583EFD90}"/>
                </a:ext>
              </a:extLst>
            </p:cNvPr>
            <p:cNvSpPr txBox="1">
              <a:spLocks noChangeArrowheads="1"/>
            </p:cNvSpPr>
            <p:nvPr/>
          </p:nvSpPr>
          <p:spPr bwMode="auto">
            <a:xfrm>
              <a:off x="1660525" y="1989480"/>
              <a:ext cx="3232150" cy="3524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transmitted, t = 0</a:t>
              </a:r>
            </a:p>
          </p:txBody>
        </p:sp>
        <p:sp>
          <p:nvSpPr>
            <p:cNvPr id="52" name="Line 5">
              <a:extLst>
                <a:ext uri="{FF2B5EF4-FFF2-40B4-BE49-F238E27FC236}">
                  <a16:creationId xmlns:a16="http://schemas.microsoft.com/office/drawing/2014/main" id="{1F5607F9-D0CE-8742-843E-05AFCDCA2F20}"/>
                </a:ext>
              </a:extLst>
            </p:cNvPr>
            <p:cNvSpPr>
              <a:spLocks noChangeShapeType="1"/>
            </p:cNvSpPr>
            <p:nvPr/>
          </p:nvSpPr>
          <p:spPr bwMode="auto">
            <a:xfrm>
              <a:off x="4973637" y="1975193"/>
              <a:ext cx="23813" cy="2913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 name="Line 6">
              <a:extLst>
                <a:ext uri="{FF2B5EF4-FFF2-40B4-BE49-F238E27FC236}">
                  <a16:creationId xmlns:a16="http://schemas.microsoft.com/office/drawing/2014/main" id="{D5AC1D3D-9418-5F46-82ED-FBA189A71398}"/>
                </a:ext>
              </a:extLst>
            </p:cNvPr>
            <p:cNvSpPr>
              <a:spLocks noChangeShapeType="1"/>
            </p:cNvSpPr>
            <p:nvPr/>
          </p:nvSpPr>
          <p:spPr bwMode="auto">
            <a:xfrm>
              <a:off x="7200900" y="1987893"/>
              <a:ext cx="22225" cy="28908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Text Box 7">
              <a:extLst>
                <a:ext uri="{FF2B5EF4-FFF2-40B4-BE49-F238E27FC236}">
                  <a16:creationId xmlns:a16="http://schemas.microsoft.com/office/drawing/2014/main" id="{1AA39350-7ADC-E840-B7FD-CAF65C7EFE9B}"/>
                </a:ext>
              </a:extLst>
            </p:cNvPr>
            <p:cNvSpPr txBox="1">
              <a:spLocks noChangeArrowheads="1"/>
            </p:cNvSpPr>
            <p:nvPr/>
          </p:nvSpPr>
          <p:spPr bwMode="auto">
            <a:xfrm>
              <a:off x="4445000" y="1638643"/>
              <a:ext cx="885825"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 name="Text Box 8">
              <a:extLst>
                <a:ext uri="{FF2B5EF4-FFF2-40B4-BE49-F238E27FC236}">
                  <a16:creationId xmlns:a16="http://schemas.microsoft.com/office/drawing/2014/main" id="{388F41A8-01FA-884F-8140-E9FD1F2C6849}"/>
                </a:ext>
              </a:extLst>
            </p:cNvPr>
            <p:cNvSpPr txBox="1">
              <a:spLocks noChangeArrowheads="1"/>
            </p:cNvSpPr>
            <p:nvPr/>
          </p:nvSpPr>
          <p:spPr bwMode="auto">
            <a:xfrm>
              <a:off x="6623050" y="1638643"/>
              <a:ext cx="94615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6" name="Line 9">
              <a:extLst>
                <a:ext uri="{FF2B5EF4-FFF2-40B4-BE49-F238E27FC236}">
                  <a16:creationId xmlns:a16="http://schemas.microsoft.com/office/drawing/2014/main" id="{4E1B3F21-B373-CA48-9AD5-5632396CBD83}"/>
                </a:ext>
              </a:extLst>
            </p:cNvPr>
            <p:cNvSpPr>
              <a:spLocks noChangeShapeType="1"/>
            </p:cNvSpPr>
            <p:nvPr/>
          </p:nvSpPr>
          <p:spPr bwMode="auto">
            <a:xfrm>
              <a:off x="4997450" y="2189505"/>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 name="Line 10">
              <a:extLst>
                <a:ext uri="{FF2B5EF4-FFF2-40B4-BE49-F238E27FC236}">
                  <a16:creationId xmlns:a16="http://schemas.microsoft.com/office/drawing/2014/main" id="{89DD14FE-5B5B-3B43-8920-2EDFA30D8A61}"/>
                </a:ext>
              </a:extLst>
            </p:cNvPr>
            <p:cNvSpPr>
              <a:spLocks noChangeShapeType="1"/>
            </p:cNvSpPr>
            <p:nvPr/>
          </p:nvSpPr>
          <p:spPr bwMode="auto">
            <a:xfrm>
              <a:off x="5002212" y="4300880"/>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8" name="Line 11">
              <a:extLst>
                <a:ext uri="{FF2B5EF4-FFF2-40B4-BE49-F238E27FC236}">
                  <a16:creationId xmlns:a16="http://schemas.microsoft.com/office/drawing/2014/main" id="{0833BE20-CC42-354E-8D97-D533E108B5A2}"/>
                </a:ext>
              </a:extLst>
            </p:cNvPr>
            <p:cNvSpPr>
              <a:spLocks noChangeShapeType="1"/>
            </p:cNvSpPr>
            <p:nvPr/>
          </p:nvSpPr>
          <p:spPr bwMode="auto">
            <a:xfrm flipV="1">
              <a:off x="5002212" y="3357905"/>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9" name="Freeform 12">
              <a:extLst>
                <a:ext uri="{FF2B5EF4-FFF2-40B4-BE49-F238E27FC236}">
                  <a16:creationId xmlns:a16="http://schemas.microsoft.com/office/drawing/2014/main" id="{6DCE969D-C1B5-6B4F-8E82-11FE17209698}"/>
                </a:ext>
              </a:extLst>
            </p:cNvPr>
            <p:cNvSpPr>
              <a:spLocks/>
            </p:cNvSpPr>
            <p:nvPr/>
          </p:nvSpPr>
          <p:spPr bwMode="auto">
            <a:xfrm>
              <a:off x="4979987" y="2187918"/>
              <a:ext cx="2232025" cy="11557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 name="Line 13">
              <a:extLst>
                <a:ext uri="{FF2B5EF4-FFF2-40B4-BE49-F238E27FC236}">
                  <a16:creationId xmlns:a16="http://schemas.microsoft.com/office/drawing/2014/main" id="{71ECF681-371C-214F-B431-3EBF5FCA54AB}"/>
                </a:ext>
              </a:extLst>
            </p:cNvPr>
            <p:cNvSpPr>
              <a:spLocks noChangeShapeType="1"/>
            </p:cNvSpPr>
            <p:nvPr/>
          </p:nvSpPr>
          <p:spPr bwMode="auto">
            <a:xfrm flipH="1">
              <a:off x="4835525" y="21879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1" name="Line 14">
              <a:extLst>
                <a:ext uri="{FF2B5EF4-FFF2-40B4-BE49-F238E27FC236}">
                  <a16:creationId xmlns:a16="http://schemas.microsoft.com/office/drawing/2014/main" id="{D5FC9E24-2362-D949-AD1B-27FDE18130E6}"/>
                </a:ext>
              </a:extLst>
            </p:cNvPr>
            <p:cNvSpPr>
              <a:spLocks noChangeShapeType="1"/>
            </p:cNvSpPr>
            <p:nvPr/>
          </p:nvSpPr>
          <p:spPr bwMode="auto">
            <a:xfrm flipH="1">
              <a:off x="4835525" y="24292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 name="Line 15">
              <a:extLst>
                <a:ext uri="{FF2B5EF4-FFF2-40B4-BE49-F238E27FC236}">
                  <a16:creationId xmlns:a16="http://schemas.microsoft.com/office/drawing/2014/main" id="{8E885B36-6DC7-A647-8328-79BA2FEF9ABC}"/>
                </a:ext>
              </a:extLst>
            </p:cNvPr>
            <p:cNvSpPr>
              <a:spLocks noChangeShapeType="1"/>
            </p:cNvSpPr>
            <p:nvPr/>
          </p:nvSpPr>
          <p:spPr bwMode="auto">
            <a:xfrm flipH="1">
              <a:off x="4846637" y="4288180"/>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3" name="Text Box 16">
              <a:extLst>
                <a:ext uri="{FF2B5EF4-FFF2-40B4-BE49-F238E27FC236}">
                  <a16:creationId xmlns:a16="http://schemas.microsoft.com/office/drawing/2014/main" id="{C1807A2B-4600-F444-94CF-68DC8044B38C}"/>
                </a:ext>
              </a:extLst>
            </p:cNvPr>
            <p:cNvSpPr txBox="1">
              <a:spLocks noChangeArrowheads="1"/>
            </p:cNvSpPr>
            <p:nvPr/>
          </p:nvSpPr>
          <p:spPr bwMode="auto">
            <a:xfrm>
              <a:off x="4183062" y="316105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RTT</a:t>
              </a: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4" name="Line 17">
              <a:extLst>
                <a:ext uri="{FF2B5EF4-FFF2-40B4-BE49-F238E27FC236}">
                  <a16:creationId xmlns:a16="http://schemas.microsoft.com/office/drawing/2014/main" id="{4CA4ACE4-80D6-094A-B612-CEDFE371375D}"/>
                </a:ext>
              </a:extLst>
            </p:cNvPr>
            <p:cNvSpPr>
              <a:spLocks noChangeShapeType="1"/>
            </p:cNvSpPr>
            <p:nvPr/>
          </p:nvSpPr>
          <p:spPr bwMode="auto">
            <a:xfrm>
              <a:off x="4870450" y="346903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5" name="Line 18">
              <a:extLst>
                <a:ext uri="{FF2B5EF4-FFF2-40B4-BE49-F238E27FC236}">
                  <a16:creationId xmlns:a16="http://schemas.microsoft.com/office/drawing/2014/main" id="{86419EA2-8CA9-1949-935B-FB9C7863AF80}"/>
                </a:ext>
              </a:extLst>
            </p:cNvPr>
            <p:cNvSpPr>
              <a:spLocks noChangeShapeType="1"/>
            </p:cNvSpPr>
            <p:nvPr/>
          </p:nvSpPr>
          <p:spPr bwMode="auto">
            <a:xfrm flipV="1">
              <a:off x="4875212" y="245144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6" name="Line 20">
              <a:extLst>
                <a:ext uri="{FF2B5EF4-FFF2-40B4-BE49-F238E27FC236}">
                  <a16:creationId xmlns:a16="http://schemas.microsoft.com/office/drawing/2014/main" id="{F450D6B2-ED0C-2A4C-8BFC-156E65F46CE8}"/>
                </a:ext>
              </a:extLst>
            </p:cNvPr>
            <p:cNvSpPr>
              <a:spLocks noChangeShapeType="1"/>
            </p:cNvSpPr>
            <p:nvPr/>
          </p:nvSpPr>
          <p:spPr bwMode="auto">
            <a:xfrm flipH="1">
              <a:off x="7188200" y="3102318"/>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7" name="Text Box 21">
              <a:extLst>
                <a:ext uri="{FF2B5EF4-FFF2-40B4-BE49-F238E27FC236}">
                  <a16:creationId xmlns:a16="http://schemas.microsoft.com/office/drawing/2014/main" id="{08BE5E72-86FD-8A42-9396-059DB3F761FB}"/>
                </a:ext>
              </a:extLst>
            </p:cNvPr>
            <p:cNvSpPr txBox="1">
              <a:spLocks noChangeArrowheads="1"/>
            </p:cNvSpPr>
            <p:nvPr/>
          </p:nvSpPr>
          <p:spPr bwMode="auto">
            <a:xfrm>
              <a:off x="7269162" y="2926105"/>
              <a:ext cx="2425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arrives</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8" name="Line 22">
              <a:extLst>
                <a:ext uri="{FF2B5EF4-FFF2-40B4-BE49-F238E27FC236}">
                  <a16:creationId xmlns:a16="http://schemas.microsoft.com/office/drawing/2014/main" id="{B416D5CF-1045-E44E-A7DD-0F2BA9A28495}"/>
                </a:ext>
              </a:extLst>
            </p:cNvPr>
            <p:cNvSpPr>
              <a:spLocks noChangeShapeType="1"/>
            </p:cNvSpPr>
            <p:nvPr/>
          </p:nvSpPr>
          <p:spPr bwMode="auto">
            <a:xfrm>
              <a:off x="7212012" y="3351555"/>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9" name="Text Box 23">
              <a:extLst>
                <a:ext uri="{FF2B5EF4-FFF2-40B4-BE49-F238E27FC236}">
                  <a16:creationId xmlns:a16="http://schemas.microsoft.com/office/drawing/2014/main" id="{EA1933E4-20F7-C442-A192-A24ACB88B227}"/>
                </a:ext>
              </a:extLst>
            </p:cNvPr>
            <p:cNvSpPr txBox="1">
              <a:spLocks noChangeArrowheads="1"/>
            </p:cNvSpPr>
            <p:nvPr/>
          </p:nvSpPr>
          <p:spPr bwMode="auto">
            <a:xfrm>
              <a:off x="7275512" y="3178518"/>
              <a:ext cx="31146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packet bit arrives, send ACK</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0" name="Text Box 24">
              <a:extLst>
                <a:ext uri="{FF2B5EF4-FFF2-40B4-BE49-F238E27FC236}">
                  <a16:creationId xmlns:a16="http://schemas.microsoft.com/office/drawing/2014/main" id="{E280E208-423C-5A4D-B4AD-4087BED29014}"/>
                </a:ext>
              </a:extLst>
            </p:cNvPr>
            <p:cNvSpPr txBox="1">
              <a:spLocks noChangeArrowheads="1"/>
            </p:cNvSpPr>
            <p:nvPr/>
          </p:nvSpPr>
          <p:spPr bwMode="auto">
            <a:xfrm>
              <a:off x="2252662" y="3961155"/>
              <a:ext cx="26860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ACK arrives, send next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a:t>
              </a:r>
              <a:r>
                <a:rPr kumimoji="0" lang="en-US" altLang="en-US" sz="1600" b="0" i="0"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t = RTT + L / R</a:t>
              </a:r>
              <a:endParaRPr kumimoji="0" lang="en-US" altLang="en-US" sz="1600" b="0" i="0" u="none" strike="noStrike" kern="1200" cap="none" spc="0" normalizeH="0" baseline="0" noProof="0">
                <a:ln>
                  <a:noFill/>
                </a:ln>
                <a:solidFill>
                  <a:srgbClr val="CC0000"/>
                </a:solidFill>
                <a:effectLst/>
                <a:uLnTx/>
                <a:uFillTx/>
                <a:latin typeface="Times New Roman" panose="02020603050405020304" pitchFamily="18" charset="0"/>
                <a:ea typeface="ＭＳ Ｐゴシック" panose="020B0600070205080204" pitchFamily="34" charset="-128"/>
                <a:cs typeface="+mn-cs"/>
              </a:endParaRPr>
            </a:p>
          </p:txBody>
        </p:sp>
        <p:sp>
          <p:nvSpPr>
            <p:cNvPr id="71" name="Freeform 25">
              <a:extLst>
                <a:ext uri="{FF2B5EF4-FFF2-40B4-BE49-F238E27FC236}">
                  <a16:creationId xmlns:a16="http://schemas.microsoft.com/office/drawing/2014/main" id="{A4A7A1DD-E270-2148-B390-9D3198E6E533}"/>
                </a:ext>
              </a:extLst>
            </p:cNvPr>
            <p:cNvSpPr>
              <a:spLocks/>
            </p:cNvSpPr>
            <p:nvPr/>
          </p:nvSpPr>
          <p:spPr bwMode="auto">
            <a:xfrm>
              <a:off x="4997450" y="4296118"/>
              <a:ext cx="1419225" cy="577850"/>
            </a:xfrm>
            <a:custGeom>
              <a:avLst/>
              <a:gdLst>
                <a:gd name="T0" fmla="*/ 0 w 1845"/>
                <a:gd name="T1" fmla="*/ 0 h 592"/>
                <a:gd name="T2" fmla="*/ 2147483647 w 1845"/>
                <a:gd name="T3" fmla="*/ 2147483647 h 592"/>
                <a:gd name="T4" fmla="*/ 2147483647 w 1845"/>
                <a:gd name="T5" fmla="*/ 2147483647 h 592"/>
                <a:gd name="T6" fmla="*/ 0 w 1845"/>
                <a:gd name="T7" fmla="*/ 2147483647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2" name="Group 26">
              <a:extLst>
                <a:ext uri="{FF2B5EF4-FFF2-40B4-BE49-F238E27FC236}">
                  <a16:creationId xmlns:a16="http://schemas.microsoft.com/office/drawing/2014/main" id="{9CA64688-75A8-D347-9FA8-19BC93D4C937}"/>
                </a:ext>
              </a:extLst>
            </p:cNvPr>
            <p:cNvGrpSpPr>
              <a:grpSpLocks/>
            </p:cNvGrpSpPr>
            <p:nvPr/>
          </p:nvGrpSpPr>
          <p:grpSpPr bwMode="auto">
            <a:xfrm>
              <a:off x="4991100" y="4288180"/>
              <a:ext cx="1281112" cy="534988"/>
              <a:chOff x="12315" y="13225"/>
              <a:chExt cx="2775" cy="913"/>
            </a:xfrm>
          </p:grpSpPr>
          <p:sp>
            <p:nvSpPr>
              <p:cNvPr id="73" name="Line 27">
                <a:extLst>
                  <a:ext uri="{FF2B5EF4-FFF2-40B4-BE49-F238E27FC236}">
                    <a16:creationId xmlns:a16="http://schemas.microsoft.com/office/drawing/2014/main" id="{3615449C-C628-4A4E-8FD9-6CEA1CB5AF4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Line 28">
                <a:extLst>
                  <a:ext uri="{FF2B5EF4-FFF2-40B4-BE49-F238E27FC236}">
                    <a16:creationId xmlns:a16="http://schemas.microsoft.com/office/drawing/2014/main" id="{BC197F6C-E6E2-CC4F-B4CD-24052A68CF6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75" name="Line 29">
              <a:extLst>
                <a:ext uri="{FF2B5EF4-FFF2-40B4-BE49-F238E27FC236}">
                  <a16:creationId xmlns:a16="http://schemas.microsoft.com/office/drawing/2014/main" id="{C09632D7-180D-4B4F-9D42-55DC28E6A66C}"/>
                </a:ext>
              </a:extLst>
            </p:cNvPr>
            <p:cNvSpPr>
              <a:spLocks noChangeShapeType="1"/>
            </p:cNvSpPr>
            <p:nvPr/>
          </p:nvSpPr>
          <p:spPr bwMode="auto">
            <a:xfrm>
              <a:off x="4991100" y="4529480"/>
              <a:ext cx="3175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6" name="Line 30">
              <a:extLst>
                <a:ext uri="{FF2B5EF4-FFF2-40B4-BE49-F238E27FC236}">
                  <a16:creationId xmlns:a16="http://schemas.microsoft.com/office/drawing/2014/main" id="{0C325B2C-A250-0F40-9312-8A7316454882}"/>
                </a:ext>
              </a:extLst>
            </p:cNvPr>
            <p:cNvSpPr>
              <a:spLocks noChangeShapeType="1"/>
            </p:cNvSpPr>
            <p:nvPr/>
          </p:nvSpPr>
          <p:spPr bwMode="auto">
            <a:xfrm>
              <a:off x="5314950" y="4653305"/>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 name="Slide Number Placeholder 2">
            <a:extLst>
              <a:ext uri="{FF2B5EF4-FFF2-40B4-BE49-F238E27FC236}">
                <a16:creationId xmlns:a16="http://schemas.microsoft.com/office/drawing/2014/main" id="{144B575B-9218-5E41-8DF6-C242B94C8BE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a:t>
            </a:fld>
            <a:endParaRPr lang="en-US" dirty="0"/>
          </a:p>
        </p:txBody>
      </p:sp>
    </p:spTree>
    <p:extLst>
      <p:ext uri="{BB962C8B-B14F-4D97-AF65-F5344CB8AC3E}">
        <p14:creationId xmlns:p14="http://schemas.microsoft.com/office/powerpoint/2010/main" val="2942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stop-and-wait operation</a:t>
            </a:r>
            <a:endParaRPr lang="en-US" sz="4400" dirty="0"/>
          </a:p>
        </p:txBody>
      </p:sp>
      <p:sp>
        <p:nvSpPr>
          <p:cNvPr id="50" name="Line 3">
            <a:extLst>
              <a:ext uri="{FF2B5EF4-FFF2-40B4-BE49-F238E27FC236}">
                <a16:creationId xmlns:a16="http://schemas.microsoft.com/office/drawing/2014/main" id="{65EF62F5-AF0F-154C-9C6E-93BB51897ED0}"/>
              </a:ext>
            </a:extLst>
          </p:cNvPr>
          <p:cNvSpPr>
            <a:spLocks noChangeShapeType="1"/>
          </p:cNvSpPr>
          <p:nvPr/>
        </p:nvSpPr>
        <p:spPr bwMode="auto">
          <a:xfrm>
            <a:off x="6523093" y="1992313"/>
            <a:ext cx="2227262" cy="922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 name="Line 5">
            <a:extLst>
              <a:ext uri="{FF2B5EF4-FFF2-40B4-BE49-F238E27FC236}">
                <a16:creationId xmlns:a16="http://schemas.microsoft.com/office/drawing/2014/main" id="{1F5607F9-D0CE-8742-843E-05AFCDCA2F20}"/>
              </a:ext>
            </a:extLst>
          </p:cNvPr>
          <p:cNvSpPr>
            <a:spLocks noChangeShapeType="1"/>
          </p:cNvSpPr>
          <p:nvPr/>
        </p:nvSpPr>
        <p:spPr bwMode="auto">
          <a:xfrm>
            <a:off x="6511980" y="1773238"/>
            <a:ext cx="23813" cy="2913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 name="Line 6">
            <a:extLst>
              <a:ext uri="{FF2B5EF4-FFF2-40B4-BE49-F238E27FC236}">
                <a16:creationId xmlns:a16="http://schemas.microsoft.com/office/drawing/2014/main" id="{D5AC1D3D-9418-5F46-82ED-FBA189A71398}"/>
              </a:ext>
            </a:extLst>
          </p:cNvPr>
          <p:cNvSpPr>
            <a:spLocks noChangeShapeType="1"/>
          </p:cNvSpPr>
          <p:nvPr/>
        </p:nvSpPr>
        <p:spPr bwMode="auto">
          <a:xfrm>
            <a:off x="8739243" y="1785938"/>
            <a:ext cx="22225" cy="28908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Text Box 7">
            <a:extLst>
              <a:ext uri="{FF2B5EF4-FFF2-40B4-BE49-F238E27FC236}">
                <a16:creationId xmlns:a16="http://schemas.microsoft.com/office/drawing/2014/main" id="{1AA39350-7ADC-E840-B7FD-CAF65C7EFE9B}"/>
              </a:ext>
            </a:extLst>
          </p:cNvPr>
          <p:cNvSpPr txBox="1">
            <a:spLocks noChangeArrowheads="1"/>
          </p:cNvSpPr>
          <p:nvPr/>
        </p:nvSpPr>
        <p:spPr bwMode="auto">
          <a:xfrm>
            <a:off x="5983343" y="1436688"/>
            <a:ext cx="885825"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 name="Text Box 8">
            <a:extLst>
              <a:ext uri="{FF2B5EF4-FFF2-40B4-BE49-F238E27FC236}">
                <a16:creationId xmlns:a16="http://schemas.microsoft.com/office/drawing/2014/main" id="{388F41A8-01FA-884F-8140-E9FD1F2C6849}"/>
              </a:ext>
            </a:extLst>
          </p:cNvPr>
          <p:cNvSpPr txBox="1">
            <a:spLocks noChangeArrowheads="1"/>
          </p:cNvSpPr>
          <p:nvPr/>
        </p:nvSpPr>
        <p:spPr bwMode="auto">
          <a:xfrm>
            <a:off x="8161393" y="1436688"/>
            <a:ext cx="94615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6" name="Line 9">
            <a:extLst>
              <a:ext uri="{FF2B5EF4-FFF2-40B4-BE49-F238E27FC236}">
                <a16:creationId xmlns:a16="http://schemas.microsoft.com/office/drawing/2014/main" id="{4E1B3F21-B373-CA48-9AD5-5632396CBD83}"/>
              </a:ext>
            </a:extLst>
          </p:cNvPr>
          <p:cNvSpPr>
            <a:spLocks noChangeShapeType="1"/>
          </p:cNvSpPr>
          <p:nvPr/>
        </p:nvSpPr>
        <p:spPr bwMode="auto">
          <a:xfrm>
            <a:off x="6535793" y="1987550"/>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 name="Line 10">
            <a:extLst>
              <a:ext uri="{FF2B5EF4-FFF2-40B4-BE49-F238E27FC236}">
                <a16:creationId xmlns:a16="http://schemas.microsoft.com/office/drawing/2014/main" id="{89DD14FE-5B5B-3B43-8920-2EDFA30D8A61}"/>
              </a:ext>
            </a:extLst>
          </p:cNvPr>
          <p:cNvSpPr>
            <a:spLocks noChangeShapeType="1"/>
          </p:cNvSpPr>
          <p:nvPr/>
        </p:nvSpPr>
        <p:spPr bwMode="auto">
          <a:xfrm>
            <a:off x="6540555" y="4098925"/>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8" name="Line 11">
            <a:extLst>
              <a:ext uri="{FF2B5EF4-FFF2-40B4-BE49-F238E27FC236}">
                <a16:creationId xmlns:a16="http://schemas.microsoft.com/office/drawing/2014/main" id="{0833BE20-CC42-354E-8D97-D533E108B5A2}"/>
              </a:ext>
            </a:extLst>
          </p:cNvPr>
          <p:cNvSpPr>
            <a:spLocks noChangeShapeType="1"/>
          </p:cNvSpPr>
          <p:nvPr/>
        </p:nvSpPr>
        <p:spPr bwMode="auto">
          <a:xfrm flipV="1">
            <a:off x="6540555" y="3155950"/>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9" name="Freeform 12">
            <a:extLst>
              <a:ext uri="{FF2B5EF4-FFF2-40B4-BE49-F238E27FC236}">
                <a16:creationId xmlns:a16="http://schemas.microsoft.com/office/drawing/2014/main" id="{6DCE969D-C1B5-6B4F-8E82-11FE17209698}"/>
              </a:ext>
            </a:extLst>
          </p:cNvPr>
          <p:cNvSpPr>
            <a:spLocks/>
          </p:cNvSpPr>
          <p:nvPr/>
        </p:nvSpPr>
        <p:spPr bwMode="auto">
          <a:xfrm>
            <a:off x="6518330" y="1985963"/>
            <a:ext cx="2232025" cy="11557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 name="Line 13">
            <a:extLst>
              <a:ext uri="{FF2B5EF4-FFF2-40B4-BE49-F238E27FC236}">
                <a16:creationId xmlns:a16="http://schemas.microsoft.com/office/drawing/2014/main" id="{71ECF681-371C-214F-B431-3EBF5FCA54AB}"/>
              </a:ext>
            </a:extLst>
          </p:cNvPr>
          <p:cNvSpPr>
            <a:spLocks noChangeShapeType="1"/>
          </p:cNvSpPr>
          <p:nvPr/>
        </p:nvSpPr>
        <p:spPr bwMode="auto">
          <a:xfrm flipH="1">
            <a:off x="6373868" y="1985963"/>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1" name="Line 14">
            <a:extLst>
              <a:ext uri="{FF2B5EF4-FFF2-40B4-BE49-F238E27FC236}">
                <a16:creationId xmlns:a16="http://schemas.microsoft.com/office/drawing/2014/main" id="{D5FC9E24-2362-D949-AD1B-27FDE18130E6}"/>
              </a:ext>
            </a:extLst>
          </p:cNvPr>
          <p:cNvSpPr>
            <a:spLocks noChangeShapeType="1"/>
          </p:cNvSpPr>
          <p:nvPr/>
        </p:nvSpPr>
        <p:spPr bwMode="auto">
          <a:xfrm flipH="1">
            <a:off x="6373868" y="2227263"/>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 name="Line 15">
            <a:extLst>
              <a:ext uri="{FF2B5EF4-FFF2-40B4-BE49-F238E27FC236}">
                <a16:creationId xmlns:a16="http://schemas.microsoft.com/office/drawing/2014/main" id="{8E885B36-6DC7-A647-8328-79BA2FEF9ABC}"/>
              </a:ext>
            </a:extLst>
          </p:cNvPr>
          <p:cNvSpPr>
            <a:spLocks noChangeShapeType="1"/>
          </p:cNvSpPr>
          <p:nvPr/>
        </p:nvSpPr>
        <p:spPr bwMode="auto">
          <a:xfrm flipH="1">
            <a:off x="6384980" y="4086225"/>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6" name="Line 20">
            <a:extLst>
              <a:ext uri="{FF2B5EF4-FFF2-40B4-BE49-F238E27FC236}">
                <a16:creationId xmlns:a16="http://schemas.microsoft.com/office/drawing/2014/main" id="{F450D6B2-ED0C-2A4C-8BFC-156E65F46CE8}"/>
              </a:ext>
            </a:extLst>
          </p:cNvPr>
          <p:cNvSpPr>
            <a:spLocks noChangeShapeType="1"/>
          </p:cNvSpPr>
          <p:nvPr/>
        </p:nvSpPr>
        <p:spPr bwMode="auto">
          <a:xfrm flipH="1">
            <a:off x="8726543" y="2900363"/>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8" name="Line 22">
            <a:extLst>
              <a:ext uri="{FF2B5EF4-FFF2-40B4-BE49-F238E27FC236}">
                <a16:creationId xmlns:a16="http://schemas.microsoft.com/office/drawing/2014/main" id="{B416D5CF-1045-E44E-A7DD-0F2BA9A28495}"/>
              </a:ext>
            </a:extLst>
          </p:cNvPr>
          <p:cNvSpPr>
            <a:spLocks noChangeShapeType="1"/>
          </p:cNvSpPr>
          <p:nvPr/>
        </p:nvSpPr>
        <p:spPr bwMode="auto">
          <a:xfrm>
            <a:off x="8750355" y="3149600"/>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1" name="Freeform 25">
            <a:extLst>
              <a:ext uri="{FF2B5EF4-FFF2-40B4-BE49-F238E27FC236}">
                <a16:creationId xmlns:a16="http://schemas.microsoft.com/office/drawing/2014/main" id="{A4A7A1DD-E270-2148-B390-9D3198E6E533}"/>
              </a:ext>
            </a:extLst>
          </p:cNvPr>
          <p:cNvSpPr>
            <a:spLocks/>
          </p:cNvSpPr>
          <p:nvPr/>
        </p:nvSpPr>
        <p:spPr bwMode="auto">
          <a:xfrm>
            <a:off x="6535793" y="4094163"/>
            <a:ext cx="1419225" cy="577850"/>
          </a:xfrm>
          <a:custGeom>
            <a:avLst/>
            <a:gdLst>
              <a:gd name="T0" fmla="*/ 0 w 1845"/>
              <a:gd name="T1" fmla="*/ 0 h 592"/>
              <a:gd name="T2" fmla="*/ 2147483647 w 1845"/>
              <a:gd name="T3" fmla="*/ 2147483647 h 592"/>
              <a:gd name="T4" fmla="*/ 2147483647 w 1845"/>
              <a:gd name="T5" fmla="*/ 2147483647 h 592"/>
              <a:gd name="T6" fmla="*/ 0 w 1845"/>
              <a:gd name="T7" fmla="*/ 2147483647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2" name="Group 26">
            <a:extLst>
              <a:ext uri="{FF2B5EF4-FFF2-40B4-BE49-F238E27FC236}">
                <a16:creationId xmlns:a16="http://schemas.microsoft.com/office/drawing/2014/main" id="{9CA64688-75A8-D347-9FA8-19BC93D4C937}"/>
              </a:ext>
            </a:extLst>
          </p:cNvPr>
          <p:cNvGrpSpPr>
            <a:grpSpLocks/>
          </p:cNvGrpSpPr>
          <p:nvPr/>
        </p:nvGrpSpPr>
        <p:grpSpPr bwMode="auto">
          <a:xfrm>
            <a:off x="6529443" y="4086225"/>
            <a:ext cx="1281112" cy="534988"/>
            <a:chOff x="12315" y="13225"/>
            <a:chExt cx="2775" cy="913"/>
          </a:xfrm>
        </p:grpSpPr>
        <p:sp>
          <p:nvSpPr>
            <p:cNvPr id="73" name="Line 27">
              <a:extLst>
                <a:ext uri="{FF2B5EF4-FFF2-40B4-BE49-F238E27FC236}">
                  <a16:creationId xmlns:a16="http://schemas.microsoft.com/office/drawing/2014/main" id="{3615449C-C628-4A4E-8FD9-6CEA1CB5AF4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Line 28">
              <a:extLst>
                <a:ext uri="{FF2B5EF4-FFF2-40B4-BE49-F238E27FC236}">
                  <a16:creationId xmlns:a16="http://schemas.microsoft.com/office/drawing/2014/main" id="{BC197F6C-E6E2-CC4F-B4CD-24052A68CF6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75" name="Line 29">
            <a:extLst>
              <a:ext uri="{FF2B5EF4-FFF2-40B4-BE49-F238E27FC236}">
                <a16:creationId xmlns:a16="http://schemas.microsoft.com/office/drawing/2014/main" id="{C09632D7-180D-4B4F-9D42-55DC28E6A66C}"/>
              </a:ext>
            </a:extLst>
          </p:cNvPr>
          <p:cNvSpPr>
            <a:spLocks noChangeShapeType="1"/>
          </p:cNvSpPr>
          <p:nvPr/>
        </p:nvSpPr>
        <p:spPr bwMode="auto">
          <a:xfrm>
            <a:off x="6529443" y="4327525"/>
            <a:ext cx="3175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6" name="Line 30">
            <a:extLst>
              <a:ext uri="{FF2B5EF4-FFF2-40B4-BE49-F238E27FC236}">
                <a16:creationId xmlns:a16="http://schemas.microsoft.com/office/drawing/2014/main" id="{0C325B2C-A250-0F40-9312-8A7316454882}"/>
              </a:ext>
            </a:extLst>
          </p:cNvPr>
          <p:cNvSpPr>
            <a:spLocks noChangeShapeType="1"/>
          </p:cNvSpPr>
          <p:nvPr/>
        </p:nvSpPr>
        <p:spPr bwMode="auto">
          <a:xfrm>
            <a:off x="6853293" y="4451350"/>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9" name="Group 8">
            <a:extLst>
              <a:ext uri="{FF2B5EF4-FFF2-40B4-BE49-F238E27FC236}">
                <a16:creationId xmlns:a16="http://schemas.microsoft.com/office/drawing/2014/main" id="{CC6AF9F3-99D9-6F40-B127-7A6785C46B41}"/>
              </a:ext>
            </a:extLst>
          </p:cNvPr>
          <p:cNvGrpSpPr/>
          <p:nvPr/>
        </p:nvGrpSpPr>
        <p:grpSpPr>
          <a:xfrm>
            <a:off x="2244612" y="2022637"/>
            <a:ext cx="1278602" cy="597475"/>
            <a:chOff x="749300" y="3009900"/>
            <a:chExt cx="1278602" cy="597475"/>
          </a:xfrm>
        </p:grpSpPr>
        <p:sp>
          <p:nvSpPr>
            <p:cNvPr id="3" name="TextBox 2">
              <a:extLst>
                <a:ext uri="{FF2B5EF4-FFF2-40B4-BE49-F238E27FC236}">
                  <a16:creationId xmlns:a16="http://schemas.microsoft.com/office/drawing/2014/main" id="{721E4313-1A1A-3A42-AC4C-44CC986CCAC5}"/>
                </a:ext>
              </a:extLst>
            </p:cNvPr>
            <p:cNvSpPr txBox="1"/>
            <p:nvPr/>
          </p:nvSpPr>
          <p:spPr>
            <a:xfrm>
              <a:off x="749300" y="3022600"/>
              <a:ext cx="111120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err="1">
                  <a:ln>
                    <a:noFill/>
                  </a:ln>
                  <a:solidFill>
                    <a:prstClr val="black"/>
                  </a:solidFill>
                  <a:effectLst/>
                  <a:uLnTx/>
                  <a:uFillTx/>
                  <a:latin typeface="Calibri" panose="020F0502020204030204"/>
                  <a:ea typeface="+mn-ea"/>
                  <a:cs typeface="+mn-cs"/>
                </a:rPr>
                <a:t>U</a:t>
              </a:r>
              <a:r>
                <a:rPr kumimoji="0" lang="en-US" sz="2800" b="0" i="0" u="none" strike="noStrike" kern="1200" cap="none" spc="0" normalizeH="0" baseline="-25000" noProof="0" dirty="0" err="1">
                  <a:ln>
                    <a:noFill/>
                  </a:ln>
                  <a:solidFill>
                    <a:prstClr val="black"/>
                  </a:solidFill>
                  <a:effectLst/>
                  <a:uLnTx/>
                  <a:uFillTx/>
                  <a:latin typeface="Calibri" panose="020F0502020204030204"/>
                  <a:ea typeface="+mn-ea"/>
                  <a:cs typeface="+mn-cs"/>
                </a:rPr>
                <a:t>sender</a:t>
              </a:r>
              <a:endParaRPr kumimoji="0" lang="en-US" sz="28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C13E07F-DCC8-5C42-B670-E68B309E1374}"/>
                </a:ext>
              </a:extLst>
            </p:cNvPr>
            <p:cNvSpPr txBox="1"/>
            <p:nvPr/>
          </p:nvSpPr>
          <p:spPr>
            <a:xfrm>
              <a:off x="1663700" y="3009900"/>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sp>
        <p:nvSpPr>
          <p:cNvPr id="36" name="TextBox 35">
            <a:extLst>
              <a:ext uri="{FF2B5EF4-FFF2-40B4-BE49-F238E27FC236}">
                <a16:creationId xmlns:a16="http://schemas.microsoft.com/office/drawing/2014/main" id="{72394E0F-C5BE-F842-A8F0-CE5EB7D410B7}"/>
              </a:ext>
            </a:extLst>
          </p:cNvPr>
          <p:cNvSpPr txBox="1"/>
          <p:nvPr/>
        </p:nvSpPr>
        <p:spPr>
          <a:xfrm>
            <a:off x="4022612" y="1768637"/>
            <a:ext cx="83388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 / R</a:t>
            </a:r>
          </a:p>
        </p:txBody>
      </p:sp>
      <p:sp>
        <p:nvSpPr>
          <p:cNvPr id="37" name="TextBox 36">
            <a:extLst>
              <a:ext uri="{FF2B5EF4-FFF2-40B4-BE49-F238E27FC236}">
                <a16:creationId xmlns:a16="http://schemas.microsoft.com/office/drawing/2014/main" id="{6C6C6FA9-6BC1-BE4F-985A-814A76374A78}"/>
              </a:ext>
            </a:extLst>
          </p:cNvPr>
          <p:cNvSpPr txBox="1"/>
          <p:nvPr/>
        </p:nvSpPr>
        <p:spPr>
          <a:xfrm>
            <a:off x="3565412" y="2314737"/>
            <a:ext cx="73109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RTT</a:t>
            </a:r>
          </a:p>
        </p:txBody>
      </p:sp>
      <p:cxnSp>
        <p:nvCxnSpPr>
          <p:cNvPr id="8" name="Straight Connector 7">
            <a:extLst>
              <a:ext uri="{FF2B5EF4-FFF2-40B4-BE49-F238E27FC236}">
                <a16:creationId xmlns:a16="http://schemas.microsoft.com/office/drawing/2014/main" id="{1471EC5E-49D5-C845-A523-BB2BA82777FB}"/>
              </a:ext>
            </a:extLst>
          </p:cNvPr>
          <p:cNvCxnSpPr/>
          <p:nvPr/>
        </p:nvCxnSpPr>
        <p:spPr>
          <a:xfrm>
            <a:off x="3654312" y="2314737"/>
            <a:ext cx="154940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C9EBE743-5B5A-CB4C-ADBF-D607BDC87774}"/>
              </a:ext>
            </a:extLst>
          </p:cNvPr>
          <p:cNvGrpSpPr/>
          <p:nvPr/>
        </p:nvGrpSpPr>
        <p:grpSpPr>
          <a:xfrm>
            <a:off x="5721405" y="2234921"/>
            <a:ext cx="847725" cy="1860804"/>
            <a:chOff x="4183062" y="2436876"/>
            <a:chExt cx="847725" cy="1860804"/>
          </a:xfrm>
        </p:grpSpPr>
        <p:sp>
          <p:nvSpPr>
            <p:cNvPr id="63" name="Text Box 16">
              <a:extLst>
                <a:ext uri="{FF2B5EF4-FFF2-40B4-BE49-F238E27FC236}">
                  <a16:creationId xmlns:a16="http://schemas.microsoft.com/office/drawing/2014/main" id="{C1807A2B-4600-F444-94CF-68DC8044B38C}"/>
                </a:ext>
              </a:extLst>
            </p:cNvPr>
            <p:cNvSpPr txBox="1">
              <a:spLocks noChangeArrowheads="1"/>
            </p:cNvSpPr>
            <p:nvPr/>
          </p:nvSpPr>
          <p:spPr bwMode="auto">
            <a:xfrm>
              <a:off x="4183062" y="316105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RTT</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4" name="Line 17">
              <a:extLst>
                <a:ext uri="{FF2B5EF4-FFF2-40B4-BE49-F238E27FC236}">
                  <a16:creationId xmlns:a16="http://schemas.microsoft.com/office/drawing/2014/main" id="{4CA4ACE4-80D6-094A-B612-CEDFE371375D}"/>
                </a:ext>
              </a:extLst>
            </p:cNvPr>
            <p:cNvSpPr>
              <a:spLocks noChangeShapeType="1"/>
            </p:cNvSpPr>
            <p:nvPr/>
          </p:nvSpPr>
          <p:spPr bwMode="auto">
            <a:xfrm>
              <a:off x="4870450" y="346903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5" name="Line 18">
              <a:extLst>
                <a:ext uri="{FF2B5EF4-FFF2-40B4-BE49-F238E27FC236}">
                  <a16:creationId xmlns:a16="http://schemas.microsoft.com/office/drawing/2014/main" id="{86419EA2-8CA9-1949-935B-FB9C7863AF80}"/>
                </a:ext>
              </a:extLst>
            </p:cNvPr>
            <p:cNvSpPr>
              <a:spLocks noChangeShapeType="1"/>
            </p:cNvSpPr>
            <p:nvPr/>
          </p:nvSpPr>
          <p:spPr bwMode="auto">
            <a:xfrm flipV="1">
              <a:off x="4875212" y="245144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 name="Rectangle 9">
              <a:extLst>
                <a:ext uri="{FF2B5EF4-FFF2-40B4-BE49-F238E27FC236}">
                  <a16:creationId xmlns:a16="http://schemas.microsoft.com/office/drawing/2014/main" id="{A49C2C2C-CE28-5843-8415-9EE09E6947FC}"/>
                </a:ext>
              </a:extLst>
            </p:cNvPr>
            <p:cNvSpPr/>
            <p:nvPr/>
          </p:nvSpPr>
          <p:spPr>
            <a:xfrm>
              <a:off x="4421124" y="2436876"/>
              <a:ext cx="77724" cy="186080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 name="Group 11">
            <a:extLst>
              <a:ext uri="{FF2B5EF4-FFF2-40B4-BE49-F238E27FC236}">
                <a16:creationId xmlns:a16="http://schemas.microsoft.com/office/drawing/2014/main" id="{959E1995-34BF-7E4C-A8E6-79D6D91B735F}"/>
              </a:ext>
            </a:extLst>
          </p:cNvPr>
          <p:cNvGrpSpPr/>
          <p:nvPr/>
        </p:nvGrpSpPr>
        <p:grpSpPr>
          <a:xfrm>
            <a:off x="5737741" y="1941782"/>
            <a:ext cx="847725" cy="336550"/>
            <a:chOff x="4199398" y="2143737"/>
            <a:chExt cx="847725" cy="336550"/>
          </a:xfrm>
        </p:grpSpPr>
        <p:sp>
          <p:nvSpPr>
            <p:cNvPr id="34" name="Text Box 16">
              <a:extLst>
                <a:ext uri="{FF2B5EF4-FFF2-40B4-BE49-F238E27FC236}">
                  <a16:creationId xmlns:a16="http://schemas.microsoft.com/office/drawing/2014/main" id="{CE11628B-6BAA-5F4D-83D0-1C375AA4B545}"/>
                </a:ext>
              </a:extLst>
            </p:cNvPr>
            <p:cNvSpPr txBox="1">
              <a:spLocks noChangeArrowheads="1"/>
            </p:cNvSpPr>
            <p:nvPr/>
          </p:nvSpPr>
          <p:spPr bwMode="auto">
            <a:xfrm>
              <a:off x="4199398" y="2143737"/>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L/R</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2" name="Rectangle 41">
              <a:extLst>
                <a:ext uri="{FF2B5EF4-FFF2-40B4-BE49-F238E27FC236}">
                  <a16:creationId xmlns:a16="http://schemas.microsoft.com/office/drawing/2014/main" id="{3925C961-57CF-D349-AB32-A9692749F035}"/>
                </a:ext>
              </a:extLst>
            </p:cNvPr>
            <p:cNvSpPr/>
            <p:nvPr/>
          </p:nvSpPr>
          <p:spPr>
            <a:xfrm>
              <a:off x="4418854" y="2180844"/>
              <a:ext cx="85344" cy="2468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3" name="TextBox 42">
            <a:extLst>
              <a:ext uri="{FF2B5EF4-FFF2-40B4-BE49-F238E27FC236}">
                <a16:creationId xmlns:a16="http://schemas.microsoft.com/office/drawing/2014/main" id="{075CB59D-6E37-644B-87A0-86A5D61EB620}"/>
              </a:ext>
            </a:extLst>
          </p:cNvPr>
          <p:cNvSpPr txBox="1"/>
          <p:nvPr/>
        </p:nvSpPr>
        <p:spPr>
          <a:xfrm>
            <a:off x="4175012" y="2314737"/>
            <a:ext cx="109517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L / R</a:t>
            </a:r>
          </a:p>
        </p:txBody>
      </p:sp>
      <p:grpSp>
        <p:nvGrpSpPr>
          <p:cNvPr id="19" name="Group 18">
            <a:extLst>
              <a:ext uri="{FF2B5EF4-FFF2-40B4-BE49-F238E27FC236}">
                <a16:creationId xmlns:a16="http://schemas.microsoft.com/office/drawing/2014/main" id="{6A4AEDD2-EED9-9242-A1CE-295F5C6A03DB}"/>
              </a:ext>
            </a:extLst>
          </p:cNvPr>
          <p:cNvGrpSpPr/>
          <p:nvPr/>
        </p:nvGrpSpPr>
        <p:grpSpPr>
          <a:xfrm>
            <a:off x="3156251" y="2947504"/>
            <a:ext cx="1781653" cy="1463020"/>
            <a:chOff x="1660939" y="3934767"/>
            <a:chExt cx="1781653" cy="1463020"/>
          </a:xfrm>
        </p:grpSpPr>
        <p:sp>
          <p:nvSpPr>
            <p:cNvPr id="13" name="TextBox 12">
              <a:extLst>
                <a:ext uri="{FF2B5EF4-FFF2-40B4-BE49-F238E27FC236}">
                  <a16:creationId xmlns:a16="http://schemas.microsoft.com/office/drawing/2014/main" id="{80101E67-F8E3-5F43-87A5-EEE3F55BCF5A}"/>
                </a:ext>
              </a:extLst>
            </p:cNvPr>
            <p:cNvSpPr txBox="1"/>
            <p:nvPr/>
          </p:nvSpPr>
          <p:spPr>
            <a:xfrm>
              <a:off x="1673639" y="4856490"/>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7" name="TextBox 46">
              <a:extLst>
                <a:ext uri="{FF2B5EF4-FFF2-40B4-BE49-F238E27FC236}">
                  <a16:creationId xmlns:a16="http://schemas.microsoft.com/office/drawing/2014/main" id="{E3ADC375-683E-5F46-8229-0B251E9F0CDD}"/>
                </a:ext>
              </a:extLst>
            </p:cNvPr>
            <p:cNvSpPr txBox="1"/>
            <p:nvPr/>
          </p:nvSpPr>
          <p:spPr>
            <a:xfrm>
              <a:off x="2070100" y="4874567"/>
              <a:ext cx="137249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0.00027</a:t>
              </a:r>
            </a:p>
          </p:txBody>
        </p:sp>
        <p:grpSp>
          <p:nvGrpSpPr>
            <p:cNvPr id="18" name="Group 17">
              <a:extLst>
                <a:ext uri="{FF2B5EF4-FFF2-40B4-BE49-F238E27FC236}">
                  <a16:creationId xmlns:a16="http://schemas.microsoft.com/office/drawing/2014/main" id="{9AD14E5C-D408-D34F-A4E3-3FF2736B1748}"/>
                </a:ext>
              </a:extLst>
            </p:cNvPr>
            <p:cNvGrpSpPr/>
            <p:nvPr/>
          </p:nvGrpSpPr>
          <p:grpSpPr>
            <a:xfrm>
              <a:off x="1660939" y="3934767"/>
              <a:ext cx="1473628" cy="868065"/>
              <a:chOff x="1660939" y="3795067"/>
              <a:chExt cx="1473628" cy="868065"/>
            </a:xfrm>
          </p:grpSpPr>
          <p:sp>
            <p:nvSpPr>
              <p:cNvPr id="79" name="TextBox 78">
                <a:extLst>
                  <a:ext uri="{FF2B5EF4-FFF2-40B4-BE49-F238E27FC236}">
                    <a16:creationId xmlns:a16="http://schemas.microsoft.com/office/drawing/2014/main" id="{52A82ED6-4EB6-9646-9813-CD52285AEECC}"/>
                  </a:ext>
                </a:extLst>
              </p:cNvPr>
              <p:cNvSpPr txBox="1"/>
              <p:nvPr/>
            </p:nvSpPr>
            <p:spPr>
              <a:xfrm>
                <a:off x="1660939" y="3952557"/>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nvGrpSpPr>
              <p:cNvPr id="17" name="Group 16">
                <a:extLst>
                  <a:ext uri="{FF2B5EF4-FFF2-40B4-BE49-F238E27FC236}">
                    <a16:creationId xmlns:a16="http://schemas.microsoft.com/office/drawing/2014/main" id="{2D5D5FF4-838F-754C-8978-6526E35349A3}"/>
                  </a:ext>
                </a:extLst>
              </p:cNvPr>
              <p:cNvGrpSpPr/>
              <p:nvPr/>
            </p:nvGrpSpPr>
            <p:grpSpPr>
              <a:xfrm>
                <a:off x="2095500" y="3795067"/>
                <a:ext cx="1039067" cy="868065"/>
                <a:chOff x="2032000" y="3795067"/>
                <a:chExt cx="1039067" cy="868065"/>
              </a:xfrm>
            </p:grpSpPr>
            <p:sp>
              <p:nvSpPr>
                <p:cNvPr id="80" name="TextBox 79">
                  <a:extLst>
                    <a:ext uri="{FF2B5EF4-FFF2-40B4-BE49-F238E27FC236}">
                      <a16:creationId xmlns:a16="http://schemas.microsoft.com/office/drawing/2014/main" id="{E983D372-880E-BD47-AF86-736C61470D97}"/>
                    </a:ext>
                  </a:extLst>
                </p:cNvPr>
                <p:cNvSpPr txBox="1"/>
                <p:nvPr/>
              </p:nvSpPr>
              <p:spPr>
                <a:xfrm>
                  <a:off x="2146300" y="3795067"/>
                  <a:ext cx="7280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.008</a:t>
                  </a:r>
                </a:p>
              </p:txBody>
            </p:sp>
            <p:sp>
              <p:nvSpPr>
                <p:cNvPr id="81" name="TextBox 80">
                  <a:extLst>
                    <a:ext uri="{FF2B5EF4-FFF2-40B4-BE49-F238E27FC236}">
                      <a16:creationId xmlns:a16="http://schemas.microsoft.com/office/drawing/2014/main" id="{C1BDCBB7-422E-9B44-86BF-FE476616B58A}"/>
                    </a:ext>
                  </a:extLst>
                </p:cNvPr>
                <p:cNvSpPr txBox="1"/>
                <p:nvPr/>
              </p:nvSpPr>
              <p:spPr>
                <a:xfrm>
                  <a:off x="2032000" y="4201467"/>
                  <a:ext cx="103906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30.008</a:t>
                  </a:r>
                </a:p>
              </p:txBody>
            </p:sp>
            <p:cxnSp>
              <p:nvCxnSpPr>
                <p:cNvPr id="82" name="Straight Connector 81">
                  <a:extLst>
                    <a:ext uri="{FF2B5EF4-FFF2-40B4-BE49-F238E27FC236}">
                      <a16:creationId xmlns:a16="http://schemas.microsoft.com/office/drawing/2014/main" id="{BBAC316F-2A0D-B744-BBEB-CB399528A356}"/>
                    </a:ext>
                  </a:extLst>
                </p:cNvPr>
                <p:cNvCxnSpPr/>
                <p:nvPr/>
              </p:nvCxnSpPr>
              <p:spPr>
                <a:xfrm>
                  <a:off x="2120900" y="4239567"/>
                  <a:ext cx="825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85" name="Rectangle 84">
            <a:extLst>
              <a:ext uri="{FF2B5EF4-FFF2-40B4-BE49-F238E27FC236}">
                <a16:creationId xmlns:a16="http://schemas.microsoft.com/office/drawing/2014/main" id="{6A30693C-EFD3-504D-9986-8B04D7557A03}"/>
              </a:ext>
            </a:extLst>
          </p:cNvPr>
          <p:cNvSpPr/>
          <p:nvPr/>
        </p:nvSpPr>
        <p:spPr>
          <a:xfrm>
            <a:off x="5728597" y="1978889"/>
            <a:ext cx="85344" cy="2468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7907A72-228A-0E4D-9982-EED66F10F557}"/>
              </a:ext>
            </a:extLst>
          </p:cNvPr>
          <p:cNvSpPr txBox="1"/>
          <p:nvPr/>
        </p:nvSpPr>
        <p:spPr>
          <a:xfrm>
            <a:off x="1219200" y="5055243"/>
            <a:ext cx="10194664" cy="1231106"/>
          </a:xfrm>
          <a:prstGeom prst="rect">
            <a:avLst/>
          </a:prstGeom>
          <a:noFill/>
        </p:spPr>
        <p:txBody>
          <a:bodyPr wrap="square" rtlCol="0">
            <a:spAutoFit/>
          </a:bodyPr>
          <a:lstStyle/>
          <a:p>
            <a:pPr marL="287338" marR="0" lvl="0" indent="-287338"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rdt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3.0 protocol performance stinks!</a:t>
            </a:r>
          </a:p>
          <a:p>
            <a:pPr marL="287338" marR="0" lvl="0" indent="-287338"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Protocol limits performance of underlying infrastructure (channel)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lide Number Placeholder 2">
            <a:extLst>
              <a:ext uri="{FF2B5EF4-FFF2-40B4-BE49-F238E27FC236}">
                <a16:creationId xmlns:a16="http://schemas.microsoft.com/office/drawing/2014/main" id="{CB5285FE-6F5F-D849-A9CB-EEFE33B31B9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a:t>
            </a:fld>
            <a:endParaRPr lang="en-US" dirty="0"/>
          </a:p>
        </p:txBody>
      </p:sp>
    </p:spTree>
    <p:extLst>
      <p:ext uri="{BB962C8B-B14F-4D97-AF65-F5344CB8AC3E}">
        <p14:creationId xmlns:p14="http://schemas.microsoft.com/office/powerpoint/2010/main" val="2622193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dissolve">
                                      <p:cBhvr>
                                        <p:cTn id="12" dur="500"/>
                                        <p:tgtEl>
                                          <p:spTgt spid="37"/>
                                        </p:tgtEl>
                                      </p:cBhvr>
                                    </p:animEffect>
                                  </p:childTnLst>
                                </p:cTn>
                              </p:par>
                              <p:par>
                                <p:cTn id="13" presetID="9"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dissolv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dissolve">
                                      <p:cBhvr>
                                        <p:cTn id="20" dur="500"/>
                                        <p:tgtEl>
                                          <p:spTgt spid="12"/>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dissolve">
                                      <p:cBhvr>
                                        <p:cTn id="23" dur="500"/>
                                        <p:tgtEl>
                                          <p:spTgt spid="4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dissolve">
                                      <p:cBhvr>
                                        <p:cTn id="28" dur="500"/>
                                        <p:tgtEl>
                                          <p:spTgt spid="3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animEffect transition="in" filter="dissolve">
                                      <p:cBhvr>
                                        <p:cTn id="31" dur="500"/>
                                        <p:tgtEl>
                                          <p:spTgt spid="85"/>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dissolv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dissolv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dissolve">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43" grpId="0"/>
      <p:bldP spid="85" grpId="0" animBg="1"/>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pipelined protocols operation</a:t>
            </a:r>
            <a:endParaRPr lang="en-US" sz="4400" dirty="0"/>
          </a:p>
        </p:txBody>
      </p:sp>
      <p:sp>
        <p:nvSpPr>
          <p:cNvPr id="78" name="Rectangle 3">
            <a:extLst>
              <a:ext uri="{FF2B5EF4-FFF2-40B4-BE49-F238E27FC236}">
                <a16:creationId xmlns:a16="http://schemas.microsoft.com/office/drawing/2014/main" id="{58138FEE-B5E2-DF48-8378-96F53EA03F37}"/>
              </a:ext>
            </a:extLst>
          </p:cNvPr>
          <p:cNvSpPr txBox="1">
            <a:spLocks noChangeArrowheads="1"/>
          </p:cNvSpPr>
          <p:nvPr/>
        </p:nvSpPr>
        <p:spPr>
          <a:xfrm>
            <a:off x="722556" y="1312877"/>
            <a:ext cx="10988826" cy="203318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pipelining:</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sender allows multiple,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in-flight”, yet-to-be-acknowledged packets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range of sequence numbers must be increased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buffering at sender and/or receiver</a:t>
            </a:r>
          </a:p>
        </p:txBody>
      </p:sp>
      <p:grpSp>
        <p:nvGrpSpPr>
          <p:cNvPr id="4" name="Group 3">
            <a:extLst>
              <a:ext uri="{FF2B5EF4-FFF2-40B4-BE49-F238E27FC236}">
                <a16:creationId xmlns:a16="http://schemas.microsoft.com/office/drawing/2014/main" id="{4B5D14E0-A0D3-934D-BBAE-EEDB9CC51924}"/>
              </a:ext>
            </a:extLst>
          </p:cNvPr>
          <p:cNvGrpSpPr/>
          <p:nvPr/>
        </p:nvGrpSpPr>
        <p:grpSpPr>
          <a:xfrm>
            <a:off x="2916237" y="2993267"/>
            <a:ext cx="6359525" cy="2370138"/>
            <a:chOff x="1673403" y="3019025"/>
            <a:chExt cx="6359525" cy="2370138"/>
          </a:xfrm>
        </p:grpSpPr>
        <p:pic>
          <p:nvPicPr>
            <p:cNvPr id="80" name="Picture 5" descr="rdt_pipelined1">
              <a:extLst>
                <a:ext uri="{FF2B5EF4-FFF2-40B4-BE49-F238E27FC236}">
                  <a16:creationId xmlns:a16="http://schemas.microsoft.com/office/drawing/2014/main" id="{2F295627-AEBF-DA46-A59F-B81177F03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7403" y="3019025"/>
              <a:ext cx="6105525"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 name="Group 44">
              <a:extLst>
                <a:ext uri="{FF2B5EF4-FFF2-40B4-BE49-F238E27FC236}">
                  <a16:creationId xmlns:a16="http://schemas.microsoft.com/office/drawing/2014/main" id="{1111BB3D-3EE3-524B-ADDE-3374E7ACC18F}"/>
                </a:ext>
              </a:extLst>
            </p:cNvPr>
            <p:cNvGrpSpPr>
              <a:grpSpLocks/>
            </p:cNvGrpSpPr>
            <p:nvPr/>
          </p:nvGrpSpPr>
          <p:grpSpPr bwMode="auto">
            <a:xfrm>
              <a:off x="1673403" y="3696888"/>
              <a:ext cx="469900" cy="465137"/>
              <a:chOff x="881" y="2283"/>
              <a:chExt cx="296" cy="293"/>
            </a:xfrm>
          </p:grpSpPr>
          <p:sp>
            <p:nvSpPr>
              <p:cNvPr id="82" name="Rectangle 43">
                <a:extLst>
                  <a:ext uri="{FF2B5EF4-FFF2-40B4-BE49-F238E27FC236}">
                    <a16:creationId xmlns:a16="http://schemas.microsoft.com/office/drawing/2014/main" id="{10716B48-25E1-7F4D-87AA-377041B56237}"/>
                  </a:ext>
                </a:extLst>
              </p:cNvPr>
              <p:cNvSpPr>
                <a:spLocks noChangeArrowheads="1"/>
              </p:cNvSpPr>
              <p:nvPr/>
            </p:nvSpPr>
            <p:spPr bwMode="auto">
              <a:xfrm>
                <a:off x="1026" y="2283"/>
                <a:ext cx="122" cy="26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83" name="Group 36">
                <a:extLst>
                  <a:ext uri="{FF2B5EF4-FFF2-40B4-BE49-F238E27FC236}">
                    <a16:creationId xmlns:a16="http://schemas.microsoft.com/office/drawing/2014/main" id="{F805DF4F-95A4-BD4D-AD9B-A0F477F1C32B}"/>
                  </a:ext>
                </a:extLst>
              </p:cNvPr>
              <p:cNvGrpSpPr>
                <a:grpSpLocks/>
              </p:cNvGrpSpPr>
              <p:nvPr/>
            </p:nvGrpSpPr>
            <p:grpSpPr bwMode="auto">
              <a:xfrm flipH="1">
                <a:off x="881" y="2283"/>
                <a:ext cx="296" cy="293"/>
                <a:chOff x="2839" y="3501"/>
                <a:chExt cx="755" cy="803"/>
              </a:xfrm>
            </p:grpSpPr>
            <p:pic>
              <p:nvPicPr>
                <p:cNvPr id="84" name="Picture 37" descr="desktop_computer_stylized_medium">
                  <a:extLst>
                    <a:ext uri="{FF2B5EF4-FFF2-40B4-BE49-F238E27FC236}">
                      <a16:creationId xmlns:a16="http://schemas.microsoft.com/office/drawing/2014/main" id="{85D0573B-AA1D-C647-947D-E75FC498BE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Freeform 38">
                  <a:extLst>
                    <a:ext uri="{FF2B5EF4-FFF2-40B4-BE49-F238E27FC236}">
                      <a16:creationId xmlns:a16="http://schemas.microsoft.com/office/drawing/2014/main" id="{D280CE14-8944-254D-8B1F-894AD27B66D3}"/>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86" name="Freeform 48">
              <a:extLst>
                <a:ext uri="{FF2B5EF4-FFF2-40B4-BE49-F238E27FC236}">
                  <a16:creationId xmlns:a16="http://schemas.microsoft.com/office/drawing/2014/main" id="{A1C3D94C-83E9-0F40-97E5-B369E086816C}"/>
                </a:ext>
              </a:extLst>
            </p:cNvPr>
            <p:cNvSpPr>
              <a:spLocks/>
            </p:cNvSpPr>
            <p:nvPr/>
          </p:nvSpPr>
          <p:spPr bwMode="auto">
            <a:xfrm>
              <a:off x="7613828" y="3709588"/>
              <a:ext cx="185737" cy="431800"/>
            </a:xfrm>
            <a:custGeom>
              <a:avLst/>
              <a:gdLst>
                <a:gd name="T0" fmla="*/ 2147483647 w 117"/>
                <a:gd name="T1" fmla="*/ 2147483647 h 272"/>
                <a:gd name="T2" fmla="*/ 2147483647 w 117"/>
                <a:gd name="T3" fmla="*/ 2147483647 h 272"/>
                <a:gd name="T4" fmla="*/ 2147483647 w 117"/>
                <a:gd name="T5" fmla="*/ 2147483647 h 272"/>
                <a:gd name="T6" fmla="*/ 0 w 117"/>
                <a:gd name="T7" fmla="*/ 2147483647 h 272"/>
                <a:gd name="T8" fmla="*/ 2147483647 w 117"/>
                <a:gd name="T9" fmla="*/ 2147483647 h 272"/>
                <a:gd name="T10" fmla="*/ 2147483647 w 117"/>
                <a:gd name="T11" fmla="*/ 2147483647 h 272"/>
                <a:gd name="T12" fmla="*/ 2147483647 w 117"/>
                <a:gd name="T13" fmla="*/ 0 h 272"/>
                <a:gd name="T14" fmla="*/ 2147483647 w 117"/>
                <a:gd name="T15" fmla="*/ 2147483647 h 2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7" h="272">
                  <a:moveTo>
                    <a:pt x="6" y="6"/>
                  </a:moveTo>
                  <a:lnTo>
                    <a:pt x="3" y="77"/>
                  </a:lnTo>
                  <a:lnTo>
                    <a:pt x="59" y="120"/>
                  </a:lnTo>
                  <a:lnTo>
                    <a:pt x="0" y="146"/>
                  </a:lnTo>
                  <a:lnTo>
                    <a:pt x="3" y="270"/>
                  </a:lnTo>
                  <a:lnTo>
                    <a:pt x="117" y="272"/>
                  </a:lnTo>
                  <a:lnTo>
                    <a:pt x="114" y="0"/>
                  </a:lnTo>
                  <a:lnTo>
                    <a:pt x="6" y="6"/>
                  </a:lnTo>
                  <a:close/>
                </a:path>
              </a:pathLst>
            </a:custGeom>
            <a:solidFill>
              <a:schemeClr val="bg1"/>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7" name="Group 50">
              <a:extLst>
                <a:ext uri="{FF2B5EF4-FFF2-40B4-BE49-F238E27FC236}">
                  <a16:creationId xmlns:a16="http://schemas.microsoft.com/office/drawing/2014/main" id="{605457C9-55E9-234B-AF40-1C2CEC7BD520}"/>
                </a:ext>
              </a:extLst>
            </p:cNvPr>
            <p:cNvGrpSpPr>
              <a:grpSpLocks/>
            </p:cNvGrpSpPr>
            <p:nvPr/>
          </p:nvGrpSpPr>
          <p:grpSpPr bwMode="auto">
            <a:xfrm>
              <a:off x="4784903" y="3714350"/>
              <a:ext cx="469900" cy="465138"/>
              <a:chOff x="881" y="2283"/>
              <a:chExt cx="296" cy="293"/>
            </a:xfrm>
          </p:grpSpPr>
          <p:sp>
            <p:nvSpPr>
              <p:cNvPr id="88" name="Rectangle 51">
                <a:extLst>
                  <a:ext uri="{FF2B5EF4-FFF2-40B4-BE49-F238E27FC236}">
                    <a16:creationId xmlns:a16="http://schemas.microsoft.com/office/drawing/2014/main" id="{5A66C211-A318-FD43-B1DC-494380C212A1}"/>
                  </a:ext>
                </a:extLst>
              </p:cNvPr>
              <p:cNvSpPr>
                <a:spLocks noChangeArrowheads="1"/>
              </p:cNvSpPr>
              <p:nvPr/>
            </p:nvSpPr>
            <p:spPr bwMode="auto">
              <a:xfrm>
                <a:off x="1026" y="2283"/>
                <a:ext cx="122" cy="26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89" name="Group 52">
                <a:extLst>
                  <a:ext uri="{FF2B5EF4-FFF2-40B4-BE49-F238E27FC236}">
                    <a16:creationId xmlns:a16="http://schemas.microsoft.com/office/drawing/2014/main" id="{028FC7D3-7EE7-2840-8091-94C524E05F4E}"/>
                  </a:ext>
                </a:extLst>
              </p:cNvPr>
              <p:cNvGrpSpPr>
                <a:grpSpLocks/>
              </p:cNvGrpSpPr>
              <p:nvPr/>
            </p:nvGrpSpPr>
            <p:grpSpPr bwMode="auto">
              <a:xfrm flipH="1">
                <a:off x="881" y="2283"/>
                <a:ext cx="296" cy="293"/>
                <a:chOff x="2839" y="3501"/>
                <a:chExt cx="755" cy="803"/>
              </a:xfrm>
            </p:grpSpPr>
            <p:pic>
              <p:nvPicPr>
                <p:cNvPr id="90" name="Picture 53" descr="desktop_computer_stylized_medium">
                  <a:extLst>
                    <a:ext uri="{FF2B5EF4-FFF2-40B4-BE49-F238E27FC236}">
                      <a16:creationId xmlns:a16="http://schemas.microsoft.com/office/drawing/2014/main" id="{5DF1881B-0BF4-AD42-A217-8A59265F13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Freeform 54">
                  <a:extLst>
                    <a:ext uri="{FF2B5EF4-FFF2-40B4-BE49-F238E27FC236}">
                      <a16:creationId xmlns:a16="http://schemas.microsoft.com/office/drawing/2014/main" id="{70153128-AD53-344E-AC41-31C4A7A688E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92" name="Group 55">
              <a:extLst>
                <a:ext uri="{FF2B5EF4-FFF2-40B4-BE49-F238E27FC236}">
                  <a16:creationId xmlns:a16="http://schemas.microsoft.com/office/drawing/2014/main" id="{BC8220C0-F289-EA49-A8E3-C57D20507ACD}"/>
                </a:ext>
              </a:extLst>
            </p:cNvPr>
            <p:cNvGrpSpPr>
              <a:grpSpLocks/>
            </p:cNvGrpSpPr>
            <p:nvPr/>
          </p:nvGrpSpPr>
          <p:grpSpPr bwMode="auto">
            <a:xfrm>
              <a:off x="4493546" y="3633388"/>
              <a:ext cx="223838" cy="501650"/>
              <a:chOff x="4140" y="429"/>
              <a:chExt cx="1425" cy="2396"/>
            </a:xfrm>
          </p:grpSpPr>
          <p:sp>
            <p:nvSpPr>
              <p:cNvPr id="93" name="Freeform 56">
                <a:extLst>
                  <a:ext uri="{FF2B5EF4-FFF2-40B4-BE49-F238E27FC236}">
                    <a16:creationId xmlns:a16="http://schemas.microsoft.com/office/drawing/2014/main" id="{4F76258E-0BBD-8E40-98DF-823F02EF9ACC}"/>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Rectangle 57">
                <a:extLst>
                  <a:ext uri="{FF2B5EF4-FFF2-40B4-BE49-F238E27FC236}">
                    <a16:creationId xmlns:a16="http://schemas.microsoft.com/office/drawing/2014/main" id="{7ED94245-5F5F-444B-9321-EDC0812D8D8E}"/>
                  </a:ext>
                </a:extLst>
              </p:cNvPr>
              <p:cNvSpPr>
                <a:spLocks noChangeArrowheads="1"/>
              </p:cNvSpPr>
              <p:nvPr/>
            </p:nvSpPr>
            <p:spPr bwMode="auto">
              <a:xfrm>
                <a:off x="4211" y="429"/>
                <a:ext cx="1041"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95" name="Freeform 58">
                <a:extLst>
                  <a:ext uri="{FF2B5EF4-FFF2-40B4-BE49-F238E27FC236}">
                    <a16:creationId xmlns:a16="http://schemas.microsoft.com/office/drawing/2014/main" id="{1F9330A9-C80A-E34C-9993-F9F6EFA2E932}"/>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59">
                <a:extLst>
                  <a:ext uri="{FF2B5EF4-FFF2-40B4-BE49-F238E27FC236}">
                    <a16:creationId xmlns:a16="http://schemas.microsoft.com/office/drawing/2014/main" id="{EED46AB6-5210-284B-BD15-CC7F3CC066F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Rectangle 60">
                <a:extLst>
                  <a:ext uri="{FF2B5EF4-FFF2-40B4-BE49-F238E27FC236}">
                    <a16:creationId xmlns:a16="http://schemas.microsoft.com/office/drawing/2014/main" id="{FCD372CD-8E16-EB40-BCB5-6518B2E541EE}"/>
                  </a:ext>
                </a:extLst>
              </p:cNvPr>
              <p:cNvSpPr>
                <a:spLocks noChangeArrowheads="1"/>
              </p:cNvSpPr>
              <p:nvPr/>
            </p:nvSpPr>
            <p:spPr bwMode="auto">
              <a:xfrm>
                <a:off x="4211" y="694"/>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98" name="Group 61">
                <a:extLst>
                  <a:ext uri="{FF2B5EF4-FFF2-40B4-BE49-F238E27FC236}">
                    <a16:creationId xmlns:a16="http://schemas.microsoft.com/office/drawing/2014/main" id="{A9F56FC0-6211-5447-8838-1C3E5659D8CC}"/>
                  </a:ext>
                </a:extLst>
              </p:cNvPr>
              <p:cNvGrpSpPr>
                <a:grpSpLocks/>
              </p:cNvGrpSpPr>
              <p:nvPr/>
            </p:nvGrpSpPr>
            <p:grpSpPr bwMode="auto">
              <a:xfrm>
                <a:off x="4749" y="668"/>
                <a:ext cx="581" cy="145"/>
                <a:chOff x="614" y="2568"/>
                <a:chExt cx="725" cy="139"/>
              </a:xfrm>
            </p:grpSpPr>
            <p:sp>
              <p:nvSpPr>
                <p:cNvPr id="141" name="AutoShape 62">
                  <a:extLst>
                    <a:ext uri="{FF2B5EF4-FFF2-40B4-BE49-F238E27FC236}">
                      <a16:creationId xmlns:a16="http://schemas.microsoft.com/office/drawing/2014/main" id="{B2006563-73E3-C341-BE69-A2D714EE0E00}"/>
                    </a:ext>
                  </a:extLst>
                </p:cNvPr>
                <p:cNvSpPr>
                  <a:spLocks noChangeArrowheads="1"/>
                </p:cNvSpPr>
                <p:nvPr/>
              </p:nvSpPr>
              <p:spPr bwMode="auto">
                <a:xfrm>
                  <a:off x="611" y="2571"/>
                  <a:ext cx="731"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42" name="AutoShape 63">
                  <a:extLst>
                    <a:ext uri="{FF2B5EF4-FFF2-40B4-BE49-F238E27FC236}">
                      <a16:creationId xmlns:a16="http://schemas.microsoft.com/office/drawing/2014/main" id="{452EDF48-634C-DC4E-976C-1E4013FE6563}"/>
                    </a:ext>
                  </a:extLst>
                </p:cNvPr>
                <p:cNvSpPr>
                  <a:spLocks noChangeArrowheads="1"/>
                </p:cNvSpPr>
                <p:nvPr/>
              </p:nvSpPr>
              <p:spPr bwMode="auto">
                <a:xfrm>
                  <a:off x="623" y="2586"/>
                  <a:ext cx="706"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99" name="Rectangle 64">
                <a:extLst>
                  <a:ext uri="{FF2B5EF4-FFF2-40B4-BE49-F238E27FC236}">
                    <a16:creationId xmlns:a16="http://schemas.microsoft.com/office/drawing/2014/main" id="{517F2B13-C563-4E43-B2A5-C5BD2544BCE8}"/>
                  </a:ext>
                </a:extLst>
              </p:cNvPr>
              <p:cNvSpPr>
                <a:spLocks noChangeArrowheads="1"/>
              </p:cNvSpPr>
              <p:nvPr/>
            </p:nvSpPr>
            <p:spPr bwMode="auto">
              <a:xfrm>
                <a:off x="4221" y="1020"/>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00" name="Group 65">
                <a:extLst>
                  <a:ext uri="{FF2B5EF4-FFF2-40B4-BE49-F238E27FC236}">
                    <a16:creationId xmlns:a16="http://schemas.microsoft.com/office/drawing/2014/main" id="{4ED80E09-23D9-1444-A08C-74DBBD9F351B}"/>
                  </a:ext>
                </a:extLst>
              </p:cNvPr>
              <p:cNvGrpSpPr>
                <a:grpSpLocks/>
              </p:cNvGrpSpPr>
              <p:nvPr/>
            </p:nvGrpSpPr>
            <p:grpSpPr bwMode="auto">
              <a:xfrm>
                <a:off x="4747" y="994"/>
                <a:ext cx="581" cy="134"/>
                <a:chOff x="614" y="2568"/>
                <a:chExt cx="725" cy="139"/>
              </a:xfrm>
            </p:grpSpPr>
            <p:sp>
              <p:nvSpPr>
                <p:cNvPr id="139" name="AutoShape 66">
                  <a:extLst>
                    <a:ext uri="{FF2B5EF4-FFF2-40B4-BE49-F238E27FC236}">
                      <a16:creationId xmlns:a16="http://schemas.microsoft.com/office/drawing/2014/main" id="{BD5E8DEF-A6A7-524F-A3E8-38105351EF54}"/>
                    </a:ext>
                  </a:extLst>
                </p:cNvPr>
                <p:cNvSpPr>
                  <a:spLocks noChangeArrowheads="1"/>
                </p:cNvSpPr>
                <p:nvPr/>
              </p:nvSpPr>
              <p:spPr bwMode="auto">
                <a:xfrm>
                  <a:off x="613"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40" name="AutoShape 67">
                  <a:extLst>
                    <a:ext uri="{FF2B5EF4-FFF2-40B4-BE49-F238E27FC236}">
                      <a16:creationId xmlns:a16="http://schemas.microsoft.com/office/drawing/2014/main" id="{83CE605A-8B9B-FF4A-ADD9-77EFF07CEC97}"/>
                    </a:ext>
                  </a:extLst>
                </p:cNvPr>
                <p:cNvSpPr>
                  <a:spLocks noChangeArrowheads="1"/>
                </p:cNvSpPr>
                <p:nvPr/>
              </p:nvSpPr>
              <p:spPr bwMode="auto">
                <a:xfrm>
                  <a:off x="626" y="2588"/>
                  <a:ext cx="706"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01" name="Rectangle 68">
                <a:extLst>
                  <a:ext uri="{FF2B5EF4-FFF2-40B4-BE49-F238E27FC236}">
                    <a16:creationId xmlns:a16="http://schemas.microsoft.com/office/drawing/2014/main" id="{13298108-AEB2-9C4B-9F8E-E0273C39A75B}"/>
                  </a:ext>
                </a:extLst>
              </p:cNvPr>
              <p:cNvSpPr>
                <a:spLocks noChangeArrowheads="1"/>
              </p:cNvSpPr>
              <p:nvPr/>
            </p:nvSpPr>
            <p:spPr bwMode="auto">
              <a:xfrm>
                <a:off x="4221" y="1362"/>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2" name="Rectangle 69">
                <a:extLst>
                  <a:ext uri="{FF2B5EF4-FFF2-40B4-BE49-F238E27FC236}">
                    <a16:creationId xmlns:a16="http://schemas.microsoft.com/office/drawing/2014/main" id="{998350A7-0615-C644-9F45-39D62BDB9867}"/>
                  </a:ext>
                </a:extLst>
              </p:cNvPr>
              <p:cNvSpPr>
                <a:spLocks noChangeArrowheads="1"/>
              </p:cNvSpPr>
              <p:nvPr/>
            </p:nvSpPr>
            <p:spPr bwMode="auto">
              <a:xfrm>
                <a:off x="4231" y="1657"/>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03" name="Group 70">
                <a:extLst>
                  <a:ext uri="{FF2B5EF4-FFF2-40B4-BE49-F238E27FC236}">
                    <a16:creationId xmlns:a16="http://schemas.microsoft.com/office/drawing/2014/main" id="{B66F256F-0190-C34D-B1CF-5EC3FBA6E08D}"/>
                  </a:ext>
                </a:extLst>
              </p:cNvPr>
              <p:cNvGrpSpPr>
                <a:grpSpLocks/>
              </p:cNvGrpSpPr>
              <p:nvPr/>
            </p:nvGrpSpPr>
            <p:grpSpPr bwMode="auto">
              <a:xfrm>
                <a:off x="4735" y="1627"/>
                <a:ext cx="582" cy="151"/>
                <a:chOff x="614" y="2568"/>
                <a:chExt cx="725" cy="139"/>
              </a:xfrm>
            </p:grpSpPr>
            <p:sp>
              <p:nvSpPr>
                <p:cNvPr id="119" name="AutoShape 71">
                  <a:extLst>
                    <a:ext uri="{FF2B5EF4-FFF2-40B4-BE49-F238E27FC236}">
                      <a16:creationId xmlns:a16="http://schemas.microsoft.com/office/drawing/2014/main" id="{B44DED58-257C-B64B-BAD6-1093812EF734}"/>
                    </a:ext>
                  </a:extLst>
                </p:cNvPr>
                <p:cNvSpPr>
                  <a:spLocks noChangeArrowheads="1"/>
                </p:cNvSpPr>
                <p:nvPr/>
              </p:nvSpPr>
              <p:spPr bwMode="auto">
                <a:xfrm>
                  <a:off x="616" y="2568"/>
                  <a:ext cx="718"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20" name="AutoShape 72">
                  <a:extLst>
                    <a:ext uri="{FF2B5EF4-FFF2-40B4-BE49-F238E27FC236}">
                      <a16:creationId xmlns:a16="http://schemas.microsoft.com/office/drawing/2014/main" id="{17264758-5A11-0143-AA34-8D5FF585E9F0}"/>
                    </a:ext>
                  </a:extLst>
                </p:cNvPr>
                <p:cNvSpPr>
                  <a:spLocks noChangeArrowheads="1"/>
                </p:cNvSpPr>
                <p:nvPr/>
              </p:nvSpPr>
              <p:spPr bwMode="auto">
                <a:xfrm>
                  <a:off x="628" y="2582"/>
                  <a:ext cx="692" cy="11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04" name="Freeform 73">
                <a:extLst>
                  <a:ext uri="{FF2B5EF4-FFF2-40B4-BE49-F238E27FC236}">
                    <a16:creationId xmlns:a16="http://schemas.microsoft.com/office/drawing/2014/main" id="{F9396AFF-50A0-E543-85ED-A1775DCAB5B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05" name="Group 74">
                <a:extLst>
                  <a:ext uri="{FF2B5EF4-FFF2-40B4-BE49-F238E27FC236}">
                    <a16:creationId xmlns:a16="http://schemas.microsoft.com/office/drawing/2014/main" id="{EFAA059B-DB96-6A46-B4E6-8F3321F53126}"/>
                  </a:ext>
                </a:extLst>
              </p:cNvPr>
              <p:cNvGrpSpPr>
                <a:grpSpLocks/>
              </p:cNvGrpSpPr>
              <p:nvPr/>
            </p:nvGrpSpPr>
            <p:grpSpPr bwMode="auto">
              <a:xfrm>
                <a:off x="4739" y="1327"/>
                <a:ext cx="582" cy="139"/>
                <a:chOff x="614" y="2568"/>
                <a:chExt cx="725" cy="139"/>
              </a:xfrm>
            </p:grpSpPr>
            <p:sp>
              <p:nvSpPr>
                <p:cNvPr id="117" name="AutoShape 75">
                  <a:extLst>
                    <a:ext uri="{FF2B5EF4-FFF2-40B4-BE49-F238E27FC236}">
                      <a16:creationId xmlns:a16="http://schemas.microsoft.com/office/drawing/2014/main" id="{83348DAB-4511-F04F-BD32-D337DF959B21}"/>
                    </a:ext>
                  </a:extLst>
                </p:cNvPr>
                <p:cNvSpPr>
                  <a:spLocks noChangeArrowheads="1"/>
                </p:cNvSpPr>
                <p:nvPr/>
              </p:nvSpPr>
              <p:spPr bwMode="auto">
                <a:xfrm>
                  <a:off x="611" y="2565"/>
                  <a:ext cx="730" cy="14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8" name="AutoShape 76">
                  <a:extLst>
                    <a:ext uri="{FF2B5EF4-FFF2-40B4-BE49-F238E27FC236}">
                      <a16:creationId xmlns:a16="http://schemas.microsoft.com/office/drawing/2014/main" id="{A1C8B31D-3D51-2648-9688-2AEA89487C8D}"/>
                    </a:ext>
                  </a:extLst>
                </p:cNvPr>
                <p:cNvSpPr>
                  <a:spLocks noChangeArrowheads="1"/>
                </p:cNvSpPr>
                <p:nvPr/>
              </p:nvSpPr>
              <p:spPr bwMode="auto">
                <a:xfrm>
                  <a:off x="623" y="2580"/>
                  <a:ext cx="705"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06" name="Rectangle 77">
                <a:extLst>
                  <a:ext uri="{FF2B5EF4-FFF2-40B4-BE49-F238E27FC236}">
                    <a16:creationId xmlns:a16="http://schemas.microsoft.com/office/drawing/2014/main" id="{7EF69E7C-0C67-7148-8FE3-54101303E382}"/>
                  </a:ext>
                </a:extLst>
              </p:cNvPr>
              <p:cNvSpPr>
                <a:spLocks noChangeArrowheads="1"/>
              </p:cNvSpPr>
              <p:nvPr/>
            </p:nvSpPr>
            <p:spPr bwMode="auto">
              <a:xfrm>
                <a:off x="5252"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7" name="Freeform 78">
                <a:extLst>
                  <a:ext uri="{FF2B5EF4-FFF2-40B4-BE49-F238E27FC236}">
                    <a16:creationId xmlns:a16="http://schemas.microsoft.com/office/drawing/2014/main" id="{FBDFC7A2-78F6-6B42-8CB8-7F23EE4E35C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Freeform 79">
                <a:extLst>
                  <a:ext uri="{FF2B5EF4-FFF2-40B4-BE49-F238E27FC236}">
                    <a16:creationId xmlns:a16="http://schemas.microsoft.com/office/drawing/2014/main" id="{CC939040-7BF3-9046-BF6A-0458E0E2ED5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Oval 80">
                <a:extLst>
                  <a:ext uri="{FF2B5EF4-FFF2-40B4-BE49-F238E27FC236}">
                    <a16:creationId xmlns:a16="http://schemas.microsoft.com/office/drawing/2014/main" id="{D3889CB4-554F-C549-9233-410F2A7029F0}"/>
                  </a:ext>
                </a:extLst>
              </p:cNvPr>
              <p:cNvSpPr>
                <a:spLocks noChangeArrowheads="1"/>
              </p:cNvSpPr>
              <p:nvPr/>
            </p:nvSpPr>
            <p:spPr bwMode="auto">
              <a:xfrm>
                <a:off x="5514" y="2613"/>
                <a:ext cx="51" cy="91"/>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0" name="Freeform 81">
                <a:extLst>
                  <a:ext uri="{FF2B5EF4-FFF2-40B4-BE49-F238E27FC236}">
                    <a16:creationId xmlns:a16="http://schemas.microsoft.com/office/drawing/2014/main" id="{01CB4D71-6B24-D14B-8E88-E20AA937EAC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AutoShape 82">
                <a:extLst>
                  <a:ext uri="{FF2B5EF4-FFF2-40B4-BE49-F238E27FC236}">
                    <a16:creationId xmlns:a16="http://schemas.microsoft.com/office/drawing/2014/main" id="{765BBEDF-3C6B-1040-8B52-503C49ECEE41}"/>
                  </a:ext>
                </a:extLst>
              </p:cNvPr>
              <p:cNvSpPr>
                <a:spLocks noChangeArrowheads="1"/>
              </p:cNvSpPr>
              <p:nvPr/>
            </p:nvSpPr>
            <p:spPr bwMode="auto">
              <a:xfrm>
                <a:off x="4140" y="2681"/>
                <a:ext cx="1203"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2" name="AutoShape 83">
                <a:extLst>
                  <a:ext uri="{FF2B5EF4-FFF2-40B4-BE49-F238E27FC236}">
                    <a16:creationId xmlns:a16="http://schemas.microsoft.com/office/drawing/2014/main" id="{6FAE78A0-65F7-5C4E-B7EA-70A785714C79}"/>
                  </a:ext>
                </a:extLst>
              </p:cNvPr>
              <p:cNvSpPr>
                <a:spLocks noChangeArrowheads="1"/>
              </p:cNvSpPr>
              <p:nvPr/>
            </p:nvSpPr>
            <p:spPr bwMode="auto">
              <a:xfrm>
                <a:off x="4211" y="2711"/>
                <a:ext cx="106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3" name="Oval 84">
                <a:extLst>
                  <a:ext uri="{FF2B5EF4-FFF2-40B4-BE49-F238E27FC236}">
                    <a16:creationId xmlns:a16="http://schemas.microsoft.com/office/drawing/2014/main" id="{AABAB6CF-26FB-E547-93D6-6BFF67172415}"/>
                  </a:ext>
                </a:extLst>
              </p:cNvPr>
              <p:cNvSpPr>
                <a:spLocks noChangeArrowheads="1"/>
              </p:cNvSpPr>
              <p:nvPr/>
            </p:nvSpPr>
            <p:spPr bwMode="auto">
              <a:xfrm>
                <a:off x="4312" y="2385"/>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4" name="Oval 85">
                <a:extLst>
                  <a:ext uri="{FF2B5EF4-FFF2-40B4-BE49-F238E27FC236}">
                    <a16:creationId xmlns:a16="http://schemas.microsoft.com/office/drawing/2014/main" id="{EE66FB07-9865-0B46-8669-F1B01050BFB9}"/>
                  </a:ext>
                </a:extLst>
              </p:cNvPr>
              <p:cNvSpPr>
                <a:spLocks noChangeArrowheads="1"/>
              </p:cNvSpPr>
              <p:nvPr/>
            </p:nvSpPr>
            <p:spPr bwMode="auto">
              <a:xfrm>
                <a:off x="4484" y="2385"/>
                <a:ext cx="162" cy="144"/>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15" name="Oval 86">
                <a:extLst>
                  <a:ext uri="{FF2B5EF4-FFF2-40B4-BE49-F238E27FC236}">
                    <a16:creationId xmlns:a16="http://schemas.microsoft.com/office/drawing/2014/main" id="{5A789240-A8CA-A84D-A9E3-BD6D3717368B}"/>
                  </a:ext>
                </a:extLst>
              </p:cNvPr>
              <p:cNvSpPr>
                <a:spLocks noChangeArrowheads="1"/>
              </p:cNvSpPr>
              <p:nvPr/>
            </p:nvSpPr>
            <p:spPr bwMode="auto">
              <a:xfrm>
                <a:off x="4666" y="2378"/>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6" name="Rectangle 87">
                <a:extLst>
                  <a:ext uri="{FF2B5EF4-FFF2-40B4-BE49-F238E27FC236}">
                    <a16:creationId xmlns:a16="http://schemas.microsoft.com/office/drawing/2014/main" id="{A762B790-F441-E240-934E-A9664B2F5399}"/>
                  </a:ext>
                </a:extLst>
              </p:cNvPr>
              <p:cNvSpPr>
                <a:spLocks noChangeArrowheads="1"/>
              </p:cNvSpPr>
              <p:nvPr/>
            </p:nvSpPr>
            <p:spPr bwMode="auto">
              <a:xfrm>
                <a:off x="5060" y="1832"/>
                <a:ext cx="91" cy="766"/>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nvGrpSpPr>
            <p:cNvPr id="143" name="Group 88">
              <a:extLst>
                <a:ext uri="{FF2B5EF4-FFF2-40B4-BE49-F238E27FC236}">
                  <a16:creationId xmlns:a16="http://schemas.microsoft.com/office/drawing/2014/main" id="{17DC5732-628F-6741-852D-2CBD1EC0FDEB}"/>
                </a:ext>
              </a:extLst>
            </p:cNvPr>
            <p:cNvGrpSpPr>
              <a:grpSpLocks/>
            </p:cNvGrpSpPr>
            <p:nvPr/>
          </p:nvGrpSpPr>
          <p:grpSpPr bwMode="auto">
            <a:xfrm>
              <a:off x="7659865" y="3576238"/>
              <a:ext cx="223838" cy="501650"/>
              <a:chOff x="4140" y="429"/>
              <a:chExt cx="1425" cy="2396"/>
            </a:xfrm>
          </p:grpSpPr>
          <p:sp>
            <p:nvSpPr>
              <p:cNvPr id="144" name="Freeform 89">
                <a:extLst>
                  <a:ext uri="{FF2B5EF4-FFF2-40B4-BE49-F238E27FC236}">
                    <a16:creationId xmlns:a16="http://schemas.microsoft.com/office/drawing/2014/main" id="{66258626-CF43-4144-AFB5-A001FE5BE71D}"/>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Rectangle 90">
                <a:extLst>
                  <a:ext uri="{FF2B5EF4-FFF2-40B4-BE49-F238E27FC236}">
                    <a16:creationId xmlns:a16="http://schemas.microsoft.com/office/drawing/2014/main" id="{75E92CB8-71C3-E048-84D7-F08068A4723B}"/>
                  </a:ext>
                </a:extLst>
              </p:cNvPr>
              <p:cNvSpPr>
                <a:spLocks noChangeArrowheads="1"/>
              </p:cNvSpPr>
              <p:nvPr/>
            </p:nvSpPr>
            <p:spPr bwMode="auto">
              <a:xfrm>
                <a:off x="4211" y="429"/>
                <a:ext cx="1041"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46" name="Freeform 91">
                <a:extLst>
                  <a:ext uri="{FF2B5EF4-FFF2-40B4-BE49-F238E27FC236}">
                    <a16:creationId xmlns:a16="http://schemas.microsoft.com/office/drawing/2014/main" id="{71C22EB9-D8A4-F04F-A304-D772EEAB70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Freeform 92">
                <a:extLst>
                  <a:ext uri="{FF2B5EF4-FFF2-40B4-BE49-F238E27FC236}">
                    <a16:creationId xmlns:a16="http://schemas.microsoft.com/office/drawing/2014/main" id="{A649EF14-8235-8B4A-8B8B-3AC2B2B64C7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Rectangle 93">
                <a:extLst>
                  <a:ext uri="{FF2B5EF4-FFF2-40B4-BE49-F238E27FC236}">
                    <a16:creationId xmlns:a16="http://schemas.microsoft.com/office/drawing/2014/main" id="{2C3B9489-DBCD-1B41-A1E0-9939F842AA3D}"/>
                  </a:ext>
                </a:extLst>
              </p:cNvPr>
              <p:cNvSpPr>
                <a:spLocks noChangeArrowheads="1"/>
              </p:cNvSpPr>
              <p:nvPr/>
            </p:nvSpPr>
            <p:spPr bwMode="auto">
              <a:xfrm>
                <a:off x="4211" y="694"/>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49" name="Group 94">
                <a:extLst>
                  <a:ext uri="{FF2B5EF4-FFF2-40B4-BE49-F238E27FC236}">
                    <a16:creationId xmlns:a16="http://schemas.microsoft.com/office/drawing/2014/main" id="{5EA53608-D5A4-FB4B-8294-6D9D65EFF00C}"/>
                  </a:ext>
                </a:extLst>
              </p:cNvPr>
              <p:cNvGrpSpPr>
                <a:grpSpLocks/>
              </p:cNvGrpSpPr>
              <p:nvPr/>
            </p:nvGrpSpPr>
            <p:grpSpPr bwMode="auto">
              <a:xfrm>
                <a:off x="4749" y="668"/>
                <a:ext cx="581" cy="145"/>
                <a:chOff x="614" y="2568"/>
                <a:chExt cx="725" cy="139"/>
              </a:xfrm>
            </p:grpSpPr>
            <p:sp>
              <p:nvSpPr>
                <p:cNvPr id="174" name="AutoShape 95">
                  <a:extLst>
                    <a:ext uri="{FF2B5EF4-FFF2-40B4-BE49-F238E27FC236}">
                      <a16:creationId xmlns:a16="http://schemas.microsoft.com/office/drawing/2014/main" id="{AED3F1D5-BB8C-254E-83E5-6EAB6528B99F}"/>
                    </a:ext>
                  </a:extLst>
                </p:cNvPr>
                <p:cNvSpPr>
                  <a:spLocks noChangeArrowheads="1"/>
                </p:cNvSpPr>
                <p:nvPr/>
              </p:nvSpPr>
              <p:spPr bwMode="auto">
                <a:xfrm>
                  <a:off x="611" y="2571"/>
                  <a:ext cx="731"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75" name="AutoShape 96">
                  <a:extLst>
                    <a:ext uri="{FF2B5EF4-FFF2-40B4-BE49-F238E27FC236}">
                      <a16:creationId xmlns:a16="http://schemas.microsoft.com/office/drawing/2014/main" id="{942D2E9F-6E36-084E-9FBC-AD82CA243A50}"/>
                    </a:ext>
                  </a:extLst>
                </p:cNvPr>
                <p:cNvSpPr>
                  <a:spLocks noChangeArrowheads="1"/>
                </p:cNvSpPr>
                <p:nvPr/>
              </p:nvSpPr>
              <p:spPr bwMode="auto">
                <a:xfrm>
                  <a:off x="623" y="2586"/>
                  <a:ext cx="706"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0" name="Rectangle 97">
                <a:extLst>
                  <a:ext uri="{FF2B5EF4-FFF2-40B4-BE49-F238E27FC236}">
                    <a16:creationId xmlns:a16="http://schemas.microsoft.com/office/drawing/2014/main" id="{E8FF0B53-6745-A84C-89E0-B850FA20B8A6}"/>
                  </a:ext>
                </a:extLst>
              </p:cNvPr>
              <p:cNvSpPr>
                <a:spLocks noChangeArrowheads="1"/>
              </p:cNvSpPr>
              <p:nvPr/>
            </p:nvSpPr>
            <p:spPr bwMode="auto">
              <a:xfrm>
                <a:off x="4221" y="1020"/>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51" name="Group 98">
                <a:extLst>
                  <a:ext uri="{FF2B5EF4-FFF2-40B4-BE49-F238E27FC236}">
                    <a16:creationId xmlns:a16="http://schemas.microsoft.com/office/drawing/2014/main" id="{3E1DFAB8-85DC-9B47-A3FC-17FA76E4DB95}"/>
                  </a:ext>
                </a:extLst>
              </p:cNvPr>
              <p:cNvGrpSpPr>
                <a:grpSpLocks/>
              </p:cNvGrpSpPr>
              <p:nvPr/>
            </p:nvGrpSpPr>
            <p:grpSpPr bwMode="auto">
              <a:xfrm>
                <a:off x="4747" y="994"/>
                <a:ext cx="581" cy="134"/>
                <a:chOff x="614" y="2568"/>
                <a:chExt cx="725" cy="139"/>
              </a:xfrm>
            </p:grpSpPr>
            <p:sp>
              <p:nvSpPr>
                <p:cNvPr id="172" name="AutoShape 99">
                  <a:extLst>
                    <a:ext uri="{FF2B5EF4-FFF2-40B4-BE49-F238E27FC236}">
                      <a16:creationId xmlns:a16="http://schemas.microsoft.com/office/drawing/2014/main" id="{9B63DA8A-7611-6449-A57A-B40172E56E2A}"/>
                    </a:ext>
                  </a:extLst>
                </p:cNvPr>
                <p:cNvSpPr>
                  <a:spLocks noChangeArrowheads="1"/>
                </p:cNvSpPr>
                <p:nvPr/>
              </p:nvSpPr>
              <p:spPr bwMode="auto">
                <a:xfrm>
                  <a:off x="613"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73" name="AutoShape 100">
                  <a:extLst>
                    <a:ext uri="{FF2B5EF4-FFF2-40B4-BE49-F238E27FC236}">
                      <a16:creationId xmlns:a16="http://schemas.microsoft.com/office/drawing/2014/main" id="{AB3060D8-D09B-3F4B-AEE4-AEE61862CA56}"/>
                    </a:ext>
                  </a:extLst>
                </p:cNvPr>
                <p:cNvSpPr>
                  <a:spLocks noChangeArrowheads="1"/>
                </p:cNvSpPr>
                <p:nvPr/>
              </p:nvSpPr>
              <p:spPr bwMode="auto">
                <a:xfrm>
                  <a:off x="626" y="2588"/>
                  <a:ext cx="706"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2" name="Rectangle 101">
                <a:extLst>
                  <a:ext uri="{FF2B5EF4-FFF2-40B4-BE49-F238E27FC236}">
                    <a16:creationId xmlns:a16="http://schemas.microsoft.com/office/drawing/2014/main" id="{3C0F1872-3B7D-4A41-8B0C-E81E4AC44AD7}"/>
                  </a:ext>
                </a:extLst>
              </p:cNvPr>
              <p:cNvSpPr>
                <a:spLocks noChangeArrowheads="1"/>
              </p:cNvSpPr>
              <p:nvPr/>
            </p:nvSpPr>
            <p:spPr bwMode="auto">
              <a:xfrm>
                <a:off x="4221" y="1362"/>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53" name="Rectangle 102">
                <a:extLst>
                  <a:ext uri="{FF2B5EF4-FFF2-40B4-BE49-F238E27FC236}">
                    <a16:creationId xmlns:a16="http://schemas.microsoft.com/office/drawing/2014/main" id="{660918F1-C396-1647-B4E6-234CB13D9502}"/>
                  </a:ext>
                </a:extLst>
              </p:cNvPr>
              <p:cNvSpPr>
                <a:spLocks noChangeArrowheads="1"/>
              </p:cNvSpPr>
              <p:nvPr/>
            </p:nvSpPr>
            <p:spPr bwMode="auto">
              <a:xfrm>
                <a:off x="4231" y="1657"/>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54" name="Group 103">
                <a:extLst>
                  <a:ext uri="{FF2B5EF4-FFF2-40B4-BE49-F238E27FC236}">
                    <a16:creationId xmlns:a16="http://schemas.microsoft.com/office/drawing/2014/main" id="{A148F5A9-0478-8F4F-89E7-8C39446345C2}"/>
                  </a:ext>
                </a:extLst>
              </p:cNvPr>
              <p:cNvGrpSpPr>
                <a:grpSpLocks/>
              </p:cNvGrpSpPr>
              <p:nvPr/>
            </p:nvGrpSpPr>
            <p:grpSpPr bwMode="auto">
              <a:xfrm>
                <a:off x="4735" y="1627"/>
                <a:ext cx="582" cy="151"/>
                <a:chOff x="614" y="2568"/>
                <a:chExt cx="725" cy="139"/>
              </a:xfrm>
            </p:grpSpPr>
            <p:sp>
              <p:nvSpPr>
                <p:cNvPr id="170" name="AutoShape 104">
                  <a:extLst>
                    <a:ext uri="{FF2B5EF4-FFF2-40B4-BE49-F238E27FC236}">
                      <a16:creationId xmlns:a16="http://schemas.microsoft.com/office/drawing/2014/main" id="{80F9D10C-B532-B14A-B8EA-13E7BE80A42A}"/>
                    </a:ext>
                  </a:extLst>
                </p:cNvPr>
                <p:cNvSpPr>
                  <a:spLocks noChangeArrowheads="1"/>
                </p:cNvSpPr>
                <p:nvPr/>
              </p:nvSpPr>
              <p:spPr bwMode="auto">
                <a:xfrm>
                  <a:off x="616" y="2568"/>
                  <a:ext cx="718"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71" name="AutoShape 105">
                  <a:extLst>
                    <a:ext uri="{FF2B5EF4-FFF2-40B4-BE49-F238E27FC236}">
                      <a16:creationId xmlns:a16="http://schemas.microsoft.com/office/drawing/2014/main" id="{88383691-0F9A-5544-9926-129A049B8A9C}"/>
                    </a:ext>
                  </a:extLst>
                </p:cNvPr>
                <p:cNvSpPr>
                  <a:spLocks noChangeArrowheads="1"/>
                </p:cNvSpPr>
                <p:nvPr/>
              </p:nvSpPr>
              <p:spPr bwMode="auto">
                <a:xfrm>
                  <a:off x="628" y="2582"/>
                  <a:ext cx="692" cy="11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5" name="Freeform 106">
                <a:extLst>
                  <a:ext uri="{FF2B5EF4-FFF2-40B4-BE49-F238E27FC236}">
                    <a16:creationId xmlns:a16="http://schemas.microsoft.com/office/drawing/2014/main" id="{5F307D13-C702-C846-AAC3-1F59F5B9637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56" name="Group 107">
                <a:extLst>
                  <a:ext uri="{FF2B5EF4-FFF2-40B4-BE49-F238E27FC236}">
                    <a16:creationId xmlns:a16="http://schemas.microsoft.com/office/drawing/2014/main" id="{26FB1383-43C2-B14E-B7B3-0D43473DA491}"/>
                  </a:ext>
                </a:extLst>
              </p:cNvPr>
              <p:cNvGrpSpPr>
                <a:grpSpLocks/>
              </p:cNvGrpSpPr>
              <p:nvPr/>
            </p:nvGrpSpPr>
            <p:grpSpPr bwMode="auto">
              <a:xfrm>
                <a:off x="4739" y="1327"/>
                <a:ext cx="582" cy="139"/>
                <a:chOff x="614" y="2568"/>
                <a:chExt cx="725" cy="139"/>
              </a:xfrm>
            </p:grpSpPr>
            <p:sp>
              <p:nvSpPr>
                <p:cNvPr id="168" name="AutoShape 108">
                  <a:extLst>
                    <a:ext uri="{FF2B5EF4-FFF2-40B4-BE49-F238E27FC236}">
                      <a16:creationId xmlns:a16="http://schemas.microsoft.com/office/drawing/2014/main" id="{D061EDA9-2C53-BE45-915E-589037D84565}"/>
                    </a:ext>
                  </a:extLst>
                </p:cNvPr>
                <p:cNvSpPr>
                  <a:spLocks noChangeArrowheads="1"/>
                </p:cNvSpPr>
                <p:nvPr/>
              </p:nvSpPr>
              <p:spPr bwMode="auto">
                <a:xfrm>
                  <a:off x="611" y="2565"/>
                  <a:ext cx="730" cy="14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9" name="AutoShape 109">
                  <a:extLst>
                    <a:ext uri="{FF2B5EF4-FFF2-40B4-BE49-F238E27FC236}">
                      <a16:creationId xmlns:a16="http://schemas.microsoft.com/office/drawing/2014/main" id="{998AB447-94FE-834C-84AB-CB37AB3038DB}"/>
                    </a:ext>
                  </a:extLst>
                </p:cNvPr>
                <p:cNvSpPr>
                  <a:spLocks noChangeArrowheads="1"/>
                </p:cNvSpPr>
                <p:nvPr/>
              </p:nvSpPr>
              <p:spPr bwMode="auto">
                <a:xfrm>
                  <a:off x="623" y="2580"/>
                  <a:ext cx="705"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7" name="Rectangle 110">
                <a:extLst>
                  <a:ext uri="{FF2B5EF4-FFF2-40B4-BE49-F238E27FC236}">
                    <a16:creationId xmlns:a16="http://schemas.microsoft.com/office/drawing/2014/main" id="{7E161FDF-4931-A54D-9200-97C2E9F03CFB}"/>
                  </a:ext>
                </a:extLst>
              </p:cNvPr>
              <p:cNvSpPr>
                <a:spLocks noChangeArrowheads="1"/>
              </p:cNvSpPr>
              <p:nvPr/>
            </p:nvSpPr>
            <p:spPr bwMode="auto">
              <a:xfrm>
                <a:off x="5252"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58" name="Freeform 111">
                <a:extLst>
                  <a:ext uri="{FF2B5EF4-FFF2-40B4-BE49-F238E27FC236}">
                    <a16:creationId xmlns:a16="http://schemas.microsoft.com/office/drawing/2014/main" id="{6F205231-B042-214A-BAF1-BBBFAAE8657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Freeform 112">
                <a:extLst>
                  <a:ext uri="{FF2B5EF4-FFF2-40B4-BE49-F238E27FC236}">
                    <a16:creationId xmlns:a16="http://schemas.microsoft.com/office/drawing/2014/main" id="{2C9F0014-AAE6-1E42-B6A0-5FDBFB0943C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Oval 113">
                <a:extLst>
                  <a:ext uri="{FF2B5EF4-FFF2-40B4-BE49-F238E27FC236}">
                    <a16:creationId xmlns:a16="http://schemas.microsoft.com/office/drawing/2014/main" id="{8553CA72-700C-7E4C-96EA-C8E02AC51709}"/>
                  </a:ext>
                </a:extLst>
              </p:cNvPr>
              <p:cNvSpPr>
                <a:spLocks noChangeArrowheads="1"/>
              </p:cNvSpPr>
              <p:nvPr/>
            </p:nvSpPr>
            <p:spPr bwMode="auto">
              <a:xfrm>
                <a:off x="5514" y="2613"/>
                <a:ext cx="51" cy="91"/>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1" name="Freeform 114">
                <a:extLst>
                  <a:ext uri="{FF2B5EF4-FFF2-40B4-BE49-F238E27FC236}">
                    <a16:creationId xmlns:a16="http://schemas.microsoft.com/office/drawing/2014/main" id="{E1B0C7DC-C796-224B-95BB-EA9A64983E6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AutoShape 115">
                <a:extLst>
                  <a:ext uri="{FF2B5EF4-FFF2-40B4-BE49-F238E27FC236}">
                    <a16:creationId xmlns:a16="http://schemas.microsoft.com/office/drawing/2014/main" id="{38969B4B-14F8-4C4B-9F4D-1C9709448CC3}"/>
                  </a:ext>
                </a:extLst>
              </p:cNvPr>
              <p:cNvSpPr>
                <a:spLocks noChangeArrowheads="1"/>
              </p:cNvSpPr>
              <p:nvPr/>
            </p:nvSpPr>
            <p:spPr bwMode="auto">
              <a:xfrm>
                <a:off x="4140" y="2681"/>
                <a:ext cx="1203"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3" name="AutoShape 116">
                <a:extLst>
                  <a:ext uri="{FF2B5EF4-FFF2-40B4-BE49-F238E27FC236}">
                    <a16:creationId xmlns:a16="http://schemas.microsoft.com/office/drawing/2014/main" id="{20FB94C7-96EF-D64F-9AEA-E2F1422FE2D0}"/>
                  </a:ext>
                </a:extLst>
              </p:cNvPr>
              <p:cNvSpPr>
                <a:spLocks noChangeArrowheads="1"/>
              </p:cNvSpPr>
              <p:nvPr/>
            </p:nvSpPr>
            <p:spPr bwMode="auto">
              <a:xfrm>
                <a:off x="4211" y="2711"/>
                <a:ext cx="106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4" name="Oval 117">
                <a:extLst>
                  <a:ext uri="{FF2B5EF4-FFF2-40B4-BE49-F238E27FC236}">
                    <a16:creationId xmlns:a16="http://schemas.microsoft.com/office/drawing/2014/main" id="{307DF5A4-259A-DC44-9789-8EE924382397}"/>
                  </a:ext>
                </a:extLst>
              </p:cNvPr>
              <p:cNvSpPr>
                <a:spLocks noChangeArrowheads="1"/>
              </p:cNvSpPr>
              <p:nvPr/>
            </p:nvSpPr>
            <p:spPr bwMode="auto">
              <a:xfrm>
                <a:off x="4312" y="2385"/>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5" name="Oval 118">
                <a:extLst>
                  <a:ext uri="{FF2B5EF4-FFF2-40B4-BE49-F238E27FC236}">
                    <a16:creationId xmlns:a16="http://schemas.microsoft.com/office/drawing/2014/main" id="{6D1DB86E-92BD-2544-B8B1-844EDAE5784B}"/>
                  </a:ext>
                </a:extLst>
              </p:cNvPr>
              <p:cNvSpPr>
                <a:spLocks noChangeArrowheads="1"/>
              </p:cNvSpPr>
              <p:nvPr/>
            </p:nvSpPr>
            <p:spPr bwMode="auto">
              <a:xfrm>
                <a:off x="4484" y="2385"/>
                <a:ext cx="162" cy="144"/>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66" name="Oval 119">
                <a:extLst>
                  <a:ext uri="{FF2B5EF4-FFF2-40B4-BE49-F238E27FC236}">
                    <a16:creationId xmlns:a16="http://schemas.microsoft.com/office/drawing/2014/main" id="{B13B6B0E-57D8-B54A-814C-263EB46D92DD}"/>
                  </a:ext>
                </a:extLst>
              </p:cNvPr>
              <p:cNvSpPr>
                <a:spLocks noChangeArrowheads="1"/>
              </p:cNvSpPr>
              <p:nvPr/>
            </p:nvSpPr>
            <p:spPr bwMode="auto">
              <a:xfrm>
                <a:off x="4666" y="2378"/>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7" name="Rectangle 120">
                <a:extLst>
                  <a:ext uri="{FF2B5EF4-FFF2-40B4-BE49-F238E27FC236}">
                    <a16:creationId xmlns:a16="http://schemas.microsoft.com/office/drawing/2014/main" id="{270171A8-F5A4-F640-8B20-2A908A8BA70C}"/>
                  </a:ext>
                </a:extLst>
              </p:cNvPr>
              <p:cNvSpPr>
                <a:spLocks noChangeArrowheads="1"/>
              </p:cNvSpPr>
              <p:nvPr/>
            </p:nvSpPr>
            <p:spPr bwMode="auto">
              <a:xfrm>
                <a:off x="5060" y="1832"/>
                <a:ext cx="91" cy="766"/>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sp>
        <p:nvSpPr>
          <p:cNvPr id="6" name="Freeform 5">
            <a:extLst>
              <a:ext uri="{FF2B5EF4-FFF2-40B4-BE49-F238E27FC236}">
                <a16:creationId xmlns:a16="http://schemas.microsoft.com/office/drawing/2014/main" id="{E31BA10A-DEA2-4D4B-AB0D-89FB36E5C7B3}"/>
              </a:ext>
            </a:extLst>
          </p:cNvPr>
          <p:cNvSpPr/>
          <p:nvPr/>
        </p:nvSpPr>
        <p:spPr>
          <a:xfrm>
            <a:off x="6069496" y="2941983"/>
            <a:ext cx="3750365" cy="2491408"/>
          </a:xfrm>
          <a:custGeom>
            <a:avLst/>
            <a:gdLst>
              <a:gd name="connsiteX0" fmla="*/ 331304 w 3750365"/>
              <a:gd name="connsiteY0" fmla="*/ 0 h 2491408"/>
              <a:gd name="connsiteX1" fmla="*/ 0 w 3750365"/>
              <a:gd name="connsiteY1" fmla="*/ 861391 h 2491408"/>
              <a:gd name="connsiteX2" fmla="*/ 13252 w 3750365"/>
              <a:gd name="connsiteY2" fmla="*/ 1378226 h 2491408"/>
              <a:gd name="connsiteX3" fmla="*/ 26504 w 3750365"/>
              <a:gd name="connsiteY3" fmla="*/ 2491408 h 2491408"/>
              <a:gd name="connsiteX4" fmla="*/ 3750365 w 3750365"/>
              <a:gd name="connsiteY4" fmla="*/ 2451652 h 2491408"/>
              <a:gd name="connsiteX5" fmla="*/ 3723861 w 3750365"/>
              <a:gd name="connsiteY5" fmla="*/ 79513 h 2491408"/>
              <a:gd name="connsiteX6" fmla="*/ 331304 w 3750365"/>
              <a:gd name="connsiteY6" fmla="*/ 0 h 249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0365" h="2491408">
                <a:moveTo>
                  <a:pt x="331304" y="0"/>
                </a:moveTo>
                <a:lnTo>
                  <a:pt x="0" y="861391"/>
                </a:lnTo>
                <a:lnTo>
                  <a:pt x="13252" y="1378226"/>
                </a:lnTo>
                <a:lnTo>
                  <a:pt x="26504" y="2491408"/>
                </a:lnTo>
                <a:lnTo>
                  <a:pt x="3750365" y="2451652"/>
                </a:lnTo>
                <a:lnTo>
                  <a:pt x="3723861" y="79513"/>
                </a:lnTo>
                <a:lnTo>
                  <a:pt x="331304"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Slide Number Placeholder 2">
            <a:extLst>
              <a:ext uri="{FF2B5EF4-FFF2-40B4-BE49-F238E27FC236}">
                <a16:creationId xmlns:a16="http://schemas.microsoft.com/office/drawing/2014/main" id="{1DCC9415-F6BD-EB4B-8CBA-8543440AF94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389869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Pipelining: increased utilization</a:t>
            </a:r>
            <a:endParaRPr lang="en-US" sz="4400" dirty="0"/>
          </a:p>
        </p:txBody>
      </p:sp>
      <p:grpSp>
        <p:nvGrpSpPr>
          <p:cNvPr id="6" name="Group 5">
            <a:extLst>
              <a:ext uri="{FF2B5EF4-FFF2-40B4-BE49-F238E27FC236}">
                <a16:creationId xmlns:a16="http://schemas.microsoft.com/office/drawing/2014/main" id="{F2D9612C-CE0F-6C45-B7EC-FE1D2900506E}"/>
              </a:ext>
            </a:extLst>
          </p:cNvPr>
          <p:cNvGrpSpPr/>
          <p:nvPr/>
        </p:nvGrpSpPr>
        <p:grpSpPr>
          <a:xfrm>
            <a:off x="1436915" y="1417186"/>
            <a:ext cx="9144000" cy="3759200"/>
            <a:chOff x="1436915" y="1417186"/>
            <a:chExt cx="9144000" cy="3759200"/>
          </a:xfrm>
        </p:grpSpPr>
        <p:grpSp>
          <p:nvGrpSpPr>
            <p:cNvPr id="5" name="Group 4">
              <a:extLst>
                <a:ext uri="{FF2B5EF4-FFF2-40B4-BE49-F238E27FC236}">
                  <a16:creationId xmlns:a16="http://schemas.microsoft.com/office/drawing/2014/main" id="{F0C3BE89-6F62-424C-BFB2-28F71C43CE69}"/>
                </a:ext>
              </a:extLst>
            </p:cNvPr>
            <p:cNvGrpSpPr/>
            <p:nvPr/>
          </p:nvGrpSpPr>
          <p:grpSpPr>
            <a:xfrm>
              <a:off x="1436915" y="1744211"/>
              <a:ext cx="5265738" cy="3432175"/>
              <a:chOff x="1436915" y="1744211"/>
              <a:chExt cx="5265738" cy="3432175"/>
            </a:xfrm>
          </p:grpSpPr>
          <p:sp>
            <p:nvSpPr>
              <p:cNvPr id="271" name="Text Box 4">
                <a:extLst>
                  <a:ext uri="{FF2B5EF4-FFF2-40B4-BE49-F238E27FC236}">
                    <a16:creationId xmlns:a16="http://schemas.microsoft.com/office/drawing/2014/main" id="{8A9D06FA-5302-274C-84A9-DD1CED459992}"/>
                  </a:ext>
                </a:extLst>
              </p:cNvPr>
              <p:cNvSpPr txBox="1">
                <a:spLocks noChangeArrowheads="1"/>
              </p:cNvSpPr>
              <p:nvPr/>
            </p:nvSpPr>
            <p:spPr bwMode="auto">
              <a:xfrm>
                <a:off x="1436915" y="1760086"/>
                <a:ext cx="3086100" cy="3540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transmitted, t = 0</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2" name="Line 5">
                <a:extLst>
                  <a:ext uri="{FF2B5EF4-FFF2-40B4-BE49-F238E27FC236}">
                    <a16:creationId xmlns:a16="http://schemas.microsoft.com/office/drawing/2014/main" id="{EBE74238-0C8D-D64B-8C2E-687BBF22856B}"/>
                  </a:ext>
                </a:extLst>
              </p:cNvPr>
              <p:cNvSpPr>
                <a:spLocks noChangeShapeType="1"/>
              </p:cNvSpPr>
              <p:nvPr/>
            </p:nvSpPr>
            <p:spPr bwMode="auto">
              <a:xfrm>
                <a:off x="4599215" y="1744211"/>
                <a:ext cx="20638" cy="32845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3" name="Line 6">
                <a:extLst>
                  <a:ext uri="{FF2B5EF4-FFF2-40B4-BE49-F238E27FC236}">
                    <a16:creationId xmlns:a16="http://schemas.microsoft.com/office/drawing/2014/main" id="{0C9FFAAE-DCDE-8044-9CE7-6F8A7B2FC055}"/>
                  </a:ext>
                </a:extLst>
              </p:cNvPr>
              <p:cNvSpPr>
                <a:spLocks noChangeShapeType="1"/>
              </p:cNvSpPr>
              <p:nvPr/>
            </p:nvSpPr>
            <p:spPr bwMode="auto">
              <a:xfrm>
                <a:off x="6680428" y="1756911"/>
                <a:ext cx="22225" cy="335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90" name="Group 23">
                <a:extLst>
                  <a:ext uri="{FF2B5EF4-FFF2-40B4-BE49-F238E27FC236}">
                    <a16:creationId xmlns:a16="http://schemas.microsoft.com/office/drawing/2014/main" id="{C2DCCE27-7917-EA41-B0D5-20716F45FD67}"/>
                  </a:ext>
                </a:extLst>
              </p:cNvPr>
              <p:cNvGrpSpPr>
                <a:grpSpLocks/>
              </p:cNvGrpSpPr>
              <p:nvPr/>
            </p:nvGrpSpPr>
            <p:grpSpPr bwMode="auto">
              <a:xfrm>
                <a:off x="4480153" y="4081011"/>
                <a:ext cx="1466850" cy="608013"/>
                <a:chOff x="12502" y="21425"/>
                <a:chExt cx="3400" cy="1025"/>
              </a:xfrm>
            </p:grpSpPr>
            <p:sp>
              <p:nvSpPr>
                <p:cNvPr id="291" name="Line 24">
                  <a:extLst>
                    <a:ext uri="{FF2B5EF4-FFF2-40B4-BE49-F238E27FC236}">
                      <a16:creationId xmlns:a16="http://schemas.microsoft.com/office/drawing/2014/main" id="{A9FA2FEB-7650-5B42-A31A-A637A45CA6FF}"/>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2" name="Freeform 25">
                  <a:extLst>
                    <a:ext uri="{FF2B5EF4-FFF2-40B4-BE49-F238E27FC236}">
                      <a16:creationId xmlns:a16="http://schemas.microsoft.com/office/drawing/2014/main" id="{5BCD89AD-C50C-6545-ADEB-A57C6CDD92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93" name="Group 26">
                  <a:extLst>
                    <a:ext uri="{FF2B5EF4-FFF2-40B4-BE49-F238E27FC236}">
                      <a16:creationId xmlns:a16="http://schemas.microsoft.com/office/drawing/2014/main" id="{CD5FB7C7-CD97-554F-9528-260B8217603A}"/>
                    </a:ext>
                  </a:extLst>
                </p:cNvPr>
                <p:cNvGrpSpPr>
                  <a:grpSpLocks/>
                </p:cNvGrpSpPr>
                <p:nvPr/>
              </p:nvGrpSpPr>
              <p:grpSpPr bwMode="auto">
                <a:xfrm>
                  <a:off x="12815" y="21425"/>
                  <a:ext cx="2776" cy="913"/>
                  <a:chOff x="12315" y="13225"/>
                  <a:chExt cx="2775" cy="913"/>
                </a:xfrm>
              </p:grpSpPr>
              <p:sp>
                <p:nvSpPr>
                  <p:cNvPr id="296" name="Line 27">
                    <a:extLst>
                      <a:ext uri="{FF2B5EF4-FFF2-40B4-BE49-F238E27FC236}">
                        <a16:creationId xmlns:a16="http://schemas.microsoft.com/office/drawing/2014/main" id="{73F94F66-30C4-DD47-A1F3-8FC6B19EB61B}"/>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7" name="Line 28">
                    <a:extLst>
                      <a:ext uri="{FF2B5EF4-FFF2-40B4-BE49-F238E27FC236}">
                        <a16:creationId xmlns:a16="http://schemas.microsoft.com/office/drawing/2014/main" id="{5CF9459B-BF29-474D-BD49-51BFB74A167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94" name="Line 29">
                  <a:extLst>
                    <a:ext uri="{FF2B5EF4-FFF2-40B4-BE49-F238E27FC236}">
                      <a16:creationId xmlns:a16="http://schemas.microsoft.com/office/drawing/2014/main" id="{C83DFF49-AFA9-B447-8725-97F2F7C2664C}"/>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5" name="Line 30">
                  <a:extLst>
                    <a:ext uri="{FF2B5EF4-FFF2-40B4-BE49-F238E27FC236}">
                      <a16:creationId xmlns:a16="http://schemas.microsoft.com/office/drawing/2014/main" id="{9326AF50-13D7-574E-AFF2-CD2DDBD17BD8}"/>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02" name="Group 35">
                <a:extLst>
                  <a:ext uri="{FF2B5EF4-FFF2-40B4-BE49-F238E27FC236}">
                    <a16:creationId xmlns:a16="http://schemas.microsoft.com/office/drawing/2014/main" id="{22FDE4C6-35BE-AD41-8733-199E0B0C3987}"/>
                  </a:ext>
                </a:extLst>
              </p:cNvPr>
              <p:cNvGrpSpPr>
                <a:grpSpLocks/>
              </p:cNvGrpSpPr>
              <p:nvPr/>
            </p:nvGrpSpPr>
            <p:grpSpPr bwMode="auto">
              <a:xfrm>
                <a:off x="4469040" y="4319136"/>
                <a:ext cx="1466850" cy="606425"/>
                <a:chOff x="12502" y="21425"/>
                <a:chExt cx="3400" cy="1025"/>
              </a:xfrm>
            </p:grpSpPr>
            <p:sp>
              <p:nvSpPr>
                <p:cNvPr id="303" name="Line 36">
                  <a:extLst>
                    <a:ext uri="{FF2B5EF4-FFF2-40B4-BE49-F238E27FC236}">
                      <a16:creationId xmlns:a16="http://schemas.microsoft.com/office/drawing/2014/main" id="{C65011A2-C10F-4E4E-950F-6344F3BFE55D}"/>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4" name="Freeform 37">
                  <a:extLst>
                    <a:ext uri="{FF2B5EF4-FFF2-40B4-BE49-F238E27FC236}">
                      <a16:creationId xmlns:a16="http://schemas.microsoft.com/office/drawing/2014/main" id="{4BC1F15A-0B55-9B41-BB0E-8078C84DD8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05" name="Group 38">
                  <a:extLst>
                    <a:ext uri="{FF2B5EF4-FFF2-40B4-BE49-F238E27FC236}">
                      <a16:creationId xmlns:a16="http://schemas.microsoft.com/office/drawing/2014/main" id="{C74149F6-2BD9-1547-B14C-69B2E641BDFF}"/>
                    </a:ext>
                  </a:extLst>
                </p:cNvPr>
                <p:cNvGrpSpPr>
                  <a:grpSpLocks/>
                </p:cNvGrpSpPr>
                <p:nvPr/>
              </p:nvGrpSpPr>
              <p:grpSpPr bwMode="auto">
                <a:xfrm>
                  <a:off x="12815" y="21425"/>
                  <a:ext cx="2776" cy="913"/>
                  <a:chOff x="12315" y="13225"/>
                  <a:chExt cx="2775" cy="913"/>
                </a:xfrm>
              </p:grpSpPr>
              <p:sp>
                <p:nvSpPr>
                  <p:cNvPr id="308" name="Line 39">
                    <a:extLst>
                      <a:ext uri="{FF2B5EF4-FFF2-40B4-BE49-F238E27FC236}">
                        <a16:creationId xmlns:a16="http://schemas.microsoft.com/office/drawing/2014/main" id="{59CC4175-88B4-8C40-B032-807D24CE2432}"/>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9" name="Line 40">
                    <a:extLst>
                      <a:ext uri="{FF2B5EF4-FFF2-40B4-BE49-F238E27FC236}">
                        <a16:creationId xmlns:a16="http://schemas.microsoft.com/office/drawing/2014/main" id="{2A62733E-86E9-C64F-8671-78D818E6BEB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06" name="Line 41">
                  <a:extLst>
                    <a:ext uri="{FF2B5EF4-FFF2-40B4-BE49-F238E27FC236}">
                      <a16:creationId xmlns:a16="http://schemas.microsoft.com/office/drawing/2014/main" id="{11893E37-487E-1C43-93FA-50C9B2770C22}"/>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7" name="Line 42">
                  <a:extLst>
                    <a:ext uri="{FF2B5EF4-FFF2-40B4-BE49-F238E27FC236}">
                      <a16:creationId xmlns:a16="http://schemas.microsoft.com/office/drawing/2014/main" id="{30CC5948-C914-3749-A6FB-7CBA6CEFC2F4}"/>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10" name="Group 43">
                <a:extLst>
                  <a:ext uri="{FF2B5EF4-FFF2-40B4-BE49-F238E27FC236}">
                    <a16:creationId xmlns:a16="http://schemas.microsoft.com/office/drawing/2014/main" id="{EF1CBAE6-6435-1B41-BF0D-D5BDA59F7DBF}"/>
                  </a:ext>
                </a:extLst>
              </p:cNvPr>
              <p:cNvGrpSpPr>
                <a:grpSpLocks/>
              </p:cNvGrpSpPr>
              <p:nvPr/>
            </p:nvGrpSpPr>
            <p:grpSpPr bwMode="auto">
              <a:xfrm>
                <a:off x="4480153" y="4569961"/>
                <a:ext cx="1466850" cy="606425"/>
                <a:chOff x="12502" y="21425"/>
                <a:chExt cx="3400" cy="1025"/>
              </a:xfrm>
            </p:grpSpPr>
            <p:sp>
              <p:nvSpPr>
                <p:cNvPr id="311" name="Line 44">
                  <a:extLst>
                    <a:ext uri="{FF2B5EF4-FFF2-40B4-BE49-F238E27FC236}">
                      <a16:creationId xmlns:a16="http://schemas.microsoft.com/office/drawing/2014/main" id="{F14701CF-76F1-2A4D-B2B4-A5BD8ECC327A}"/>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2" name="Freeform 45">
                  <a:extLst>
                    <a:ext uri="{FF2B5EF4-FFF2-40B4-BE49-F238E27FC236}">
                      <a16:creationId xmlns:a16="http://schemas.microsoft.com/office/drawing/2014/main" id="{731F34A3-5536-D645-BFF8-86128FA9A642}"/>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13" name="Group 46">
                  <a:extLst>
                    <a:ext uri="{FF2B5EF4-FFF2-40B4-BE49-F238E27FC236}">
                      <a16:creationId xmlns:a16="http://schemas.microsoft.com/office/drawing/2014/main" id="{85521E25-61DD-F442-81A5-F4A019724E19}"/>
                    </a:ext>
                  </a:extLst>
                </p:cNvPr>
                <p:cNvGrpSpPr>
                  <a:grpSpLocks/>
                </p:cNvGrpSpPr>
                <p:nvPr/>
              </p:nvGrpSpPr>
              <p:grpSpPr bwMode="auto">
                <a:xfrm>
                  <a:off x="12815" y="21425"/>
                  <a:ext cx="2776" cy="913"/>
                  <a:chOff x="12315" y="13225"/>
                  <a:chExt cx="2775" cy="913"/>
                </a:xfrm>
              </p:grpSpPr>
              <p:sp>
                <p:nvSpPr>
                  <p:cNvPr id="316" name="Line 47">
                    <a:extLst>
                      <a:ext uri="{FF2B5EF4-FFF2-40B4-BE49-F238E27FC236}">
                        <a16:creationId xmlns:a16="http://schemas.microsoft.com/office/drawing/2014/main" id="{1A001C50-CAEA-3442-AFBA-E51180AC45BE}"/>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7" name="Line 48">
                    <a:extLst>
                      <a:ext uri="{FF2B5EF4-FFF2-40B4-BE49-F238E27FC236}">
                        <a16:creationId xmlns:a16="http://schemas.microsoft.com/office/drawing/2014/main" id="{37926C33-0CD4-CD45-BDFA-BADA6AC2CF0C}"/>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4" name="Line 49">
                  <a:extLst>
                    <a:ext uri="{FF2B5EF4-FFF2-40B4-BE49-F238E27FC236}">
                      <a16:creationId xmlns:a16="http://schemas.microsoft.com/office/drawing/2014/main" id="{2F091D1F-079B-8B42-8F5F-7A038D533AEE}"/>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5" name="Line 50">
                  <a:extLst>
                    <a:ext uri="{FF2B5EF4-FFF2-40B4-BE49-F238E27FC236}">
                      <a16:creationId xmlns:a16="http://schemas.microsoft.com/office/drawing/2014/main" id="{5D3DE632-11F8-E547-996E-81F2B81B1B96}"/>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8" name="Line 51">
                <a:extLst>
                  <a:ext uri="{FF2B5EF4-FFF2-40B4-BE49-F238E27FC236}">
                    <a16:creationId xmlns:a16="http://schemas.microsoft.com/office/drawing/2014/main" id="{DB7CC19A-0A6A-DC4D-BED1-5955B59496B3}"/>
                  </a:ext>
                </a:extLst>
              </p:cNvPr>
              <p:cNvSpPr>
                <a:spLocks noChangeShapeType="1"/>
              </p:cNvSpPr>
              <p:nvPr/>
            </p:nvSpPr>
            <p:spPr bwMode="auto">
              <a:xfrm flipV="1">
                <a:off x="4630965" y="3646036"/>
                <a:ext cx="2065338"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5DE6FBFC-B25F-574B-9C74-BFE13D65297A}"/>
                </a:ext>
              </a:extLst>
            </p:cNvPr>
            <p:cNvGrpSpPr/>
            <p:nvPr/>
          </p:nvGrpSpPr>
          <p:grpSpPr>
            <a:xfrm>
              <a:off x="1782990" y="1417186"/>
              <a:ext cx="8797925" cy="2974975"/>
              <a:chOff x="1782990" y="1417186"/>
              <a:chExt cx="8797925" cy="2974975"/>
            </a:xfrm>
          </p:grpSpPr>
          <p:sp>
            <p:nvSpPr>
              <p:cNvPr id="270" name="Line 3">
                <a:extLst>
                  <a:ext uri="{FF2B5EF4-FFF2-40B4-BE49-F238E27FC236}">
                    <a16:creationId xmlns:a16="http://schemas.microsoft.com/office/drawing/2014/main" id="{8578E745-D056-4142-B481-0269A613480E}"/>
                  </a:ext>
                </a:extLst>
              </p:cNvPr>
              <p:cNvSpPr>
                <a:spLocks noChangeShapeType="1"/>
              </p:cNvSpPr>
              <p:nvPr/>
            </p:nvSpPr>
            <p:spPr bwMode="auto">
              <a:xfrm>
                <a:off x="4608740" y="1966461"/>
                <a:ext cx="2082800"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4" name="Text Box 7">
                <a:extLst>
                  <a:ext uri="{FF2B5EF4-FFF2-40B4-BE49-F238E27FC236}">
                    <a16:creationId xmlns:a16="http://schemas.microsoft.com/office/drawing/2014/main" id="{275A02AE-605A-8841-9D53-53820A5CF657}"/>
                  </a:ext>
                </a:extLst>
              </p:cNvPr>
              <p:cNvSpPr txBox="1">
                <a:spLocks noChangeArrowheads="1"/>
              </p:cNvSpPr>
              <p:nvPr/>
            </p:nvSpPr>
            <p:spPr bwMode="auto">
              <a:xfrm>
                <a:off x="4138840" y="1417186"/>
                <a:ext cx="1042988"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5" name="Text Box 8">
                <a:extLst>
                  <a:ext uri="{FF2B5EF4-FFF2-40B4-BE49-F238E27FC236}">
                    <a16:creationId xmlns:a16="http://schemas.microsoft.com/office/drawing/2014/main" id="{27A750B8-38FA-9A48-B75F-4D9DAA80B3C8}"/>
                  </a:ext>
                </a:extLst>
              </p:cNvPr>
              <p:cNvSpPr txBox="1">
                <a:spLocks noChangeArrowheads="1"/>
              </p:cNvSpPr>
              <p:nvPr/>
            </p:nvSpPr>
            <p:spPr bwMode="auto">
              <a:xfrm>
                <a:off x="6167665" y="1417186"/>
                <a:ext cx="1108075"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6" name="Line 9">
                <a:extLst>
                  <a:ext uri="{FF2B5EF4-FFF2-40B4-BE49-F238E27FC236}">
                    <a16:creationId xmlns:a16="http://schemas.microsoft.com/office/drawing/2014/main" id="{9EF9145B-0631-6D40-844E-0FEE146AD807}"/>
                  </a:ext>
                </a:extLst>
              </p:cNvPr>
              <p:cNvSpPr>
                <a:spLocks noChangeShapeType="1"/>
              </p:cNvSpPr>
              <p:nvPr/>
            </p:nvSpPr>
            <p:spPr bwMode="auto">
              <a:xfrm>
                <a:off x="4619853" y="1961699"/>
                <a:ext cx="2049462"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7" name="Line 10">
                <a:extLst>
                  <a:ext uri="{FF2B5EF4-FFF2-40B4-BE49-F238E27FC236}">
                    <a16:creationId xmlns:a16="http://schemas.microsoft.com/office/drawing/2014/main" id="{89818B7B-1767-9D41-8631-8A3B93FF67C3}"/>
                  </a:ext>
                </a:extLst>
              </p:cNvPr>
              <p:cNvSpPr>
                <a:spLocks noChangeShapeType="1"/>
              </p:cNvSpPr>
              <p:nvPr/>
            </p:nvSpPr>
            <p:spPr bwMode="auto">
              <a:xfrm>
                <a:off x="4626203" y="4093711"/>
                <a:ext cx="204946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8" name="Freeform 11">
                <a:extLst>
                  <a:ext uri="{FF2B5EF4-FFF2-40B4-BE49-F238E27FC236}">
                    <a16:creationId xmlns:a16="http://schemas.microsoft.com/office/drawing/2014/main" id="{7C53C3B4-7876-5B43-ABD7-074C37F12BE6}"/>
                  </a:ext>
                </a:extLst>
              </p:cNvPr>
              <p:cNvSpPr>
                <a:spLocks/>
              </p:cNvSpPr>
              <p:nvPr/>
            </p:nvSpPr>
            <p:spPr bwMode="auto">
              <a:xfrm>
                <a:off x="4603978" y="1958524"/>
                <a:ext cx="2087562" cy="1169987"/>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9" name="Line 12">
                <a:extLst>
                  <a:ext uri="{FF2B5EF4-FFF2-40B4-BE49-F238E27FC236}">
                    <a16:creationId xmlns:a16="http://schemas.microsoft.com/office/drawing/2014/main" id="{A956E0A5-AC1B-5447-84D9-4593A3E93C16}"/>
                  </a:ext>
                </a:extLst>
              </p:cNvPr>
              <p:cNvSpPr>
                <a:spLocks noChangeShapeType="1"/>
              </p:cNvSpPr>
              <p:nvPr/>
            </p:nvSpPr>
            <p:spPr bwMode="auto">
              <a:xfrm flipH="1">
                <a:off x="4469040" y="1958524"/>
                <a:ext cx="123825"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0" name="Line 13">
                <a:extLst>
                  <a:ext uri="{FF2B5EF4-FFF2-40B4-BE49-F238E27FC236}">
                    <a16:creationId xmlns:a16="http://schemas.microsoft.com/office/drawing/2014/main" id="{4E911566-59D1-CB47-B826-2D5CA791D0B9}"/>
                  </a:ext>
                </a:extLst>
              </p:cNvPr>
              <p:cNvSpPr>
                <a:spLocks noChangeShapeType="1"/>
              </p:cNvSpPr>
              <p:nvPr/>
            </p:nvSpPr>
            <p:spPr bwMode="auto">
              <a:xfrm flipH="1">
                <a:off x="4469040" y="2202999"/>
                <a:ext cx="1238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1" name="Text Box 14">
                <a:extLst>
                  <a:ext uri="{FF2B5EF4-FFF2-40B4-BE49-F238E27FC236}">
                    <a16:creationId xmlns:a16="http://schemas.microsoft.com/office/drawing/2014/main" id="{445CA97C-CB18-2644-916B-02A60272C884}"/>
                  </a:ext>
                </a:extLst>
              </p:cNvPr>
              <p:cNvSpPr txBox="1">
                <a:spLocks noChangeArrowheads="1"/>
              </p:cNvSpPr>
              <p:nvPr/>
            </p:nvSpPr>
            <p:spPr bwMode="auto">
              <a:xfrm>
                <a:off x="3687990" y="2942774"/>
                <a:ext cx="965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RTT </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2" name="Line 15">
                <a:extLst>
                  <a:ext uri="{FF2B5EF4-FFF2-40B4-BE49-F238E27FC236}">
                    <a16:creationId xmlns:a16="http://schemas.microsoft.com/office/drawing/2014/main" id="{05D08CE0-2B2A-6943-A3AF-E51CE2FDFD3C}"/>
                  </a:ext>
                </a:extLst>
              </p:cNvPr>
              <p:cNvSpPr>
                <a:spLocks noChangeShapeType="1"/>
              </p:cNvSpPr>
              <p:nvPr/>
            </p:nvSpPr>
            <p:spPr bwMode="auto">
              <a:xfrm>
                <a:off x="4502378" y="3253924"/>
                <a:ext cx="9525" cy="8207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3" name="Line 16">
                <a:extLst>
                  <a:ext uri="{FF2B5EF4-FFF2-40B4-BE49-F238E27FC236}">
                    <a16:creationId xmlns:a16="http://schemas.microsoft.com/office/drawing/2014/main" id="{E60C4BA4-F185-6C4D-81D1-73276FF1E040}"/>
                  </a:ext>
                </a:extLst>
              </p:cNvPr>
              <p:cNvSpPr>
                <a:spLocks noChangeShapeType="1"/>
              </p:cNvSpPr>
              <p:nvPr/>
            </p:nvSpPr>
            <p:spPr bwMode="auto">
              <a:xfrm flipV="1">
                <a:off x="4507140" y="2225224"/>
                <a:ext cx="1588" cy="776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4" name="Text Box 17">
                <a:extLst>
                  <a:ext uri="{FF2B5EF4-FFF2-40B4-BE49-F238E27FC236}">
                    <a16:creationId xmlns:a16="http://schemas.microsoft.com/office/drawing/2014/main" id="{2D2A4BCC-1CF4-BE4F-9159-6547BADEC7D1}"/>
                  </a:ext>
                </a:extLst>
              </p:cNvPr>
              <p:cNvSpPr txBox="1">
                <a:spLocks noChangeArrowheads="1"/>
              </p:cNvSpPr>
              <p:nvPr/>
            </p:nvSpPr>
            <p:spPr bwMode="auto">
              <a:xfrm>
                <a:off x="1782990" y="2041074"/>
                <a:ext cx="274002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bit transmitted, t = L / 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5" name="Line 18">
                <a:extLst>
                  <a:ext uri="{FF2B5EF4-FFF2-40B4-BE49-F238E27FC236}">
                    <a16:creationId xmlns:a16="http://schemas.microsoft.com/office/drawing/2014/main" id="{7DA72F70-6275-E44B-B3B2-867A077BBE1F}"/>
                  </a:ext>
                </a:extLst>
              </p:cNvPr>
              <p:cNvSpPr>
                <a:spLocks noChangeShapeType="1"/>
              </p:cNvSpPr>
              <p:nvPr/>
            </p:nvSpPr>
            <p:spPr bwMode="auto">
              <a:xfrm flipH="1">
                <a:off x="6669315" y="2884036"/>
                <a:ext cx="125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6" name="Text Box 19">
                <a:extLst>
                  <a:ext uri="{FF2B5EF4-FFF2-40B4-BE49-F238E27FC236}">
                    <a16:creationId xmlns:a16="http://schemas.microsoft.com/office/drawing/2014/main" id="{090538B9-64B8-8249-A097-902A990BDC61}"/>
                  </a:ext>
                </a:extLst>
              </p:cNvPr>
              <p:cNvSpPr txBox="1">
                <a:spLocks noChangeArrowheads="1"/>
              </p:cNvSpPr>
              <p:nvPr/>
            </p:nvSpPr>
            <p:spPr bwMode="auto">
              <a:xfrm>
                <a:off x="6745515" y="2706236"/>
                <a:ext cx="2641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arrives</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7" name="Line 20">
                <a:extLst>
                  <a:ext uri="{FF2B5EF4-FFF2-40B4-BE49-F238E27FC236}">
                    <a16:creationId xmlns:a16="http://schemas.microsoft.com/office/drawing/2014/main" id="{43859A12-C8B1-7F4C-996B-A2335F971C54}"/>
                  </a:ext>
                </a:extLst>
              </p:cNvPr>
              <p:cNvSpPr>
                <a:spLocks noChangeShapeType="1"/>
              </p:cNvSpPr>
              <p:nvPr/>
            </p:nvSpPr>
            <p:spPr bwMode="auto">
              <a:xfrm>
                <a:off x="6691540" y="3134861"/>
                <a:ext cx="119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8" name="Text Box 21">
                <a:extLst>
                  <a:ext uri="{FF2B5EF4-FFF2-40B4-BE49-F238E27FC236}">
                    <a16:creationId xmlns:a16="http://schemas.microsoft.com/office/drawing/2014/main" id="{D5887813-0036-6B4B-A7D4-5F561E3F1047}"/>
                  </a:ext>
                </a:extLst>
              </p:cNvPr>
              <p:cNvSpPr txBox="1">
                <a:spLocks noChangeArrowheads="1"/>
              </p:cNvSpPr>
              <p:nvPr/>
            </p:nvSpPr>
            <p:spPr bwMode="auto">
              <a:xfrm>
                <a:off x="6750278" y="2958649"/>
                <a:ext cx="35814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packet bit arrives, send ACK</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9" name="Text Box 22">
                <a:extLst>
                  <a:ext uri="{FF2B5EF4-FFF2-40B4-BE49-F238E27FC236}">
                    <a16:creationId xmlns:a16="http://schemas.microsoft.com/office/drawing/2014/main" id="{FCD4E8AC-1B13-DA41-948F-91A83864962E}"/>
                  </a:ext>
                </a:extLst>
              </p:cNvPr>
              <p:cNvSpPr txBox="1">
                <a:spLocks noChangeArrowheads="1"/>
              </p:cNvSpPr>
              <p:nvPr/>
            </p:nvSpPr>
            <p:spPr bwMode="auto">
              <a:xfrm>
                <a:off x="1930628" y="3750811"/>
                <a:ext cx="2635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ACK arrives, send next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t = RTT + L / 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98" name="Freeform 31">
                <a:extLst>
                  <a:ext uri="{FF2B5EF4-FFF2-40B4-BE49-F238E27FC236}">
                    <a16:creationId xmlns:a16="http://schemas.microsoft.com/office/drawing/2014/main" id="{F38321EB-FAE2-904A-9B81-21D0186CBC57}"/>
                  </a:ext>
                </a:extLst>
              </p:cNvPr>
              <p:cNvSpPr>
                <a:spLocks/>
              </p:cNvSpPr>
              <p:nvPr/>
            </p:nvSpPr>
            <p:spPr bwMode="auto">
              <a:xfrm>
                <a:off x="4608740" y="2210936"/>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9" name="Freeform 32">
                <a:extLst>
                  <a:ext uri="{FF2B5EF4-FFF2-40B4-BE49-F238E27FC236}">
                    <a16:creationId xmlns:a16="http://schemas.microsoft.com/office/drawing/2014/main" id="{FBE57882-6BB0-FB42-8297-3020DB77FC4F}"/>
                  </a:ext>
                </a:extLst>
              </p:cNvPr>
              <p:cNvSpPr>
                <a:spLocks/>
              </p:cNvSpPr>
              <p:nvPr/>
            </p:nvSpPr>
            <p:spPr bwMode="auto">
              <a:xfrm>
                <a:off x="4608740" y="2461761"/>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0" name="Line 33">
                <a:extLst>
                  <a:ext uri="{FF2B5EF4-FFF2-40B4-BE49-F238E27FC236}">
                    <a16:creationId xmlns:a16="http://schemas.microsoft.com/office/drawing/2014/main" id="{FEACB0C4-D684-9C47-A7A0-8FB12C2D6D5C}"/>
                  </a:ext>
                </a:extLst>
              </p:cNvPr>
              <p:cNvSpPr>
                <a:spLocks noChangeShapeType="1"/>
              </p:cNvSpPr>
              <p:nvPr/>
            </p:nvSpPr>
            <p:spPr bwMode="auto">
              <a:xfrm flipV="1">
                <a:off x="4626203" y="3142799"/>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1" name="Line 34">
                <a:extLst>
                  <a:ext uri="{FF2B5EF4-FFF2-40B4-BE49-F238E27FC236}">
                    <a16:creationId xmlns:a16="http://schemas.microsoft.com/office/drawing/2014/main" id="{B381B3DB-0359-7246-93D3-750B1DF80082}"/>
                  </a:ext>
                </a:extLst>
              </p:cNvPr>
              <p:cNvSpPr>
                <a:spLocks noChangeShapeType="1"/>
              </p:cNvSpPr>
              <p:nvPr/>
            </p:nvSpPr>
            <p:spPr bwMode="auto">
              <a:xfrm flipV="1">
                <a:off x="4626203" y="3393624"/>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9" name="Text Box 52">
                <a:extLst>
                  <a:ext uri="{FF2B5EF4-FFF2-40B4-BE49-F238E27FC236}">
                    <a16:creationId xmlns:a16="http://schemas.microsoft.com/office/drawing/2014/main" id="{7C41A37A-EA25-6B42-B8A7-D7B83D33521A}"/>
                  </a:ext>
                </a:extLst>
              </p:cNvPr>
              <p:cNvSpPr txBox="1">
                <a:spLocks noChangeArrowheads="1"/>
              </p:cNvSpPr>
              <p:nvPr/>
            </p:nvSpPr>
            <p:spPr bwMode="auto">
              <a:xfrm>
                <a:off x="6747103" y="3212649"/>
                <a:ext cx="38338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bit of 2</a:t>
                </a:r>
                <a:r>
                  <a:rPr kumimoji="0" lang="en-US" altLang="en-US" sz="1600" b="0" i="0" u="none" strike="noStrike" kern="1200" cap="none" spc="0" normalizeH="0" baseline="30000" noProof="0">
                    <a:ln>
                      <a:noFill/>
                    </a:ln>
                    <a:solidFill>
                      <a:srgbClr val="000000"/>
                    </a:solidFill>
                    <a:effectLst/>
                    <a:uLnTx/>
                    <a:uFillTx/>
                    <a:latin typeface="Arial" panose="020B0604020202020204" pitchFamily="34" charset="0"/>
                    <a:ea typeface="ＭＳ Ｐゴシック" panose="020B0600070205080204" pitchFamily="34" charset="-128"/>
                    <a:cs typeface="+mn-cs"/>
                  </a:rPr>
                  <a:t>nd</a:t>
                </a: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packet arrives, send ACK</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20" name="Line 53">
                <a:extLst>
                  <a:ext uri="{FF2B5EF4-FFF2-40B4-BE49-F238E27FC236}">
                    <a16:creationId xmlns:a16="http://schemas.microsoft.com/office/drawing/2014/main" id="{87E7DB36-E98C-7E44-A72B-F7EAC66CB01A}"/>
                  </a:ext>
                </a:extLst>
              </p:cNvPr>
              <p:cNvSpPr>
                <a:spLocks noChangeShapeType="1"/>
              </p:cNvSpPr>
              <p:nvPr/>
            </p:nvSpPr>
            <p:spPr bwMode="auto">
              <a:xfrm flipV="1">
                <a:off x="6691540" y="3371399"/>
                <a:ext cx="112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1" name="Line 54">
                <a:extLst>
                  <a:ext uri="{FF2B5EF4-FFF2-40B4-BE49-F238E27FC236}">
                    <a16:creationId xmlns:a16="http://schemas.microsoft.com/office/drawing/2014/main" id="{6F1B7C9A-215A-474C-BA01-5D7C9727191A}"/>
                  </a:ext>
                </a:extLst>
              </p:cNvPr>
              <p:cNvSpPr>
                <a:spLocks noChangeShapeType="1"/>
              </p:cNvSpPr>
              <p:nvPr/>
            </p:nvSpPr>
            <p:spPr bwMode="auto">
              <a:xfrm flipV="1">
                <a:off x="6702653" y="3623811"/>
                <a:ext cx="1127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2" name="Text Box 55">
                <a:extLst>
                  <a:ext uri="{FF2B5EF4-FFF2-40B4-BE49-F238E27FC236}">
                    <a16:creationId xmlns:a16="http://schemas.microsoft.com/office/drawing/2014/main" id="{2CD16A00-05F1-344E-A3E7-C5304F7F9228}"/>
                  </a:ext>
                </a:extLst>
              </p:cNvPr>
              <p:cNvSpPr txBox="1">
                <a:spLocks noChangeArrowheads="1"/>
              </p:cNvSpPr>
              <p:nvPr/>
            </p:nvSpPr>
            <p:spPr bwMode="auto">
              <a:xfrm>
                <a:off x="6742340" y="3446011"/>
                <a:ext cx="38385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last bit of 3</a:t>
                </a:r>
                <a:r>
                  <a:rPr kumimoji="0" lang="en-US" altLang="en-US" sz="1600" b="0" i="0" u="none" strike="noStrike" kern="1200" cap="none" spc="0" normalizeH="0" baseline="30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packet arrives, send ACK</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grpSp>
        <p:nvGrpSpPr>
          <p:cNvPr id="7" name="Group 6">
            <a:extLst>
              <a:ext uri="{FF2B5EF4-FFF2-40B4-BE49-F238E27FC236}">
                <a16:creationId xmlns:a16="http://schemas.microsoft.com/office/drawing/2014/main" id="{7B6176C9-7176-F240-9157-3D2494A14415}"/>
              </a:ext>
            </a:extLst>
          </p:cNvPr>
          <p:cNvGrpSpPr/>
          <p:nvPr/>
        </p:nvGrpSpPr>
        <p:grpSpPr>
          <a:xfrm>
            <a:off x="6955065" y="4341361"/>
            <a:ext cx="3460750" cy="1145039"/>
            <a:chOff x="6955065" y="4341361"/>
            <a:chExt cx="3460750" cy="1145039"/>
          </a:xfrm>
        </p:grpSpPr>
        <p:sp>
          <p:nvSpPr>
            <p:cNvPr id="323" name="Text Box 57">
              <a:extLst>
                <a:ext uri="{FF2B5EF4-FFF2-40B4-BE49-F238E27FC236}">
                  <a16:creationId xmlns:a16="http://schemas.microsoft.com/office/drawing/2014/main" id="{FB511FDF-D49A-204F-9558-B726F99E69A7}"/>
                </a:ext>
              </a:extLst>
            </p:cNvPr>
            <p:cNvSpPr txBox="1">
              <a:spLocks noChangeArrowheads="1"/>
            </p:cNvSpPr>
            <p:nvPr/>
          </p:nvSpPr>
          <p:spPr bwMode="auto">
            <a:xfrm>
              <a:off x="6955065" y="4341361"/>
              <a:ext cx="3460750"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C0000"/>
                  </a:solidFill>
                  <a:effectLst/>
                  <a:uLnTx/>
                  <a:uFillTx/>
                  <a:latin typeface="Arial" charset="0"/>
                  <a:ea typeface="ＭＳ Ｐゴシック" charset="0"/>
                  <a:cs typeface="+mn-cs"/>
                </a:rPr>
                <a:t>3-packet pipelining increases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C0000"/>
                  </a:solidFill>
                  <a:effectLst/>
                  <a:uLnTx/>
                  <a:uFillTx/>
                  <a:latin typeface="Arial" charset="0"/>
                  <a:ea typeface="ＭＳ Ｐゴシック" charset="0"/>
                  <a:cs typeface="+mn-cs"/>
                </a:rPr>
                <a:t> utilization by a factor of 3!</a:t>
              </a:r>
            </a:p>
          </p:txBody>
        </p:sp>
        <p:sp>
          <p:nvSpPr>
            <p:cNvPr id="324" name="Line 58">
              <a:extLst>
                <a:ext uri="{FF2B5EF4-FFF2-40B4-BE49-F238E27FC236}">
                  <a16:creationId xmlns:a16="http://schemas.microsoft.com/office/drawing/2014/main" id="{D6D6E111-408F-FB4E-BDCF-4A37A9DB381A}"/>
                </a:ext>
              </a:extLst>
            </p:cNvPr>
            <p:cNvSpPr>
              <a:spLocks noChangeShapeType="1"/>
            </p:cNvSpPr>
            <p:nvPr/>
          </p:nvSpPr>
          <p:spPr bwMode="auto">
            <a:xfrm>
              <a:off x="7948840" y="5009699"/>
              <a:ext cx="1360" cy="476701"/>
            </a:xfrm>
            <a:prstGeom prst="line">
              <a:avLst/>
            </a:prstGeom>
            <a:noFill/>
            <a:ln w="952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aphicFrame>
        <p:nvGraphicFramePr>
          <p:cNvPr id="325" name="Object 61">
            <a:extLst>
              <a:ext uri="{FF2B5EF4-FFF2-40B4-BE49-F238E27FC236}">
                <a16:creationId xmlns:a16="http://schemas.microsoft.com/office/drawing/2014/main" id="{A3FC3780-5690-F049-A6E0-28EEB6C29DDD}"/>
              </a:ext>
            </a:extLst>
          </p:cNvPr>
          <p:cNvGraphicFramePr>
            <a:graphicFrameLocks noChangeAspect="1"/>
          </p:cNvGraphicFramePr>
          <p:nvPr/>
        </p:nvGraphicFramePr>
        <p:xfrm>
          <a:off x="2992665" y="5276399"/>
          <a:ext cx="6748463" cy="933450"/>
        </p:xfrm>
        <a:graphic>
          <a:graphicData uri="http://schemas.openxmlformats.org/presentationml/2006/ole">
            <mc:AlternateContent xmlns:mc="http://schemas.openxmlformats.org/markup-compatibility/2006">
              <mc:Choice xmlns:v="urn:schemas-microsoft-com:vml" Requires="v">
                <p:oleObj name="Picture" r:id="rId3" imgW="2578100" imgH="355600" progId="Word.Picture.8">
                  <p:embed/>
                </p:oleObj>
              </mc:Choice>
              <mc:Fallback>
                <p:oleObj name="Picture" r:id="rId3" imgW="2578100" imgH="355600" progId="Word.Picture.8">
                  <p:embed/>
                  <p:pic>
                    <p:nvPicPr>
                      <p:cNvPr id="325" name="Object 61">
                        <a:extLst>
                          <a:ext uri="{FF2B5EF4-FFF2-40B4-BE49-F238E27FC236}">
                            <a16:creationId xmlns:a16="http://schemas.microsoft.com/office/drawing/2014/main" id="{A3FC3780-5690-F049-A6E0-28EEB6C29D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2665" y="5276399"/>
                        <a:ext cx="6748463"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 name="Slide Number Placeholder 2">
            <a:extLst>
              <a:ext uri="{FF2B5EF4-FFF2-40B4-BE49-F238E27FC236}">
                <a16:creationId xmlns:a16="http://schemas.microsoft.com/office/drawing/2014/main" id="{5140CCE3-35CF-C249-B39A-9608764C93D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a:t>
            </a:fld>
            <a:endParaRPr lang="en-US" dirty="0"/>
          </a:p>
        </p:txBody>
      </p:sp>
    </p:spTree>
    <p:extLst>
      <p:ext uri="{BB962C8B-B14F-4D97-AF65-F5344CB8AC3E}">
        <p14:creationId xmlns:p14="http://schemas.microsoft.com/office/powerpoint/2010/main" val="107088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5"/>
                                        </p:tgtEl>
                                        <p:attrNameLst>
                                          <p:attrName>style.visibility</p:attrName>
                                        </p:attrNameLst>
                                      </p:cBhvr>
                                      <p:to>
                                        <p:strVal val="visible"/>
                                      </p:to>
                                    </p:set>
                                    <p:animEffect transition="in" filter="dissolve">
                                      <p:cBhvr>
                                        <p:cTn id="12" dur="500"/>
                                        <p:tgtEl>
                                          <p:spTgt spid="32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C7A046D-38A0-4C4D-89C5-98A73D6176B8}"/>
              </a:ext>
            </a:extLst>
          </p:cNvPr>
          <p:cNvSpPr/>
          <p:nvPr/>
        </p:nvSpPr>
        <p:spPr>
          <a:xfrm>
            <a:off x="2766060" y="3200400"/>
            <a:ext cx="2480310" cy="6743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sender</a:t>
            </a:r>
            <a:endParaRPr lang="en-US" sz="4400" dirty="0"/>
          </a:p>
        </p:txBody>
      </p:sp>
      <p:sp>
        <p:nvSpPr>
          <p:cNvPr id="6" name="Rectangle 3">
            <a:extLst>
              <a:ext uri="{FF2B5EF4-FFF2-40B4-BE49-F238E27FC236}">
                <a16:creationId xmlns:a16="http://schemas.microsoft.com/office/drawing/2014/main" id="{1D02EA8C-0D47-4345-907B-176DCE82FE33}"/>
              </a:ext>
            </a:extLst>
          </p:cNvPr>
          <p:cNvSpPr txBox="1">
            <a:spLocks noChangeArrowheads="1"/>
          </p:cNvSpPr>
          <p:nvPr/>
        </p:nvSpPr>
        <p:spPr>
          <a:xfrm>
            <a:off x="938540" y="1295239"/>
            <a:ext cx="11077752" cy="139609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“window” of up to N, consecutive transmitted but </a:t>
            </a:r>
            <a:r>
              <a:rPr kumimoji="0" lang="en-US" altLang="ja-JP"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pkts </a:t>
            </a:r>
          </a:p>
          <a:p>
            <a:pPr marL="815975" marR="0" lvl="1" indent="-342900"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k-bit seq # in pkt header</a:t>
            </a:r>
          </a:p>
          <a:p>
            <a:pPr marL="695325" marR="0" lvl="1"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8" name="Picture 4" descr="gbn_seqnum">
            <a:extLst>
              <a:ext uri="{FF2B5EF4-FFF2-40B4-BE49-F238E27FC236}">
                <a16:creationId xmlns:a16="http://schemas.microsoft.com/office/drawing/2014/main" id="{7F787B9F-F0D5-184B-849D-6DD1215CE2A5}"/>
              </a:ext>
            </a:extLst>
          </p:cNvPr>
          <p:cNvPicPr>
            <a:picLocks noChangeAspect="1" noChangeArrowheads="1"/>
          </p:cNvPicPr>
          <p:nvPr/>
        </p:nvPicPr>
        <p:blipFill>
          <a:blip r:embed="rId3">
            <a:alphaModFix amt="83000"/>
            <a:extLst>
              <a:ext uri="{28A0092B-C50C-407E-A947-70E740481C1C}">
                <a14:useLocalDpi xmlns:a14="http://schemas.microsoft.com/office/drawing/2010/main" val="0"/>
              </a:ext>
            </a:extLst>
          </a:blip>
          <a:srcRect/>
          <a:stretch>
            <a:fillRect/>
          </a:stretch>
        </p:blipFill>
        <p:spPr bwMode="auto">
          <a:xfrm>
            <a:off x="1743751" y="2576024"/>
            <a:ext cx="9167471" cy="1845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5">
            <a:extLst>
              <a:ext uri="{FF2B5EF4-FFF2-40B4-BE49-F238E27FC236}">
                <a16:creationId xmlns:a16="http://schemas.microsoft.com/office/drawing/2014/main" id="{5CC992CE-9CC7-5B4F-A0DC-4AE1FB2B5032}"/>
              </a:ext>
            </a:extLst>
          </p:cNvPr>
          <p:cNvSpPr>
            <a:spLocks noChangeArrowheads="1"/>
          </p:cNvSpPr>
          <p:nvPr/>
        </p:nvSpPr>
        <p:spPr bwMode="auto">
          <a:xfrm>
            <a:off x="1057835" y="4782281"/>
            <a:ext cx="11309804" cy="198504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292100" indent="-292100">
              <a:defRPr sz="1600">
                <a:solidFill>
                  <a:schemeClr val="tx1"/>
                </a:solidFill>
                <a:latin typeface="Tahoma" panose="020B0604030504040204" pitchFamily="34" charset="0"/>
                <a:ea typeface="ＭＳ Ｐゴシック" panose="020B0600070205080204" pitchFamily="34" charset="-128"/>
              </a:defRPr>
            </a:lvl1pPr>
            <a:lvl2pPr marL="685800" indent="-22860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50838" marR="0" lvl="0" indent="-339725" algn="l" defTabSz="914400" rtl="0" eaLnBrk="1" fontAlgn="auto" latinLnBrk="0" hangingPunct="1">
              <a:lnSpc>
                <a:spcPct val="85000"/>
              </a:lnSpc>
              <a:spcBef>
                <a:spcPct val="2000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cumulative ACK: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ACK(</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ACKs all packets up to, including seq #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p>
          <a:p>
            <a:pPr marL="862013" marR="0" lvl="1" indent="-457200"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 receiving ACK(</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ove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window forward to begin at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n+1</a:t>
            </a:r>
          </a:p>
          <a:p>
            <a:pPr marL="350838" marR="0" lvl="0" indent="-3397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timer for oldest in-flight packet</a:t>
            </a:r>
          </a:p>
          <a:p>
            <a:pPr marL="350838" marR="0" lvl="0" indent="-339725" algn="l" defTabSz="914400" rtl="0" eaLnBrk="1" fontAlgn="auto" latinLnBrk="0" hangingPunct="1">
              <a:lnSpc>
                <a:spcPct val="85000"/>
              </a:lnSpc>
              <a:spcBef>
                <a:spcPct val="2000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timeout(n):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retransmit packet n and all higher seq # packets in window</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7" name="Slide Number Placeholder 2">
            <a:extLst>
              <a:ext uri="{FF2B5EF4-FFF2-40B4-BE49-F238E27FC236}">
                <a16:creationId xmlns:a16="http://schemas.microsoft.com/office/drawing/2014/main" id="{FDEE9FF9-C882-024E-8974-9BAEDEEE0BF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176597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receiver</a:t>
            </a:r>
            <a:endParaRPr lang="en-US" sz="4400" dirty="0"/>
          </a:p>
        </p:txBody>
      </p:sp>
      <p:sp>
        <p:nvSpPr>
          <p:cNvPr id="7" name="Rectangle 3">
            <a:extLst>
              <a:ext uri="{FF2B5EF4-FFF2-40B4-BE49-F238E27FC236}">
                <a16:creationId xmlns:a16="http://schemas.microsoft.com/office/drawing/2014/main" id="{D4D350FA-D6D7-FD41-A9BE-7C8ADB1B89FE}"/>
              </a:ext>
            </a:extLst>
          </p:cNvPr>
          <p:cNvSpPr txBox="1">
            <a:spLocks noChangeArrowheads="1"/>
          </p:cNvSpPr>
          <p:nvPr/>
        </p:nvSpPr>
        <p:spPr>
          <a:xfrm>
            <a:off x="803389" y="1374775"/>
            <a:ext cx="10318069" cy="2854325"/>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8925" marR="0" lvl="0" indent="-27781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ACK-only: always send ACK for correctly-received packet so far, with highest </a:t>
            </a:r>
            <a:r>
              <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in-order</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seq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may generate duplicate ACKs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need only remember </a:t>
            </a:r>
            <a:r>
              <a:rPr kumimoji="0" lang="en-US" altLang="en-US" sz="2400" b="0" i="0" u="none" strike="noStrike" kern="1200" cap="none" spc="0" normalizeH="0" baseline="0" noProof="0" dirty="0" err="1">
                <a:ln>
                  <a:noFill/>
                </a:ln>
                <a:solidFill>
                  <a:srgbClr val="0013A3"/>
                </a:solidFill>
                <a:effectLst/>
                <a:uLnTx/>
                <a:uFillTx/>
                <a:latin typeface="Courier New" panose="02070309020205020404" pitchFamily="49" charset="0"/>
                <a:ea typeface="ＭＳ Ｐゴシック" panose="020B0600070205080204" pitchFamily="34" charset="-128"/>
                <a:cs typeface="+mn-cs"/>
              </a:rPr>
              <a:t>rcv_base</a:t>
            </a:r>
            <a:endParaRPr kumimoji="0" lang="en-US" altLang="en-US" sz="2400" b="0" i="0" u="none" strike="noStrike" kern="1200" cap="none" spc="0" normalizeH="0" baseline="0" noProof="0" dirty="0">
              <a:ln>
                <a:noFill/>
              </a:ln>
              <a:solidFill>
                <a:srgbClr val="0013A3"/>
              </a:solidFill>
              <a:effectLst/>
              <a:uLnTx/>
              <a:uFillTx/>
              <a:latin typeface="Courier New" panose="02070309020205020404" pitchFamily="49" charset="0"/>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 receipt of out-of-order packet: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can discard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buffer) or buffer: an implementation decision</a:t>
            </a:r>
            <a:endParaRPr kumimoji="0" lang="en-US" altLang="ja-JP" sz="24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re-ACK pkt with highest in-order seq #</a:t>
            </a:r>
          </a:p>
        </p:txBody>
      </p:sp>
      <p:grpSp>
        <p:nvGrpSpPr>
          <p:cNvPr id="40" name="Group 39">
            <a:extLst>
              <a:ext uri="{FF2B5EF4-FFF2-40B4-BE49-F238E27FC236}">
                <a16:creationId xmlns:a16="http://schemas.microsoft.com/office/drawing/2014/main" id="{721F1563-4EE6-624A-B419-51472DAFC422}"/>
              </a:ext>
            </a:extLst>
          </p:cNvPr>
          <p:cNvGrpSpPr/>
          <p:nvPr/>
        </p:nvGrpSpPr>
        <p:grpSpPr>
          <a:xfrm>
            <a:off x="965200" y="4368800"/>
            <a:ext cx="10131689" cy="2135212"/>
            <a:chOff x="965200" y="4368800"/>
            <a:chExt cx="10131689" cy="2135212"/>
          </a:xfrm>
        </p:grpSpPr>
        <p:sp>
          <p:nvSpPr>
            <p:cNvPr id="4" name="Rectangle 3">
              <a:extLst>
                <a:ext uri="{FF2B5EF4-FFF2-40B4-BE49-F238E27FC236}">
                  <a16:creationId xmlns:a16="http://schemas.microsoft.com/office/drawing/2014/main" id="{B5C749AC-5A6B-CE44-BD87-CDEAD30D68DC}"/>
                </a:ext>
              </a:extLst>
            </p:cNvPr>
            <p:cNvSpPr/>
            <p:nvPr/>
          </p:nvSpPr>
          <p:spPr>
            <a:xfrm>
              <a:off x="2412281" y="487799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B7AB02A-A4B7-9D4F-A1D7-19D810FD4F54}"/>
                </a:ext>
              </a:extLst>
            </p:cNvPr>
            <p:cNvSpPr/>
            <p:nvPr/>
          </p:nvSpPr>
          <p:spPr>
            <a:xfrm>
              <a:off x="2603500" y="487853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DFBB702-FA2B-A04A-B08F-95DFA12C7EDD}"/>
                </a:ext>
              </a:extLst>
            </p:cNvPr>
            <p:cNvSpPr/>
            <p:nvPr/>
          </p:nvSpPr>
          <p:spPr>
            <a:xfrm>
              <a:off x="2777467" y="4879975"/>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7C745A3-C7DB-3942-A271-0A92B4788494}"/>
                </a:ext>
              </a:extLst>
            </p:cNvPr>
            <p:cNvSpPr/>
            <p:nvPr/>
          </p:nvSpPr>
          <p:spPr>
            <a:xfrm>
              <a:off x="2951434" y="487823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242AB67-120B-794E-928E-64266D32C52D}"/>
                </a:ext>
              </a:extLst>
            </p:cNvPr>
            <p:cNvSpPr/>
            <p:nvPr/>
          </p:nvSpPr>
          <p:spPr>
            <a:xfrm>
              <a:off x="3125401" y="4879676"/>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 name="Rectangle 13">
              <a:extLst>
                <a:ext uri="{FF2B5EF4-FFF2-40B4-BE49-F238E27FC236}">
                  <a16:creationId xmlns:a16="http://schemas.microsoft.com/office/drawing/2014/main" id="{5E626C37-8D68-3743-89DE-5821F910BA38}"/>
                </a:ext>
              </a:extLst>
            </p:cNvPr>
            <p:cNvSpPr/>
            <p:nvPr/>
          </p:nvSpPr>
          <p:spPr>
            <a:xfrm>
              <a:off x="3312307" y="4876800"/>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 name="Rectangle 17">
              <a:extLst>
                <a:ext uri="{FF2B5EF4-FFF2-40B4-BE49-F238E27FC236}">
                  <a16:creationId xmlns:a16="http://schemas.microsoft.com/office/drawing/2014/main" id="{713FA41E-5B3A-9E42-85D0-F244A9CA09BA}"/>
                </a:ext>
              </a:extLst>
            </p:cNvPr>
            <p:cNvSpPr/>
            <p:nvPr/>
          </p:nvSpPr>
          <p:spPr>
            <a:xfrm>
              <a:off x="4042679" y="487709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 name="Rectangle 18">
              <a:extLst>
                <a:ext uri="{FF2B5EF4-FFF2-40B4-BE49-F238E27FC236}">
                  <a16:creationId xmlns:a16="http://schemas.microsoft.com/office/drawing/2014/main" id="{DC459346-9ED9-4045-B9EF-F21C877F5C71}"/>
                </a:ext>
              </a:extLst>
            </p:cNvPr>
            <p:cNvSpPr/>
            <p:nvPr/>
          </p:nvSpPr>
          <p:spPr>
            <a:xfrm>
              <a:off x="4216646" y="48773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 name="Rectangle 19">
              <a:extLst>
                <a:ext uri="{FF2B5EF4-FFF2-40B4-BE49-F238E27FC236}">
                  <a16:creationId xmlns:a16="http://schemas.microsoft.com/office/drawing/2014/main" id="{F0135D84-780D-1C4B-B705-7166D92BFCB2}"/>
                </a:ext>
              </a:extLst>
            </p:cNvPr>
            <p:cNvSpPr/>
            <p:nvPr/>
          </p:nvSpPr>
          <p:spPr>
            <a:xfrm>
              <a:off x="4394926" y="4877695"/>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 name="Rectangle 20">
              <a:extLst>
                <a:ext uri="{FF2B5EF4-FFF2-40B4-BE49-F238E27FC236}">
                  <a16:creationId xmlns:a16="http://schemas.microsoft.com/office/drawing/2014/main" id="{4C92DF50-BC76-3348-AFB6-0E120E535E9F}"/>
                </a:ext>
              </a:extLst>
            </p:cNvPr>
            <p:cNvSpPr/>
            <p:nvPr/>
          </p:nvSpPr>
          <p:spPr>
            <a:xfrm>
              <a:off x="4573204" y="48770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 name="Rectangle 21">
              <a:extLst>
                <a:ext uri="{FF2B5EF4-FFF2-40B4-BE49-F238E27FC236}">
                  <a16:creationId xmlns:a16="http://schemas.microsoft.com/office/drawing/2014/main" id="{BD359C03-4942-1F4E-9943-A4770ABD7A5C}"/>
                </a:ext>
              </a:extLst>
            </p:cNvPr>
            <p:cNvSpPr/>
            <p:nvPr/>
          </p:nvSpPr>
          <p:spPr>
            <a:xfrm>
              <a:off x="4738544" y="488260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 name="TextBox 4">
              <a:extLst>
                <a:ext uri="{FF2B5EF4-FFF2-40B4-BE49-F238E27FC236}">
                  <a16:creationId xmlns:a16="http://schemas.microsoft.com/office/drawing/2014/main" id="{24FB1D15-C716-6642-9A8C-FF574649B132}"/>
                </a:ext>
              </a:extLst>
            </p:cNvPr>
            <p:cNvSpPr txBox="1"/>
            <p:nvPr/>
          </p:nvSpPr>
          <p:spPr>
            <a:xfrm>
              <a:off x="3200400" y="5878722"/>
              <a:ext cx="12875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err="1">
                  <a:ln>
                    <a:noFill/>
                  </a:ln>
                  <a:solidFill>
                    <a:srgbClr val="0013A3"/>
                  </a:solidFill>
                  <a:effectLst/>
                  <a:uLnTx/>
                  <a:uFillTx/>
                  <a:latin typeface="Courier New" panose="02070309020205020404" pitchFamily="49" charset="0"/>
                  <a:ea typeface="ＭＳ Ｐゴシック" panose="020B0600070205080204" pitchFamily="34" charset="-128"/>
                  <a:cs typeface="+mn-cs"/>
                </a:rPr>
                <a:t>rcv_base</a:t>
              </a:r>
              <a:endParaRPr kumimoji="0" lang="en-US" sz="1800" b="0" i="0" u="none" strike="noStrike" kern="1200" cap="none" spc="0" normalizeH="0" baseline="0" noProof="0" dirty="0">
                <a:ln>
                  <a:noFill/>
                </a:ln>
                <a:solidFill>
                  <a:srgbClr val="0013A3"/>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FFDA1BD1-92DD-964D-A4AD-4395424A812F}"/>
                </a:ext>
              </a:extLst>
            </p:cNvPr>
            <p:cNvCxnSpPr/>
            <p:nvPr/>
          </p:nvCxnSpPr>
          <p:spPr>
            <a:xfrm flipV="1">
              <a:off x="3340100" y="5523122"/>
              <a:ext cx="0" cy="46990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814D852D-4652-CD46-A032-5387C52666B7}"/>
                </a:ext>
              </a:extLst>
            </p:cNvPr>
            <p:cNvGrpSpPr/>
            <p:nvPr/>
          </p:nvGrpSpPr>
          <p:grpSpPr>
            <a:xfrm>
              <a:off x="7035081" y="4522877"/>
              <a:ext cx="4061808" cy="1981135"/>
              <a:chOff x="7797081" y="4179977"/>
              <a:chExt cx="4061808" cy="1981135"/>
            </a:xfrm>
          </p:grpSpPr>
          <p:sp>
            <p:nvSpPr>
              <p:cNvPr id="25" name="Rectangle 24">
                <a:extLst>
                  <a:ext uri="{FF2B5EF4-FFF2-40B4-BE49-F238E27FC236}">
                    <a16:creationId xmlns:a16="http://schemas.microsoft.com/office/drawing/2014/main" id="{06E499E9-05E0-2848-A525-BB3AC2E78B77}"/>
                  </a:ext>
                </a:extLst>
              </p:cNvPr>
              <p:cNvSpPr/>
              <p:nvPr/>
            </p:nvSpPr>
            <p:spPr>
              <a:xfrm>
                <a:off x="7797081" y="417997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5E59F90-0AC1-D949-8CB5-B7E829DBDF1B}"/>
                  </a:ext>
                </a:extLst>
              </p:cNvPr>
              <p:cNvSpPr/>
              <p:nvPr/>
            </p:nvSpPr>
            <p:spPr>
              <a:xfrm>
                <a:off x="7797081" y="5565889"/>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0D5C9899-6096-4643-8719-DE793696866F}"/>
                  </a:ext>
                </a:extLst>
              </p:cNvPr>
              <p:cNvSpPr txBox="1"/>
              <p:nvPr/>
            </p:nvSpPr>
            <p:spPr>
              <a:xfrm>
                <a:off x="8089900" y="4279900"/>
                <a:ext cx="20945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received and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B3F847CB-3827-2544-8543-6EF3912864FB}"/>
                  </a:ext>
                </a:extLst>
              </p:cNvPr>
              <p:cNvSpPr txBox="1"/>
              <p:nvPr/>
            </p:nvSpPr>
            <p:spPr>
              <a:xfrm>
                <a:off x="8115300" y="4965700"/>
                <a:ext cx="37435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Out-of-order: received but not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79AF6502-A49B-FB42-8066-694FB04355A3}"/>
                  </a:ext>
                </a:extLst>
              </p:cNvPr>
              <p:cNvSpPr txBox="1"/>
              <p:nvPr/>
            </p:nvSpPr>
            <p:spPr>
              <a:xfrm>
                <a:off x="8089900" y="5664200"/>
                <a:ext cx="13832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Not received</a:t>
                </a:r>
              </a:p>
            </p:txBody>
          </p:sp>
        </p:grpSp>
        <p:sp>
          <p:nvSpPr>
            <p:cNvPr id="32" name="TextBox 31">
              <a:extLst>
                <a:ext uri="{FF2B5EF4-FFF2-40B4-BE49-F238E27FC236}">
                  <a16:creationId xmlns:a16="http://schemas.microsoft.com/office/drawing/2014/main" id="{8AE8A9EC-F9D6-AD41-BDA3-40B447572E22}"/>
                </a:ext>
              </a:extLst>
            </p:cNvPr>
            <p:cNvSpPr txBox="1"/>
            <p:nvPr/>
          </p:nvSpPr>
          <p:spPr>
            <a:xfrm>
              <a:off x="965200" y="4368800"/>
              <a:ext cx="541981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view of sequence number space:</a:t>
              </a:r>
            </a:p>
          </p:txBody>
        </p:sp>
        <p:sp>
          <p:nvSpPr>
            <p:cNvPr id="34" name="Rectangle 33">
              <a:extLst>
                <a:ext uri="{FF2B5EF4-FFF2-40B4-BE49-F238E27FC236}">
                  <a16:creationId xmlns:a16="http://schemas.microsoft.com/office/drawing/2014/main" id="{7C6C7DB5-7268-0B44-A56E-B28CC92134BC}"/>
                </a:ext>
              </a:extLst>
            </p:cNvPr>
            <p:cNvSpPr/>
            <p:nvPr/>
          </p:nvSpPr>
          <p:spPr>
            <a:xfrm>
              <a:off x="7043594" y="5225507"/>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5" name="Rectangle 34">
              <a:extLst>
                <a:ext uri="{FF2B5EF4-FFF2-40B4-BE49-F238E27FC236}">
                  <a16:creationId xmlns:a16="http://schemas.microsoft.com/office/drawing/2014/main" id="{AA046972-9F03-F944-BC25-0B2150456151}"/>
                </a:ext>
              </a:extLst>
            </p:cNvPr>
            <p:cNvSpPr/>
            <p:nvPr/>
          </p:nvSpPr>
          <p:spPr>
            <a:xfrm>
              <a:off x="38558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6" name="Rectangle 35">
              <a:extLst>
                <a:ext uri="{FF2B5EF4-FFF2-40B4-BE49-F238E27FC236}">
                  <a16:creationId xmlns:a16="http://schemas.microsoft.com/office/drawing/2014/main" id="{E2CC5FA3-3D8B-6548-BA93-1DA3D5DF3E6E}"/>
                </a:ext>
              </a:extLst>
            </p:cNvPr>
            <p:cNvSpPr/>
            <p:nvPr/>
          </p:nvSpPr>
          <p:spPr>
            <a:xfrm>
              <a:off x="35002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7" name="Rectangle 36">
              <a:extLst>
                <a:ext uri="{FF2B5EF4-FFF2-40B4-BE49-F238E27FC236}">
                  <a16:creationId xmlns:a16="http://schemas.microsoft.com/office/drawing/2014/main" id="{BB5F6F20-040F-1941-B33E-7134B25528B8}"/>
                </a:ext>
              </a:extLst>
            </p:cNvPr>
            <p:cNvSpPr/>
            <p:nvPr/>
          </p:nvSpPr>
          <p:spPr>
            <a:xfrm>
              <a:off x="368444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8" name="TextBox 37">
              <a:extLst>
                <a:ext uri="{FF2B5EF4-FFF2-40B4-BE49-F238E27FC236}">
                  <a16:creationId xmlns:a16="http://schemas.microsoft.com/office/drawing/2014/main" id="{27974E79-9D0E-3745-ABD9-0984B3110ABE}"/>
                </a:ext>
              </a:extLst>
            </p:cNvPr>
            <p:cNvSpPr txBox="1"/>
            <p:nvPr/>
          </p:nvSpPr>
          <p:spPr>
            <a:xfrm>
              <a:off x="1892300" y="5105400"/>
              <a:ext cx="43313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Box 38">
              <a:extLst>
                <a:ext uri="{FF2B5EF4-FFF2-40B4-BE49-F238E27FC236}">
                  <a16:creationId xmlns:a16="http://schemas.microsoft.com/office/drawing/2014/main" id="{E72C8E0E-B0A1-2140-BDEC-22D5E69331DA}"/>
                </a:ext>
              </a:extLst>
            </p:cNvPr>
            <p:cNvSpPr txBox="1"/>
            <p:nvPr/>
          </p:nvSpPr>
          <p:spPr>
            <a:xfrm>
              <a:off x="4876800" y="5105400"/>
              <a:ext cx="43313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1" name="Slide Number Placeholder 2">
            <a:extLst>
              <a:ext uri="{FF2B5EF4-FFF2-40B4-BE49-F238E27FC236}">
                <a16:creationId xmlns:a16="http://schemas.microsoft.com/office/drawing/2014/main" id="{D2730539-5138-AA4F-8FB6-75E50809896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8</a:t>
            </a:fld>
            <a:endParaRPr lang="en-US" dirty="0"/>
          </a:p>
        </p:txBody>
      </p:sp>
    </p:spTree>
    <p:extLst>
      <p:ext uri="{BB962C8B-B14F-4D97-AF65-F5344CB8AC3E}">
        <p14:creationId xmlns:p14="http://schemas.microsoft.com/office/powerpoint/2010/main" val="102219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in action</a:t>
            </a:r>
            <a:endParaRPr lang="en-US" sz="4400"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4770437" y="1531937"/>
            <a:ext cx="1246188" cy="1465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5091112" y="1160462"/>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8121650" y="1179512"/>
            <a:ext cx="107156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8196262" y="1778000"/>
            <a:ext cx="11113" cy="45386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2" name="Text Box 15">
            <a:extLst>
              <a:ext uri="{FF2B5EF4-FFF2-40B4-BE49-F238E27FC236}">
                <a16:creationId xmlns:a16="http://schemas.microsoft.com/office/drawing/2014/main" id="{AF86798F-8D3B-3F46-8E9A-88A423CB91FE}"/>
              </a:ext>
            </a:extLst>
          </p:cNvPr>
          <p:cNvSpPr txBox="1">
            <a:spLocks noChangeArrowheads="1"/>
          </p:cNvSpPr>
          <p:nvPr/>
        </p:nvSpPr>
        <p:spPr bwMode="auto">
          <a:xfrm>
            <a:off x="8139112" y="1973262"/>
            <a:ext cx="2568575" cy="1465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pkt0, send ack0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pkt1, send ack1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pkt3,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4775200" y="4713287"/>
            <a:ext cx="1246187" cy="1082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pkt4</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6067425" y="2249487"/>
            <a:ext cx="2014537" cy="1066800"/>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6059487" y="1725612"/>
            <a:ext cx="2122488" cy="1292225"/>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37362" y="2298700"/>
              <a:ext cx="341313"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96112" y="2319337"/>
              <a:ext cx="522288"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FF0000"/>
                  </a:solidFill>
                  <a:effectLst/>
                  <a:uLnTx/>
                  <a:uFillTx/>
                  <a:latin typeface="Tahoma" charset="0"/>
                  <a:ea typeface="ＭＳ Ｐゴシック" charset="0"/>
                  <a:cs typeface="+mn-cs"/>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6064250" y="2535237"/>
            <a:ext cx="2014537" cy="1100138"/>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6067425" y="3371850"/>
            <a:ext cx="2100262"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6099175" y="3690937"/>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6096000" y="3065462"/>
            <a:ext cx="2014537" cy="1100138"/>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4081462" y="2254250"/>
            <a:ext cx="1978025" cy="2543175"/>
            <a:chOff x="4081462" y="2254250"/>
            <a:chExt cx="1978025" cy="254317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449762" y="4498975"/>
              <a:ext cx="1538288" cy="298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a:ln>
                    <a:noFill/>
                  </a:ln>
                  <a:solidFill>
                    <a:srgbClr val="FF0000"/>
                  </a:solidFill>
                  <a:effectLst/>
                  <a:uLnTx/>
                  <a:uFillTx/>
                  <a:latin typeface="Tahoma" charset="0"/>
                  <a:ea typeface="ＭＳ Ｐゴシック" charset="0"/>
                  <a:cs typeface="+mn-cs"/>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1" name="Group 10">
            <a:extLst>
              <a:ext uri="{FF2B5EF4-FFF2-40B4-BE49-F238E27FC236}">
                <a16:creationId xmlns:a16="http://schemas.microsoft.com/office/drawing/2014/main" id="{B43C2478-ADE4-9940-A00F-07B0A8A168AB}"/>
              </a:ext>
            </a:extLst>
          </p:cNvPr>
          <p:cNvGrpSpPr/>
          <p:nvPr/>
        </p:nvGrpSpPr>
        <p:grpSpPr>
          <a:xfrm>
            <a:off x="6061075" y="4884737"/>
            <a:ext cx="2114550" cy="1179513"/>
            <a:chOff x="6061075" y="4884737"/>
            <a:chExt cx="2114550" cy="1179513"/>
          </a:xfrm>
        </p:grpSpPr>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6075362" y="4884737"/>
              <a:ext cx="2100263"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3" name="Line 38">
              <a:extLst>
                <a:ext uri="{FF2B5EF4-FFF2-40B4-BE49-F238E27FC236}">
                  <a16:creationId xmlns:a16="http://schemas.microsoft.com/office/drawing/2014/main" id="{F145FE1E-AA9A-9247-82EE-3228DB0DB25A}"/>
                </a:ext>
              </a:extLst>
            </p:cNvPr>
            <p:cNvSpPr>
              <a:spLocks noChangeShapeType="1"/>
            </p:cNvSpPr>
            <p:nvPr/>
          </p:nvSpPr>
          <p:spPr bwMode="auto">
            <a:xfrm>
              <a:off x="6067425" y="5129212"/>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4" name="Line 39">
              <a:extLst>
                <a:ext uri="{FF2B5EF4-FFF2-40B4-BE49-F238E27FC236}">
                  <a16:creationId xmlns:a16="http://schemas.microsoft.com/office/drawing/2014/main" id="{A6917865-5501-404F-B05D-FD50B31DAC19}"/>
                </a:ext>
              </a:extLst>
            </p:cNvPr>
            <p:cNvSpPr>
              <a:spLocks noChangeShapeType="1"/>
            </p:cNvSpPr>
            <p:nvPr/>
          </p:nvSpPr>
          <p:spPr bwMode="auto">
            <a:xfrm>
              <a:off x="6061075" y="5362575"/>
              <a:ext cx="2101850"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5" name="Line 40">
              <a:extLst>
                <a:ext uri="{FF2B5EF4-FFF2-40B4-BE49-F238E27FC236}">
                  <a16:creationId xmlns:a16="http://schemas.microsoft.com/office/drawing/2014/main" id="{C1F71149-521E-A245-80B1-E26288E6E967}"/>
                </a:ext>
              </a:extLst>
            </p:cNvPr>
            <p:cNvSpPr>
              <a:spLocks noChangeShapeType="1"/>
            </p:cNvSpPr>
            <p:nvPr/>
          </p:nvSpPr>
          <p:spPr bwMode="auto">
            <a:xfrm>
              <a:off x="6064250" y="5595937"/>
              <a:ext cx="2100262"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136" name="Text Box 41">
            <a:extLst>
              <a:ext uri="{FF2B5EF4-FFF2-40B4-BE49-F238E27FC236}">
                <a16:creationId xmlns:a16="http://schemas.microsoft.com/office/drawing/2014/main" id="{C2E1F2DD-A0AF-3A4F-84ED-5EB921B7EA8C}"/>
              </a:ext>
            </a:extLst>
          </p:cNvPr>
          <p:cNvSpPr txBox="1">
            <a:spLocks noChangeArrowheads="1"/>
          </p:cNvSpPr>
          <p:nvPr/>
        </p:nvSpPr>
        <p:spPr bwMode="auto">
          <a:xfrm>
            <a:off x="8135937" y="3497262"/>
            <a:ext cx="2413000"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pkt4,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37" name="Text Box 42">
            <a:extLst>
              <a:ext uri="{FF2B5EF4-FFF2-40B4-BE49-F238E27FC236}">
                <a16:creationId xmlns:a16="http://schemas.microsoft.com/office/drawing/2014/main" id="{9460E1DE-6181-0944-8A7F-243E2C9494FD}"/>
              </a:ext>
            </a:extLst>
          </p:cNvPr>
          <p:cNvSpPr txBox="1">
            <a:spLocks noChangeArrowheads="1"/>
          </p:cNvSpPr>
          <p:nvPr/>
        </p:nvSpPr>
        <p:spPr bwMode="auto">
          <a:xfrm>
            <a:off x="8154987" y="4017962"/>
            <a:ext cx="2413000"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pkt5,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38" name="Text Box 43">
            <a:extLst>
              <a:ext uri="{FF2B5EF4-FFF2-40B4-BE49-F238E27FC236}">
                <a16:creationId xmlns:a16="http://schemas.microsoft.com/office/drawing/2014/main" id="{9372D8AC-242E-6F41-B4F3-7282D16B0794}"/>
              </a:ext>
            </a:extLst>
          </p:cNvPr>
          <p:cNvSpPr txBox="1">
            <a:spLocks noChangeArrowheads="1"/>
          </p:cNvSpPr>
          <p:nvPr/>
        </p:nvSpPr>
        <p:spPr bwMode="auto">
          <a:xfrm>
            <a:off x="8166100" y="5172075"/>
            <a:ext cx="2965450" cy="1082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pkt2, deliver, send ack2</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pkt3, deliver, send ack3</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pkt4, deliver, send ack4</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pkt5, deliver, send ack5</a:t>
            </a:r>
          </a:p>
        </p:txBody>
      </p:sp>
      <p:sp>
        <p:nvSpPr>
          <p:cNvPr id="139" name="Text Box 44">
            <a:extLst>
              <a:ext uri="{FF2B5EF4-FFF2-40B4-BE49-F238E27FC236}">
                <a16:creationId xmlns:a16="http://schemas.microsoft.com/office/drawing/2014/main" id="{3FF05DAC-881F-5A4C-85B0-7DEC9D8730CF}"/>
              </a:ext>
            </a:extLst>
          </p:cNvPr>
          <p:cNvSpPr txBox="1">
            <a:spLocks noChangeArrowheads="1"/>
          </p:cNvSpPr>
          <p:nvPr/>
        </p:nvSpPr>
        <p:spPr bwMode="auto">
          <a:xfrm>
            <a:off x="4217987" y="4000500"/>
            <a:ext cx="1811338"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ignore duplicate ACK</a:t>
            </a: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2278062" y="1223962"/>
            <a:ext cx="214630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sng" strike="noStrike" kern="0" cap="none" spc="0" normalizeH="0" baseline="0" noProof="0">
                <a:ln>
                  <a:noFill/>
                </a:ln>
                <a:solidFill>
                  <a:srgbClr val="000099"/>
                </a:solidFill>
                <a:effectLst/>
                <a:uLnTx/>
                <a:uFillTx/>
                <a:latin typeface="Tahoma" charset="0"/>
                <a:ea typeface="ＭＳ Ｐゴシック" charset="0"/>
                <a:cs typeface="+mn-cs"/>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2317750" y="1570037"/>
            <a:ext cx="1520825" cy="1150938"/>
            <a:chOff x="2317750" y="1570037"/>
            <a:chExt cx="1520825" cy="1150938"/>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320925" y="1570037"/>
              <a:ext cx="1512887" cy="304800"/>
              <a:chOff x="115" y="914"/>
              <a:chExt cx="953" cy="192"/>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317750" y="1855787"/>
              <a:ext cx="1512887" cy="304800"/>
              <a:chOff x="115" y="914"/>
              <a:chExt cx="953" cy="192"/>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325687" y="2141537"/>
              <a:ext cx="1512888" cy="304800"/>
              <a:chOff x="115" y="914"/>
              <a:chExt cx="953" cy="192"/>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322512" y="2416175"/>
              <a:ext cx="1512888" cy="304800"/>
              <a:chOff x="115" y="914"/>
              <a:chExt cx="953" cy="192"/>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2319337" y="3135312"/>
            <a:ext cx="3749675" cy="369332"/>
            <a:chOff x="2319337" y="3135312"/>
            <a:chExt cx="3749675" cy="369332"/>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319337" y="3135312"/>
              <a:ext cx="3749675" cy="369332"/>
              <a:chOff x="2319337" y="3135312"/>
              <a:chExt cx="3749675" cy="369332"/>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319337" y="3186112"/>
                <a:ext cx="1512888"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1 2 3 4</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2305050" y="4754562"/>
            <a:ext cx="1520825" cy="1050925"/>
            <a:chOff x="2305050" y="4754562"/>
            <a:chExt cx="1520825" cy="1050925"/>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305050" y="4754562"/>
              <a:ext cx="1512887" cy="304800"/>
              <a:chOff x="112" y="2105"/>
              <a:chExt cx="953" cy="192"/>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312987" y="4995862"/>
              <a:ext cx="1512888" cy="304800"/>
              <a:chOff x="112" y="2105"/>
              <a:chExt cx="953" cy="192"/>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309812" y="5259387"/>
              <a:ext cx="1512888" cy="304800"/>
              <a:chOff x="112" y="2105"/>
              <a:chExt cx="953" cy="192"/>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306637" y="5500687"/>
              <a:ext cx="1512888" cy="304800"/>
              <a:chOff x="112" y="2105"/>
              <a:chExt cx="953" cy="192"/>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7129462" y="3876675"/>
            <a:ext cx="1039813" cy="873125"/>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 name="Group 11">
            <a:extLst>
              <a:ext uri="{FF2B5EF4-FFF2-40B4-BE49-F238E27FC236}">
                <a16:creationId xmlns:a16="http://schemas.microsoft.com/office/drawing/2014/main" id="{A72E6ECF-EC8F-534A-B975-E7A316543BA2}"/>
              </a:ext>
            </a:extLst>
          </p:cNvPr>
          <p:cNvGrpSpPr/>
          <p:nvPr/>
        </p:nvGrpSpPr>
        <p:grpSpPr>
          <a:xfrm>
            <a:off x="7108825" y="5376862"/>
            <a:ext cx="1081087" cy="1303338"/>
            <a:chOff x="7083425" y="5376862"/>
            <a:chExt cx="1081087" cy="1303338"/>
          </a:xfrm>
        </p:grpSpPr>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7131050" y="5376862"/>
              <a:ext cx="1033462"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3" name="Line 101">
              <a:extLst>
                <a:ext uri="{FF2B5EF4-FFF2-40B4-BE49-F238E27FC236}">
                  <a16:creationId xmlns:a16="http://schemas.microsoft.com/office/drawing/2014/main" id="{84B4DDDE-6474-8442-BB57-A50ADD9CEBEC}"/>
                </a:ext>
              </a:extLst>
            </p:cNvPr>
            <p:cNvSpPr>
              <a:spLocks noChangeShapeType="1"/>
            </p:cNvSpPr>
            <p:nvPr/>
          </p:nvSpPr>
          <p:spPr bwMode="auto">
            <a:xfrm flipH="1">
              <a:off x="7115175" y="5630862"/>
              <a:ext cx="1033462"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4" name="Line 102">
              <a:extLst>
                <a:ext uri="{FF2B5EF4-FFF2-40B4-BE49-F238E27FC236}">
                  <a16:creationId xmlns:a16="http://schemas.microsoft.com/office/drawing/2014/main" id="{73C0C64C-D6E3-AC4F-B1DD-2ECA3B116102}"/>
                </a:ext>
              </a:extLst>
            </p:cNvPr>
            <p:cNvSpPr>
              <a:spLocks noChangeShapeType="1"/>
            </p:cNvSpPr>
            <p:nvPr/>
          </p:nvSpPr>
          <p:spPr bwMode="auto">
            <a:xfrm flipH="1">
              <a:off x="7099300" y="5873750"/>
              <a:ext cx="1033462" cy="56356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5" name="Line 103">
              <a:extLst>
                <a:ext uri="{FF2B5EF4-FFF2-40B4-BE49-F238E27FC236}">
                  <a16:creationId xmlns:a16="http://schemas.microsoft.com/office/drawing/2014/main" id="{2133D681-30CA-654C-AE01-4F7EF0A35A48}"/>
                </a:ext>
              </a:extLst>
            </p:cNvPr>
            <p:cNvSpPr>
              <a:spLocks noChangeShapeType="1"/>
            </p:cNvSpPr>
            <p:nvPr/>
          </p:nvSpPr>
          <p:spPr bwMode="auto">
            <a:xfrm flipH="1">
              <a:off x="7083425" y="6116637"/>
              <a:ext cx="1033462"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7" name="Group 6">
            <a:extLst>
              <a:ext uri="{FF2B5EF4-FFF2-40B4-BE49-F238E27FC236}">
                <a16:creationId xmlns:a16="http://schemas.microsoft.com/office/drawing/2014/main" id="{FBA17A60-2A45-964D-961F-A44FDA1E12F8}"/>
              </a:ext>
            </a:extLst>
          </p:cNvPr>
          <p:cNvGrpSpPr/>
          <p:nvPr/>
        </p:nvGrpSpPr>
        <p:grpSpPr>
          <a:xfrm>
            <a:off x="2316162" y="3452813"/>
            <a:ext cx="3752850" cy="369332"/>
            <a:chOff x="2316162" y="3452813"/>
            <a:chExt cx="3752850" cy="369332"/>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316162" y="3460750"/>
              <a:ext cx="1512888" cy="304800"/>
              <a:chOff x="112" y="2105"/>
              <a:chExt cx="953" cy="192"/>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6037262" y="1612900"/>
            <a:ext cx="11113" cy="45386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3" name="Slide Number Placeholder 2">
            <a:extLst>
              <a:ext uri="{FF2B5EF4-FFF2-40B4-BE49-F238E27FC236}">
                <a16:creationId xmlns:a16="http://schemas.microsoft.com/office/drawing/2014/main" id="{D2E57CDD-AF57-3E45-9B83-97B06BD5DF03}"/>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9</a:t>
            </a:fld>
            <a:endParaRPr lang="en-US" dirty="0"/>
          </a:p>
        </p:txBody>
      </p:sp>
    </p:spTree>
    <p:extLst>
      <p:ext uri="{BB962C8B-B14F-4D97-AF65-F5344CB8AC3E}">
        <p14:creationId xmlns:p14="http://schemas.microsoft.com/office/powerpoint/2010/main" val="32905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2"/>
                                        </p:tgtEl>
                                        <p:attrNameLst>
                                          <p:attrName>style.visibility</p:attrName>
                                        </p:attrNameLst>
                                      </p:cBhvr>
                                      <p:to>
                                        <p:strVal val="visible"/>
                                      </p:to>
                                    </p:set>
                                    <p:animEffect transition="in" filter="dissolve">
                                      <p:cBhvr>
                                        <p:cTn id="19" dur="500"/>
                                        <p:tgtEl>
                                          <p:spTgt spid="1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136"/>
                                        </p:tgtEl>
                                        <p:attrNameLst>
                                          <p:attrName>style.visibility</p:attrName>
                                        </p:attrNameLst>
                                      </p:cBhvr>
                                      <p:to>
                                        <p:strVal val="visible"/>
                                      </p:to>
                                    </p:set>
                                    <p:animEffect transition="in" filter="dissolve">
                                      <p:cBhvr>
                                        <p:cTn id="43" dur="500"/>
                                        <p:tgtEl>
                                          <p:spTgt spid="13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137"/>
                                        </p:tgtEl>
                                        <p:attrNameLst>
                                          <p:attrName>style.visibility</p:attrName>
                                        </p:attrNameLst>
                                      </p:cBhvr>
                                      <p:to>
                                        <p:strVal val="visible"/>
                                      </p:to>
                                    </p:set>
                                    <p:animEffect transition="in" filter="dissolve">
                                      <p:cBhvr>
                                        <p:cTn id="56" dur="500"/>
                                        <p:tgtEl>
                                          <p:spTgt spid="137"/>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39"/>
                                        </p:tgtEl>
                                        <p:attrNameLst>
                                          <p:attrName>style.visibility</p:attrName>
                                        </p:attrNameLst>
                                      </p:cBhvr>
                                      <p:to>
                                        <p:strVal val="visible"/>
                                      </p:to>
                                    </p:set>
                                    <p:animEffect transition="in" filter="dissolve">
                                      <p:cBhvr>
                                        <p:cTn id="61" dur="500"/>
                                        <p:tgtEl>
                                          <p:spTgt spid="13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right)">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dissolve">
                                      <p:cBhvr>
                                        <p:cTn id="71" dur="500"/>
                                        <p:tgtEl>
                                          <p:spTgt spid="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wipe(left)">
                                      <p:cBhvr>
                                        <p:cTn id="76" dur="500"/>
                                        <p:tgtEl>
                                          <p:spTgt spid="10"/>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116"/>
                                        </p:tgtEl>
                                        <p:attrNameLst>
                                          <p:attrName>style.visibility</p:attrName>
                                        </p:attrNameLst>
                                      </p:cBhvr>
                                      <p:to>
                                        <p:strVal val="visible"/>
                                      </p:to>
                                    </p:set>
                                    <p:animEffect transition="in" filter="wipe(left)">
                                      <p:cBhvr>
                                        <p:cTn id="80" dur="500"/>
                                        <p:tgtEl>
                                          <p:spTgt spid="116"/>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ipe(left)">
                                      <p:cBhvr>
                                        <p:cTn id="84" dur="500"/>
                                        <p:tgtEl>
                                          <p:spTgt spid="11"/>
                                        </p:tgtEl>
                                      </p:cBhvr>
                                    </p:animEffect>
                                  </p:childTnLst>
                                </p:cTn>
                              </p:par>
                            </p:childTnLst>
                          </p:cTn>
                        </p:par>
                        <p:par>
                          <p:cTn id="85" fill="hold">
                            <p:stCondLst>
                              <p:cond delay="1500"/>
                            </p:stCondLst>
                            <p:childTnLst>
                              <p:par>
                                <p:cTn id="86" presetID="9" presetClass="entr" presetSubtype="0" fill="hold" grpId="0" nodeType="afterEffect">
                                  <p:stCondLst>
                                    <p:cond delay="0"/>
                                  </p:stCondLst>
                                  <p:childTnLst>
                                    <p:set>
                                      <p:cBhvr>
                                        <p:cTn id="87" dur="1" fill="hold">
                                          <p:stCondLst>
                                            <p:cond delay="0"/>
                                          </p:stCondLst>
                                        </p:cTn>
                                        <p:tgtEl>
                                          <p:spTgt spid="138"/>
                                        </p:tgtEl>
                                        <p:attrNameLst>
                                          <p:attrName>style.visibility</p:attrName>
                                        </p:attrNameLst>
                                      </p:cBhvr>
                                      <p:to>
                                        <p:strVal val="visible"/>
                                      </p:to>
                                    </p:set>
                                    <p:animEffect transition="in" filter="dissolve">
                                      <p:cBhvr>
                                        <p:cTn id="88" dur="500"/>
                                        <p:tgtEl>
                                          <p:spTgt spid="138"/>
                                        </p:tgtEl>
                                      </p:cBhvr>
                                    </p:animEffect>
                                  </p:childTnLst>
                                </p:cTn>
                              </p:par>
                            </p:childTnLst>
                          </p:cTn>
                        </p:par>
                        <p:par>
                          <p:cTn id="89" fill="hold">
                            <p:stCondLst>
                              <p:cond delay="2000"/>
                            </p:stCondLst>
                            <p:childTnLst>
                              <p:par>
                                <p:cTn id="90" presetID="22" presetClass="entr" presetSubtype="2" fill="hold" nodeType="after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wipe(right)">
                                      <p:cBhvr>
                                        <p:cTn id="9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2" grpId="0"/>
      <p:bldP spid="116" grpId="0"/>
      <p:bldP spid="121" grpId="0" animBg="1"/>
      <p:bldP spid="124" grpId="0" animBg="1"/>
      <p:bldP spid="125" grpId="0" animBg="1"/>
      <p:bldP spid="126" grpId="0" animBg="1"/>
      <p:bldP spid="127" grpId="0" animBg="1"/>
      <p:bldP spid="136" grpId="0"/>
      <p:bldP spid="137" grpId="0"/>
      <p:bldP spid="138" grpId="0"/>
      <p:bldP spid="13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a:t>
            </a:r>
            <a:endParaRPr lang="en-US" sz="4400" dirty="0"/>
          </a:p>
        </p:txBody>
      </p:sp>
      <p:sp>
        <p:nvSpPr>
          <p:cNvPr id="72" name="Rectangle 3">
            <a:extLst>
              <a:ext uri="{FF2B5EF4-FFF2-40B4-BE49-F238E27FC236}">
                <a16:creationId xmlns:a16="http://schemas.microsoft.com/office/drawing/2014/main" id="{09D24536-1438-724B-97D9-02D061CA29EA}"/>
              </a:ext>
            </a:extLst>
          </p:cNvPr>
          <p:cNvSpPr txBox="1">
            <a:spLocks noChangeArrowheads="1"/>
          </p:cNvSpPr>
          <p:nvPr/>
        </p:nvSpPr>
        <p:spPr>
          <a:xfrm>
            <a:off x="733374" y="1489418"/>
            <a:ext cx="11100624"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a:t>
            </a:r>
            <a:r>
              <a:rPr kumimoji="0" lang="en-US" altLang="en-US" sz="32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individually</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acknowledges all correctly received packets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buffers packets, as needed, for eventual in-order delivery to upper layer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times-out/retransmits individually for </a:t>
            </a:r>
            <a:r>
              <a:rPr kumimoji="0" lang="en-US" altLang="en-US" sz="32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packets</a:t>
            </a:r>
          </a:p>
          <a:p>
            <a:pPr marL="747713" marR="0" lvl="1" indent="-2270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maintains timer for each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pkt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window</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consecutive seq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limits seq #s of sent,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packets</a:t>
            </a:r>
          </a:p>
        </p:txBody>
      </p:sp>
      <p:sp>
        <p:nvSpPr>
          <p:cNvPr id="4" name="Slide Number Placeholder 2">
            <a:extLst>
              <a:ext uri="{FF2B5EF4-FFF2-40B4-BE49-F238E27FC236}">
                <a16:creationId xmlns:a16="http://schemas.microsoft.com/office/drawing/2014/main" id="{0DFB6A67-ADC6-9C4B-84A6-543096C42B00}"/>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10</a:t>
            </a:fld>
            <a:endParaRPr lang="en-US" dirty="0"/>
          </a:p>
        </p:txBody>
      </p:sp>
    </p:spTree>
    <p:extLst>
      <p:ext uri="{BB962C8B-B14F-4D97-AF65-F5344CB8AC3E}">
        <p14:creationId xmlns:p14="http://schemas.microsoft.com/office/powerpoint/2010/main" val="250150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dissolve">
                                      <p:cBhvr>
                                        <p:cTn id="7" dur="500"/>
                                        <p:tgtEl>
                                          <p:spTgt spid="72">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2">
                                            <p:txEl>
                                              <p:pRg st="1" end="1"/>
                                            </p:txEl>
                                          </p:spTgt>
                                        </p:tgtEl>
                                        <p:attrNameLst>
                                          <p:attrName>style.visibility</p:attrName>
                                        </p:attrNameLst>
                                      </p:cBhvr>
                                      <p:to>
                                        <p:strVal val="visible"/>
                                      </p:to>
                                    </p:set>
                                    <p:animEffect transition="in" filter="dissolve">
                                      <p:cBhvr>
                                        <p:cTn id="10" dur="500"/>
                                        <p:tgtEl>
                                          <p:spTgt spid="7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2">
                                            <p:txEl>
                                              <p:pRg st="2" end="2"/>
                                            </p:txEl>
                                          </p:spTgt>
                                        </p:tgtEl>
                                        <p:attrNameLst>
                                          <p:attrName>style.visibility</p:attrName>
                                        </p:attrNameLst>
                                      </p:cBhvr>
                                      <p:to>
                                        <p:strVal val="visible"/>
                                      </p:to>
                                    </p:set>
                                    <p:animEffect transition="in" filter="dissolve">
                                      <p:cBhvr>
                                        <p:cTn id="15" dur="500"/>
                                        <p:tgtEl>
                                          <p:spTgt spid="72">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72">
                                            <p:txEl>
                                              <p:pRg st="3" end="3"/>
                                            </p:txEl>
                                          </p:spTgt>
                                        </p:tgtEl>
                                        <p:attrNameLst>
                                          <p:attrName>style.visibility</p:attrName>
                                        </p:attrNameLst>
                                      </p:cBhvr>
                                      <p:to>
                                        <p:strVal val="visible"/>
                                      </p:to>
                                    </p:set>
                                    <p:animEffect transition="in" filter="dissolve">
                                      <p:cBhvr>
                                        <p:cTn id="18" dur="500"/>
                                        <p:tgtEl>
                                          <p:spTgt spid="7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2">
                                            <p:txEl>
                                              <p:pRg st="4" end="4"/>
                                            </p:txEl>
                                          </p:spTgt>
                                        </p:tgtEl>
                                        <p:attrNameLst>
                                          <p:attrName>style.visibility</p:attrName>
                                        </p:attrNameLst>
                                      </p:cBhvr>
                                      <p:to>
                                        <p:strVal val="visible"/>
                                      </p:to>
                                    </p:set>
                                    <p:animEffect transition="in" filter="dissolve">
                                      <p:cBhvr>
                                        <p:cTn id="23" dur="500"/>
                                        <p:tgtEl>
                                          <p:spTgt spid="72">
                                            <p:txEl>
                                              <p:pRg st="4" end="4"/>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2">
                                            <p:txEl>
                                              <p:pRg st="5" end="5"/>
                                            </p:txEl>
                                          </p:spTgt>
                                        </p:tgtEl>
                                        <p:attrNameLst>
                                          <p:attrName>style.visibility</p:attrName>
                                        </p:attrNameLst>
                                      </p:cBhvr>
                                      <p:to>
                                        <p:strVal val="visible"/>
                                      </p:to>
                                    </p:set>
                                    <p:animEffect transition="in" filter="dissolve">
                                      <p:cBhvr>
                                        <p:cTn id="26" dur="500"/>
                                        <p:tgtEl>
                                          <p:spTgt spid="72">
                                            <p:txEl>
                                              <p:pRg st="5" end="5"/>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72">
                                            <p:txEl>
                                              <p:pRg st="6" end="6"/>
                                            </p:txEl>
                                          </p:spTgt>
                                        </p:tgtEl>
                                        <p:attrNameLst>
                                          <p:attrName>style.visibility</p:attrName>
                                        </p:attrNameLst>
                                      </p:cBhvr>
                                      <p:to>
                                        <p:strVal val="visible"/>
                                      </p:to>
                                    </p:set>
                                    <p:animEffect transition="in" filter="dissolve">
                                      <p:cBhvr>
                                        <p:cTn id="29" dur="500"/>
                                        <p:tgtEl>
                                          <p:spTgt spid="7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sender, receiver windows</a:t>
            </a:r>
            <a:endParaRPr lang="en-US" sz="4400" dirty="0"/>
          </a:p>
        </p:txBody>
      </p:sp>
      <p:pic>
        <p:nvPicPr>
          <p:cNvPr id="6" name="Picture 3" descr="sr_seqnum">
            <a:extLst>
              <a:ext uri="{FF2B5EF4-FFF2-40B4-BE49-F238E27FC236}">
                <a16:creationId xmlns:a16="http://schemas.microsoft.com/office/drawing/2014/main" id="{B408F707-79A8-7C45-92D6-B9D41955B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526602"/>
            <a:ext cx="8235950" cy="491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67A9314B-F457-C74F-8B5C-8B9FBE998696}"/>
              </a:ext>
            </a:extLst>
          </p:cNvPr>
          <p:cNvSpPr/>
          <p:nvPr/>
        </p:nvSpPr>
        <p:spPr>
          <a:xfrm>
            <a:off x="2150592" y="4671612"/>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0F38C4F-2B96-9546-A76A-EDC479247B21}"/>
              </a:ext>
            </a:extLst>
          </p:cNvPr>
          <p:cNvSpPr/>
          <p:nvPr/>
        </p:nvSpPr>
        <p:spPr>
          <a:xfrm>
            <a:off x="2299806" y="4667895"/>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32BD7889-A737-7D4B-971C-3750988F6013}"/>
              </a:ext>
            </a:extLst>
          </p:cNvPr>
          <p:cNvSpPr/>
          <p:nvPr/>
        </p:nvSpPr>
        <p:spPr>
          <a:xfrm>
            <a:off x="2452206" y="4667364"/>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43AD1DC-A49B-E740-9378-AEE45A7316AB}"/>
              </a:ext>
            </a:extLst>
          </p:cNvPr>
          <p:cNvSpPr/>
          <p:nvPr/>
        </p:nvSpPr>
        <p:spPr>
          <a:xfrm>
            <a:off x="2604606" y="4666833"/>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59C4CB6-96AA-2142-B786-5286E4736F13}"/>
              </a:ext>
            </a:extLst>
          </p:cNvPr>
          <p:cNvSpPr/>
          <p:nvPr/>
        </p:nvSpPr>
        <p:spPr>
          <a:xfrm>
            <a:off x="2760192" y="4663116"/>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93D401EB-5081-DE4D-B48D-957376A4A1E9}"/>
              </a:ext>
            </a:extLst>
          </p:cNvPr>
          <p:cNvSpPr/>
          <p:nvPr/>
        </p:nvSpPr>
        <p:spPr>
          <a:xfrm>
            <a:off x="2915778" y="4665771"/>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C9D2D6A3-AE73-C845-B552-42990FBA7272}"/>
              </a:ext>
            </a:extLst>
          </p:cNvPr>
          <p:cNvSpPr/>
          <p:nvPr/>
        </p:nvSpPr>
        <p:spPr>
          <a:xfrm>
            <a:off x="3064992" y="4662054"/>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B0D0AD03-5829-A84F-B214-1C5783CA72DE}"/>
              </a:ext>
            </a:extLst>
          </p:cNvPr>
          <p:cNvSpPr/>
          <p:nvPr/>
        </p:nvSpPr>
        <p:spPr>
          <a:xfrm>
            <a:off x="3220578" y="4661523"/>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920F0D8A-CE6F-474B-B2DC-9775F3C752BA}"/>
              </a:ext>
            </a:extLst>
          </p:cNvPr>
          <p:cNvSpPr/>
          <p:nvPr/>
        </p:nvSpPr>
        <p:spPr>
          <a:xfrm>
            <a:off x="3369792" y="4664178"/>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A4AACE9B-6FB7-7D46-8909-5B520DE90656}"/>
              </a:ext>
            </a:extLst>
          </p:cNvPr>
          <p:cNvSpPr/>
          <p:nvPr/>
        </p:nvSpPr>
        <p:spPr>
          <a:xfrm>
            <a:off x="914400" y="3897630"/>
            <a:ext cx="10835640" cy="2811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Slide Number Placeholder 2">
            <a:extLst>
              <a:ext uri="{FF2B5EF4-FFF2-40B4-BE49-F238E27FC236}">
                <a16:creationId xmlns:a16="http://schemas.microsoft.com/office/drawing/2014/main" id="{35ADF915-960F-4549-A41A-E37050FD56C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11</a:t>
            </a:fld>
            <a:endParaRPr lang="en-US" dirty="0"/>
          </a:p>
        </p:txBody>
      </p:sp>
    </p:spTree>
    <p:extLst>
      <p:ext uri="{BB962C8B-B14F-4D97-AF65-F5344CB8AC3E}">
        <p14:creationId xmlns:p14="http://schemas.microsoft.com/office/powerpoint/2010/main" val="213105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sender and receiver</a:t>
            </a:r>
            <a:endParaRPr lang="en-US" sz="4400" dirty="0"/>
          </a:p>
        </p:txBody>
      </p:sp>
      <p:sp>
        <p:nvSpPr>
          <p:cNvPr id="5" name="Rectangle 3">
            <a:extLst>
              <a:ext uri="{FF2B5EF4-FFF2-40B4-BE49-F238E27FC236}">
                <a16:creationId xmlns:a16="http://schemas.microsoft.com/office/drawing/2014/main" id="{95DAFC84-FD76-BE4E-9E1F-0F49401B0D9B}"/>
              </a:ext>
            </a:extLst>
          </p:cNvPr>
          <p:cNvSpPr txBox="1">
            <a:spLocks noChangeArrowheads="1"/>
          </p:cNvSpPr>
          <p:nvPr/>
        </p:nvSpPr>
        <p:spPr>
          <a:xfrm>
            <a:off x="946165" y="1698978"/>
            <a:ext cx="4651241"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data from above:</a:t>
            </a: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if next available seq # in window, send packet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timeout(</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n</a:t>
            </a: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a:t>
            </a:r>
          </a:p>
          <a:p>
            <a:pPr marL="471488"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resend packet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restart timer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400" b="0" i="0" u="none" strike="noStrike" kern="1200" cap="none" spc="0" normalizeH="0" baseline="0" noProof="0" dirty="0">
                <a:ln>
                  <a:noFill/>
                </a:ln>
                <a:solidFill>
                  <a:srgbClr val="CC0000"/>
                </a:solidFill>
                <a:effectLst/>
                <a:uLnTx/>
                <a:uFillTx/>
                <a:latin typeface="Calibri" panose="020F0502020204030204"/>
                <a:ea typeface="+mn-ea"/>
                <a:cs typeface="+mn-cs"/>
              </a:rPr>
              <a:t>ACK(</a:t>
            </a:r>
            <a:r>
              <a:rPr kumimoji="0" lang="en-US" sz="2400" b="0" i="1" u="none" strike="noStrike" kern="1200" cap="none" spc="0" normalizeH="0" baseline="0" noProof="0" dirty="0">
                <a:ln>
                  <a:noFill/>
                </a:ln>
                <a:solidFill>
                  <a:srgbClr val="CC0000"/>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srgbClr val="CC0000"/>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sendbase,sendbase+N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mark packet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as received</a:t>
            </a: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if n smallest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packet, advance window base to next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seq #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a:extLst>
              <a:ext uri="{FF2B5EF4-FFF2-40B4-BE49-F238E27FC236}">
                <a16:creationId xmlns:a16="http://schemas.microsoft.com/office/drawing/2014/main" id="{3BD58A7C-C9C7-8442-855F-43F3A4947ED8}"/>
              </a:ext>
            </a:extLst>
          </p:cNvPr>
          <p:cNvSpPr>
            <a:spLocks noChangeArrowheads="1"/>
          </p:cNvSpPr>
          <p:nvPr/>
        </p:nvSpPr>
        <p:spPr bwMode="auto">
          <a:xfrm>
            <a:off x="876300" y="1485900"/>
            <a:ext cx="4721106" cy="4610100"/>
          </a:xfrm>
          <a:prstGeom prst="rect">
            <a:avLst/>
          </a:prstGeom>
          <a:noFill/>
          <a:ln w="28575">
            <a:solidFill>
              <a:srgbClr val="000099"/>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8" name="Group 5">
            <a:extLst>
              <a:ext uri="{FF2B5EF4-FFF2-40B4-BE49-F238E27FC236}">
                <a16:creationId xmlns:a16="http://schemas.microsoft.com/office/drawing/2014/main" id="{4B0682BD-2D45-384C-A3BE-B71A10F3C9D2}"/>
              </a:ext>
            </a:extLst>
          </p:cNvPr>
          <p:cNvGrpSpPr>
            <a:grpSpLocks/>
          </p:cNvGrpSpPr>
          <p:nvPr/>
        </p:nvGrpSpPr>
        <p:grpSpPr bwMode="auto">
          <a:xfrm>
            <a:off x="1079500" y="1184280"/>
            <a:ext cx="1327103" cy="584201"/>
            <a:chOff x="1100" y="3896"/>
            <a:chExt cx="752" cy="368"/>
          </a:xfrm>
        </p:grpSpPr>
        <p:sp>
          <p:nvSpPr>
            <p:cNvPr id="9" name="Rectangle 6">
              <a:extLst>
                <a:ext uri="{FF2B5EF4-FFF2-40B4-BE49-F238E27FC236}">
                  <a16:creationId xmlns:a16="http://schemas.microsoft.com/office/drawing/2014/main" id="{E480EC05-1FA2-1449-9DA4-EE3CBEF3CB0E}"/>
                </a:ext>
              </a:extLst>
            </p:cNvPr>
            <p:cNvSpPr>
              <a:spLocks noChangeArrowheads="1"/>
            </p:cNvSpPr>
            <p:nvPr/>
          </p:nvSpPr>
          <p:spPr bwMode="auto">
            <a:xfrm>
              <a:off x="1146" y="3984"/>
              <a:ext cx="612" cy="18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 name="Text Box 7">
              <a:extLst>
                <a:ext uri="{FF2B5EF4-FFF2-40B4-BE49-F238E27FC236}">
                  <a16:creationId xmlns:a16="http://schemas.microsoft.com/office/drawing/2014/main" id="{FEE55EB3-D10F-D944-85E2-05ABE9F3A72A}"/>
                </a:ext>
              </a:extLst>
            </p:cNvPr>
            <p:cNvSpPr txBox="1">
              <a:spLocks noChangeArrowheads="1"/>
            </p:cNvSpPr>
            <p:nvPr/>
          </p:nvSpPr>
          <p:spPr bwMode="auto">
            <a:xfrm>
              <a:off x="1100" y="3896"/>
              <a:ext cx="752" cy="36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sender</a:t>
              </a:r>
              <a:endPar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endParaRPr>
            </a:p>
          </p:txBody>
        </p:sp>
      </p:grpSp>
      <p:grpSp>
        <p:nvGrpSpPr>
          <p:cNvPr id="16" name="Group 15">
            <a:extLst>
              <a:ext uri="{FF2B5EF4-FFF2-40B4-BE49-F238E27FC236}">
                <a16:creationId xmlns:a16="http://schemas.microsoft.com/office/drawing/2014/main" id="{1FB417EC-6705-FB4A-BE74-163FB12F88C6}"/>
              </a:ext>
            </a:extLst>
          </p:cNvPr>
          <p:cNvGrpSpPr/>
          <p:nvPr/>
        </p:nvGrpSpPr>
        <p:grpSpPr>
          <a:xfrm>
            <a:off x="6447754" y="1183947"/>
            <a:ext cx="5269467" cy="5221186"/>
            <a:chOff x="6447754" y="1183947"/>
            <a:chExt cx="5269467" cy="5221186"/>
          </a:xfrm>
        </p:grpSpPr>
        <p:sp>
          <p:nvSpPr>
            <p:cNvPr id="11" name="Rectangle 8">
              <a:extLst>
                <a:ext uri="{FF2B5EF4-FFF2-40B4-BE49-F238E27FC236}">
                  <a16:creationId xmlns:a16="http://schemas.microsoft.com/office/drawing/2014/main" id="{BCF7478D-ADC0-4749-9951-A140F00D7BA1}"/>
                </a:ext>
              </a:extLst>
            </p:cNvPr>
            <p:cNvSpPr>
              <a:spLocks noChangeArrowheads="1"/>
            </p:cNvSpPr>
            <p:nvPr/>
          </p:nvSpPr>
          <p:spPr bwMode="auto">
            <a:xfrm>
              <a:off x="6855858" y="1756933"/>
              <a:ext cx="4861363" cy="464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packet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n</a:t>
              </a: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in </a:t>
              </a:r>
              <a:r>
                <a:rPr kumimoji="0" lang="en-US" sz="1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a:t>
              </a:r>
              <a:r>
                <a:rPr kumimoji="0" lang="en-US" sz="2400" b="0" i="0" u="none" strike="noStrike" kern="1200" cap="none" spc="0" normalizeH="0" baseline="0" noProof="0" dirty="0" err="1">
                  <a:ln>
                    <a:noFill/>
                  </a:ln>
                  <a:solidFill>
                    <a:srgbClr val="CC0000"/>
                  </a:solidFill>
                  <a:effectLst/>
                  <a:uLnTx/>
                  <a:uFillTx/>
                  <a:latin typeface="Calibri" panose="020F0502020204030204"/>
                  <a:ea typeface="ＭＳ Ｐゴシック" charset="0"/>
                  <a:cs typeface="+mn-cs"/>
                </a:rPr>
                <a:t>rcvbase</a:t>
              </a:r>
              <a:r>
                <a:rPr kumimoji="0" lang="en-US" sz="24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rcvbase+N-1]</a:t>
              </a:r>
              <a:endPar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 ACK(</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a: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out-of-order: buffer</a:t>
              </a: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in-order: deliver (also deliver buffered, in-order packets), advance window to next not-yet-received packet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packet</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n </a:t>
              </a: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in </a:t>
              </a:r>
              <a:r>
                <a:rPr kumimoji="0" lang="en-US" sz="24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[rcvbase-N,rcvbase-1]</a:t>
              </a:r>
              <a:endParaRPr kumimoji="0" lang="en-US" sz="36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406400" marR="0" lvl="0" indent="-27622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ACK(</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otherwise:</a:t>
              </a:r>
              <a:r>
                <a:rPr kumimoji="0" lang="en-US" sz="2400" b="0" i="0" u="none" strike="noStrike" kern="1200" cap="none" spc="0" normalizeH="0" baseline="0" noProof="0" dirty="0">
                  <a:ln>
                    <a:noFill/>
                  </a:ln>
                  <a:solidFill>
                    <a:srgbClr val="FF0000"/>
                  </a:solidFill>
                  <a:effectLst/>
                  <a:uLnTx/>
                  <a:uFillTx/>
                  <a:latin typeface="Calibri" panose="020F0502020204030204"/>
                  <a:ea typeface="ＭＳ Ｐゴシック" charset="0"/>
                  <a:cs typeface="+mn-cs"/>
                </a:rPr>
                <a:t> </a:t>
              </a:r>
            </a:p>
            <a:p>
              <a:pPr marL="406400" marR="0" lvl="0" indent="-27622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ignore </a:t>
              </a: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2" name="Rectangle 9">
              <a:extLst>
                <a:ext uri="{FF2B5EF4-FFF2-40B4-BE49-F238E27FC236}">
                  <a16:creationId xmlns:a16="http://schemas.microsoft.com/office/drawing/2014/main" id="{639FDE2D-E714-5A49-BA51-5350EC426F3A}"/>
                </a:ext>
              </a:extLst>
            </p:cNvPr>
            <p:cNvSpPr>
              <a:spLocks noChangeArrowheads="1"/>
            </p:cNvSpPr>
            <p:nvPr/>
          </p:nvSpPr>
          <p:spPr bwMode="auto">
            <a:xfrm>
              <a:off x="6447754" y="1495097"/>
              <a:ext cx="5129210" cy="4610100"/>
            </a:xfrm>
            <a:prstGeom prst="rect">
              <a:avLst/>
            </a:prstGeom>
            <a:noFill/>
            <a:ln w="28575">
              <a:solidFill>
                <a:srgbClr val="000099"/>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nvGrpSpPr>
            <p:cNvPr id="13" name="Group 10">
              <a:extLst>
                <a:ext uri="{FF2B5EF4-FFF2-40B4-BE49-F238E27FC236}">
                  <a16:creationId xmlns:a16="http://schemas.microsoft.com/office/drawing/2014/main" id="{B84C2084-BE83-5E42-B1FF-F6D6F4774AC4}"/>
                </a:ext>
              </a:extLst>
            </p:cNvPr>
            <p:cNvGrpSpPr>
              <a:grpSpLocks/>
            </p:cNvGrpSpPr>
            <p:nvPr/>
          </p:nvGrpSpPr>
          <p:grpSpPr bwMode="auto">
            <a:xfrm>
              <a:off x="6643024" y="1183947"/>
              <a:ext cx="1531938" cy="584201"/>
              <a:chOff x="3339" y="158"/>
              <a:chExt cx="965" cy="368"/>
            </a:xfrm>
          </p:grpSpPr>
          <p:sp>
            <p:nvSpPr>
              <p:cNvPr id="14" name="Rectangle 11">
                <a:extLst>
                  <a:ext uri="{FF2B5EF4-FFF2-40B4-BE49-F238E27FC236}">
                    <a16:creationId xmlns:a16="http://schemas.microsoft.com/office/drawing/2014/main" id="{C313B5FA-94EA-DF4A-8CF3-F58277EB5C0A}"/>
                  </a:ext>
                </a:extLst>
              </p:cNvPr>
              <p:cNvSpPr>
                <a:spLocks noChangeArrowheads="1"/>
              </p:cNvSpPr>
              <p:nvPr/>
            </p:nvSpPr>
            <p:spPr bwMode="auto">
              <a:xfrm>
                <a:off x="3360" y="264"/>
                <a:ext cx="822" cy="18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15" name="Text Box 12">
                <a:extLst>
                  <a:ext uri="{FF2B5EF4-FFF2-40B4-BE49-F238E27FC236}">
                    <a16:creationId xmlns:a16="http://schemas.microsoft.com/office/drawing/2014/main" id="{DDD5CA52-38FB-BF40-B64E-C5C9EE06B0C0}"/>
                  </a:ext>
                </a:extLst>
              </p:cNvPr>
              <p:cNvSpPr txBox="1">
                <a:spLocks noChangeArrowheads="1"/>
              </p:cNvSpPr>
              <p:nvPr/>
            </p:nvSpPr>
            <p:spPr bwMode="auto">
              <a:xfrm>
                <a:off x="3339" y="158"/>
                <a:ext cx="965" cy="36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receiver</a:t>
                </a:r>
                <a:endPar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endParaRPr>
              </a:p>
            </p:txBody>
          </p:sp>
        </p:grpSp>
      </p:grpSp>
      <p:sp>
        <p:nvSpPr>
          <p:cNvPr id="17" name="Slide Number Placeholder 2">
            <a:extLst>
              <a:ext uri="{FF2B5EF4-FFF2-40B4-BE49-F238E27FC236}">
                <a16:creationId xmlns:a16="http://schemas.microsoft.com/office/drawing/2014/main" id="{D4E14E77-C43E-7D40-89D1-406C4092020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12</a:t>
            </a:fld>
            <a:endParaRPr lang="en-US" dirty="0"/>
          </a:p>
        </p:txBody>
      </p:sp>
    </p:spTree>
    <p:extLst>
      <p:ext uri="{BB962C8B-B14F-4D97-AF65-F5344CB8AC3E}">
        <p14:creationId xmlns:p14="http://schemas.microsoft.com/office/powerpoint/2010/main" val="76275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in action</a:t>
            </a:r>
            <a:endParaRPr lang="en-US" sz="4400"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4770437" y="1531937"/>
            <a:ext cx="1246188" cy="1465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5091112" y="1160462"/>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8121650" y="1179512"/>
            <a:ext cx="107156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8196262" y="1778000"/>
            <a:ext cx="11113" cy="45386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4498213" y="4713287"/>
            <a:ext cx="1523174" cy="563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00000"/>
                </a:solidFill>
                <a:effectLst/>
                <a:uLnTx/>
                <a:uFillTx/>
                <a:latin typeface="Tahoma" charset="0"/>
                <a:ea typeface="ＭＳ Ｐゴシック" charset="0"/>
                <a:cs typeface="+mn-cs"/>
              </a:rPr>
              <a:t>(but not 3,4,5)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6067425" y="2249487"/>
            <a:ext cx="2014537" cy="1066800"/>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6059487" y="1725612"/>
            <a:ext cx="2122488" cy="1292225"/>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37362" y="2298700"/>
              <a:ext cx="341313"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96112" y="2319337"/>
              <a:ext cx="522288"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FF0000"/>
                  </a:solidFill>
                  <a:effectLst/>
                  <a:uLnTx/>
                  <a:uFillTx/>
                  <a:latin typeface="Tahoma" charset="0"/>
                  <a:ea typeface="ＭＳ Ｐゴシック" charset="0"/>
                  <a:cs typeface="+mn-cs"/>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6064250" y="2535237"/>
            <a:ext cx="2014537" cy="1100138"/>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6067425" y="3371850"/>
            <a:ext cx="2100262"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6099175" y="3690937"/>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6096000" y="3065462"/>
            <a:ext cx="2014537" cy="1100138"/>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4081462" y="2254250"/>
            <a:ext cx="1978025" cy="2543175"/>
            <a:chOff x="4081462" y="2254250"/>
            <a:chExt cx="1978025" cy="254317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449762" y="4498975"/>
              <a:ext cx="1538288" cy="298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a:ln>
                    <a:noFill/>
                  </a:ln>
                  <a:solidFill>
                    <a:srgbClr val="FF0000"/>
                  </a:solidFill>
                  <a:effectLst/>
                  <a:uLnTx/>
                  <a:uFillTx/>
                  <a:latin typeface="Tahoma" charset="0"/>
                  <a:ea typeface="ＭＳ Ｐゴシック" charset="0"/>
                  <a:cs typeface="+mn-cs"/>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6075362" y="4884737"/>
            <a:ext cx="2100263"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2278062" y="1223962"/>
            <a:ext cx="214630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sng" strike="noStrike" kern="0" cap="none" spc="0" normalizeH="0" baseline="0" noProof="0">
                <a:ln>
                  <a:noFill/>
                </a:ln>
                <a:solidFill>
                  <a:srgbClr val="000099"/>
                </a:solidFill>
                <a:effectLst/>
                <a:uLnTx/>
                <a:uFillTx/>
                <a:latin typeface="Tahoma" charset="0"/>
                <a:ea typeface="ＭＳ Ｐゴシック" charset="0"/>
                <a:cs typeface="+mn-cs"/>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2317750" y="1570037"/>
            <a:ext cx="1520825" cy="1150938"/>
            <a:chOff x="2317750" y="1570037"/>
            <a:chExt cx="1520825" cy="1150938"/>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320925" y="1570037"/>
              <a:ext cx="1512887" cy="304800"/>
              <a:chOff x="115" y="914"/>
              <a:chExt cx="953" cy="192"/>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317750" y="1855787"/>
              <a:ext cx="1512887" cy="304800"/>
              <a:chOff x="115" y="914"/>
              <a:chExt cx="953" cy="192"/>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325687" y="2141537"/>
              <a:ext cx="1512888" cy="304800"/>
              <a:chOff x="115" y="914"/>
              <a:chExt cx="953" cy="192"/>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322512" y="2416175"/>
              <a:ext cx="1512888" cy="304800"/>
              <a:chOff x="115" y="914"/>
              <a:chExt cx="953" cy="192"/>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2319337" y="3135312"/>
            <a:ext cx="3749675" cy="369332"/>
            <a:chOff x="2319337" y="3135312"/>
            <a:chExt cx="3749675" cy="369332"/>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319337" y="3135312"/>
              <a:ext cx="3749675" cy="369332"/>
              <a:chOff x="2319337" y="3135312"/>
              <a:chExt cx="3749675" cy="369332"/>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319337" y="3186112"/>
                <a:ext cx="1512888"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1 2 3 4</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2305050" y="4754562"/>
            <a:ext cx="1520825" cy="1050925"/>
            <a:chOff x="2305050" y="4754562"/>
            <a:chExt cx="1520825" cy="1050925"/>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305050" y="4754562"/>
              <a:ext cx="1512887" cy="304800"/>
              <a:chOff x="112" y="2105"/>
              <a:chExt cx="953" cy="192"/>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312987" y="4995862"/>
              <a:ext cx="1512888" cy="304800"/>
              <a:chOff x="112" y="2105"/>
              <a:chExt cx="953" cy="192"/>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309812" y="5259387"/>
              <a:ext cx="1512888" cy="304800"/>
              <a:chOff x="112" y="2105"/>
              <a:chExt cx="953" cy="192"/>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306637" y="5500687"/>
              <a:ext cx="1512888" cy="304800"/>
              <a:chOff x="112" y="2105"/>
              <a:chExt cx="953" cy="192"/>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7129462" y="3876675"/>
            <a:ext cx="1039813" cy="873125"/>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7156450" y="5376862"/>
            <a:ext cx="1033462"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7" name="Group 6">
            <a:extLst>
              <a:ext uri="{FF2B5EF4-FFF2-40B4-BE49-F238E27FC236}">
                <a16:creationId xmlns:a16="http://schemas.microsoft.com/office/drawing/2014/main" id="{FBA17A60-2A45-964D-961F-A44FDA1E12F8}"/>
              </a:ext>
            </a:extLst>
          </p:cNvPr>
          <p:cNvGrpSpPr/>
          <p:nvPr/>
        </p:nvGrpSpPr>
        <p:grpSpPr>
          <a:xfrm>
            <a:off x="2316162" y="3452813"/>
            <a:ext cx="3752850" cy="369332"/>
            <a:chOff x="2316162" y="3452813"/>
            <a:chExt cx="3752850" cy="369332"/>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316162" y="3460750"/>
              <a:ext cx="1512888" cy="304800"/>
              <a:chOff x="112" y="2105"/>
              <a:chExt cx="953" cy="192"/>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6037263" y="1612900"/>
            <a:ext cx="7938" cy="429260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3" name="Text Box 8">
            <a:extLst>
              <a:ext uri="{FF2B5EF4-FFF2-40B4-BE49-F238E27FC236}">
                <a16:creationId xmlns:a16="http://schemas.microsoft.com/office/drawing/2014/main" id="{BABEA9E2-FB48-7943-B33A-C867AB1A6D4D}"/>
              </a:ext>
            </a:extLst>
          </p:cNvPr>
          <p:cNvSpPr txBox="1">
            <a:spLocks noChangeArrowheads="1"/>
          </p:cNvSpPr>
          <p:nvPr/>
        </p:nvSpPr>
        <p:spPr bwMode="auto">
          <a:xfrm>
            <a:off x="8122331" y="2003425"/>
            <a:ext cx="2568575" cy="14652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pkt0, send ack0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pkt1, send ack1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pkt3,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send ack3</a:t>
            </a:r>
          </a:p>
        </p:txBody>
      </p:sp>
      <p:sp>
        <p:nvSpPr>
          <p:cNvPr id="8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4390118" y="3967162"/>
            <a:ext cx="1698625"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C00000"/>
                </a:solidFill>
                <a:effectLst/>
                <a:uLnTx/>
                <a:uFillTx/>
                <a:latin typeface="Tahoma" charset="0"/>
                <a:ea typeface="ＭＳ Ｐゴシック" charset="0"/>
                <a:cs typeface="+mn-cs"/>
              </a:rPr>
              <a:t>record ack3 arrived</a:t>
            </a:r>
          </a:p>
        </p:txBody>
      </p:sp>
      <p:sp>
        <p:nvSpPr>
          <p:cNvPr id="85" name="Text Box 33">
            <a:extLst>
              <a:ext uri="{FF2B5EF4-FFF2-40B4-BE49-F238E27FC236}">
                <a16:creationId xmlns:a16="http://schemas.microsoft.com/office/drawing/2014/main" id="{2C93E184-20A0-D148-9427-205CD214D4C6}"/>
              </a:ext>
            </a:extLst>
          </p:cNvPr>
          <p:cNvSpPr txBox="1">
            <a:spLocks noChangeArrowheads="1"/>
          </p:cNvSpPr>
          <p:nvPr/>
        </p:nvSpPr>
        <p:spPr bwMode="auto">
          <a:xfrm>
            <a:off x="8169956" y="3603625"/>
            <a:ext cx="2300287"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pkt4,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           send ack4</a:t>
            </a:r>
          </a:p>
        </p:txBody>
      </p:sp>
      <p:sp>
        <p:nvSpPr>
          <p:cNvPr id="86" name="Text Box 34">
            <a:extLst>
              <a:ext uri="{FF2B5EF4-FFF2-40B4-BE49-F238E27FC236}">
                <a16:creationId xmlns:a16="http://schemas.microsoft.com/office/drawing/2014/main" id="{68B83592-7F50-904A-B0CC-EE81AD5FA7B7}"/>
              </a:ext>
            </a:extLst>
          </p:cNvPr>
          <p:cNvSpPr txBox="1">
            <a:spLocks noChangeArrowheads="1"/>
          </p:cNvSpPr>
          <p:nvPr/>
        </p:nvSpPr>
        <p:spPr bwMode="auto">
          <a:xfrm>
            <a:off x="8189006" y="4124325"/>
            <a:ext cx="2300287"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pkt5,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           send ack5</a:t>
            </a:r>
          </a:p>
        </p:txBody>
      </p:sp>
      <p:sp>
        <p:nvSpPr>
          <p:cNvPr id="87" name="Text Box 35">
            <a:extLst>
              <a:ext uri="{FF2B5EF4-FFF2-40B4-BE49-F238E27FC236}">
                <a16:creationId xmlns:a16="http://schemas.microsoft.com/office/drawing/2014/main" id="{CD12A2A4-73A8-BA4D-9548-DF22CB731141}"/>
              </a:ext>
            </a:extLst>
          </p:cNvPr>
          <p:cNvSpPr txBox="1">
            <a:spLocks noChangeArrowheads="1"/>
          </p:cNvSpPr>
          <p:nvPr/>
        </p:nvSpPr>
        <p:spPr bwMode="auto">
          <a:xfrm>
            <a:off x="8162018" y="5189537"/>
            <a:ext cx="2960688" cy="587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pkt2;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deliver pkt2,</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pkt3, pkt4, pkt5; send ack2</a:t>
            </a:r>
          </a:p>
        </p:txBody>
      </p:sp>
      <p:sp>
        <p:nvSpPr>
          <p:cNvPr id="88" name="Text Box 93">
            <a:extLst>
              <a:ext uri="{FF2B5EF4-FFF2-40B4-BE49-F238E27FC236}">
                <a16:creationId xmlns:a16="http://schemas.microsoft.com/office/drawing/2014/main" id="{DA7120B9-9E7A-1348-95F0-2AB8574C69FF}"/>
              </a:ext>
            </a:extLst>
          </p:cNvPr>
          <p:cNvSpPr txBox="1">
            <a:spLocks noChangeArrowheads="1"/>
          </p:cNvSpPr>
          <p:nvPr/>
        </p:nvSpPr>
        <p:spPr bwMode="auto">
          <a:xfrm>
            <a:off x="4472668" y="5919787"/>
            <a:ext cx="3498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solidFill>
                  <a:srgbClr val="000000"/>
                </a:solidFill>
                <a:effectLst/>
                <a:uLnTx/>
                <a:uFillTx/>
                <a:latin typeface="Tahoma" charset="0"/>
                <a:ea typeface="ＭＳ Ｐゴシック" charset="0"/>
                <a:cs typeface="+mn-cs"/>
              </a:rPr>
              <a:t>Q: what happens when ack2 arrives?</a:t>
            </a:r>
          </a:p>
        </p:txBody>
      </p:sp>
      <p:sp>
        <p:nvSpPr>
          <p:cNvPr id="76" name="Slide Number Placeholder 2">
            <a:extLst>
              <a:ext uri="{FF2B5EF4-FFF2-40B4-BE49-F238E27FC236}">
                <a16:creationId xmlns:a16="http://schemas.microsoft.com/office/drawing/2014/main" id="{31C667D1-6F31-7340-B2B9-6B7265E49357}"/>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13</a:t>
            </a:fld>
            <a:endParaRPr lang="en-US" dirty="0"/>
          </a:p>
        </p:txBody>
      </p:sp>
    </p:spTree>
    <p:extLst>
      <p:ext uri="{BB962C8B-B14F-4D97-AF65-F5344CB8AC3E}">
        <p14:creationId xmlns:p14="http://schemas.microsoft.com/office/powerpoint/2010/main" val="299390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dissolve">
                                      <p:cBhvr>
                                        <p:cTn id="19" dur="500"/>
                                        <p:tgtEl>
                                          <p:spTgt spid="8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85"/>
                                        </p:tgtEl>
                                        <p:attrNameLst>
                                          <p:attrName>style.visibility</p:attrName>
                                        </p:attrNameLst>
                                      </p:cBhvr>
                                      <p:to>
                                        <p:strVal val="visible"/>
                                      </p:to>
                                    </p:set>
                                    <p:animEffect transition="in" filter="dissolve">
                                      <p:cBhvr>
                                        <p:cTn id="43" dur="500"/>
                                        <p:tgtEl>
                                          <p:spTgt spid="8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86"/>
                                        </p:tgtEl>
                                        <p:attrNameLst>
                                          <p:attrName>style.visibility</p:attrName>
                                        </p:attrNameLst>
                                      </p:cBhvr>
                                      <p:to>
                                        <p:strVal val="visible"/>
                                      </p:to>
                                    </p:set>
                                    <p:animEffect transition="in" filter="dissolve">
                                      <p:cBhvr>
                                        <p:cTn id="56" dur="500"/>
                                        <p:tgtEl>
                                          <p:spTgt spid="8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500"/>
                                        <p:tgtEl>
                                          <p:spTgt spid="13"/>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dissolve">
                                      <p:cBhvr>
                                        <p:cTn id="65" dur="500"/>
                                        <p:tgtEl>
                                          <p:spTgt spid="84"/>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dissolve">
                                      <p:cBhvr>
                                        <p:cTn id="70" dur="500"/>
                                        <p:tgtEl>
                                          <p:spTgt spid="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wipe(left)">
                                      <p:cBhvr>
                                        <p:cTn id="75" dur="500"/>
                                        <p:tgtEl>
                                          <p:spTgt spid="10"/>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116"/>
                                        </p:tgtEl>
                                        <p:attrNameLst>
                                          <p:attrName>style.visibility</p:attrName>
                                        </p:attrNameLst>
                                      </p:cBhvr>
                                      <p:to>
                                        <p:strVal val="visible"/>
                                      </p:to>
                                    </p:set>
                                    <p:animEffect transition="in" filter="wipe(left)">
                                      <p:cBhvr>
                                        <p:cTn id="79" dur="500"/>
                                        <p:tgtEl>
                                          <p:spTgt spid="116"/>
                                        </p:tgtEl>
                                      </p:cBhvr>
                                    </p:animEffect>
                                  </p:childTnLst>
                                </p:cTn>
                              </p:par>
                            </p:childTnLst>
                          </p:cTn>
                        </p:par>
                        <p:par>
                          <p:cTn id="80" fill="hold">
                            <p:stCondLst>
                              <p:cond delay="1000"/>
                            </p:stCondLst>
                            <p:childTnLst>
                              <p:par>
                                <p:cTn id="81" presetID="22" presetClass="entr" presetSubtype="8" fill="hold" grpId="0" nodeType="afterEffect">
                                  <p:stCondLst>
                                    <p:cond delay="0"/>
                                  </p:stCondLst>
                                  <p:childTnLst>
                                    <p:set>
                                      <p:cBhvr>
                                        <p:cTn id="82" dur="1" fill="hold">
                                          <p:stCondLst>
                                            <p:cond delay="0"/>
                                          </p:stCondLst>
                                        </p:cTn>
                                        <p:tgtEl>
                                          <p:spTgt spid="132"/>
                                        </p:tgtEl>
                                        <p:attrNameLst>
                                          <p:attrName>style.visibility</p:attrName>
                                        </p:attrNameLst>
                                      </p:cBhvr>
                                      <p:to>
                                        <p:strVal val="visible"/>
                                      </p:to>
                                    </p:set>
                                    <p:animEffect transition="in" filter="wipe(left)">
                                      <p:cBhvr>
                                        <p:cTn id="83" dur="500"/>
                                        <p:tgtEl>
                                          <p:spTgt spid="132"/>
                                        </p:tgtEl>
                                      </p:cBhvr>
                                    </p:animEffect>
                                  </p:childTnLst>
                                </p:cTn>
                              </p:par>
                            </p:childTnLst>
                          </p:cTn>
                        </p:par>
                        <p:par>
                          <p:cTn id="84" fill="hold">
                            <p:stCondLst>
                              <p:cond delay="1500"/>
                            </p:stCondLst>
                            <p:childTnLst>
                              <p:par>
                                <p:cTn id="85" presetID="9" presetClass="entr" presetSubtype="0" fill="hold" grpId="0" nodeType="afterEffect">
                                  <p:stCondLst>
                                    <p:cond delay="0"/>
                                  </p:stCondLst>
                                  <p:childTnLst>
                                    <p:set>
                                      <p:cBhvr>
                                        <p:cTn id="86" dur="1" fill="hold">
                                          <p:stCondLst>
                                            <p:cond delay="0"/>
                                          </p:stCondLst>
                                        </p:cTn>
                                        <p:tgtEl>
                                          <p:spTgt spid="87"/>
                                        </p:tgtEl>
                                        <p:attrNameLst>
                                          <p:attrName>style.visibility</p:attrName>
                                        </p:attrNameLst>
                                      </p:cBhvr>
                                      <p:to>
                                        <p:strVal val="visible"/>
                                      </p:to>
                                    </p:set>
                                    <p:animEffect transition="in" filter="dissolve">
                                      <p:cBhvr>
                                        <p:cTn id="87" dur="500"/>
                                        <p:tgtEl>
                                          <p:spTgt spid="87"/>
                                        </p:tgtEl>
                                      </p:cBhvr>
                                    </p:animEffect>
                                  </p:childTnLst>
                                </p:cTn>
                              </p:par>
                            </p:childTnLst>
                          </p:cTn>
                        </p:par>
                        <p:par>
                          <p:cTn id="88" fill="hold">
                            <p:stCondLst>
                              <p:cond delay="2000"/>
                            </p:stCondLst>
                            <p:childTnLst>
                              <p:par>
                                <p:cTn id="89" presetID="22" presetClass="entr" presetSubtype="2" fill="hold" grpId="0" nodeType="afterEffect">
                                  <p:stCondLst>
                                    <p:cond delay="0"/>
                                  </p:stCondLst>
                                  <p:childTnLst>
                                    <p:set>
                                      <p:cBhvr>
                                        <p:cTn id="90" dur="1" fill="hold">
                                          <p:stCondLst>
                                            <p:cond delay="0"/>
                                          </p:stCondLst>
                                        </p:cTn>
                                        <p:tgtEl>
                                          <p:spTgt spid="172"/>
                                        </p:tgtEl>
                                        <p:attrNameLst>
                                          <p:attrName>style.visibility</p:attrName>
                                        </p:attrNameLst>
                                      </p:cBhvr>
                                      <p:to>
                                        <p:strVal val="visible"/>
                                      </p:to>
                                    </p:set>
                                    <p:animEffect transition="in" filter="wipe(right)">
                                      <p:cBhvr>
                                        <p:cTn id="91" dur="500"/>
                                        <p:tgtEl>
                                          <p:spTgt spid="172"/>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88"/>
                                        </p:tgtEl>
                                        <p:attrNameLst>
                                          <p:attrName>style.visibility</p:attrName>
                                        </p:attrNameLst>
                                      </p:cBhvr>
                                      <p:to>
                                        <p:strVal val="visible"/>
                                      </p:to>
                                    </p:set>
                                    <p:animEffect transition="in" filter="dissolve">
                                      <p:cBhvr>
                                        <p:cTn id="96"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6" grpId="0"/>
      <p:bldP spid="121" grpId="0" animBg="1"/>
      <p:bldP spid="124" grpId="0" animBg="1"/>
      <p:bldP spid="125" grpId="0" animBg="1"/>
      <p:bldP spid="126" grpId="0" animBg="1"/>
      <p:bldP spid="127" grpId="0" animBg="1"/>
      <p:bldP spid="132" grpId="0" animBg="1"/>
      <p:bldP spid="172" grpId="0" animBg="1"/>
      <p:bldP spid="83" grpId="0"/>
      <p:bldP spid="84" grpId="0"/>
      <p:bldP spid="85" grpId="0"/>
      <p:bldP spid="86" grpId="0"/>
      <p:bldP spid="87" grpId="0"/>
      <p:bldP spid="8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4655" y="408214"/>
            <a:ext cx="6222596" cy="1330904"/>
          </a:xfrm>
        </p:spPr>
        <p:txBody>
          <a:bodyPr>
            <a:noAutofit/>
          </a:bodyPr>
          <a:lstStyle/>
          <a:p>
            <a:r>
              <a:rPr lang="en-US" sz="4800" dirty="0"/>
              <a:t>Selective repeat: </a:t>
            </a:r>
            <a:br>
              <a:rPr lang="en-US" sz="4800" dirty="0"/>
            </a:br>
            <a:r>
              <a:rPr lang="en-US" sz="4800" dirty="0"/>
              <a:t>a dilemma!</a:t>
            </a:r>
          </a:p>
        </p:txBody>
      </p:sp>
      <p:grpSp>
        <p:nvGrpSpPr>
          <p:cNvPr id="6" name="Group 5">
            <a:extLst>
              <a:ext uri="{FF2B5EF4-FFF2-40B4-BE49-F238E27FC236}">
                <a16:creationId xmlns:a16="http://schemas.microsoft.com/office/drawing/2014/main" id="{7F9E5931-D189-1349-BB68-FDFA9711FCA5}"/>
              </a:ext>
            </a:extLst>
          </p:cNvPr>
          <p:cNvGrpSpPr/>
          <p:nvPr/>
        </p:nvGrpSpPr>
        <p:grpSpPr>
          <a:xfrm>
            <a:off x="6931293" y="4061030"/>
            <a:ext cx="4257675" cy="2225676"/>
            <a:chOff x="6909757" y="4181931"/>
            <a:chExt cx="4257675" cy="2225676"/>
          </a:xfrm>
        </p:grpSpPr>
        <p:grpSp>
          <p:nvGrpSpPr>
            <p:cNvPr id="307" name="Group 8">
              <a:extLst>
                <a:ext uri="{FF2B5EF4-FFF2-40B4-BE49-F238E27FC236}">
                  <a16:creationId xmlns:a16="http://schemas.microsoft.com/office/drawing/2014/main" id="{1942F5A2-ABA0-D244-B423-E4608684189F}"/>
                </a:ext>
              </a:extLst>
            </p:cNvPr>
            <p:cNvGrpSpPr>
              <a:grpSpLocks/>
            </p:cNvGrpSpPr>
            <p:nvPr/>
          </p:nvGrpSpPr>
          <p:grpSpPr bwMode="auto">
            <a:xfrm>
              <a:off x="6909757" y="4258131"/>
              <a:ext cx="1030288" cy="274638"/>
              <a:chOff x="1895" y="3931"/>
              <a:chExt cx="649" cy="173"/>
            </a:xfrm>
          </p:grpSpPr>
          <p:sp>
            <p:nvSpPr>
              <p:cNvPr id="341" name="Rectangle 7">
                <a:extLst>
                  <a:ext uri="{FF2B5EF4-FFF2-40B4-BE49-F238E27FC236}">
                    <a16:creationId xmlns:a16="http://schemas.microsoft.com/office/drawing/2014/main" id="{0EE62060-91FC-404F-BDD6-87AA7C69548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2" name="Text Box 6">
                <a:extLst>
                  <a:ext uri="{FF2B5EF4-FFF2-40B4-BE49-F238E27FC236}">
                    <a16:creationId xmlns:a16="http://schemas.microsoft.com/office/drawing/2014/main" id="{93619256-616D-2A4C-B9B8-7455F78BF467}"/>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8" name="Group 9">
              <a:extLst>
                <a:ext uri="{FF2B5EF4-FFF2-40B4-BE49-F238E27FC236}">
                  <a16:creationId xmlns:a16="http://schemas.microsoft.com/office/drawing/2014/main" id="{94E9A178-E13E-6D46-B99E-B3FDE88BD2E6}"/>
                </a:ext>
              </a:extLst>
            </p:cNvPr>
            <p:cNvGrpSpPr>
              <a:grpSpLocks/>
            </p:cNvGrpSpPr>
            <p:nvPr/>
          </p:nvGrpSpPr>
          <p:grpSpPr bwMode="auto">
            <a:xfrm>
              <a:off x="6928807" y="4532769"/>
              <a:ext cx="1030288" cy="274638"/>
              <a:chOff x="1895" y="3931"/>
              <a:chExt cx="649" cy="173"/>
            </a:xfrm>
          </p:grpSpPr>
          <p:sp>
            <p:nvSpPr>
              <p:cNvPr id="339" name="Rectangle 10">
                <a:extLst>
                  <a:ext uri="{FF2B5EF4-FFF2-40B4-BE49-F238E27FC236}">
                    <a16:creationId xmlns:a16="http://schemas.microsoft.com/office/drawing/2014/main" id="{1D7DB47D-B4D8-DA4B-849C-0C854A63983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0" name="Text Box 11">
                <a:extLst>
                  <a:ext uri="{FF2B5EF4-FFF2-40B4-BE49-F238E27FC236}">
                    <a16:creationId xmlns:a16="http://schemas.microsoft.com/office/drawing/2014/main" id="{66376DC4-0D4B-F448-8D81-BDEC9FFF8996}"/>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9" name="Group 12">
              <a:extLst>
                <a:ext uri="{FF2B5EF4-FFF2-40B4-BE49-F238E27FC236}">
                  <a16:creationId xmlns:a16="http://schemas.microsoft.com/office/drawing/2014/main" id="{75D0BF09-C33A-BF4B-8E6F-BD5C588B4B7C}"/>
                </a:ext>
              </a:extLst>
            </p:cNvPr>
            <p:cNvGrpSpPr>
              <a:grpSpLocks/>
            </p:cNvGrpSpPr>
            <p:nvPr/>
          </p:nvGrpSpPr>
          <p:grpSpPr bwMode="auto">
            <a:xfrm>
              <a:off x="6936745" y="4796294"/>
              <a:ext cx="1030288" cy="274638"/>
              <a:chOff x="1895" y="3931"/>
              <a:chExt cx="649" cy="173"/>
            </a:xfrm>
          </p:grpSpPr>
          <p:sp>
            <p:nvSpPr>
              <p:cNvPr id="337" name="Rectangle 13">
                <a:extLst>
                  <a:ext uri="{FF2B5EF4-FFF2-40B4-BE49-F238E27FC236}">
                    <a16:creationId xmlns:a16="http://schemas.microsoft.com/office/drawing/2014/main" id="{3DC28863-C1E4-3940-A9B4-5C23D5FD0FBF}"/>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8" name="Text Box 14">
                <a:extLst>
                  <a:ext uri="{FF2B5EF4-FFF2-40B4-BE49-F238E27FC236}">
                    <a16:creationId xmlns:a16="http://schemas.microsoft.com/office/drawing/2014/main" id="{183D495E-EC2B-E34D-968D-949D6F983610}"/>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0" name="Line 15">
              <a:extLst>
                <a:ext uri="{FF2B5EF4-FFF2-40B4-BE49-F238E27FC236}">
                  <a16:creationId xmlns:a16="http://schemas.microsoft.com/office/drawing/2014/main" id="{83280B47-6119-B24D-BD4C-7A570462D89A}"/>
                </a:ext>
              </a:extLst>
            </p:cNvPr>
            <p:cNvSpPr>
              <a:spLocks noChangeShapeType="1"/>
            </p:cNvSpPr>
            <p:nvPr/>
          </p:nvSpPr>
          <p:spPr bwMode="auto">
            <a:xfrm>
              <a:off x="7927345" y="4396244"/>
              <a:ext cx="1827213" cy="2381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1" name="Line 16">
              <a:extLst>
                <a:ext uri="{FF2B5EF4-FFF2-40B4-BE49-F238E27FC236}">
                  <a16:creationId xmlns:a16="http://schemas.microsoft.com/office/drawing/2014/main" id="{B4A96E1E-1FCC-8748-AE3E-6BEA1397830A}"/>
                </a:ext>
              </a:extLst>
            </p:cNvPr>
            <p:cNvSpPr>
              <a:spLocks noChangeShapeType="1"/>
            </p:cNvSpPr>
            <p:nvPr/>
          </p:nvSpPr>
          <p:spPr bwMode="auto">
            <a:xfrm>
              <a:off x="7957507" y="4681994"/>
              <a:ext cx="1808163" cy="22860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2" name="Line 17">
              <a:extLst>
                <a:ext uri="{FF2B5EF4-FFF2-40B4-BE49-F238E27FC236}">
                  <a16:creationId xmlns:a16="http://schemas.microsoft.com/office/drawing/2014/main" id="{2BCA50D6-62FE-B64C-BB19-B11FA0426622}"/>
                </a:ext>
              </a:extLst>
            </p:cNvPr>
            <p:cNvSpPr>
              <a:spLocks noChangeShapeType="1"/>
            </p:cNvSpPr>
            <p:nvPr/>
          </p:nvSpPr>
          <p:spPr bwMode="auto">
            <a:xfrm>
              <a:off x="7987670" y="4967744"/>
              <a:ext cx="1784350" cy="20955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3" name="Text Box 18">
              <a:extLst>
                <a:ext uri="{FF2B5EF4-FFF2-40B4-BE49-F238E27FC236}">
                  <a16:creationId xmlns:a16="http://schemas.microsoft.com/office/drawing/2014/main" id="{02E658FD-889C-5340-9640-AD71BE2147EC}"/>
                </a:ext>
              </a:extLst>
            </p:cNvPr>
            <p:cNvSpPr txBox="1">
              <a:spLocks noChangeArrowheads="1"/>
            </p:cNvSpPr>
            <p:nvPr/>
          </p:nvSpPr>
          <p:spPr bwMode="auto">
            <a:xfrm>
              <a:off x="8040057" y="418193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4" name="Text Box 19">
              <a:extLst>
                <a:ext uri="{FF2B5EF4-FFF2-40B4-BE49-F238E27FC236}">
                  <a16:creationId xmlns:a16="http://schemas.microsoft.com/office/drawing/2014/main" id="{45B5E1FA-8F5B-7040-AFD4-A6F0EAFD0576}"/>
                </a:ext>
              </a:extLst>
            </p:cNvPr>
            <p:cNvSpPr txBox="1">
              <a:spLocks noChangeArrowheads="1"/>
            </p:cNvSpPr>
            <p:nvPr/>
          </p:nvSpPr>
          <p:spPr bwMode="auto">
            <a:xfrm>
              <a:off x="8036882" y="446768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pkt1</a:t>
              </a:r>
            </a:p>
          </p:txBody>
        </p:sp>
        <p:sp>
          <p:nvSpPr>
            <p:cNvPr id="315" name="Text Box 20">
              <a:extLst>
                <a:ext uri="{FF2B5EF4-FFF2-40B4-BE49-F238E27FC236}">
                  <a16:creationId xmlns:a16="http://schemas.microsoft.com/office/drawing/2014/main" id="{8D9B9494-8D5C-BE4F-BED0-A4F8E50D1C11}"/>
                </a:ext>
              </a:extLst>
            </p:cNvPr>
            <p:cNvSpPr txBox="1">
              <a:spLocks noChangeArrowheads="1"/>
            </p:cNvSpPr>
            <p:nvPr/>
          </p:nvSpPr>
          <p:spPr bwMode="auto">
            <a:xfrm>
              <a:off x="8033707" y="475343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grpSp>
          <p:nvGrpSpPr>
            <p:cNvPr id="316" name="Group 23">
              <a:extLst>
                <a:ext uri="{FF2B5EF4-FFF2-40B4-BE49-F238E27FC236}">
                  <a16:creationId xmlns:a16="http://schemas.microsoft.com/office/drawing/2014/main" id="{82E7EEF6-E6E0-8B4B-B2E2-D6AFBD465BEB}"/>
                </a:ext>
              </a:extLst>
            </p:cNvPr>
            <p:cNvGrpSpPr>
              <a:grpSpLocks/>
            </p:cNvGrpSpPr>
            <p:nvPr/>
          </p:nvGrpSpPr>
          <p:grpSpPr bwMode="auto">
            <a:xfrm>
              <a:off x="6939920" y="5828170"/>
              <a:ext cx="1030288" cy="274638"/>
              <a:chOff x="1895" y="3931"/>
              <a:chExt cx="649" cy="173"/>
            </a:xfrm>
          </p:grpSpPr>
          <p:sp>
            <p:nvSpPr>
              <p:cNvPr id="335" name="Rectangle 24">
                <a:extLst>
                  <a:ext uri="{FF2B5EF4-FFF2-40B4-BE49-F238E27FC236}">
                    <a16:creationId xmlns:a16="http://schemas.microsoft.com/office/drawing/2014/main" id="{863DCB74-5DAF-1847-A592-4A82497E9F6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6" name="Text Box 25">
                <a:extLst>
                  <a:ext uri="{FF2B5EF4-FFF2-40B4-BE49-F238E27FC236}">
                    <a16:creationId xmlns:a16="http://schemas.microsoft.com/office/drawing/2014/main" id="{529BD457-0C19-5348-B5FA-B02FB96145E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7" name="Line 32">
              <a:extLst>
                <a:ext uri="{FF2B5EF4-FFF2-40B4-BE49-F238E27FC236}">
                  <a16:creationId xmlns:a16="http://schemas.microsoft.com/office/drawing/2014/main" id="{39D1ADF5-0FC0-9A45-A89C-C202445BB363}"/>
                </a:ext>
              </a:extLst>
            </p:cNvPr>
            <p:cNvSpPr>
              <a:spLocks noChangeShapeType="1"/>
            </p:cNvSpPr>
            <p:nvPr/>
          </p:nvSpPr>
          <p:spPr bwMode="auto">
            <a:xfrm>
              <a:off x="7990845" y="5961520"/>
              <a:ext cx="1784350" cy="22383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8" name="Text Box 35">
              <a:extLst>
                <a:ext uri="{FF2B5EF4-FFF2-40B4-BE49-F238E27FC236}">
                  <a16:creationId xmlns:a16="http://schemas.microsoft.com/office/drawing/2014/main" id="{62D99CB5-14A3-E647-86CE-3B7DE5DCDC7C}"/>
                </a:ext>
              </a:extLst>
            </p:cNvPr>
            <p:cNvSpPr txBox="1">
              <a:spLocks noChangeArrowheads="1"/>
            </p:cNvSpPr>
            <p:nvPr/>
          </p:nvSpPr>
          <p:spPr bwMode="auto">
            <a:xfrm>
              <a:off x="8074982" y="5747207"/>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9" name="Text Box 39">
              <a:extLst>
                <a:ext uri="{FF2B5EF4-FFF2-40B4-BE49-F238E27FC236}">
                  <a16:creationId xmlns:a16="http://schemas.microsoft.com/office/drawing/2014/main" id="{DE3A732F-D913-5C40-8075-B3896B74B221}"/>
                </a:ext>
              </a:extLst>
            </p:cNvPr>
            <p:cNvSpPr txBox="1">
              <a:spLocks noChangeArrowheads="1"/>
            </p:cNvSpPr>
            <p:nvPr/>
          </p:nvSpPr>
          <p:spPr bwMode="auto">
            <a:xfrm>
              <a:off x="6924045" y="5429707"/>
              <a:ext cx="1382713"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timeout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retransmit pkt0</a:t>
              </a:r>
            </a:p>
          </p:txBody>
        </p:sp>
        <p:sp>
          <p:nvSpPr>
            <p:cNvPr id="320" name="Rectangle 45">
              <a:extLst>
                <a:ext uri="{FF2B5EF4-FFF2-40B4-BE49-F238E27FC236}">
                  <a16:creationId xmlns:a16="http://schemas.microsoft.com/office/drawing/2014/main" id="{3AC813D7-A587-1341-B108-1D1C3BDD4322}"/>
                </a:ext>
              </a:extLst>
            </p:cNvPr>
            <p:cNvSpPr>
              <a:spLocks noChangeArrowheads="1"/>
            </p:cNvSpPr>
            <p:nvPr/>
          </p:nvSpPr>
          <p:spPr bwMode="auto">
            <a:xfrm>
              <a:off x="9959345" y="4559756"/>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1" name="Text Box 46">
              <a:extLst>
                <a:ext uri="{FF2B5EF4-FFF2-40B4-BE49-F238E27FC236}">
                  <a16:creationId xmlns:a16="http://schemas.microsoft.com/office/drawing/2014/main" id="{AD53B46B-0462-8349-BFB4-D8EE1679CA9F}"/>
                </a:ext>
              </a:extLst>
            </p:cNvPr>
            <p:cNvSpPr txBox="1">
              <a:spLocks noChangeArrowheads="1"/>
            </p:cNvSpPr>
            <p:nvPr/>
          </p:nvSpPr>
          <p:spPr bwMode="auto">
            <a:xfrm>
              <a:off x="9770432" y="4510544"/>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22" name="Rectangle 50">
              <a:extLst>
                <a:ext uri="{FF2B5EF4-FFF2-40B4-BE49-F238E27FC236}">
                  <a16:creationId xmlns:a16="http://schemas.microsoft.com/office/drawing/2014/main" id="{AD80CE9F-F5D1-7B43-A091-123A5ECF7B91}"/>
                </a:ext>
              </a:extLst>
            </p:cNvPr>
            <p:cNvSpPr>
              <a:spLocks noChangeArrowheads="1"/>
            </p:cNvSpPr>
            <p:nvPr/>
          </p:nvSpPr>
          <p:spPr bwMode="auto">
            <a:xfrm>
              <a:off x="10079995" y="4831219"/>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3" name="Text Box 51">
              <a:extLst>
                <a:ext uri="{FF2B5EF4-FFF2-40B4-BE49-F238E27FC236}">
                  <a16:creationId xmlns:a16="http://schemas.microsoft.com/office/drawing/2014/main" id="{EB22B0CE-8744-094D-B844-BAC4F3B9B933}"/>
                </a:ext>
              </a:extLst>
            </p:cNvPr>
            <p:cNvSpPr txBox="1">
              <a:spLocks noChangeArrowheads="1"/>
            </p:cNvSpPr>
            <p:nvPr/>
          </p:nvSpPr>
          <p:spPr bwMode="auto">
            <a:xfrm>
              <a:off x="9767257" y="4785181"/>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24" name="Rectangle 53">
              <a:extLst>
                <a:ext uri="{FF2B5EF4-FFF2-40B4-BE49-F238E27FC236}">
                  <a16:creationId xmlns:a16="http://schemas.microsoft.com/office/drawing/2014/main" id="{B4035F3F-8265-144D-A6FF-D585783A8317}"/>
                </a:ext>
              </a:extLst>
            </p:cNvPr>
            <p:cNvSpPr>
              <a:spLocks noChangeArrowheads="1"/>
            </p:cNvSpPr>
            <p:nvPr/>
          </p:nvSpPr>
          <p:spPr bwMode="auto">
            <a:xfrm>
              <a:off x="10210170" y="5094744"/>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5" name="Text Box 54">
              <a:extLst>
                <a:ext uri="{FF2B5EF4-FFF2-40B4-BE49-F238E27FC236}">
                  <a16:creationId xmlns:a16="http://schemas.microsoft.com/office/drawing/2014/main" id="{6E183FB6-D313-5643-AF16-2BCB057078CF}"/>
                </a:ext>
              </a:extLst>
            </p:cNvPr>
            <p:cNvSpPr txBox="1">
              <a:spLocks noChangeArrowheads="1"/>
            </p:cNvSpPr>
            <p:nvPr/>
          </p:nvSpPr>
          <p:spPr bwMode="auto">
            <a:xfrm>
              <a:off x="9770432" y="5048707"/>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26" name="Line 62">
              <a:extLst>
                <a:ext uri="{FF2B5EF4-FFF2-40B4-BE49-F238E27FC236}">
                  <a16:creationId xmlns:a16="http://schemas.microsoft.com/office/drawing/2014/main" id="{2A5D31EF-8FFA-DA4D-8EDA-36C5F17B4ED9}"/>
                </a:ext>
              </a:extLst>
            </p:cNvPr>
            <p:cNvSpPr>
              <a:spLocks noChangeShapeType="1"/>
            </p:cNvSpPr>
            <p:nvPr/>
          </p:nvSpPr>
          <p:spPr bwMode="auto">
            <a:xfrm flipH="1">
              <a:off x="9122732" y="4642306"/>
              <a:ext cx="577850" cy="25717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7" name="Line 63">
              <a:extLst>
                <a:ext uri="{FF2B5EF4-FFF2-40B4-BE49-F238E27FC236}">
                  <a16:creationId xmlns:a16="http://schemas.microsoft.com/office/drawing/2014/main" id="{EC59E951-2D9E-ED41-A941-387BCF81F22C}"/>
                </a:ext>
              </a:extLst>
            </p:cNvPr>
            <p:cNvSpPr>
              <a:spLocks noChangeShapeType="1"/>
            </p:cNvSpPr>
            <p:nvPr/>
          </p:nvSpPr>
          <p:spPr bwMode="auto">
            <a:xfrm flipH="1">
              <a:off x="9122732" y="4905831"/>
              <a:ext cx="608013" cy="2254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8" name="Line 64">
              <a:extLst>
                <a:ext uri="{FF2B5EF4-FFF2-40B4-BE49-F238E27FC236}">
                  <a16:creationId xmlns:a16="http://schemas.microsoft.com/office/drawing/2014/main" id="{20E85F7F-62CA-5046-92BB-0A98B265007A}"/>
                </a:ext>
              </a:extLst>
            </p:cNvPr>
            <p:cNvSpPr>
              <a:spLocks noChangeShapeType="1"/>
            </p:cNvSpPr>
            <p:nvPr/>
          </p:nvSpPr>
          <p:spPr bwMode="auto">
            <a:xfrm flipH="1">
              <a:off x="9129082" y="5169357"/>
              <a:ext cx="631825" cy="2127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9" name="Text Box 65">
              <a:extLst>
                <a:ext uri="{FF2B5EF4-FFF2-40B4-BE49-F238E27FC236}">
                  <a16:creationId xmlns:a16="http://schemas.microsoft.com/office/drawing/2014/main" id="{0E3A167C-8674-7748-A55E-C8BB9290668E}"/>
                </a:ext>
              </a:extLst>
            </p:cNvPr>
            <p:cNvSpPr txBox="1">
              <a:spLocks noChangeArrowheads="1"/>
            </p:cNvSpPr>
            <p:nvPr/>
          </p:nvSpPr>
          <p:spPr bwMode="auto">
            <a:xfrm>
              <a:off x="8913182" y="4759781"/>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0" name="Text Box 66">
              <a:extLst>
                <a:ext uri="{FF2B5EF4-FFF2-40B4-BE49-F238E27FC236}">
                  <a16:creationId xmlns:a16="http://schemas.microsoft.com/office/drawing/2014/main" id="{1F48C814-D936-5149-ABD9-EBAB7DD49C15}"/>
                </a:ext>
              </a:extLst>
            </p:cNvPr>
            <p:cNvSpPr txBox="1">
              <a:spLocks noChangeArrowheads="1"/>
            </p:cNvSpPr>
            <p:nvPr/>
          </p:nvSpPr>
          <p:spPr bwMode="auto">
            <a:xfrm>
              <a:off x="8921120" y="5002669"/>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1" name="Text Box 67">
              <a:extLst>
                <a:ext uri="{FF2B5EF4-FFF2-40B4-BE49-F238E27FC236}">
                  <a16:creationId xmlns:a16="http://schemas.microsoft.com/office/drawing/2014/main" id="{55F809AC-7CEA-CD47-9D93-F22586EF720A}"/>
                </a:ext>
              </a:extLst>
            </p:cNvPr>
            <p:cNvSpPr txBox="1">
              <a:spLocks noChangeArrowheads="1"/>
            </p:cNvSpPr>
            <p:nvPr/>
          </p:nvSpPr>
          <p:spPr bwMode="auto">
            <a:xfrm>
              <a:off x="8927470" y="5240794"/>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2" name="Text Box 68">
              <a:extLst>
                <a:ext uri="{FF2B5EF4-FFF2-40B4-BE49-F238E27FC236}">
                  <a16:creationId xmlns:a16="http://schemas.microsoft.com/office/drawing/2014/main" id="{E3B0F057-7806-9C4B-8EB7-5C2A7E6C3396}"/>
                </a:ext>
              </a:extLst>
            </p:cNvPr>
            <p:cNvSpPr txBox="1">
              <a:spLocks noChangeArrowheads="1"/>
            </p:cNvSpPr>
            <p:nvPr/>
          </p:nvSpPr>
          <p:spPr bwMode="auto">
            <a:xfrm>
              <a:off x="9719632" y="5950407"/>
              <a:ext cx="1447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with seq number 0</a:t>
              </a:r>
            </a:p>
          </p:txBody>
        </p:sp>
        <p:sp>
          <p:nvSpPr>
            <p:cNvPr id="333" name="Line 69">
              <a:extLst>
                <a:ext uri="{FF2B5EF4-FFF2-40B4-BE49-F238E27FC236}">
                  <a16:creationId xmlns:a16="http://schemas.microsoft.com/office/drawing/2014/main" id="{14184EFC-08DC-8F48-8656-38EAFBF9A938}"/>
                </a:ext>
              </a:extLst>
            </p:cNvPr>
            <p:cNvSpPr>
              <a:spLocks noChangeShapeType="1"/>
            </p:cNvSpPr>
            <p:nvPr/>
          </p:nvSpPr>
          <p:spPr bwMode="auto">
            <a:xfrm flipV="1">
              <a:off x="10424482" y="5345569"/>
              <a:ext cx="0" cy="635000"/>
            </a:xfrm>
            <a:prstGeom prst="line">
              <a:avLst/>
            </a:prstGeom>
            <a:noFill/>
            <a:ln w="952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334" name="Text Box 117">
            <a:extLst>
              <a:ext uri="{FF2B5EF4-FFF2-40B4-BE49-F238E27FC236}">
                <a16:creationId xmlns:a16="http://schemas.microsoft.com/office/drawing/2014/main" id="{03C18204-473B-6144-BF07-9B86DD89E3E2}"/>
              </a:ext>
            </a:extLst>
          </p:cNvPr>
          <p:cNvSpPr txBox="1">
            <a:spLocks noChangeArrowheads="1"/>
          </p:cNvSpPr>
          <p:nvPr/>
        </p:nvSpPr>
        <p:spPr bwMode="auto">
          <a:xfrm>
            <a:off x="6903407" y="6111434"/>
            <a:ext cx="1220788"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(b) oops!</a:t>
            </a:r>
          </a:p>
        </p:txBody>
      </p:sp>
      <p:grpSp>
        <p:nvGrpSpPr>
          <p:cNvPr id="5" name="Group 4">
            <a:extLst>
              <a:ext uri="{FF2B5EF4-FFF2-40B4-BE49-F238E27FC236}">
                <a16:creationId xmlns:a16="http://schemas.microsoft.com/office/drawing/2014/main" id="{4E24ABB9-F69F-E54C-9DFF-5CF4B1475C1B}"/>
              </a:ext>
            </a:extLst>
          </p:cNvPr>
          <p:cNvGrpSpPr/>
          <p:nvPr/>
        </p:nvGrpSpPr>
        <p:grpSpPr>
          <a:xfrm>
            <a:off x="6785932" y="351292"/>
            <a:ext cx="4410075" cy="2644775"/>
            <a:chOff x="6785932" y="351292"/>
            <a:chExt cx="4410075" cy="2644775"/>
          </a:xfrm>
        </p:grpSpPr>
        <p:sp>
          <p:nvSpPr>
            <p:cNvPr id="302" name="Text Box 40">
              <a:extLst>
                <a:ext uri="{FF2B5EF4-FFF2-40B4-BE49-F238E27FC236}">
                  <a16:creationId xmlns:a16="http://schemas.microsoft.com/office/drawing/2014/main" id="{7AAB2DA8-8AB9-0A42-AA24-900F507BEF5E}"/>
                </a:ext>
              </a:extLst>
            </p:cNvPr>
            <p:cNvSpPr txBox="1">
              <a:spLocks noChangeArrowheads="1"/>
            </p:cNvSpPr>
            <p:nvPr/>
          </p:nvSpPr>
          <p:spPr bwMode="auto">
            <a:xfrm>
              <a:off x="9546595" y="351292"/>
              <a:ext cx="1458912"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receiver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(after receipt)</a:t>
              </a:r>
            </a:p>
          </p:txBody>
        </p:sp>
        <p:sp>
          <p:nvSpPr>
            <p:cNvPr id="303" name="Text Box 41">
              <a:extLst>
                <a:ext uri="{FF2B5EF4-FFF2-40B4-BE49-F238E27FC236}">
                  <a16:creationId xmlns:a16="http://schemas.microsoft.com/office/drawing/2014/main" id="{3598A985-11A7-2044-B9F4-C6844C5E27D3}"/>
                </a:ext>
              </a:extLst>
            </p:cNvPr>
            <p:cNvSpPr txBox="1">
              <a:spLocks noChangeArrowheads="1"/>
            </p:cNvSpPr>
            <p:nvPr/>
          </p:nvSpPr>
          <p:spPr bwMode="auto">
            <a:xfrm>
              <a:off x="6785932" y="354467"/>
              <a:ext cx="1365250"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sender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(after receipt)</a:t>
              </a:r>
            </a:p>
          </p:txBody>
        </p:sp>
        <p:sp>
          <p:nvSpPr>
            <p:cNvPr id="304" name="Line 58">
              <a:extLst>
                <a:ext uri="{FF2B5EF4-FFF2-40B4-BE49-F238E27FC236}">
                  <a16:creationId xmlns:a16="http://schemas.microsoft.com/office/drawing/2014/main" id="{D0BD8176-5A1C-2F42-A376-096BA3649435}"/>
                </a:ext>
              </a:extLst>
            </p:cNvPr>
            <p:cNvSpPr>
              <a:spLocks noChangeShapeType="1"/>
            </p:cNvSpPr>
            <p:nvPr/>
          </p:nvSpPr>
          <p:spPr bwMode="auto">
            <a:xfrm>
              <a:off x="6871657" y="845004"/>
              <a:ext cx="1109663" cy="0"/>
            </a:xfrm>
            <a:prstGeom prst="line">
              <a:avLst/>
            </a:prstGeom>
            <a:noFill/>
            <a:ln w="19050">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05" name="Line 59">
              <a:extLst>
                <a:ext uri="{FF2B5EF4-FFF2-40B4-BE49-F238E27FC236}">
                  <a16:creationId xmlns:a16="http://schemas.microsoft.com/office/drawing/2014/main" id="{5593C4C2-6D68-884B-8AE3-58E5D1DC69CE}"/>
                </a:ext>
              </a:extLst>
            </p:cNvPr>
            <p:cNvSpPr>
              <a:spLocks noChangeShapeType="1"/>
            </p:cNvSpPr>
            <p:nvPr/>
          </p:nvSpPr>
          <p:spPr bwMode="auto">
            <a:xfrm>
              <a:off x="9652957" y="845004"/>
              <a:ext cx="1109663" cy="0"/>
            </a:xfrm>
            <a:prstGeom prst="line">
              <a:avLst/>
            </a:prstGeom>
            <a:noFill/>
            <a:ln w="19050">
              <a:solidFill>
                <a:srgbClr val="008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44" name="Group 72">
              <a:extLst>
                <a:ext uri="{FF2B5EF4-FFF2-40B4-BE49-F238E27FC236}">
                  <a16:creationId xmlns:a16="http://schemas.microsoft.com/office/drawing/2014/main" id="{0A13F6C1-3774-494B-8A3C-5D027253D981}"/>
                </a:ext>
              </a:extLst>
            </p:cNvPr>
            <p:cNvGrpSpPr>
              <a:grpSpLocks/>
            </p:cNvGrpSpPr>
            <p:nvPr/>
          </p:nvGrpSpPr>
          <p:grpSpPr bwMode="auto">
            <a:xfrm>
              <a:off x="6927220" y="1057729"/>
              <a:ext cx="1030287" cy="274638"/>
              <a:chOff x="1895" y="3931"/>
              <a:chExt cx="649" cy="173"/>
            </a:xfrm>
          </p:grpSpPr>
          <p:sp>
            <p:nvSpPr>
              <p:cNvPr id="378" name="Rectangle 73">
                <a:extLst>
                  <a:ext uri="{FF2B5EF4-FFF2-40B4-BE49-F238E27FC236}">
                    <a16:creationId xmlns:a16="http://schemas.microsoft.com/office/drawing/2014/main" id="{31A35EF5-5E84-C54D-8814-1DCE9ACB3026}"/>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9" name="Text Box 74">
                <a:extLst>
                  <a:ext uri="{FF2B5EF4-FFF2-40B4-BE49-F238E27FC236}">
                    <a16:creationId xmlns:a16="http://schemas.microsoft.com/office/drawing/2014/main" id="{68D007B8-2247-874B-BE2A-66BD08115EF2}"/>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5" name="Group 75">
              <a:extLst>
                <a:ext uri="{FF2B5EF4-FFF2-40B4-BE49-F238E27FC236}">
                  <a16:creationId xmlns:a16="http://schemas.microsoft.com/office/drawing/2014/main" id="{8AFEBDCB-F9EB-FA4B-B9DD-D18BF76F0DFA}"/>
                </a:ext>
              </a:extLst>
            </p:cNvPr>
            <p:cNvGrpSpPr>
              <a:grpSpLocks/>
            </p:cNvGrpSpPr>
            <p:nvPr/>
          </p:nvGrpSpPr>
          <p:grpSpPr bwMode="auto">
            <a:xfrm>
              <a:off x="6946270" y="1332367"/>
              <a:ext cx="1030287" cy="274638"/>
              <a:chOff x="1895" y="3931"/>
              <a:chExt cx="649" cy="173"/>
            </a:xfrm>
          </p:grpSpPr>
          <p:sp>
            <p:nvSpPr>
              <p:cNvPr id="376" name="Rectangle 76">
                <a:extLst>
                  <a:ext uri="{FF2B5EF4-FFF2-40B4-BE49-F238E27FC236}">
                    <a16:creationId xmlns:a16="http://schemas.microsoft.com/office/drawing/2014/main" id="{44D312F6-1BAF-6745-9666-7EDB183FBC35}"/>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7" name="Text Box 77">
                <a:extLst>
                  <a:ext uri="{FF2B5EF4-FFF2-40B4-BE49-F238E27FC236}">
                    <a16:creationId xmlns:a16="http://schemas.microsoft.com/office/drawing/2014/main" id="{FA389E1B-1FC9-174D-BE78-CB7863805F45}"/>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6" name="Group 78">
              <a:extLst>
                <a:ext uri="{FF2B5EF4-FFF2-40B4-BE49-F238E27FC236}">
                  <a16:creationId xmlns:a16="http://schemas.microsoft.com/office/drawing/2014/main" id="{65618DE4-E600-5F43-BF4D-D218CB02771B}"/>
                </a:ext>
              </a:extLst>
            </p:cNvPr>
            <p:cNvGrpSpPr>
              <a:grpSpLocks/>
            </p:cNvGrpSpPr>
            <p:nvPr/>
          </p:nvGrpSpPr>
          <p:grpSpPr bwMode="auto">
            <a:xfrm>
              <a:off x="6954207" y="1595892"/>
              <a:ext cx="1030287" cy="274638"/>
              <a:chOff x="1895" y="3931"/>
              <a:chExt cx="649" cy="173"/>
            </a:xfrm>
          </p:grpSpPr>
          <p:sp>
            <p:nvSpPr>
              <p:cNvPr id="374" name="Rectangle 79">
                <a:extLst>
                  <a:ext uri="{FF2B5EF4-FFF2-40B4-BE49-F238E27FC236}">
                    <a16:creationId xmlns:a16="http://schemas.microsoft.com/office/drawing/2014/main" id="{FCDE5993-57F4-FD43-820D-D54B24299DC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5" name="Text Box 80">
                <a:extLst>
                  <a:ext uri="{FF2B5EF4-FFF2-40B4-BE49-F238E27FC236}">
                    <a16:creationId xmlns:a16="http://schemas.microsoft.com/office/drawing/2014/main" id="{C513FF21-ED92-9444-9E53-0248290D9A6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47" name="Line 81">
              <a:extLst>
                <a:ext uri="{FF2B5EF4-FFF2-40B4-BE49-F238E27FC236}">
                  <a16:creationId xmlns:a16="http://schemas.microsoft.com/office/drawing/2014/main" id="{4DF4A6D3-1388-4140-80DA-D3AA398FEB45}"/>
                </a:ext>
              </a:extLst>
            </p:cNvPr>
            <p:cNvSpPr>
              <a:spLocks noChangeShapeType="1"/>
            </p:cNvSpPr>
            <p:nvPr/>
          </p:nvSpPr>
          <p:spPr bwMode="auto">
            <a:xfrm>
              <a:off x="7944807" y="1195842"/>
              <a:ext cx="1827212" cy="2381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8" name="Line 82">
              <a:extLst>
                <a:ext uri="{FF2B5EF4-FFF2-40B4-BE49-F238E27FC236}">
                  <a16:creationId xmlns:a16="http://schemas.microsoft.com/office/drawing/2014/main" id="{9F5B609B-A64B-AB46-BE65-3CC9EBB14A16}"/>
                </a:ext>
              </a:extLst>
            </p:cNvPr>
            <p:cNvSpPr>
              <a:spLocks noChangeShapeType="1"/>
            </p:cNvSpPr>
            <p:nvPr/>
          </p:nvSpPr>
          <p:spPr bwMode="auto">
            <a:xfrm>
              <a:off x="7974970" y="1481592"/>
              <a:ext cx="1808162" cy="22860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9" name="Line 83">
              <a:extLst>
                <a:ext uri="{FF2B5EF4-FFF2-40B4-BE49-F238E27FC236}">
                  <a16:creationId xmlns:a16="http://schemas.microsoft.com/office/drawing/2014/main" id="{27722A74-5DAE-0946-97DB-8A82FE5984E8}"/>
                </a:ext>
              </a:extLst>
            </p:cNvPr>
            <p:cNvSpPr>
              <a:spLocks noChangeShapeType="1"/>
            </p:cNvSpPr>
            <p:nvPr/>
          </p:nvSpPr>
          <p:spPr bwMode="auto">
            <a:xfrm>
              <a:off x="8005132" y="1767342"/>
              <a:ext cx="1784350" cy="20955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0" name="Text Box 84">
              <a:extLst>
                <a:ext uri="{FF2B5EF4-FFF2-40B4-BE49-F238E27FC236}">
                  <a16:creationId xmlns:a16="http://schemas.microsoft.com/office/drawing/2014/main" id="{CE71F8A0-0A9C-4C4E-A305-C82195C44AEE}"/>
                </a:ext>
              </a:extLst>
            </p:cNvPr>
            <p:cNvSpPr txBox="1">
              <a:spLocks noChangeArrowheads="1"/>
            </p:cNvSpPr>
            <p:nvPr/>
          </p:nvSpPr>
          <p:spPr bwMode="auto">
            <a:xfrm>
              <a:off x="7990845" y="98152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1" name="Text Box 85">
              <a:extLst>
                <a:ext uri="{FF2B5EF4-FFF2-40B4-BE49-F238E27FC236}">
                  <a16:creationId xmlns:a16="http://schemas.microsoft.com/office/drawing/2014/main" id="{DBA88F99-7C3D-A645-A43F-445E459F83BA}"/>
                </a:ext>
              </a:extLst>
            </p:cNvPr>
            <p:cNvSpPr txBox="1">
              <a:spLocks noChangeArrowheads="1"/>
            </p:cNvSpPr>
            <p:nvPr/>
          </p:nvSpPr>
          <p:spPr bwMode="auto">
            <a:xfrm>
              <a:off x="8054345" y="126727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pkt1</a:t>
              </a:r>
            </a:p>
          </p:txBody>
        </p:sp>
        <p:sp>
          <p:nvSpPr>
            <p:cNvPr id="352" name="Text Box 86">
              <a:extLst>
                <a:ext uri="{FF2B5EF4-FFF2-40B4-BE49-F238E27FC236}">
                  <a16:creationId xmlns:a16="http://schemas.microsoft.com/office/drawing/2014/main" id="{E00B6B45-404A-1D4B-88E9-28B3280E8158}"/>
                </a:ext>
              </a:extLst>
            </p:cNvPr>
            <p:cNvSpPr txBox="1">
              <a:spLocks noChangeArrowheads="1"/>
            </p:cNvSpPr>
            <p:nvPr/>
          </p:nvSpPr>
          <p:spPr bwMode="auto">
            <a:xfrm>
              <a:off x="8051170" y="155302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sp>
          <p:nvSpPr>
            <p:cNvPr id="353" name="Rectangle 88">
              <a:extLst>
                <a:ext uri="{FF2B5EF4-FFF2-40B4-BE49-F238E27FC236}">
                  <a16:creationId xmlns:a16="http://schemas.microsoft.com/office/drawing/2014/main" id="{00D5F247-083B-9D41-8B0F-F0142DCC3FC2}"/>
                </a:ext>
              </a:extLst>
            </p:cNvPr>
            <p:cNvSpPr>
              <a:spLocks noChangeArrowheads="1"/>
            </p:cNvSpPr>
            <p:nvPr/>
          </p:nvSpPr>
          <p:spPr bwMode="auto">
            <a:xfrm>
              <a:off x="7270120" y="2369004"/>
              <a:ext cx="401637" cy="188913"/>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4" name="Text Box 89">
              <a:extLst>
                <a:ext uri="{FF2B5EF4-FFF2-40B4-BE49-F238E27FC236}">
                  <a16:creationId xmlns:a16="http://schemas.microsoft.com/office/drawing/2014/main" id="{C8788A25-6EDB-1448-BC16-FF3C92668B77}"/>
                </a:ext>
              </a:extLst>
            </p:cNvPr>
            <p:cNvSpPr txBox="1">
              <a:spLocks noChangeArrowheads="1"/>
            </p:cNvSpPr>
            <p:nvPr/>
          </p:nvSpPr>
          <p:spPr bwMode="auto">
            <a:xfrm>
              <a:off x="6957382" y="2322967"/>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55" name="Line 90">
              <a:extLst>
                <a:ext uri="{FF2B5EF4-FFF2-40B4-BE49-F238E27FC236}">
                  <a16:creationId xmlns:a16="http://schemas.microsoft.com/office/drawing/2014/main" id="{DF246AA7-F9CB-F242-9DA2-F15BE67FC101}"/>
                </a:ext>
              </a:extLst>
            </p:cNvPr>
            <p:cNvSpPr>
              <a:spLocks noChangeShapeType="1"/>
            </p:cNvSpPr>
            <p:nvPr/>
          </p:nvSpPr>
          <p:spPr bwMode="auto">
            <a:xfrm>
              <a:off x="7976557" y="2494417"/>
              <a:ext cx="1784350" cy="22383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6" name="Text Box 91">
              <a:extLst>
                <a:ext uri="{FF2B5EF4-FFF2-40B4-BE49-F238E27FC236}">
                  <a16:creationId xmlns:a16="http://schemas.microsoft.com/office/drawing/2014/main" id="{73C28AE9-7587-A847-8F64-35A78283A650}"/>
                </a:ext>
              </a:extLst>
            </p:cNvPr>
            <p:cNvSpPr txBox="1">
              <a:spLocks noChangeArrowheads="1"/>
            </p:cNvSpPr>
            <p:nvPr/>
          </p:nvSpPr>
          <p:spPr bwMode="auto">
            <a:xfrm>
              <a:off x="8079745" y="2502354"/>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7" name="Rectangle 95">
              <a:extLst>
                <a:ext uri="{FF2B5EF4-FFF2-40B4-BE49-F238E27FC236}">
                  <a16:creationId xmlns:a16="http://schemas.microsoft.com/office/drawing/2014/main" id="{755DB6B7-F467-9247-B083-632289FD957E}"/>
                </a:ext>
              </a:extLst>
            </p:cNvPr>
            <p:cNvSpPr>
              <a:spLocks noChangeArrowheads="1"/>
            </p:cNvSpPr>
            <p:nvPr/>
          </p:nvSpPr>
          <p:spPr bwMode="auto">
            <a:xfrm>
              <a:off x="9976807" y="1359354"/>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8" name="Text Box 96">
              <a:extLst>
                <a:ext uri="{FF2B5EF4-FFF2-40B4-BE49-F238E27FC236}">
                  <a16:creationId xmlns:a16="http://schemas.microsoft.com/office/drawing/2014/main" id="{A97EABBF-ADD6-1D49-B7F4-AAB3EB89B98B}"/>
                </a:ext>
              </a:extLst>
            </p:cNvPr>
            <p:cNvSpPr txBox="1">
              <a:spLocks noChangeArrowheads="1"/>
            </p:cNvSpPr>
            <p:nvPr/>
          </p:nvSpPr>
          <p:spPr bwMode="auto">
            <a:xfrm>
              <a:off x="9787895" y="1310142"/>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59" name="Rectangle 97">
              <a:extLst>
                <a:ext uri="{FF2B5EF4-FFF2-40B4-BE49-F238E27FC236}">
                  <a16:creationId xmlns:a16="http://schemas.microsoft.com/office/drawing/2014/main" id="{3EE66D50-BD61-0E4A-9CF7-EF712D184D6F}"/>
                </a:ext>
              </a:extLst>
            </p:cNvPr>
            <p:cNvSpPr>
              <a:spLocks noChangeArrowheads="1"/>
            </p:cNvSpPr>
            <p:nvPr/>
          </p:nvSpPr>
          <p:spPr bwMode="auto">
            <a:xfrm>
              <a:off x="10097457" y="1630817"/>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0" name="Text Box 98">
              <a:extLst>
                <a:ext uri="{FF2B5EF4-FFF2-40B4-BE49-F238E27FC236}">
                  <a16:creationId xmlns:a16="http://schemas.microsoft.com/office/drawing/2014/main" id="{0FDF5234-E7F1-9D4F-9A97-BD478EC2E7A0}"/>
                </a:ext>
              </a:extLst>
            </p:cNvPr>
            <p:cNvSpPr txBox="1">
              <a:spLocks noChangeArrowheads="1"/>
            </p:cNvSpPr>
            <p:nvPr/>
          </p:nvSpPr>
          <p:spPr bwMode="auto">
            <a:xfrm>
              <a:off x="9784720" y="1584779"/>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61" name="Rectangle 99">
              <a:extLst>
                <a:ext uri="{FF2B5EF4-FFF2-40B4-BE49-F238E27FC236}">
                  <a16:creationId xmlns:a16="http://schemas.microsoft.com/office/drawing/2014/main" id="{633C63B7-2909-DE47-BCBB-44897C7F89C1}"/>
                </a:ext>
              </a:extLst>
            </p:cNvPr>
            <p:cNvSpPr>
              <a:spLocks noChangeArrowheads="1"/>
            </p:cNvSpPr>
            <p:nvPr/>
          </p:nvSpPr>
          <p:spPr bwMode="auto">
            <a:xfrm>
              <a:off x="10227632" y="1894342"/>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2" name="Text Box 100">
              <a:extLst>
                <a:ext uri="{FF2B5EF4-FFF2-40B4-BE49-F238E27FC236}">
                  <a16:creationId xmlns:a16="http://schemas.microsoft.com/office/drawing/2014/main" id="{2812F92C-4236-294E-A0BC-A2833FCDBAFF}"/>
                </a:ext>
              </a:extLst>
            </p:cNvPr>
            <p:cNvSpPr txBox="1">
              <a:spLocks noChangeArrowheads="1"/>
            </p:cNvSpPr>
            <p:nvPr/>
          </p:nvSpPr>
          <p:spPr bwMode="auto">
            <a:xfrm>
              <a:off x="9787895" y="1848304"/>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63" name="Line 103">
              <a:extLst>
                <a:ext uri="{FF2B5EF4-FFF2-40B4-BE49-F238E27FC236}">
                  <a16:creationId xmlns:a16="http://schemas.microsoft.com/office/drawing/2014/main" id="{FF2E4D9A-CE76-6945-ACCA-B13DC7285B4E}"/>
                </a:ext>
              </a:extLst>
            </p:cNvPr>
            <p:cNvSpPr>
              <a:spLocks noChangeShapeType="1"/>
            </p:cNvSpPr>
            <p:nvPr/>
          </p:nvSpPr>
          <p:spPr bwMode="auto">
            <a:xfrm flipH="1">
              <a:off x="7933695" y="1441904"/>
              <a:ext cx="1784350" cy="735013"/>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4" name="Line 104">
              <a:extLst>
                <a:ext uri="{FF2B5EF4-FFF2-40B4-BE49-F238E27FC236}">
                  <a16:creationId xmlns:a16="http://schemas.microsoft.com/office/drawing/2014/main" id="{E53CC8D8-A794-8545-9766-CEE36A668234}"/>
                </a:ext>
              </a:extLst>
            </p:cNvPr>
            <p:cNvSpPr>
              <a:spLocks noChangeShapeType="1"/>
            </p:cNvSpPr>
            <p:nvPr/>
          </p:nvSpPr>
          <p:spPr bwMode="auto">
            <a:xfrm flipH="1">
              <a:off x="7952745" y="1705429"/>
              <a:ext cx="1795462" cy="7588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5" name="Text Box 107">
              <a:extLst>
                <a:ext uri="{FF2B5EF4-FFF2-40B4-BE49-F238E27FC236}">
                  <a16:creationId xmlns:a16="http://schemas.microsoft.com/office/drawing/2014/main" id="{5E4F7443-630A-5146-8A13-69B6B28A368A}"/>
                </a:ext>
              </a:extLst>
            </p:cNvPr>
            <p:cNvSpPr txBox="1">
              <a:spLocks noChangeArrowheads="1"/>
            </p:cNvSpPr>
            <p:nvPr/>
          </p:nvSpPr>
          <p:spPr bwMode="auto">
            <a:xfrm>
              <a:off x="8452807" y="2132467"/>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ahoma" charset="0"/>
                  <a:ea typeface="ＭＳ Ｐゴシック" charset="0"/>
                  <a:cs typeface="+mn-cs"/>
                </a:rPr>
                <a:t>X</a:t>
              </a:r>
            </a:p>
          </p:txBody>
        </p:sp>
        <p:sp>
          <p:nvSpPr>
            <p:cNvPr id="366" name="Text Box 109">
              <a:extLst>
                <a:ext uri="{FF2B5EF4-FFF2-40B4-BE49-F238E27FC236}">
                  <a16:creationId xmlns:a16="http://schemas.microsoft.com/office/drawing/2014/main" id="{E330918C-EA47-534F-84FC-AD449C2962CA}"/>
                </a:ext>
              </a:extLst>
            </p:cNvPr>
            <p:cNvSpPr txBox="1">
              <a:spLocks noChangeArrowheads="1"/>
            </p:cNvSpPr>
            <p:nvPr/>
          </p:nvSpPr>
          <p:spPr bwMode="auto">
            <a:xfrm>
              <a:off x="9748207" y="2538867"/>
              <a:ext cx="1447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with seq number 0</a:t>
              </a:r>
            </a:p>
          </p:txBody>
        </p:sp>
        <p:sp>
          <p:nvSpPr>
            <p:cNvPr id="367" name="Line 110">
              <a:extLst>
                <a:ext uri="{FF2B5EF4-FFF2-40B4-BE49-F238E27FC236}">
                  <a16:creationId xmlns:a16="http://schemas.microsoft.com/office/drawing/2014/main" id="{5A45AB60-B76D-5A4B-8C09-04809F1E5ECB}"/>
                </a:ext>
              </a:extLst>
            </p:cNvPr>
            <p:cNvSpPr>
              <a:spLocks noChangeShapeType="1"/>
            </p:cNvSpPr>
            <p:nvPr/>
          </p:nvSpPr>
          <p:spPr bwMode="auto">
            <a:xfrm flipH="1" flipV="1">
              <a:off x="10441945" y="2145167"/>
              <a:ext cx="0" cy="446088"/>
            </a:xfrm>
            <a:prstGeom prst="line">
              <a:avLst/>
            </a:prstGeom>
            <a:noFill/>
            <a:ln w="952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8" name="Line 112">
              <a:extLst>
                <a:ext uri="{FF2B5EF4-FFF2-40B4-BE49-F238E27FC236}">
                  <a16:creationId xmlns:a16="http://schemas.microsoft.com/office/drawing/2014/main" id="{F4CED333-2B29-5047-9987-7FF2B5DE2F0B}"/>
                </a:ext>
              </a:extLst>
            </p:cNvPr>
            <p:cNvSpPr>
              <a:spLocks noChangeShapeType="1"/>
            </p:cNvSpPr>
            <p:nvPr/>
          </p:nvSpPr>
          <p:spPr bwMode="auto">
            <a:xfrm>
              <a:off x="7968620" y="2203904"/>
              <a:ext cx="590550" cy="730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69" name="Group 115">
              <a:extLst>
                <a:ext uri="{FF2B5EF4-FFF2-40B4-BE49-F238E27FC236}">
                  <a16:creationId xmlns:a16="http://schemas.microsoft.com/office/drawing/2014/main" id="{6E7A2A89-7268-A649-8EAD-C55997BFA90B}"/>
                </a:ext>
              </a:extLst>
            </p:cNvPr>
            <p:cNvGrpSpPr>
              <a:grpSpLocks/>
            </p:cNvGrpSpPr>
            <p:nvPr/>
          </p:nvGrpSpPr>
          <p:grpSpPr bwMode="auto">
            <a:xfrm>
              <a:off x="6957382" y="2037217"/>
              <a:ext cx="1030287" cy="274638"/>
              <a:chOff x="2667" y="3750"/>
              <a:chExt cx="649" cy="173"/>
            </a:xfrm>
          </p:grpSpPr>
          <p:sp>
            <p:nvSpPr>
              <p:cNvPr id="372" name="Rectangle 113">
                <a:extLst>
                  <a:ext uri="{FF2B5EF4-FFF2-40B4-BE49-F238E27FC236}">
                    <a16:creationId xmlns:a16="http://schemas.microsoft.com/office/drawing/2014/main" id="{FB4CA816-07E8-3E4B-B5D4-D5F338142B0D}"/>
                  </a:ext>
                </a:extLst>
              </p:cNvPr>
              <p:cNvSpPr>
                <a:spLocks noChangeArrowheads="1"/>
              </p:cNvSpPr>
              <p:nvPr/>
            </p:nvSpPr>
            <p:spPr bwMode="auto">
              <a:xfrm>
                <a:off x="2786" y="3779"/>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3" name="Text Box 114">
                <a:extLst>
                  <a:ext uri="{FF2B5EF4-FFF2-40B4-BE49-F238E27FC236}">
                    <a16:creationId xmlns:a16="http://schemas.microsoft.com/office/drawing/2014/main" id="{20879E2F-191F-0042-ABAE-F525B0ADB605}"/>
                  </a:ext>
                </a:extLst>
              </p:cNvPr>
              <p:cNvSpPr txBox="1">
                <a:spLocks noChangeArrowheads="1"/>
              </p:cNvSpPr>
              <p:nvPr/>
            </p:nvSpPr>
            <p:spPr bwMode="auto">
              <a:xfrm>
                <a:off x="2667" y="3750"/>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a:t>
                </a:r>
              </a:p>
            </p:txBody>
          </p:sp>
        </p:grpSp>
        <p:sp>
          <p:nvSpPr>
            <p:cNvPr id="370" name="Text Box 116">
              <a:extLst>
                <a:ext uri="{FF2B5EF4-FFF2-40B4-BE49-F238E27FC236}">
                  <a16:creationId xmlns:a16="http://schemas.microsoft.com/office/drawing/2014/main" id="{8FD7E63C-BA27-9E4C-A8A6-56DE67BAD176}"/>
                </a:ext>
              </a:extLst>
            </p:cNvPr>
            <p:cNvSpPr txBox="1">
              <a:spLocks noChangeArrowheads="1"/>
            </p:cNvSpPr>
            <p:nvPr/>
          </p:nvSpPr>
          <p:spPr bwMode="auto">
            <a:xfrm>
              <a:off x="8082920" y="1988004"/>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pkt3</a:t>
              </a:r>
            </a:p>
          </p:txBody>
        </p:sp>
      </p:grpSp>
      <p:sp>
        <p:nvSpPr>
          <p:cNvPr id="371" name="Text Box 119">
            <a:extLst>
              <a:ext uri="{FF2B5EF4-FFF2-40B4-BE49-F238E27FC236}">
                <a16:creationId xmlns:a16="http://schemas.microsoft.com/office/drawing/2014/main" id="{5339E393-341F-2B4B-9A2F-912F5CB023FE}"/>
              </a:ext>
            </a:extLst>
          </p:cNvPr>
          <p:cNvSpPr txBox="1">
            <a:spLocks noChangeArrowheads="1"/>
          </p:cNvSpPr>
          <p:nvPr/>
        </p:nvSpPr>
        <p:spPr bwMode="auto">
          <a:xfrm>
            <a:off x="6800220" y="2834142"/>
            <a:ext cx="1879361"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(a) no problem</a:t>
            </a:r>
          </a:p>
        </p:txBody>
      </p:sp>
      <p:sp>
        <p:nvSpPr>
          <p:cNvPr id="70" name="Rectangle 3">
            <a:extLst>
              <a:ext uri="{FF2B5EF4-FFF2-40B4-BE49-F238E27FC236}">
                <a16:creationId xmlns:a16="http://schemas.microsoft.com/office/drawing/2014/main" id="{A8BECC0D-D119-A543-A313-AE46EF8BD57C}"/>
              </a:ext>
            </a:extLst>
          </p:cNvPr>
          <p:cNvSpPr txBox="1">
            <a:spLocks noChangeArrowheads="1"/>
          </p:cNvSpPr>
          <p:nvPr/>
        </p:nvSpPr>
        <p:spPr>
          <a:xfrm>
            <a:off x="794654" y="1899557"/>
            <a:ext cx="5517245" cy="132624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example: </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0, 1, 2, 3 </a:t>
            </a:r>
            <a:r>
              <a:rPr kumimoji="0" lang="en-US" altLang="ja-JP"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(base 4 counting)</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window size=3</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82" name="Slide Number Placeholder 2">
            <a:extLst>
              <a:ext uri="{FF2B5EF4-FFF2-40B4-BE49-F238E27FC236}">
                <a16:creationId xmlns:a16="http://schemas.microsoft.com/office/drawing/2014/main" id="{0E39ABAA-753D-794D-9119-FEAB296BBB0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14</a:t>
            </a:fld>
            <a:endParaRPr lang="en-US" dirty="0"/>
          </a:p>
        </p:txBody>
      </p:sp>
    </p:spTree>
    <p:extLst>
      <p:ext uri="{BB962C8B-B14F-4D97-AF65-F5344CB8AC3E}">
        <p14:creationId xmlns:p14="http://schemas.microsoft.com/office/powerpoint/2010/main" val="269008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1"/>
                                        </p:tgtEl>
                                        <p:attrNameLst>
                                          <p:attrName>style.visibility</p:attrName>
                                        </p:attrNameLst>
                                      </p:cBhvr>
                                      <p:to>
                                        <p:strVal val="visible"/>
                                      </p:to>
                                    </p:set>
                                    <p:animEffect transition="in" filter="dissolve">
                                      <p:cBhvr>
                                        <p:cTn id="12" dur="500"/>
                                        <p:tgtEl>
                                          <p:spTgt spid="3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34"/>
                                        </p:tgtEl>
                                        <p:attrNameLst>
                                          <p:attrName>style.visibility</p:attrName>
                                        </p:attrNameLst>
                                      </p:cBhvr>
                                      <p:to>
                                        <p:strVal val="visible"/>
                                      </p:to>
                                    </p:set>
                                    <p:animEffect transition="in" filter="dissolve">
                                      <p:cBhvr>
                                        <p:cTn id="22" dur="5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0"/>
      <p:bldP spid="37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4655" y="408214"/>
            <a:ext cx="6222596" cy="1330904"/>
          </a:xfrm>
        </p:spPr>
        <p:txBody>
          <a:bodyPr>
            <a:noAutofit/>
          </a:bodyPr>
          <a:lstStyle/>
          <a:p>
            <a:r>
              <a:rPr lang="en-US" sz="4800" dirty="0"/>
              <a:t>Selective repeat: </a:t>
            </a:r>
            <a:br>
              <a:rPr lang="en-US" sz="4800" dirty="0"/>
            </a:br>
            <a:r>
              <a:rPr lang="en-US" sz="4800" dirty="0"/>
              <a:t>a dilemma!</a:t>
            </a:r>
          </a:p>
        </p:txBody>
      </p:sp>
      <p:sp>
        <p:nvSpPr>
          <p:cNvPr id="71" name="Rectangle 124">
            <a:extLst>
              <a:ext uri="{FF2B5EF4-FFF2-40B4-BE49-F238E27FC236}">
                <a16:creationId xmlns:a16="http://schemas.microsoft.com/office/drawing/2014/main" id="{D782CDAA-0416-784F-B3B4-73D20461E8E6}"/>
              </a:ext>
            </a:extLst>
          </p:cNvPr>
          <p:cNvSpPr>
            <a:spLocks noChangeArrowheads="1"/>
          </p:cNvSpPr>
          <p:nvPr/>
        </p:nvSpPr>
        <p:spPr bwMode="auto">
          <a:xfrm>
            <a:off x="1004797" y="3949577"/>
            <a:ext cx="5038193" cy="23580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80000"/>
              </a:lnSpc>
              <a:spcBef>
                <a:spcPct val="20000"/>
              </a:spcBef>
              <a:spcAft>
                <a:spcPts val="0"/>
              </a:spcAft>
              <a:buClr>
                <a:srgbClr val="000099"/>
              </a:buClr>
              <a:buSzPct val="65000"/>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342900" marR="0" lvl="0" indent="-342900" algn="l" defTabSz="914400" rtl="0" eaLnBrk="1" fontAlgn="auto" latinLnBrk="0" hangingPunct="1">
              <a:lnSpc>
                <a:spcPct val="80000"/>
              </a:lnSpc>
              <a:spcBef>
                <a:spcPct val="20000"/>
              </a:spcBef>
              <a:spcAft>
                <a:spcPts val="0"/>
              </a:spcAft>
              <a:buClr>
                <a:srgbClr val="000099"/>
              </a:buClr>
              <a:buSzPct val="65000"/>
              <a:buFontTx/>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Q:</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what relationship is needed between sequence # size and window size to avoid problem in scenario (b)?</a:t>
            </a:r>
          </a:p>
        </p:txBody>
      </p:sp>
      <p:grpSp>
        <p:nvGrpSpPr>
          <p:cNvPr id="6" name="Group 5">
            <a:extLst>
              <a:ext uri="{FF2B5EF4-FFF2-40B4-BE49-F238E27FC236}">
                <a16:creationId xmlns:a16="http://schemas.microsoft.com/office/drawing/2014/main" id="{7F9E5931-D189-1349-BB68-FDFA9711FCA5}"/>
              </a:ext>
            </a:extLst>
          </p:cNvPr>
          <p:cNvGrpSpPr/>
          <p:nvPr/>
        </p:nvGrpSpPr>
        <p:grpSpPr>
          <a:xfrm>
            <a:off x="6931293" y="4061030"/>
            <a:ext cx="4257675" cy="2225676"/>
            <a:chOff x="6909757" y="4181931"/>
            <a:chExt cx="4257675" cy="2225676"/>
          </a:xfrm>
        </p:grpSpPr>
        <p:grpSp>
          <p:nvGrpSpPr>
            <p:cNvPr id="307" name="Group 8">
              <a:extLst>
                <a:ext uri="{FF2B5EF4-FFF2-40B4-BE49-F238E27FC236}">
                  <a16:creationId xmlns:a16="http://schemas.microsoft.com/office/drawing/2014/main" id="{1942F5A2-ABA0-D244-B423-E4608684189F}"/>
                </a:ext>
              </a:extLst>
            </p:cNvPr>
            <p:cNvGrpSpPr>
              <a:grpSpLocks/>
            </p:cNvGrpSpPr>
            <p:nvPr/>
          </p:nvGrpSpPr>
          <p:grpSpPr bwMode="auto">
            <a:xfrm>
              <a:off x="6909757" y="4258131"/>
              <a:ext cx="1030288" cy="274638"/>
              <a:chOff x="1895" y="3931"/>
              <a:chExt cx="649" cy="173"/>
            </a:xfrm>
          </p:grpSpPr>
          <p:sp>
            <p:nvSpPr>
              <p:cNvPr id="341" name="Rectangle 7">
                <a:extLst>
                  <a:ext uri="{FF2B5EF4-FFF2-40B4-BE49-F238E27FC236}">
                    <a16:creationId xmlns:a16="http://schemas.microsoft.com/office/drawing/2014/main" id="{0EE62060-91FC-404F-BDD6-87AA7C69548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2" name="Text Box 6">
                <a:extLst>
                  <a:ext uri="{FF2B5EF4-FFF2-40B4-BE49-F238E27FC236}">
                    <a16:creationId xmlns:a16="http://schemas.microsoft.com/office/drawing/2014/main" id="{93619256-616D-2A4C-B9B8-7455F78BF467}"/>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8" name="Group 9">
              <a:extLst>
                <a:ext uri="{FF2B5EF4-FFF2-40B4-BE49-F238E27FC236}">
                  <a16:creationId xmlns:a16="http://schemas.microsoft.com/office/drawing/2014/main" id="{94E9A178-E13E-6D46-B99E-B3FDE88BD2E6}"/>
                </a:ext>
              </a:extLst>
            </p:cNvPr>
            <p:cNvGrpSpPr>
              <a:grpSpLocks/>
            </p:cNvGrpSpPr>
            <p:nvPr/>
          </p:nvGrpSpPr>
          <p:grpSpPr bwMode="auto">
            <a:xfrm>
              <a:off x="6928807" y="4532769"/>
              <a:ext cx="1030288" cy="274638"/>
              <a:chOff x="1895" y="3931"/>
              <a:chExt cx="649" cy="173"/>
            </a:xfrm>
          </p:grpSpPr>
          <p:sp>
            <p:nvSpPr>
              <p:cNvPr id="339" name="Rectangle 10">
                <a:extLst>
                  <a:ext uri="{FF2B5EF4-FFF2-40B4-BE49-F238E27FC236}">
                    <a16:creationId xmlns:a16="http://schemas.microsoft.com/office/drawing/2014/main" id="{1D7DB47D-B4D8-DA4B-849C-0C854A63983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0" name="Text Box 11">
                <a:extLst>
                  <a:ext uri="{FF2B5EF4-FFF2-40B4-BE49-F238E27FC236}">
                    <a16:creationId xmlns:a16="http://schemas.microsoft.com/office/drawing/2014/main" id="{66376DC4-0D4B-F448-8D81-BDEC9FFF8996}"/>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9" name="Group 12">
              <a:extLst>
                <a:ext uri="{FF2B5EF4-FFF2-40B4-BE49-F238E27FC236}">
                  <a16:creationId xmlns:a16="http://schemas.microsoft.com/office/drawing/2014/main" id="{75D0BF09-C33A-BF4B-8E6F-BD5C588B4B7C}"/>
                </a:ext>
              </a:extLst>
            </p:cNvPr>
            <p:cNvGrpSpPr>
              <a:grpSpLocks/>
            </p:cNvGrpSpPr>
            <p:nvPr/>
          </p:nvGrpSpPr>
          <p:grpSpPr bwMode="auto">
            <a:xfrm>
              <a:off x="6936745" y="4796294"/>
              <a:ext cx="1030288" cy="274638"/>
              <a:chOff x="1895" y="3931"/>
              <a:chExt cx="649" cy="173"/>
            </a:xfrm>
          </p:grpSpPr>
          <p:sp>
            <p:nvSpPr>
              <p:cNvPr id="337" name="Rectangle 13">
                <a:extLst>
                  <a:ext uri="{FF2B5EF4-FFF2-40B4-BE49-F238E27FC236}">
                    <a16:creationId xmlns:a16="http://schemas.microsoft.com/office/drawing/2014/main" id="{3DC28863-C1E4-3940-A9B4-5C23D5FD0FBF}"/>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8" name="Text Box 14">
                <a:extLst>
                  <a:ext uri="{FF2B5EF4-FFF2-40B4-BE49-F238E27FC236}">
                    <a16:creationId xmlns:a16="http://schemas.microsoft.com/office/drawing/2014/main" id="{183D495E-EC2B-E34D-968D-949D6F983610}"/>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0" name="Line 15">
              <a:extLst>
                <a:ext uri="{FF2B5EF4-FFF2-40B4-BE49-F238E27FC236}">
                  <a16:creationId xmlns:a16="http://schemas.microsoft.com/office/drawing/2014/main" id="{83280B47-6119-B24D-BD4C-7A570462D89A}"/>
                </a:ext>
              </a:extLst>
            </p:cNvPr>
            <p:cNvSpPr>
              <a:spLocks noChangeShapeType="1"/>
            </p:cNvSpPr>
            <p:nvPr/>
          </p:nvSpPr>
          <p:spPr bwMode="auto">
            <a:xfrm>
              <a:off x="7927345" y="4396244"/>
              <a:ext cx="1827213" cy="2381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1" name="Line 16">
              <a:extLst>
                <a:ext uri="{FF2B5EF4-FFF2-40B4-BE49-F238E27FC236}">
                  <a16:creationId xmlns:a16="http://schemas.microsoft.com/office/drawing/2014/main" id="{B4A96E1E-1FCC-8748-AE3E-6BEA1397830A}"/>
                </a:ext>
              </a:extLst>
            </p:cNvPr>
            <p:cNvSpPr>
              <a:spLocks noChangeShapeType="1"/>
            </p:cNvSpPr>
            <p:nvPr/>
          </p:nvSpPr>
          <p:spPr bwMode="auto">
            <a:xfrm>
              <a:off x="7957507" y="4681994"/>
              <a:ext cx="1808163" cy="22860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2" name="Line 17">
              <a:extLst>
                <a:ext uri="{FF2B5EF4-FFF2-40B4-BE49-F238E27FC236}">
                  <a16:creationId xmlns:a16="http://schemas.microsoft.com/office/drawing/2014/main" id="{2BCA50D6-62FE-B64C-BB19-B11FA0426622}"/>
                </a:ext>
              </a:extLst>
            </p:cNvPr>
            <p:cNvSpPr>
              <a:spLocks noChangeShapeType="1"/>
            </p:cNvSpPr>
            <p:nvPr/>
          </p:nvSpPr>
          <p:spPr bwMode="auto">
            <a:xfrm>
              <a:off x="7987670" y="4967744"/>
              <a:ext cx="1784350" cy="20955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3" name="Text Box 18">
              <a:extLst>
                <a:ext uri="{FF2B5EF4-FFF2-40B4-BE49-F238E27FC236}">
                  <a16:creationId xmlns:a16="http://schemas.microsoft.com/office/drawing/2014/main" id="{02E658FD-889C-5340-9640-AD71BE2147EC}"/>
                </a:ext>
              </a:extLst>
            </p:cNvPr>
            <p:cNvSpPr txBox="1">
              <a:spLocks noChangeArrowheads="1"/>
            </p:cNvSpPr>
            <p:nvPr/>
          </p:nvSpPr>
          <p:spPr bwMode="auto">
            <a:xfrm>
              <a:off x="8040057" y="418193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4" name="Text Box 19">
              <a:extLst>
                <a:ext uri="{FF2B5EF4-FFF2-40B4-BE49-F238E27FC236}">
                  <a16:creationId xmlns:a16="http://schemas.microsoft.com/office/drawing/2014/main" id="{45B5E1FA-8F5B-7040-AFD4-A6F0EAFD0576}"/>
                </a:ext>
              </a:extLst>
            </p:cNvPr>
            <p:cNvSpPr txBox="1">
              <a:spLocks noChangeArrowheads="1"/>
            </p:cNvSpPr>
            <p:nvPr/>
          </p:nvSpPr>
          <p:spPr bwMode="auto">
            <a:xfrm>
              <a:off x="8036882" y="446768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pkt1</a:t>
              </a:r>
            </a:p>
          </p:txBody>
        </p:sp>
        <p:sp>
          <p:nvSpPr>
            <p:cNvPr id="315" name="Text Box 20">
              <a:extLst>
                <a:ext uri="{FF2B5EF4-FFF2-40B4-BE49-F238E27FC236}">
                  <a16:creationId xmlns:a16="http://schemas.microsoft.com/office/drawing/2014/main" id="{8D9B9494-8D5C-BE4F-BED0-A4F8E50D1C11}"/>
                </a:ext>
              </a:extLst>
            </p:cNvPr>
            <p:cNvSpPr txBox="1">
              <a:spLocks noChangeArrowheads="1"/>
            </p:cNvSpPr>
            <p:nvPr/>
          </p:nvSpPr>
          <p:spPr bwMode="auto">
            <a:xfrm>
              <a:off x="8033707" y="475343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grpSp>
          <p:nvGrpSpPr>
            <p:cNvPr id="316" name="Group 23">
              <a:extLst>
                <a:ext uri="{FF2B5EF4-FFF2-40B4-BE49-F238E27FC236}">
                  <a16:creationId xmlns:a16="http://schemas.microsoft.com/office/drawing/2014/main" id="{82E7EEF6-E6E0-8B4B-B2E2-D6AFBD465BEB}"/>
                </a:ext>
              </a:extLst>
            </p:cNvPr>
            <p:cNvGrpSpPr>
              <a:grpSpLocks/>
            </p:cNvGrpSpPr>
            <p:nvPr/>
          </p:nvGrpSpPr>
          <p:grpSpPr bwMode="auto">
            <a:xfrm>
              <a:off x="6939920" y="5828170"/>
              <a:ext cx="1030288" cy="274638"/>
              <a:chOff x="1895" y="3931"/>
              <a:chExt cx="649" cy="173"/>
            </a:xfrm>
          </p:grpSpPr>
          <p:sp>
            <p:nvSpPr>
              <p:cNvPr id="335" name="Rectangle 24">
                <a:extLst>
                  <a:ext uri="{FF2B5EF4-FFF2-40B4-BE49-F238E27FC236}">
                    <a16:creationId xmlns:a16="http://schemas.microsoft.com/office/drawing/2014/main" id="{863DCB74-5DAF-1847-A592-4A82497E9F6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6" name="Text Box 25">
                <a:extLst>
                  <a:ext uri="{FF2B5EF4-FFF2-40B4-BE49-F238E27FC236}">
                    <a16:creationId xmlns:a16="http://schemas.microsoft.com/office/drawing/2014/main" id="{529BD457-0C19-5348-B5FA-B02FB96145E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7" name="Line 32">
              <a:extLst>
                <a:ext uri="{FF2B5EF4-FFF2-40B4-BE49-F238E27FC236}">
                  <a16:creationId xmlns:a16="http://schemas.microsoft.com/office/drawing/2014/main" id="{39D1ADF5-0FC0-9A45-A89C-C202445BB363}"/>
                </a:ext>
              </a:extLst>
            </p:cNvPr>
            <p:cNvSpPr>
              <a:spLocks noChangeShapeType="1"/>
            </p:cNvSpPr>
            <p:nvPr/>
          </p:nvSpPr>
          <p:spPr bwMode="auto">
            <a:xfrm>
              <a:off x="7990845" y="5961520"/>
              <a:ext cx="1784350" cy="22383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8" name="Text Box 35">
              <a:extLst>
                <a:ext uri="{FF2B5EF4-FFF2-40B4-BE49-F238E27FC236}">
                  <a16:creationId xmlns:a16="http://schemas.microsoft.com/office/drawing/2014/main" id="{62D99CB5-14A3-E647-86CE-3B7DE5DCDC7C}"/>
                </a:ext>
              </a:extLst>
            </p:cNvPr>
            <p:cNvSpPr txBox="1">
              <a:spLocks noChangeArrowheads="1"/>
            </p:cNvSpPr>
            <p:nvPr/>
          </p:nvSpPr>
          <p:spPr bwMode="auto">
            <a:xfrm>
              <a:off x="8074982" y="5747207"/>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9" name="Text Box 39">
              <a:extLst>
                <a:ext uri="{FF2B5EF4-FFF2-40B4-BE49-F238E27FC236}">
                  <a16:creationId xmlns:a16="http://schemas.microsoft.com/office/drawing/2014/main" id="{DE3A732F-D913-5C40-8075-B3896B74B221}"/>
                </a:ext>
              </a:extLst>
            </p:cNvPr>
            <p:cNvSpPr txBox="1">
              <a:spLocks noChangeArrowheads="1"/>
            </p:cNvSpPr>
            <p:nvPr/>
          </p:nvSpPr>
          <p:spPr bwMode="auto">
            <a:xfrm>
              <a:off x="6924045" y="5429707"/>
              <a:ext cx="1382713"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timeout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retransmit pkt0</a:t>
              </a:r>
            </a:p>
          </p:txBody>
        </p:sp>
        <p:sp>
          <p:nvSpPr>
            <p:cNvPr id="320" name="Rectangle 45">
              <a:extLst>
                <a:ext uri="{FF2B5EF4-FFF2-40B4-BE49-F238E27FC236}">
                  <a16:creationId xmlns:a16="http://schemas.microsoft.com/office/drawing/2014/main" id="{3AC813D7-A587-1341-B108-1D1C3BDD4322}"/>
                </a:ext>
              </a:extLst>
            </p:cNvPr>
            <p:cNvSpPr>
              <a:spLocks noChangeArrowheads="1"/>
            </p:cNvSpPr>
            <p:nvPr/>
          </p:nvSpPr>
          <p:spPr bwMode="auto">
            <a:xfrm>
              <a:off x="9959345" y="4559756"/>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1" name="Text Box 46">
              <a:extLst>
                <a:ext uri="{FF2B5EF4-FFF2-40B4-BE49-F238E27FC236}">
                  <a16:creationId xmlns:a16="http://schemas.microsoft.com/office/drawing/2014/main" id="{AD53B46B-0462-8349-BFB4-D8EE1679CA9F}"/>
                </a:ext>
              </a:extLst>
            </p:cNvPr>
            <p:cNvSpPr txBox="1">
              <a:spLocks noChangeArrowheads="1"/>
            </p:cNvSpPr>
            <p:nvPr/>
          </p:nvSpPr>
          <p:spPr bwMode="auto">
            <a:xfrm>
              <a:off x="9770432" y="4510544"/>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22" name="Rectangle 50">
              <a:extLst>
                <a:ext uri="{FF2B5EF4-FFF2-40B4-BE49-F238E27FC236}">
                  <a16:creationId xmlns:a16="http://schemas.microsoft.com/office/drawing/2014/main" id="{AD80CE9F-F5D1-7B43-A091-123A5ECF7B91}"/>
                </a:ext>
              </a:extLst>
            </p:cNvPr>
            <p:cNvSpPr>
              <a:spLocks noChangeArrowheads="1"/>
            </p:cNvSpPr>
            <p:nvPr/>
          </p:nvSpPr>
          <p:spPr bwMode="auto">
            <a:xfrm>
              <a:off x="10079995" y="4831219"/>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3" name="Text Box 51">
              <a:extLst>
                <a:ext uri="{FF2B5EF4-FFF2-40B4-BE49-F238E27FC236}">
                  <a16:creationId xmlns:a16="http://schemas.microsoft.com/office/drawing/2014/main" id="{EB22B0CE-8744-094D-B844-BAC4F3B9B933}"/>
                </a:ext>
              </a:extLst>
            </p:cNvPr>
            <p:cNvSpPr txBox="1">
              <a:spLocks noChangeArrowheads="1"/>
            </p:cNvSpPr>
            <p:nvPr/>
          </p:nvSpPr>
          <p:spPr bwMode="auto">
            <a:xfrm>
              <a:off x="9767257" y="4785181"/>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24" name="Rectangle 53">
              <a:extLst>
                <a:ext uri="{FF2B5EF4-FFF2-40B4-BE49-F238E27FC236}">
                  <a16:creationId xmlns:a16="http://schemas.microsoft.com/office/drawing/2014/main" id="{B4035F3F-8265-144D-A6FF-D585783A8317}"/>
                </a:ext>
              </a:extLst>
            </p:cNvPr>
            <p:cNvSpPr>
              <a:spLocks noChangeArrowheads="1"/>
            </p:cNvSpPr>
            <p:nvPr/>
          </p:nvSpPr>
          <p:spPr bwMode="auto">
            <a:xfrm>
              <a:off x="10210170" y="5094744"/>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5" name="Text Box 54">
              <a:extLst>
                <a:ext uri="{FF2B5EF4-FFF2-40B4-BE49-F238E27FC236}">
                  <a16:creationId xmlns:a16="http://schemas.microsoft.com/office/drawing/2014/main" id="{6E183FB6-D313-5643-AF16-2BCB057078CF}"/>
                </a:ext>
              </a:extLst>
            </p:cNvPr>
            <p:cNvSpPr txBox="1">
              <a:spLocks noChangeArrowheads="1"/>
            </p:cNvSpPr>
            <p:nvPr/>
          </p:nvSpPr>
          <p:spPr bwMode="auto">
            <a:xfrm>
              <a:off x="9770432" y="5048707"/>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26" name="Line 62">
              <a:extLst>
                <a:ext uri="{FF2B5EF4-FFF2-40B4-BE49-F238E27FC236}">
                  <a16:creationId xmlns:a16="http://schemas.microsoft.com/office/drawing/2014/main" id="{2A5D31EF-8FFA-DA4D-8EDA-36C5F17B4ED9}"/>
                </a:ext>
              </a:extLst>
            </p:cNvPr>
            <p:cNvSpPr>
              <a:spLocks noChangeShapeType="1"/>
            </p:cNvSpPr>
            <p:nvPr/>
          </p:nvSpPr>
          <p:spPr bwMode="auto">
            <a:xfrm flipH="1">
              <a:off x="9122732" y="4642306"/>
              <a:ext cx="577850" cy="25717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7" name="Line 63">
              <a:extLst>
                <a:ext uri="{FF2B5EF4-FFF2-40B4-BE49-F238E27FC236}">
                  <a16:creationId xmlns:a16="http://schemas.microsoft.com/office/drawing/2014/main" id="{EC59E951-2D9E-ED41-A941-387BCF81F22C}"/>
                </a:ext>
              </a:extLst>
            </p:cNvPr>
            <p:cNvSpPr>
              <a:spLocks noChangeShapeType="1"/>
            </p:cNvSpPr>
            <p:nvPr/>
          </p:nvSpPr>
          <p:spPr bwMode="auto">
            <a:xfrm flipH="1">
              <a:off x="9122732" y="4905831"/>
              <a:ext cx="608013" cy="2254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8" name="Line 64">
              <a:extLst>
                <a:ext uri="{FF2B5EF4-FFF2-40B4-BE49-F238E27FC236}">
                  <a16:creationId xmlns:a16="http://schemas.microsoft.com/office/drawing/2014/main" id="{20E85F7F-62CA-5046-92BB-0A98B265007A}"/>
                </a:ext>
              </a:extLst>
            </p:cNvPr>
            <p:cNvSpPr>
              <a:spLocks noChangeShapeType="1"/>
            </p:cNvSpPr>
            <p:nvPr/>
          </p:nvSpPr>
          <p:spPr bwMode="auto">
            <a:xfrm flipH="1">
              <a:off x="9129082" y="5169357"/>
              <a:ext cx="631825" cy="2127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9" name="Text Box 65">
              <a:extLst>
                <a:ext uri="{FF2B5EF4-FFF2-40B4-BE49-F238E27FC236}">
                  <a16:creationId xmlns:a16="http://schemas.microsoft.com/office/drawing/2014/main" id="{0E3A167C-8674-7748-A55E-C8BB9290668E}"/>
                </a:ext>
              </a:extLst>
            </p:cNvPr>
            <p:cNvSpPr txBox="1">
              <a:spLocks noChangeArrowheads="1"/>
            </p:cNvSpPr>
            <p:nvPr/>
          </p:nvSpPr>
          <p:spPr bwMode="auto">
            <a:xfrm>
              <a:off x="8913182" y="4759781"/>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0" name="Text Box 66">
              <a:extLst>
                <a:ext uri="{FF2B5EF4-FFF2-40B4-BE49-F238E27FC236}">
                  <a16:creationId xmlns:a16="http://schemas.microsoft.com/office/drawing/2014/main" id="{1F48C814-D936-5149-ABD9-EBAB7DD49C15}"/>
                </a:ext>
              </a:extLst>
            </p:cNvPr>
            <p:cNvSpPr txBox="1">
              <a:spLocks noChangeArrowheads="1"/>
            </p:cNvSpPr>
            <p:nvPr/>
          </p:nvSpPr>
          <p:spPr bwMode="auto">
            <a:xfrm>
              <a:off x="8921120" y="5002669"/>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1" name="Text Box 67">
              <a:extLst>
                <a:ext uri="{FF2B5EF4-FFF2-40B4-BE49-F238E27FC236}">
                  <a16:creationId xmlns:a16="http://schemas.microsoft.com/office/drawing/2014/main" id="{55F809AC-7CEA-CD47-9D93-F22586EF720A}"/>
                </a:ext>
              </a:extLst>
            </p:cNvPr>
            <p:cNvSpPr txBox="1">
              <a:spLocks noChangeArrowheads="1"/>
            </p:cNvSpPr>
            <p:nvPr/>
          </p:nvSpPr>
          <p:spPr bwMode="auto">
            <a:xfrm>
              <a:off x="8927470" y="5240794"/>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2" name="Text Box 68">
              <a:extLst>
                <a:ext uri="{FF2B5EF4-FFF2-40B4-BE49-F238E27FC236}">
                  <a16:creationId xmlns:a16="http://schemas.microsoft.com/office/drawing/2014/main" id="{E3B0F057-7806-9C4B-8EB7-5C2A7E6C3396}"/>
                </a:ext>
              </a:extLst>
            </p:cNvPr>
            <p:cNvSpPr txBox="1">
              <a:spLocks noChangeArrowheads="1"/>
            </p:cNvSpPr>
            <p:nvPr/>
          </p:nvSpPr>
          <p:spPr bwMode="auto">
            <a:xfrm>
              <a:off x="9719632" y="5950407"/>
              <a:ext cx="1447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with seq number 0</a:t>
              </a:r>
            </a:p>
          </p:txBody>
        </p:sp>
        <p:sp>
          <p:nvSpPr>
            <p:cNvPr id="333" name="Line 69">
              <a:extLst>
                <a:ext uri="{FF2B5EF4-FFF2-40B4-BE49-F238E27FC236}">
                  <a16:creationId xmlns:a16="http://schemas.microsoft.com/office/drawing/2014/main" id="{14184EFC-08DC-8F48-8656-38EAFBF9A938}"/>
                </a:ext>
              </a:extLst>
            </p:cNvPr>
            <p:cNvSpPr>
              <a:spLocks noChangeShapeType="1"/>
            </p:cNvSpPr>
            <p:nvPr/>
          </p:nvSpPr>
          <p:spPr bwMode="auto">
            <a:xfrm flipV="1">
              <a:off x="10424482" y="5345569"/>
              <a:ext cx="0" cy="635000"/>
            </a:xfrm>
            <a:prstGeom prst="line">
              <a:avLst/>
            </a:prstGeom>
            <a:noFill/>
            <a:ln w="952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334" name="Text Box 117">
            <a:extLst>
              <a:ext uri="{FF2B5EF4-FFF2-40B4-BE49-F238E27FC236}">
                <a16:creationId xmlns:a16="http://schemas.microsoft.com/office/drawing/2014/main" id="{03C18204-473B-6144-BF07-9B86DD89E3E2}"/>
              </a:ext>
            </a:extLst>
          </p:cNvPr>
          <p:cNvSpPr txBox="1">
            <a:spLocks noChangeArrowheads="1"/>
          </p:cNvSpPr>
          <p:nvPr/>
        </p:nvSpPr>
        <p:spPr bwMode="auto">
          <a:xfrm>
            <a:off x="6903407" y="6111434"/>
            <a:ext cx="1220788"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(b) oops!</a:t>
            </a:r>
          </a:p>
        </p:txBody>
      </p:sp>
      <p:grpSp>
        <p:nvGrpSpPr>
          <p:cNvPr id="5" name="Group 4">
            <a:extLst>
              <a:ext uri="{FF2B5EF4-FFF2-40B4-BE49-F238E27FC236}">
                <a16:creationId xmlns:a16="http://schemas.microsoft.com/office/drawing/2014/main" id="{4E24ABB9-F69F-E54C-9DFF-5CF4B1475C1B}"/>
              </a:ext>
            </a:extLst>
          </p:cNvPr>
          <p:cNvGrpSpPr/>
          <p:nvPr/>
        </p:nvGrpSpPr>
        <p:grpSpPr>
          <a:xfrm>
            <a:off x="6785932" y="351292"/>
            <a:ext cx="4410075" cy="2644775"/>
            <a:chOff x="6785932" y="351292"/>
            <a:chExt cx="4410075" cy="2644775"/>
          </a:xfrm>
        </p:grpSpPr>
        <p:sp>
          <p:nvSpPr>
            <p:cNvPr id="302" name="Text Box 40">
              <a:extLst>
                <a:ext uri="{FF2B5EF4-FFF2-40B4-BE49-F238E27FC236}">
                  <a16:creationId xmlns:a16="http://schemas.microsoft.com/office/drawing/2014/main" id="{7AAB2DA8-8AB9-0A42-AA24-900F507BEF5E}"/>
                </a:ext>
              </a:extLst>
            </p:cNvPr>
            <p:cNvSpPr txBox="1">
              <a:spLocks noChangeArrowheads="1"/>
            </p:cNvSpPr>
            <p:nvPr/>
          </p:nvSpPr>
          <p:spPr bwMode="auto">
            <a:xfrm>
              <a:off x="9546595" y="351292"/>
              <a:ext cx="1458912"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receiver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(after receipt)</a:t>
              </a:r>
            </a:p>
          </p:txBody>
        </p:sp>
        <p:sp>
          <p:nvSpPr>
            <p:cNvPr id="303" name="Text Box 41">
              <a:extLst>
                <a:ext uri="{FF2B5EF4-FFF2-40B4-BE49-F238E27FC236}">
                  <a16:creationId xmlns:a16="http://schemas.microsoft.com/office/drawing/2014/main" id="{3598A985-11A7-2044-B9F4-C6844C5E27D3}"/>
                </a:ext>
              </a:extLst>
            </p:cNvPr>
            <p:cNvSpPr txBox="1">
              <a:spLocks noChangeArrowheads="1"/>
            </p:cNvSpPr>
            <p:nvPr/>
          </p:nvSpPr>
          <p:spPr bwMode="auto">
            <a:xfrm>
              <a:off x="6785932" y="354467"/>
              <a:ext cx="1365250"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sender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(after receipt)</a:t>
              </a:r>
            </a:p>
          </p:txBody>
        </p:sp>
        <p:sp>
          <p:nvSpPr>
            <p:cNvPr id="304" name="Line 58">
              <a:extLst>
                <a:ext uri="{FF2B5EF4-FFF2-40B4-BE49-F238E27FC236}">
                  <a16:creationId xmlns:a16="http://schemas.microsoft.com/office/drawing/2014/main" id="{D0BD8176-5A1C-2F42-A376-096BA3649435}"/>
                </a:ext>
              </a:extLst>
            </p:cNvPr>
            <p:cNvSpPr>
              <a:spLocks noChangeShapeType="1"/>
            </p:cNvSpPr>
            <p:nvPr/>
          </p:nvSpPr>
          <p:spPr bwMode="auto">
            <a:xfrm>
              <a:off x="6871657" y="845004"/>
              <a:ext cx="1109663" cy="0"/>
            </a:xfrm>
            <a:prstGeom prst="line">
              <a:avLst/>
            </a:prstGeom>
            <a:noFill/>
            <a:ln w="19050">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05" name="Line 59">
              <a:extLst>
                <a:ext uri="{FF2B5EF4-FFF2-40B4-BE49-F238E27FC236}">
                  <a16:creationId xmlns:a16="http://schemas.microsoft.com/office/drawing/2014/main" id="{5593C4C2-6D68-884B-8AE3-58E5D1DC69CE}"/>
                </a:ext>
              </a:extLst>
            </p:cNvPr>
            <p:cNvSpPr>
              <a:spLocks noChangeShapeType="1"/>
            </p:cNvSpPr>
            <p:nvPr/>
          </p:nvSpPr>
          <p:spPr bwMode="auto">
            <a:xfrm>
              <a:off x="9652957" y="845004"/>
              <a:ext cx="1109663" cy="0"/>
            </a:xfrm>
            <a:prstGeom prst="line">
              <a:avLst/>
            </a:prstGeom>
            <a:noFill/>
            <a:ln w="19050">
              <a:solidFill>
                <a:srgbClr val="008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44" name="Group 72">
              <a:extLst>
                <a:ext uri="{FF2B5EF4-FFF2-40B4-BE49-F238E27FC236}">
                  <a16:creationId xmlns:a16="http://schemas.microsoft.com/office/drawing/2014/main" id="{0A13F6C1-3774-494B-8A3C-5D027253D981}"/>
                </a:ext>
              </a:extLst>
            </p:cNvPr>
            <p:cNvGrpSpPr>
              <a:grpSpLocks/>
            </p:cNvGrpSpPr>
            <p:nvPr/>
          </p:nvGrpSpPr>
          <p:grpSpPr bwMode="auto">
            <a:xfrm>
              <a:off x="6927220" y="1057729"/>
              <a:ext cx="1030287" cy="274638"/>
              <a:chOff x="1895" y="3931"/>
              <a:chExt cx="649" cy="173"/>
            </a:xfrm>
          </p:grpSpPr>
          <p:sp>
            <p:nvSpPr>
              <p:cNvPr id="378" name="Rectangle 73">
                <a:extLst>
                  <a:ext uri="{FF2B5EF4-FFF2-40B4-BE49-F238E27FC236}">
                    <a16:creationId xmlns:a16="http://schemas.microsoft.com/office/drawing/2014/main" id="{31A35EF5-5E84-C54D-8814-1DCE9ACB3026}"/>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9" name="Text Box 74">
                <a:extLst>
                  <a:ext uri="{FF2B5EF4-FFF2-40B4-BE49-F238E27FC236}">
                    <a16:creationId xmlns:a16="http://schemas.microsoft.com/office/drawing/2014/main" id="{68D007B8-2247-874B-BE2A-66BD08115EF2}"/>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5" name="Group 75">
              <a:extLst>
                <a:ext uri="{FF2B5EF4-FFF2-40B4-BE49-F238E27FC236}">
                  <a16:creationId xmlns:a16="http://schemas.microsoft.com/office/drawing/2014/main" id="{8AFEBDCB-F9EB-FA4B-B9DD-D18BF76F0DFA}"/>
                </a:ext>
              </a:extLst>
            </p:cNvPr>
            <p:cNvGrpSpPr>
              <a:grpSpLocks/>
            </p:cNvGrpSpPr>
            <p:nvPr/>
          </p:nvGrpSpPr>
          <p:grpSpPr bwMode="auto">
            <a:xfrm>
              <a:off x="6946270" y="1332367"/>
              <a:ext cx="1030287" cy="274638"/>
              <a:chOff x="1895" y="3931"/>
              <a:chExt cx="649" cy="173"/>
            </a:xfrm>
          </p:grpSpPr>
          <p:sp>
            <p:nvSpPr>
              <p:cNvPr id="376" name="Rectangle 76">
                <a:extLst>
                  <a:ext uri="{FF2B5EF4-FFF2-40B4-BE49-F238E27FC236}">
                    <a16:creationId xmlns:a16="http://schemas.microsoft.com/office/drawing/2014/main" id="{44D312F6-1BAF-6745-9666-7EDB183FBC35}"/>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7" name="Text Box 77">
                <a:extLst>
                  <a:ext uri="{FF2B5EF4-FFF2-40B4-BE49-F238E27FC236}">
                    <a16:creationId xmlns:a16="http://schemas.microsoft.com/office/drawing/2014/main" id="{FA389E1B-1FC9-174D-BE78-CB7863805F45}"/>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6" name="Group 78">
              <a:extLst>
                <a:ext uri="{FF2B5EF4-FFF2-40B4-BE49-F238E27FC236}">
                  <a16:creationId xmlns:a16="http://schemas.microsoft.com/office/drawing/2014/main" id="{65618DE4-E600-5F43-BF4D-D218CB02771B}"/>
                </a:ext>
              </a:extLst>
            </p:cNvPr>
            <p:cNvGrpSpPr>
              <a:grpSpLocks/>
            </p:cNvGrpSpPr>
            <p:nvPr/>
          </p:nvGrpSpPr>
          <p:grpSpPr bwMode="auto">
            <a:xfrm>
              <a:off x="6954207" y="1595892"/>
              <a:ext cx="1030287" cy="274638"/>
              <a:chOff x="1895" y="3931"/>
              <a:chExt cx="649" cy="173"/>
            </a:xfrm>
          </p:grpSpPr>
          <p:sp>
            <p:nvSpPr>
              <p:cNvPr id="374" name="Rectangle 79">
                <a:extLst>
                  <a:ext uri="{FF2B5EF4-FFF2-40B4-BE49-F238E27FC236}">
                    <a16:creationId xmlns:a16="http://schemas.microsoft.com/office/drawing/2014/main" id="{FCDE5993-57F4-FD43-820D-D54B24299DC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5" name="Text Box 80">
                <a:extLst>
                  <a:ext uri="{FF2B5EF4-FFF2-40B4-BE49-F238E27FC236}">
                    <a16:creationId xmlns:a16="http://schemas.microsoft.com/office/drawing/2014/main" id="{C513FF21-ED92-9444-9E53-0248290D9A6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47" name="Line 81">
              <a:extLst>
                <a:ext uri="{FF2B5EF4-FFF2-40B4-BE49-F238E27FC236}">
                  <a16:creationId xmlns:a16="http://schemas.microsoft.com/office/drawing/2014/main" id="{4DF4A6D3-1388-4140-80DA-D3AA398FEB45}"/>
                </a:ext>
              </a:extLst>
            </p:cNvPr>
            <p:cNvSpPr>
              <a:spLocks noChangeShapeType="1"/>
            </p:cNvSpPr>
            <p:nvPr/>
          </p:nvSpPr>
          <p:spPr bwMode="auto">
            <a:xfrm>
              <a:off x="7944807" y="1195842"/>
              <a:ext cx="1827212" cy="2381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8" name="Line 82">
              <a:extLst>
                <a:ext uri="{FF2B5EF4-FFF2-40B4-BE49-F238E27FC236}">
                  <a16:creationId xmlns:a16="http://schemas.microsoft.com/office/drawing/2014/main" id="{9F5B609B-A64B-AB46-BE65-3CC9EBB14A16}"/>
                </a:ext>
              </a:extLst>
            </p:cNvPr>
            <p:cNvSpPr>
              <a:spLocks noChangeShapeType="1"/>
            </p:cNvSpPr>
            <p:nvPr/>
          </p:nvSpPr>
          <p:spPr bwMode="auto">
            <a:xfrm>
              <a:off x="7974970" y="1481592"/>
              <a:ext cx="1808162" cy="22860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9" name="Line 83">
              <a:extLst>
                <a:ext uri="{FF2B5EF4-FFF2-40B4-BE49-F238E27FC236}">
                  <a16:creationId xmlns:a16="http://schemas.microsoft.com/office/drawing/2014/main" id="{27722A74-5DAE-0946-97DB-8A82FE5984E8}"/>
                </a:ext>
              </a:extLst>
            </p:cNvPr>
            <p:cNvSpPr>
              <a:spLocks noChangeShapeType="1"/>
            </p:cNvSpPr>
            <p:nvPr/>
          </p:nvSpPr>
          <p:spPr bwMode="auto">
            <a:xfrm>
              <a:off x="8005132" y="1767342"/>
              <a:ext cx="1784350" cy="20955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0" name="Text Box 84">
              <a:extLst>
                <a:ext uri="{FF2B5EF4-FFF2-40B4-BE49-F238E27FC236}">
                  <a16:creationId xmlns:a16="http://schemas.microsoft.com/office/drawing/2014/main" id="{CE71F8A0-0A9C-4C4E-A305-C82195C44AEE}"/>
                </a:ext>
              </a:extLst>
            </p:cNvPr>
            <p:cNvSpPr txBox="1">
              <a:spLocks noChangeArrowheads="1"/>
            </p:cNvSpPr>
            <p:nvPr/>
          </p:nvSpPr>
          <p:spPr bwMode="auto">
            <a:xfrm>
              <a:off x="7990845" y="98152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1" name="Text Box 85">
              <a:extLst>
                <a:ext uri="{FF2B5EF4-FFF2-40B4-BE49-F238E27FC236}">
                  <a16:creationId xmlns:a16="http://schemas.microsoft.com/office/drawing/2014/main" id="{DBA88F99-7C3D-A645-A43F-445E459F83BA}"/>
                </a:ext>
              </a:extLst>
            </p:cNvPr>
            <p:cNvSpPr txBox="1">
              <a:spLocks noChangeArrowheads="1"/>
            </p:cNvSpPr>
            <p:nvPr/>
          </p:nvSpPr>
          <p:spPr bwMode="auto">
            <a:xfrm>
              <a:off x="8054345" y="126727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pkt1</a:t>
              </a:r>
            </a:p>
          </p:txBody>
        </p:sp>
        <p:sp>
          <p:nvSpPr>
            <p:cNvPr id="352" name="Text Box 86">
              <a:extLst>
                <a:ext uri="{FF2B5EF4-FFF2-40B4-BE49-F238E27FC236}">
                  <a16:creationId xmlns:a16="http://schemas.microsoft.com/office/drawing/2014/main" id="{E00B6B45-404A-1D4B-88E9-28B3280E8158}"/>
                </a:ext>
              </a:extLst>
            </p:cNvPr>
            <p:cNvSpPr txBox="1">
              <a:spLocks noChangeArrowheads="1"/>
            </p:cNvSpPr>
            <p:nvPr/>
          </p:nvSpPr>
          <p:spPr bwMode="auto">
            <a:xfrm>
              <a:off x="8051170" y="155302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sp>
          <p:nvSpPr>
            <p:cNvPr id="353" name="Rectangle 88">
              <a:extLst>
                <a:ext uri="{FF2B5EF4-FFF2-40B4-BE49-F238E27FC236}">
                  <a16:creationId xmlns:a16="http://schemas.microsoft.com/office/drawing/2014/main" id="{00D5F247-083B-9D41-8B0F-F0142DCC3FC2}"/>
                </a:ext>
              </a:extLst>
            </p:cNvPr>
            <p:cNvSpPr>
              <a:spLocks noChangeArrowheads="1"/>
            </p:cNvSpPr>
            <p:nvPr/>
          </p:nvSpPr>
          <p:spPr bwMode="auto">
            <a:xfrm>
              <a:off x="7270120" y="2369004"/>
              <a:ext cx="401637" cy="188913"/>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4" name="Text Box 89">
              <a:extLst>
                <a:ext uri="{FF2B5EF4-FFF2-40B4-BE49-F238E27FC236}">
                  <a16:creationId xmlns:a16="http://schemas.microsoft.com/office/drawing/2014/main" id="{C8788A25-6EDB-1448-BC16-FF3C92668B77}"/>
                </a:ext>
              </a:extLst>
            </p:cNvPr>
            <p:cNvSpPr txBox="1">
              <a:spLocks noChangeArrowheads="1"/>
            </p:cNvSpPr>
            <p:nvPr/>
          </p:nvSpPr>
          <p:spPr bwMode="auto">
            <a:xfrm>
              <a:off x="6957382" y="2322967"/>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55" name="Line 90">
              <a:extLst>
                <a:ext uri="{FF2B5EF4-FFF2-40B4-BE49-F238E27FC236}">
                  <a16:creationId xmlns:a16="http://schemas.microsoft.com/office/drawing/2014/main" id="{DF246AA7-F9CB-F242-9DA2-F15BE67FC101}"/>
                </a:ext>
              </a:extLst>
            </p:cNvPr>
            <p:cNvSpPr>
              <a:spLocks noChangeShapeType="1"/>
            </p:cNvSpPr>
            <p:nvPr/>
          </p:nvSpPr>
          <p:spPr bwMode="auto">
            <a:xfrm>
              <a:off x="7976557" y="2494417"/>
              <a:ext cx="1784350" cy="22383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6" name="Text Box 91">
              <a:extLst>
                <a:ext uri="{FF2B5EF4-FFF2-40B4-BE49-F238E27FC236}">
                  <a16:creationId xmlns:a16="http://schemas.microsoft.com/office/drawing/2014/main" id="{73C28AE9-7587-A847-8F64-35A78283A650}"/>
                </a:ext>
              </a:extLst>
            </p:cNvPr>
            <p:cNvSpPr txBox="1">
              <a:spLocks noChangeArrowheads="1"/>
            </p:cNvSpPr>
            <p:nvPr/>
          </p:nvSpPr>
          <p:spPr bwMode="auto">
            <a:xfrm>
              <a:off x="8079745" y="2502354"/>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7" name="Rectangle 95">
              <a:extLst>
                <a:ext uri="{FF2B5EF4-FFF2-40B4-BE49-F238E27FC236}">
                  <a16:creationId xmlns:a16="http://schemas.microsoft.com/office/drawing/2014/main" id="{755DB6B7-F467-9247-B083-632289FD957E}"/>
                </a:ext>
              </a:extLst>
            </p:cNvPr>
            <p:cNvSpPr>
              <a:spLocks noChangeArrowheads="1"/>
            </p:cNvSpPr>
            <p:nvPr/>
          </p:nvSpPr>
          <p:spPr bwMode="auto">
            <a:xfrm>
              <a:off x="9976807" y="1359354"/>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8" name="Text Box 96">
              <a:extLst>
                <a:ext uri="{FF2B5EF4-FFF2-40B4-BE49-F238E27FC236}">
                  <a16:creationId xmlns:a16="http://schemas.microsoft.com/office/drawing/2014/main" id="{A97EABBF-ADD6-1D49-B7F4-AAB3EB89B98B}"/>
                </a:ext>
              </a:extLst>
            </p:cNvPr>
            <p:cNvSpPr txBox="1">
              <a:spLocks noChangeArrowheads="1"/>
            </p:cNvSpPr>
            <p:nvPr/>
          </p:nvSpPr>
          <p:spPr bwMode="auto">
            <a:xfrm>
              <a:off x="9787895" y="1310142"/>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59" name="Rectangle 97">
              <a:extLst>
                <a:ext uri="{FF2B5EF4-FFF2-40B4-BE49-F238E27FC236}">
                  <a16:creationId xmlns:a16="http://schemas.microsoft.com/office/drawing/2014/main" id="{3EE66D50-BD61-0E4A-9CF7-EF712D184D6F}"/>
                </a:ext>
              </a:extLst>
            </p:cNvPr>
            <p:cNvSpPr>
              <a:spLocks noChangeArrowheads="1"/>
            </p:cNvSpPr>
            <p:nvPr/>
          </p:nvSpPr>
          <p:spPr bwMode="auto">
            <a:xfrm>
              <a:off x="10097457" y="1630817"/>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0" name="Text Box 98">
              <a:extLst>
                <a:ext uri="{FF2B5EF4-FFF2-40B4-BE49-F238E27FC236}">
                  <a16:creationId xmlns:a16="http://schemas.microsoft.com/office/drawing/2014/main" id="{0FDF5234-E7F1-9D4F-9A97-BD478EC2E7A0}"/>
                </a:ext>
              </a:extLst>
            </p:cNvPr>
            <p:cNvSpPr txBox="1">
              <a:spLocks noChangeArrowheads="1"/>
            </p:cNvSpPr>
            <p:nvPr/>
          </p:nvSpPr>
          <p:spPr bwMode="auto">
            <a:xfrm>
              <a:off x="9784720" y="1584779"/>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61" name="Rectangle 99">
              <a:extLst>
                <a:ext uri="{FF2B5EF4-FFF2-40B4-BE49-F238E27FC236}">
                  <a16:creationId xmlns:a16="http://schemas.microsoft.com/office/drawing/2014/main" id="{633C63B7-2909-DE47-BCBB-44897C7F89C1}"/>
                </a:ext>
              </a:extLst>
            </p:cNvPr>
            <p:cNvSpPr>
              <a:spLocks noChangeArrowheads="1"/>
            </p:cNvSpPr>
            <p:nvPr/>
          </p:nvSpPr>
          <p:spPr bwMode="auto">
            <a:xfrm>
              <a:off x="10227632" y="1894342"/>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2" name="Text Box 100">
              <a:extLst>
                <a:ext uri="{FF2B5EF4-FFF2-40B4-BE49-F238E27FC236}">
                  <a16:creationId xmlns:a16="http://schemas.microsoft.com/office/drawing/2014/main" id="{2812F92C-4236-294E-A0BC-A2833FCDBAFF}"/>
                </a:ext>
              </a:extLst>
            </p:cNvPr>
            <p:cNvSpPr txBox="1">
              <a:spLocks noChangeArrowheads="1"/>
            </p:cNvSpPr>
            <p:nvPr/>
          </p:nvSpPr>
          <p:spPr bwMode="auto">
            <a:xfrm>
              <a:off x="9787895" y="1848304"/>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63" name="Line 103">
              <a:extLst>
                <a:ext uri="{FF2B5EF4-FFF2-40B4-BE49-F238E27FC236}">
                  <a16:creationId xmlns:a16="http://schemas.microsoft.com/office/drawing/2014/main" id="{FF2E4D9A-CE76-6945-ACCA-B13DC7285B4E}"/>
                </a:ext>
              </a:extLst>
            </p:cNvPr>
            <p:cNvSpPr>
              <a:spLocks noChangeShapeType="1"/>
            </p:cNvSpPr>
            <p:nvPr/>
          </p:nvSpPr>
          <p:spPr bwMode="auto">
            <a:xfrm flipH="1">
              <a:off x="7933695" y="1441904"/>
              <a:ext cx="1784350" cy="735013"/>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4" name="Line 104">
              <a:extLst>
                <a:ext uri="{FF2B5EF4-FFF2-40B4-BE49-F238E27FC236}">
                  <a16:creationId xmlns:a16="http://schemas.microsoft.com/office/drawing/2014/main" id="{E53CC8D8-A794-8545-9766-CEE36A668234}"/>
                </a:ext>
              </a:extLst>
            </p:cNvPr>
            <p:cNvSpPr>
              <a:spLocks noChangeShapeType="1"/>
            </p:cNvSpPr>
            <p:nvPr/>
          </p:nvSpPr>
          <p:spPr bwMode="auto">
            <a:xfrm flipH="1">
              <a:off x="7952745" y="1705429"/>
              <a:ext cx="1795462" cy="7588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5" name="Text Box 107">
              <a:extLst>
                <a:ext uri="{FF2B5EF4-FFF2-40B4-BE49-F238E27FC236}">
                  <a16:creationId xmlns:a16="http://schemas.microsoft.com/office/drawing/2014/main" id="{5E4F7443-630A-5146-8A13-69B6B28A368A}"/>
                </a:ext>
              </a:extLst>
            </p:cNvPr>
            <p:cNvSpPr txBox="1">
              <a:spLocks noChangeArrowheads="1"/>
            </p:cNvSpPr>
            <p:nvPr/>
          </p:nvSpPr>
          <p:spPr bwMode="auto">
            <a:xfrm>
              <a:off x="8452807" y="2132467"/>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ahoma" charset="0"/>
                  <a:ea typeface="ＭＳ Ｐゴシック" charset="0"/>
                  <a:cs typeface="+mn-cs"/>
                </a:rPr>
                <a:t>X</a:t>
              </a:r>
            </a:p>
          </p:txBody>
        </p:sp>
        <p:sp>
          <p:nvSpPr>
            <p:cNvPr id="366" name="Text Box 109">
              <a:extLst>
                <a:ext uri="{FF2B5EF4-FFF2-40B4-BE49-F238E27FC236}">
                  <a16:creationId xmlns:a16="http://schemas.microsoft.com/office/drawing/2014/main" id="{E330918C-EA47-534F-84FC-AD449C2962CA}"/>
                </a:ext>
              </a:extLst>
            </p:cNvPr>
            <p:cNvSpPr txBox="1">
              <a:spLocks noChangeArrowheads="1"/>
            </p:cNvSpPr>
            <p:nvPr/>
          </p:nvSpPr>
          <p:spPr bwMode="auto">
            <a:xfrm>
              <a:off x="9748207" y="2538867"/>
              <a:ext cx="1447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with seq number 0</a:t>
              </a:r>
            </a:p>
          </p:txBody>
        </p:sp>
        <p:sp>
          <p:nvSpPr>
            <p:cNvPr id="367" name="Line 110">
              <a:extLst>
                <a:ext uri="{FF2B5EF4-FFF2-40B4-BE49-F238E27FC236}">
                  <a16:creationId xmlns:a16="http://schemas.microsoft.com/office/drawing/2014/main" id="{5A45AB60-B76D-5A4B-8C09-04809F1E5ECB}"/>
                </a:ext>
              </a:extLst>
            </p:cNvPr>
            <p:cNvSpPr>
              <a:spLocks noChangeShapeType="1"/>
            </p:cNvSpPr>
            <p:nvPr/>
          </p:nvSpPr>
          <p:spPr bwMode="auto">
            <a:xfrm flipH="1" flipV="1">
              <a:off x="10441945" y="2145167"/>
              <a:ext cx="0" cy="446088"/>
            </a:xfrm>
            <a:prstGeom prst="line">
              <a:avLst/>
            </a:prstGeom>
            <a:noFill/>
            <a:ln w="952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8" name="Line 112">
              <a:extLst>
                <a:ext uri="{FF2B5EF4-FFF2-40B4-BE49-F238E27FC236}">
                  <a16:creationId xmlns:a16="http://schemas.microsoft.com/office/drawing/2014/main" id="{F4CED333-2B29-5047-9987-7FF2B5DE2F0B}"/>
                </a:ext>
              </a:extLst>
            </p:cNvPr>
            <p:cNvSpPr>
              <a:spLocks noChangeShapeType="1"/>
            </p:cNvSpPr>
            <p:nvPr/>
          </p:nvSpPr>
          <p:spPr bwMode="auto">
            <a:xfrm>
              <a:off x="7968620" y="2203904"/>
              <a:ext cx="590550" cy="730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69" name="Group 115">
              <a:extLst>
                <a:ext uri="{FF2B5EF4-FFF2-40B4-BE49-F238E27FC236}">
                  <a16:creationId xmlns:a16="http://schemas.microsoft.com/office/drawing/2014/main" id="{6E7A2A89-7268-A649-8EAD-C55997BFA90B}"/>
                </a:ext>
              </a:extLst>
            </p:cNvPr>
            <p:cNvGrpSpPr>
              <a:grpSpLocks/>
            </p:cNvGrpSpPr>
            <p:nvPr/>
          </p:nvGrpSpPr>
          <p:grpSpPr bwMode="auto">
            <a:xfrm>
              <a:off x="6957382" y="2037217"/>
              <a:ext cx="1030287" cy="274638"/>
              <a:chOff x="2667" y="3750"/>
              <a:chExt cx="649" cy="173"/>
            </a:xfrm>
          </p:grpSpPr>
          <p:sp>
            <p:nvSpPr>
              <p:cNvPr id="372" name="Rectangle 113">
                <a:extLst>
                  <a:ext uri="{FF2B5EF4-FFF2-40B4-BE49-F238E27FC236}">
                    <a16:creationId xmlns:a16="http://schemas.microsoft.com/office/drawing/2014/main" id="{FB4CA816-07E8-3E4B-B5D4-D5F338142B0D}"/>
                  </a:ext>
                </a:extLst>
              </p:cNvPr>
              <p:cNvSpPr>
                <a:spLocks noChangeArrowheads="1"/>
              </p:cNvSpPr>
              <p:nvPr/>
            </p:nvSpPr>
            <p:spPr bwMode="auto">
              <a:xfrm>
                <a:off x="2786" y="3779"/>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3" name="Text Box 114">
                <a:extLst>
                  <a:ext uri="{FF2B5EF4-FFF2-40B4-BE49-F238E27FC236}">
                    <a16:creationId xmlns:a16="http://schemas.microsoft.com/office/drawing/2014/main" id="{20879E2F-191F-0042-ABAE-F525B0ADB605}"/>
                  </a:ext>
                </a:extLst>
              </p:cNvPr>
              <p:cNvSpPr txBox="1">
                <a:spLocks noChangeArrowheads="1"/>
              </p:cNvSpPr>
              <p:nvPr/>
            </p:nvSpPr>
            <p:spPr bwMode="auto">
              <a:xfrm>
                <a:off x="2667" y="3750"/>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a:t>
                </a:r>
              </a:p>
            </p:txBody>
          </p:sp>
        </p:grpSp>
        <p:sp>
          <p:nvSpPr>
            <p:cNvPr id="370" name="Text Box 116">
              <a:extLst>
                <a:ext uri="{FF2B5EF4-FFF2-40B4-BE49-F238E27FC236}">
                  <a16:creationId xmlns:a16="http://schemas.microsoft.com/office/drawing/2014/main" id="{8FD7E63C-BA27-9E4C-A8A6-56DE67BAD176}"/>
                </a:ext>
              </a:extLst>
            </p:cNvPr>
            <p:cNvSpPr txBox="1">
              <a:spLocks noChangeArrowheads="1"/>
            </p:cNvSpPr>
            <p:nvPr/>
          </p:nvSpPr>
          <p:spPr bwMode="auto">
            <a:xfrm>
              <a:off x="8082920" y="1988004"/>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pkt3</a:t>
              </a:r>
            </a:p>
          </p:txBody>
        </p:sp>
      </p:grpSp>
      <p:sp>
        <p:nvSpPr>
          <p:cNvPr id="371" name="Text Box 119">
            <a:extLst>
              <a:ext uri="{FF2B5EF4-FFF2-40B4-BE49-F238E27FC236}">
                <a16:creationId xmlns:a16="http://schemas.microsoft.com/office/drawing/2014/main" id="{5339E393-341F-2B4B-9A2F-912F5CB023FE}"/>
              </a:ext>
            </a:extLst>
          </p:cNvPr>
          <p:cNvSpPr txBox="1">
            <a:spLocks noChangeArrowheads="1"/>
          </p:cNvSpPr>
          <p:nvPr/>
        </p:nvSpPr>
        <p:spPr bwMode="auto">
          <a:xfrm>
            <a:off x="6800220" y="2834142"/>
            <a:ext cx="1879361"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(a) no problem</a:t>
            </a:r>
          </a:p>
        </p:txBody>
      </p:sp>
      <p:sp>
        <p:nvSpPr>
          <p:cNvPr id="70" name="Rectangle 3">
            <a:extLst>
              <a:ext uri="{FF2B5EF4-FFF2-40B4-BE49-F238E27FC236}">
                <a16:creationId xmlns:a16="http://schemas.microsoft.com/office/drawing/2014/main" id="{A8BECC0D-D119-A543-A313-AE46EF8BD57C}"/>
              </a:ext>
            </a:extLst>
          </p:cNvPr>
          <p:cNvSpPr txBox="1">
            <a:spLocks noChangeArrowheads="1"/>
          </p:cNvSpPr>
          <p:nvPr/>
        </p:nvSpPr>
        <p:spPr>
          <a:xfrm>
            <a:off x="794654" y="1899557"/>
            <a:ext cx="5517245" cy="132624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example: </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0, 1, 2, 3 </a:t>
            </a:r>
            <a:r>
              <a:rPr kumimoji="0" lang="en-US" altLang="ja-JP"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(base 4 counting)</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window size=3</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10" name="Group 9">
            <a:extLst>
              <a:ext uri="{FF2B5EF4-FFF2-40B4-BE49-F238E27FC236}">
                <a16:creationId xmlns:a16="http://schemas.microsoft.com/office/drawing/2014/main" id="{736268CD-290F-C649-A065-0503FC9197DB}"/>
              </a:ext>
            </a:extLst>
          </p:cNvPr>
          <p:cNvGrpSpPr/>
          <p:nvPr/>
        </p:nvGrpSpPr>
        <p:grpSpPr>
          <a:xfrm>
            <a:off x="6612895" y="981529"/>
            <a:ext cx="2769497" cy="5564188"/>
            <a:chOff x="6612895" y="981529"/>
            <a:chExt cx="2769497" cy="5564188"/>
          </a:xfrm>
        </p:grpSpPr>
        <p:sp>
          <p:nvSpPr>
            <p:cNvPr id="9" name="Rectangle 8">
              <a:extLst>
                <a:ext uri="{FF2B5EF4-FFF2-40B4-BE49-F238E27FC236}">
                  <a16:creationId xmlns:a16="http://schemas.microsoft.com/office/drawing/2014/main" id="{82772DC8-1267-2046-8CD5-6C8C299A5017}"/>
                </a:ext>
              </a:extLst>
            </p:cNvPr>
            <p:cNvSpPr/>
            <p:nvPr/>
          </p:nvSpPr>
          <p:spPr>
            <a:xfrm>
              <a:off x="6612895" y="981529"/>
              <a:ext cx="2463800" cy="5564188"/>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81" name="Group 122">
              <a:extLst>
                <a:ext uri="{FF2B5EF4-FFF2-40B4-BE49-F238E27FC236}">
                  <a16:creationId xmlns:a16="http://schemas.microsoft.com/office/drawing/2014/main" id="{E039FCAB-16C2-CA40-8F03-2E2D41DC3CF7}"/>
                </a:ext>
              </a:extLst>
            </p:cNvPr>
            <p:cNvGrpSpPr>
              <a:grpSpLocks/>
            </p:cNvGrpSpPr>
            <p:nvPr/>
          </p:nvGrpSpPr>
          <p:grpSpPr bwMode="auto">
            <a:xfrm>
              <a:off x="8864867" y="1005799"/>
              <a:ext cx="517525" cy="5278437"/>
              <a:chOff x="3821" y="550"/>
              <a:chExt cx="326" cy="3325"/>
            </a:xfrm>
          </p:grpSpPr>
          <p:pic>
            <p:nvPicPr>
              <p:cNvPr id="382" name="Picture 5" descr="curtain">
                <a:extLst>
                  <a:ext uri="{FF2B5EF4-FFF2-40B4-BE49-F238E27FC236}">
                    <a16:creationId xmlns:a16="http://schemas.microsoft.com/office/drawing/2014/main" id="{403F5413-B503-FE4C-9AC1-492926543E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3" y="550"/>
                <a:ext cx="284" cy="1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3" name="Picture 111" descr="curtain">
                <a:extLst>
                  <a:ext uri="{FF2B5EF4-FFF2-40B4-BE49-F238E27FC236}">
                    <a16:creationId xmlns:a16="http://schemas.microsoft.com/office/drawing/2014/main" id="{21203F3F-D4DD-E848-A9F4-2C0EDDF31B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1" y="2564"/>
                <a:ext cx="326" cy="1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80" name="Text Box 121">
            <a:extLst>
              <a:ext uri="{FF2B5EF4-FFF2-40B4-BE49-F238E27FC236}">
                <a16:creationId xmlns:a16="http://schemas.microsoft.com/office/drawing/2014/main" id="{1D394A1F-BD9E-ED47-964B-579F38672782}"/>
              </a:ext>
            </a:extLst>
          </p:cNvPr>
          <p:cNvSpPr txBox="1">
            <a:spLocks noChangeArrowheads="1"/>
          </p:cNvSpPr>
          <p:nvPr/>
        </p:nvSpPr>
        <p:spPr bwMode="auto">
          <a:xfrm>
            <a:off x="6811617" y="2358260"/>
            <a:ext cx="2107096" cy="2308324"/>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can’</a:t>
            </a:r>
            <a:r>
              <a:rPr kumimoji="0" lang="en-US" altLang="ja-JP"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see sender side</a:t>
            </a:r>
          </a:p>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behavior identical in both cases!</a:t>
            </a:r>
          </a:p>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something’</a:t>
            </a:r>
            <a:r>
              <a:rPr kumimoji="0" lang="en-US" altLang="ja-JP"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 (very) wrong!</a:t>
            </a:r>
            <a:endPar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89" name="Slide Number Placeholder 2">
            <a:extLst>
              <a:ext uri="{FF2B5EF4-FFF2-40B4-BE49-F238E27FC236}">
                <a16:creationId xmlns:a16="http://schemas.microsoft.com/office/drawing/2014/main" id="{0AA9808B-5BBB-4C4D-B51B-5BA930FBB93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15</a:t>
            </a:fld>
            <a:endParaRPr lang="en-US" dirty="0"/>
          </a:p>
        </p:txBody>
      </p:sp>
    </p:spTree>
    <p:extLst>
      <p:ext uri="{BB962C8B-B14F-4D97-AF65-F5344CB8AC3E}">
        <p14:creationId xmlns:p14="http://schemas.microsoft.com/office/powerpoint/2010/main" val="226146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80"/>
                                        </p:tgtEl>
                                        <p:attrNameLst>
                                          <p:attrName>style.visibility</p:attrName>
                                        </p:attrNameLst>
                                      </p:cBhvr>
                                      <p:to>
                                        <p:strVal val="visible"/>
                                      </p:to>
                                    </p:set>
                                    <p:animEffect transition="in" filter="dissolve">
                                      <p:cBhvr>
                                        <p:cTn id="7" dur="500"/>
                                        <p:tgtEl>
                                          <p:spTgt spid="380"/>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dissolve">
                                      <p:cBhvr>
                                        <p:cTn id="15"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38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pPr marL="130175" indent="0">
              <a:buNone/>
            </a:pPr>
            <a:r>
              <a:rPr lang="en-US" dirty="0">
                <a:hlinkClick r:id="rId2"/>
              </a:rPr>
              <a:t>https://www2.tkn.tu-berlin.de/teaching/rn/animations/gbn_sr/</a:t>
            </a:r>
            <a:endParaRPr lang="en-US" dirty="0"/>
          </a:p>
          <a:p>
            <a:pPr marL="130175" indent="0">
              <a:buNone/>
            </a:pPr>
            <a:endParaRPr lang="en-US" dirty="0"/>
          </a:p>
        </p:txBody>
      </p:sp>
      <p:sp>
        <p:nvSpPr>
          <p:cNvPr id="6" name="Title 5"/>
          <p:cNvSpPr>
            <a:spLocks noGrp="1"/>
          </p:cNvSpPr>
          <p:nvPr>
            <p:ph type="title"/>
          </p:nvPr>
        </p:nvSpPr>
        <p:spPr/>
        <p:txBody>
          <a:bodyPr/>
          <a:lstStyle/>
          <a:p>
            <a:r>
              <a:rPr lang="en-US" dirty="0"/>
              <a:t>Animation Link</a:t>
            </a:r>
          </a:p>
        </p:txBody>
      </p:sp>
      <p:sp>
        <p:nvSpPr>
          <p:cNvPr id="5" name="Slide Number Placeholder 4"/>
          <p:cNvSpPr>
            <a:spLocks noGrp="1"/>
          </p:cNvSpPr>
          <p:nvPr>
            <p:ph type="sldNum" sz="quarter" idx="4"/>
          </p:nvPr>
        </p:nvSpPr>
        <p:spPr/>
        <p:txBody>
          <a:bodyPr/>
          <a:lstStyle/>
          <a:p>
            <a:r>
              <a:rPr lang="en-US"/>
              <a:t>Transport Layer: 3-</a:t>
            </a:r>
            <a:fld id="{C4204591-24BD-A542-B9D5-F8D8A88D2FEE}" type="slidenum">
              <a:rPr lang="en-US" smtClean="0"/>
              <a:pPr/>
              <a:t>16</a:t>
            </a:fld>
            <a:endParaRPr lang="en-US" dirty="0"/>
          </a:p>
        </p:txBody>
      </p:sp>
    </p:spTree>
    <p:extLst>
      <p:ext uri="{BB962C8B-B14F-4D97-AF65-F5344CB8AC3E}">
        <p14:creationId xmlns:p14="http://schemas.microsoft.com/office/powerpoint/2010/main" val="1096801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Pipelined Protocol</a:t>
            </a:r>
          </a:p>
          <a:p>
            <a:pPr lvl="1"/>
            <a:r>
              <a:rPr lang="en-US" dirty="0"/>
              <a:t>GBN</a:t>
            </a:r>
          </a:p>
          <a:p>
            <a:pPr lvl="1"/>
            <a:r>
              <a:rPr lang="en-US"/>
              <a:t>SR</a:t>
            </a:r>
            <a:endParaRPr lang="en-US" dirty="0"/>
          </a:p>
        </p:txBody>
      </p:sp>
      <p:sp>
        <p:nvSpPr>
          <p:cNvPr id="3" name="Title 2"/>
          <p:cNvSpPr>
            <a:spLocks noGrp="1"/>
          </p:cNvSpPr>
          <p:nvPr>
            <p:ph type="title"/>
          </p:nvPr>
        </p:nvSpPr>
        <p:spPr/>
        <p:txBody>
          <a:bodyPr/>
          <a:lstStyle/>
          <a:p>
            <a:r>
              <a:rPr lang="en-US" dirty="0"/>
              <a:t>Review</a:t>
            </a:r>
          </a:p>
        </p:txBody>
      </p:sp>
      <p:sp>
        <p:nvSpPr>
          <p:cNvPr id="4" name="Slide Number Placeholder 3"/>
          <p:cNvSpPr>
            <a:spLocks noGrp="1"/>
          </p:cNvSpPr>
          <p:nvPr>
            <p:ph type="sldNum" sz="quarter" idx="4"/>
          </p:nvPr>
        </p:nvSpPr>
        <p:spPr/>
        <p:txBody>
          <a:bodyPr/>
          <a:lstStyle/>
          <a:p>
            <a:r>
              <a:rPr lang="en-US"/>
              <a:t>Transport Layer: 3-</a:t>
            </a:r>
            <a:fld id="{C4204591-24BD-A542-B9D5-F8D8A88D2FEE}" type="slidenum">
              <a:rPr lang="en-US" smtClean="0"/>
              <a:pPr/>
              <a:t>17</a:t>
            </a:fld>
            <a:endParaRPr lang="en-US" dirty="0"/>
          </a:p>
        </p:txBody>
      </p:sp>
    </p:spTree>
    <p:extLst>
      <p:ext uri="{BB962C8B-B14F-4D97-AF65-F5344CB8AC3E}">
        <p14:creationId xmlns:p14="http://schemas.microsoft.com/office/powerpoint/2010/main" val="3494911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er 39"/>
          <p:cNvGrpSpPr>
            <a:grpSpLocks/>
          </p:cNvGrpSpPr>
          <p:nvPr/>
        </p:nvGrpSpPr>
        <p:grpSpPr bwMode="auto">
          <a:xfrm>
            <a:off x="1905001" y="4724401"/>
            <a:ext cx="2816225" cy="1692275"/>
            <a:chOff x="1712215" y="1371595"/>
            <a:chExt cx="1424685" cy="1691990"/>
          </a:xfrm>
        </p:grpSpPr>
        <p:sp>
          <p:nvSpPr>
            <p:cNvPr id="18472" name="Line 36"/>
            <p:cNvSpPr>
              <a:spLocks noChangeShapeType="1"/>
            </p:cNvSpPr>
            <p:nvPr/>
          </p:nvSpPr>
          <p:spPr bwMode="auto">
            <a:xfrm>
              <a:off x="3124200" y="1371595"/>
              <a:ext cx="12700" cy="169199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3" name="Text Box 31"/>
            <p:cNvSpPr txBox="1">
              <a:spLocks noChangeArrowheads="1"/>
            </p:cNvSpPr>
            <p:nvPr/>
          </p:nvSpPr>
          <p:spPr bwMode="auto">
            <a:xfrm>
              <a:off x="1712215" y="1447800"/>
              <a:ext cx="141226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solidFill>
                    <a:srgbClr val="CC0000"/>
                  </a:solidFill>
                  <a:latin typeface="Tahoma" panose="020B0604030504040204" pitchFamily="34" charset="0"/>
                </a:rPr>
                <a:t>Cumulative ACKs, receiver only </a:t>
              </a:r>
            </a:p>
            <a:p>
              <a:pPr eaLnBrk="1" hangingPunct="1">
                <a:spcBef>
                  <a:spcPct val="0"/>
                </a:spcBef>
                <a:buFontTx/>
                <a:buNone/>
              </a:pPr>
              <a:r>
                <a:rPr lang="en-US" altLang="en-US" sz="1400">
                  <a:solidFill>
                    <a:srgbClr val="CC0000"/>
                  </a:solidFill>
                  <a:latin typeface="Tahoma" panose="020B0604030504040204" pitchFamily="34" charset="0"/>
                </a:rPr>
                <a:t>ACKs when packets delivered </a:t>
              </a:r>
            </a:p>
            <a:p>
              <a:pPr eaLnBrk="1" hangingPunct="1">
                <a:spcBef>
                  <a:spcPct val="0"/>
                </a:spcBef>
                <a:buFontTx/>
                <a:buNone/>
              </a:pPr>
              <a:r>
                <a:rPr lang="en-US" altLang="en-US" sz="1400">
                  <a:solidFill>
                    <a:srgbClr val="CC0000"/>
                  </a:solidFill>
                  <a:latin typeface="Tahoma" panose="020B0604030504040204" pitchFamily="34" charset="0"/>
                </a:rPr>
                <a:t>in order. </a:t>
              </a:r>
            </a:p>
            <a:p>
              <a:pPr eaLnBrk="1" hangingPunct="1">
                <a:spcBef>
                  <a:spcPct val="0"/>
                </a:spcBef>
                <a:buFontTx/>
                <a:buNone/>
              </a:pPr>
              <a:endParaRPr lang="en-US" altLang="en-US" sz="1400">
                <a:solidFill>
                  <a:srgbClr val="CC0000"/>
                </a:solidFill>
                <a:latin typeface="Tahoma" panose="020B0604030504040204" pitchFamily="34" charset="0"/>
              </a:endParaRPr>
            </a:p>
            <a:p>
              <a:pPr eaLnBrk="1" hangingPunct="1">
                <a:spcBef>
                  <a:spcPct val="0"/>
                </a:spcBef>
                <a:buFontTx/>
                <a:buNone/>
              </a:pPr>
              <a:r>
                <a:rPr lang="en-US" altLang="en-US" sz="1400">
                  <a:solidFill>
                    <a:srgbClr val="CC0000"/>
                  </a:solidFill>
                  <a:latin typeface="Tahoma" panose="020B0604030504040204" pitchFamily="34" charset="0"/>
                </a:rPr>
                <a:t>Here we need to update base</a:t>
              </a:r>
            </a:p>
            <a:p>
              <a:pPr eaLnBrk="1" hangingPunct="1">
                <a:spcBef>
                  <a:spcPct val="0"/>
                </a:spcBef>
                <a:buFontTx/>
                <a:buNone/>
              </a:pPr>
              <a:r>
                <a:rPr lang="en-US" altLang="en-US" sz="1400">
                  <a:solidFill>
                    <a:srgbClr val="CC0000"/>
                  </a:solidFill>
                  <a:latin typeface="Tahoma" panose="020B0604030504040204" pitchFamily="34" charset="0"/>
                </a:rPr>
                <a:t>and stop timer if nothing to send</a:t>
              </a:r>
            </a:p>
            <a:p>
              <a:pPr eaLnBrk="1" hangingPunct="1">
                <a:spcBef>
                  <a:spcPct val="0"/>
                </a:spcBef>
                <a:buFontTx/>
                <a:buNone/>
              </a:pPr>
              <a:r>
                <a:rPr lang="en-US" altLang="en-US" sz="1400">
                  <a:solidFill>
                    <a:srgbClr val="CC0000"/>
                  </a:solidFill>
                  <a:latin typeface="Tahoma" panose="020B0604030504040204" pitchFamily="34" charset="0"/>
                </a:rPr>
                <a:t>or restart if some pckts left</a:t>
              </a:r>
            </a:p>
          </p:txBody>
        </p:sp>
      </p:grpSp>
      <p:sp>
        <p:nvSpPr>
          <p:cNvPr id="49156" name="Rectangle 2"/>
          <p:cNvSpPr>
            <a:spLocks noGrp="1" noChangeArrowheads="1"/>
          </p:cNvSpPr>
          <p:nvPr>
            <p:ph type="title"/>
          </p:nvPr>
        </p:nvSpPr>
        <p:spPr>
          <a:xfrm>
            <a:off x="1968500" y="207964"/>
            <a:ext cx="7772400" cy="700087"/>
          </a:xfrm>
        </p:spPr>
        <p:txBody>
          <a:bodyPr/>
          <a:lstStyle/>
          <a:p>
            <a:pPr>
              <a:defRPr/>
            </a:pPr>
            <a:r>
              <a:rPr lang="en-US" dirty="0">
                <a:cs typeface="+mj-cs"/>
              </a:rPr>
              <a:t>GBN: sender extended FSM</a:t>
            </a:r>
          </a:p>
        </p:txBody>
      </p:sp>
      <p:grpSp>
        <p:nvGrpSpPr>
          <p:cNvPr id="18436" name="Group 3"/>
          <p:cNvGrpSpPr>
            <a:grpSpLocks/>
          </p:cNvGrpSpPr>
          <p:nvPr/>
        </p:nvGrpSpPr>
        <p:grpSpPr bwMode="auto">
          <a:xfrm>
            <a:off x="5162550" y="3743326"/>
            <a:ext cx="857250" cy="657225"/>
            <a:chOff x="2004" y="2515"/>
            <a:chExt cx="540" cy="414"/>
          </a:xfrm>
        </p:grpSpPr>
        <p:sp>
          <p:nvSpPr>
            <p:cNvPr id="18470" name="Oval 4"/>
            <p:cNvSpPr>
              <a:spLocks noChangeArrowheads="1"/>
            </p:cNvSpPr>
            <p:nvPr/>
          </p:nvSpPr>
          <p:spPr bwMode="auto">
            <a:xfrm>
              <a:off x="2004" y="2515"/>
              <a:ext cx="420" cy="414"/>
            </a:xfrm>
            <a:prstGeom prst="ellipse">
              <a:avLst/>
            </a:prstGeom>
            <a:solidFill>
              <a:srgbClr val="FFFFFF"/>
            </a:solidFill>
            <a:ln w="19050">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8471" name="Text Box 5"/>
            <p:cNvSpPr txBox="1">
              <a:spLocks noChangeArrowheads="1"/>
            </p:cNvSpPr>
            <p:nvPr/>
          </p:nvSpPr>
          <p:spPr bwMode="auto">
            <a:xfrm>
              <a:off x="2040" y="2611"/>
              <a:ext cx="50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dirty="0"/>
                <a:t>Wait</a:t>
              </a:r>
              <a:endParaRPr lang="en-US" altLang="en-US" sz="1600" dirty="0">
                <a:latin typeface="Times New Roman" panose="02020603050405020304" pitchFamily="18" charset="0"/>
              </a:endParaRPr>
            </a:p>
          </p:txBody>
        </p:sp>
      </p:grpSp>
      <p:sp>
        <p:nvSpPr>
          <p:cNvPr id="18437" name="Line 6"/>
          <p:cNvSpPr>
            <a:spLocks noChangeShapeType="1"/>
          </p:cNvSpPr>
          <p:nvPr/>
        </p:nvSpPr>
        <p:spPr bwMode="auto">
          <a:xfrm>
            <a:off x="3552826" y="2830514"/>
            <a:ext cx="1624013" cy="1069975"/>
          </a:xfrm>
          <a:prstGeom prst="line">
            <a:avLst/>
          </a:prstGeom>
          <a:noFill/>
          <a:ln w="2857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38" name="Text Box 7"/>
          <p:cNvSpPr txBox="1">
            <a:spLocks noChangeArrowheads="1"/>
          </p:cNvSpPr>
          <p:nvPr/>
        </p:nvSpPr>
        <p:spPr bwMode="auto">
          <a:xfrm>
            <a:off x="6275389" y="3810001"/>
            <a:ext cx="2776537"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start_timer</a:t>
            </a:r>
          </a:p>
          <a:p>
            <a:pPr eaLnBrk="1" hangingPunct="1">
              <a:spcBef>
                <a:spcPct val="0"/>
              </a:spcBef>
              <a:buFontTx/>
              <a:buNone/>
            </a:pPr>
            <a:r>
              <a:rPr lang="en-US" altLang="en-US" sz="1400"/>
              <a:t>udt_send(sndpkt[base])</a:t>
            </a:r>
          </a:p>
          <a:p>
            <a:pPr eaLnBrk="1" hangingPunct="1">
              <a:spcBef>
                <a:spcPct val="0"/>
              </a:spcBef>
              <a:buFontTx/>
              <a:buNone/>
            </a:pPr>
            <a:r>
              <a:rPr lang="en-US" altLang="en-US" sz="1400"/>
              <a:t>udt_send(sndpkt[base+1])</a:t>
            </a:r>
          </a:p>
          <a:p>
            <a:pPr eaLnBrk="1" hangingPunct="1">
              <a:spcBef>
                <a:spcPct val="0"/>
              </a:spcBef>
              <a:buFontTx/>
              <a:buNone/>
            </a:pPr>
            <a:r>
              <a:rPr lang="en-US" altLang="en-US" sz="1400"/>
              <a:t>…</a:t>
            </a:r>
          </a:p>
          <a:p>
            <a:pPr eaLnBrk="1" hangingPunct="1">
              <a:spcBef>
                <a:spcPct val="0"/>
              </a:spcBef>
              <a:buFontTx/>
              <a:buNone/>
            </a:pPr>
            <a:r>
              <a:rPr lang="en-US" altLang="en-US" sz="1400"/>
              <a:t>udt_send(sndpkt[nextseqnum-1])</a:t>
            </a:r>
          </a:p>
          <a:p>
            <a:pPr eaLnBrk="1" hangingPunct="1">
              <a:spcBef>
                <a:spcPct val="0"/>
              </a:spcBef>
              <a:buFontTx/>
              <a:buNone/>
            </a:pPr>
            <a:endParaRPr lang="en-US" altLang="en-US" sz="1400">
              <a:latin typeface="Times New Roman" panose="02020603050405020304" pitchFamily="18" charset="0"/>
            </a:endParaRPr>
          </a:p>
        </p:txBody>
      </p:sp>
      <p:sp>
        <p:nvSpPr>
          <p:cNvPr id="18439" name="Text Box 8"/>
          <p:cNvSpPr txBox="1">
            <a:spLocks noChangeArrowheads="1"/>
          </p:cNvSpPr>
          <p:nvPr/>
        </p:nvSpPr>
        <p:spPr bwMode="auto">
          <a:xfrm>
            <a:off x="6297614" y="3575050"/>
            <a:ext cx="11001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timeout</a:t>
            </a:r>
            <a:endParaRPr lang="en-US" altLang="en-US" sz="1400">
              <a:latin typeface="Times New Roman" panose="02020603050405020304" pitchFamily="18" charset="0"/>
            </a:endParaRPr>
          </a:p>
          <a:p>
            <a:pPr eaLnBrk="1" hangingPunct="1">
              <a:spcBef>
                <a:spcPct val="0"/>
              </a:spcBef>
              <a:buFontTx/>
              <a:buNone/>
            </a:pPr>
            <a:endParaRPr lang="en-US" altLang="en-US" sz="1400">
              <a:latin typeface="Times New Roman" panose="02020603050405020304" pitchFamily="18" charset="0"/>
            </a:endParaRPr>
          </a:p>
        </p:txBody>
      </p:sp>
      <p:sp>
        <p:nvSpPr>
          <p:cNvPr id="18440" name="Line 9"/>
          <p:cNvSpPr>
            <a:spLocks noChangeShapeType="1"/>
          </p:cNvSpPr>
          <p:nvPr/>
        </p:nvSpPr>
        <p:spPr bwMode="auto">
          <a:xfrm>
            <a:off x="6381750" y="3851275"/>
            <a:ext cx="16192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1" name="Freeform 10"/>
          <p:cNvSpPr>
            <a:spLocks/>
          </p:cNvSpPr>
          <p:nvPr/>
        </p:nvSpPr>
        <p:spPr bwMode="auto">
          <a:xfrm>
            <a:off x="5884863" y="3498851"/>
            <a:ext cx="393700" cy="1152525"/>
          </a:xfrm>
          <a:custGeom>
            <a:avLst/>
            <a:gdLst>
              <a:gd name="T0" fmla="*/ 2147483647 w 619"/>
              <a:gd name="T1" fmla="*/ 2147483647 h 1815"/>
              <a:gd name="T2" fmla="*/ 0 w 619"/>
              <a:gd name="T3" fmla="*/ 2147483647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442" name="Text Box 11"/>
          <p:cNvSpPr txBox="1">
            <a:spLocks noChangeArrowheads="1"/>
          </p:cNvSpPr>
          <p:nvPr/>
        </p:nvSpPr>
        <p:spPr bwMode="auto">
          <a:xfrm>
            <a:off x="4718051" y="1069976"/>
            <a:ext cx="233362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rdt_send(data)</a:t>
            </a:r>
            <a:r>
              <a:rPr lang="en-US" altLang="en-US" sz="1000"/>
              <a:t> </a:t>
            </a:r>
            <a:endParaRPr lang="en-US" altLang="en-US" sz="2400">
              <a:latin typeface="Times New Roman" panose="02020603050405020304" pitchFamily="18" charset="0"/>
            </a:endParaRPr>
          </a:p>
        </p:txBody>
      </p:sp>
      <p:sp>
        <p:nvSpPr>
          <p:cNvPr id="18443" name="Line 12"/>
          <p:cNvSpPr>
            <a:spLocks noChangeShapeType="1"/>
          </p:cNvSpPr>
          <p:nvPr/>
        </p:nvSpPr>
        <p:spPr bwMode="auto">
          <a:xfrm>
            <a:off x="4826001" y="1389063"/>
            <a:ext cx="1914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4" name="Text Box 13"/>
          <p:cNvSpPr txBox="1">
            <a:spLocks noChangeArrowheads="1"/>
          </p:cNvSpPr>
          <p:nvPr/>
        </p:nvSpPr>
        <p:spPr bwMode="auto">
          <a:xfrm>
            <a:off x="4718051" y="1411288"/>
            <a:ext cx="552132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if (nextseqnum &lt; base+N) {</a:t>
            </a:r>
          </a:p>
          <a:p>
            <a:pPr eaLnBrk="1" hangingPunct="1">
              <a:spcBef>
                <a:spcPct val="0"/>
              </a:spcBef>
              <a:buFontTx/>
              <a:buNone/>
            </a:pPr>
            <a:r>
              <a:rPr lang="en-US" altLang="en-US" sz="1400"/>
              <a:t>    sndpkt[nextseqnum] = make_pkt(nextseqnum,data,chksum)</a:t>
            </a:r>
          </a:p>
          <a:p>
            <a:pPr eaLnBrk="1" hangingPunct="1">
              <a:spcBef>
                <a:spcPct val="0"/>
              </a:spcBef>
              <a:buFontTx/>
              <a:buNone/>
            </a:pPr>
            <a:r>
              <a:rPr lang="en-US" altLang="en-US" sz="1400"/>
              <a:t>    udt_send(sndpkt[nextseqnum])</a:t>
            </a:r>
          </a:p>
          <a:p>
            <a:pPr eaLnBrk="1" hangingPunct="1">
              <a:spcBef>
                <a:spcPct val="0"/>
              </a:spcBef>
              <a:buFontTx/>
              <a:buNone/>
            </a:pPr>
            <a:r>
              <a:rPr lang="en-US" altLang="en-US" sz="1400"/>
              <a:t>    if (base == nextseqnum)</a:t>
            </a:r>
          </a:p>
          <a:p>
            <a:pPr eaLnBrk="1" hangingPunct="1">
              <a:spcBef>
                <a:spcPct val="0"/>
              </a:spcBef>
              <a:buFontTx/>
              <a:buNone/>
            </a:pPr>
            <a:r>
              <a:rPr lang="en-US" altLang="en-US" sz="1400"/>
              <a:t>       start_timer</a:t>
            </a:r>
          </a:p>
          <a:p>
            <a:pPr eaLnBrk="1" hangingPunct="1">
              <a:spcBef>
                <a:spcPct val="0"/>
              </a:spcBef>
              <a:buFontTx/>
              <a:buNone/>
            </a:pPr>
            <a:r>
              <a:rPr lang="en-US" altLang="en-US" sz="1400"/>
              <a:t>    nextseqnum++</a:t>
            </a:r>
          </a:p>
          <a:p>
            <a:pPr eaLnBrk="1" hangingPunct="1">
              <a:spcBef>
                <a:spcPct val="0"/>
              </a:spcBef>
              <a:buFontTx/>
              <a:buNone/>
            </a:pPr>
            <a:r>
              <a:rPr lang="en-US" altLang="en-US" sz="1400"/>
              <a:t>    }</a:t>
            </a:r>
          </a:p>
          <a:p>
            <a:pPr eaLnBrk="1" hangingPunct="1">
              <a:spcBef>
                <a:spcPct val="0"/>
              </a:spcBef>
              <a:buFontTx/>
              <a:buNone/>
            </a:pPr>
            <a:r>
              <a:rPr lang="en-US" altLang="en-US" sz="1400"/>
              <a:t>else</a:t>
            </a:r>
          </a:p>
          <a:p>
            <a:pPr eaLnBrk="1" hangingPunct="1">
              <a:spcBef>
                <a:spcPct val="0"/>
              </a:spcBef>
              <a:buFontTx/>
              <a:buNone/>
            </a:pPr>
            <a:r>
              <a:rPr lang="en-US" altLang="en-US" sz="1400"/>
              <a:t>  refuse_data(data)</a:t>
            </a:r>
            <a:endParaRPr lang="en-US" altLang="en-US" sz="1400">
              <a:latin typeface="Times New Roman" panose="02020603050405020304" pitchFamily="18" charset="0"/>
            </a:endParaRPr>
          </a:p>
        </p:txBody>
      </p:sp>
      <p:sp>
        <p:nvSpPr>
          <p:cNvPr id="18445" name="Freeform 14"/>
          <p:cNvSpPr>
            <a:spLocks/>
          </p:cNvSpPr>
          <p:nvPr/>
        </p:nvSpPr>
        <p:spPr bwMode="auto">
          <a:xfrm rot="5142103" flipH="1">
            <a:off x="5311776" y="2933701"/>
            <a:ext cx="393700" cy="1152525"/>
          </a:xfrm>
          <a:custGeom>
            <a:avLst/>
            <a:gdLst>
              <a:gd name="T0" fmla="*/ 2147483647 w 619"/>
              <a:gd name="T1" fmla="*/ 2147483647 h 1815"/>
              <a:gd name="T2" fmla="*/ 0 w 619"/>
              <a:gd name="T3" fmla="*/ 2147483647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446" name="Text Box 15"/>
          <p:cNvSpPr txBox="1">
            <a:spLocks noChangeArrowheads="1"/>
          </p:cNvSpPr>
          <p:nvPr/>
        </p:nvSpPr>
        <p:spPr bwMode="auto">
          <a:xfrm>
            <a:off x="4724401" y="5343526"/>
            <a:ext cx="36861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base = getacknum(rcvpkt)+1</a:t>
            </a:r>
          </a:p>
          <a:p>
            <a:pPr eaLnBrk="1" hangingPunct="1">
              <a:spcBef>
                <a:spcPct val="0"/>
              </a:spcBef>
              <a:buFontTx/>
              <a:buNone/>
            </a:pPr>
            <a:r>
              <a:rPr lang="en-US" altLang="en-US" sz="1400"/>
              <a:t>If (base == nextseqnum)</a:t>
            </a:r>
          </a:p>
          <a:p>
            <a:pPr eaLnBrk="1" hangingPunct="1">
              <a:spcBef>
                <a:spcPct val="0"/>
              </a:spcBef>
              <a:buFontTx/>
              <a:buNone/>
            </a:pPr>
            <a:r>
              <a:rPr lang="en-US" altLang="en-US" sz="1400"/>
              <a:t>    stop_timer</a:t>
            </a:r>
          </a:p>
          <a:p>
            <a:pPr eaLnBrk="1" hangingPunct="1">
              <a:spcBef>
                <a:spcPct val="0"/>
              </a:spcBef>
              <a:buFontTx/>
              <a:buNone/>
            </a:pPr>
            <a:r>
              <a:rPr lang="en-US" altLang="en-US" sz="1400"/>
              <a:t>  else</a:t>
            </a:r>
          </a:p>
          <a:p>
            <a:pPr eaLnBrk="1" hangingPunct="1">
              <a:spcBef>
                <a:spcPct val="0"/>
              </a:spcBef>
              <a:buFontTx/>
              <a:buNone/>
            </a:pPr>
            <a:r>
              <a:rPr lang="en-US" altLang="en-US" sz="1400"/>
              <a:t>    start_timer</a:t>
            </a:r>
            <a:endParaRPr lang="en-US" altLang="en-US" sz="1400">
              <a:latin typeface="Times New Roman" panose="02020603050405020304" pitchFamily="18" charset="0"/>
            </a:endParaRPr>
          </a:p>
        </p:txBody>
      </p:sp>
      <p:sp>
        <p:nvSpPr>
          <p:cNvPr id="18447" name="Text Box 16"/>
          <p:cNvSpPr txBox="1">
            <a:spLocks noChangeArrowheads="1"/>
          </p:cNvSpPr>
          <p:nvPr/>
        </p:nvSpPr>
        <p:spPr bwMode="auto">
          <a:xfrm>
            <a:off x="4737100" y="4843464"/>
            <a:ext cx="283368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rdt_rcv(rcvpkt) &amp;&amp; </a:t>
            </a:r>
          </a:p>
          <a:p>
            <a:pPr eaLnBrk="1" hangingPunct="1">
              <a:spcBef>
                <a:spcPct val="0"/>
              </a:spcBef>
              <a:buFontTx/>
              <a:buNone/>
            </a:pPr>
            <a:r>
              <a:rPr lang="en-US" altLang="en-US" sz="1400"/>
              <a:t>   notcorrupt(rcvpkt) </a:t>
            </a:r>
          </a:p>
          <a:p>
            <a:pPr eaLnBrk="1" hangingPunct="1">
              <a:spcBef>
                <a:spcPct val="0"/>
              </a:spcBef>
              <a:buFontTx/>
              <a:buNone/>
            </a:pPr>
            <a:endParaRPr lang="en-US" altLang="en-US" sz="1400">
              <a:latin typeface="Times New Roman" panose="02020603050405020304" pitchFamily="18" charset="0"/>
            </a:endParaRPr>
          </a:p>
        </p:txBody>
      </p:sp>
      <p:sp>
        <p:nvSpPr>
          <p:cNvPr id="18448" name="Line 17"/>
          <p:cNvSpPr>
            <a:spLocks noChangeShapeType="1"/>
          </p:cNvSpPr>
          <p:nvPr/>
        </p:nvSpPr>
        <p:spPr bwMode="auto">
          <a:xfrm>
            <a:off x="4829175" y="5367338"/>
            <a:ext cx="1619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9" name="Freeform 18"/>
          <p:cNvSpPr>
            <a:spLocks/>
          </p:cNvSpPr>
          <p:nvPr/>
        </p:nvSpPr>
        <p:spPr bwMode="auto">
          <a:xfrm>
            <a:off x="5029200" y="4446589"/>
            <a:ext cx="1054100" cy="674687"/>
          </a:xfrm>
          <a:custGeom>
            <a:avLst/>
            <a:gdLst>
              <a:gd name="T0" fmla="*/ 2147483647 w 664"/>
              <a:gd name="T1" fmla="*/ 2147483647 h 425"/>
              <a:gd name="T2" fmla="*/ 2147483647 w 664"/>
              <a:gd name="T3" fmla="*/ 0 h 425"/>
              <a:gd name="T4" fmla="*/ 0 60000 65536"/>
              <a:gd name="T5" fmla="*/ 0 60000 65536"/>
              <a:gd name="T6" fmla="*/ 0 w 664"/>
              <a:gd name="T7" fmla="*/ 0 h 425"/>
              <a:gd name="T8" fmla="*/ 664 w 664"/>
              <a:gd name="T9" fmla="*/ 425 h 425"/>
            </a:gdLst>
            <a:ahLst/>
            <a:cxnLst>
              <a:cxn ang="T4">
                <a:pos x="T0" y="T1"/>
              </a:cxn>
              <a:cxn ang="T5">
                <a:pos x="T2" y="T3"/>
              </a:cxn>
            </a:cxnLst>
            <a:rect l="T6" t="T7" r="T8" b="T9"/>
            <a:pathLst>
              <a:path w="664" h="425">
                <a:moveTo>
                  <a:pt x="241" y="20"/>
                </a:moveTo>
                <a:cubicBezTo>
                  <a:pt x="0" y="393"/>
                  <a:pt x="664" y="425"/>
                  <a:pt x="388"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450" name="Line 19"/>
          <p:cNvSpPr>
            <a:spLocks noChangeShapeType="1"/>
          </p:cNvSpPr>
          <p:nvPr/>
        </p:nvSpPr>
        <p:spPr bwMode="auto">
          <a:xfrm>
            <a:off x="3138489" y="3257550"/>
            <a:ext cx="80327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1" name="Text Box 20"/>
          <p:cNvSpPr txBox="1">
            <a:spLocks noChangeArrowheads="1"/>
          </p:cNvSpPr>
          <p:nvPr/>
        </p:nvSpPr>
        <p:spPr bwMode="auto">
          <a:xfrm>
            <a:off x="3011488" y="3227388"/>
            <a:ext cx="14859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base=1</a:t>
            </a:r>
          </a:p>
          <a:p>
            <a:pPr eaLnBrk="1" hangingPunct="1">
              <a:spcBef>
                <a:spcPct val="0"/>
              </a:spcBef>
              <a:buFontTx/>
              <a:buNone/>
            </a:pPr>
            <a:r>
              <a:rPr lang="en-US" altLang="en-US" sz="1400"/>
              <a:t>nextseqnum=1</a:t>
            </a:r>
            <a:endParaRPr lang="en-US" altLang="en-US" sz="1400">
              <a:latin typeface="Times New Roman" panose="02020603050405020304" pitchFamily="18" charset="0"/>
            </a:endParaRPr>
          </a:p>
          <a:p>
            <a:pPr eaLnBrk="1" hangingPunct="1">
              <a:spcBef>
                <a:spcPct val="0"/>
              </a:spcBef>
              <a:buFontTx/>
              <a:buNone/>
            </a:pPr>
            <a:endParaRPr lang="en-US" altLang="en-US" sz="2400">
              <a:latin typeface="Times New Roman" panose="02020603050405020304" pitchFamily="18" charset="0"/>
            </a:endParaRPr>
          </a:p>
        </p:txBody>
      </p:sp>
      <p:sp>
        <p:nvSpPr>
          <p:cNvPr id="18452" name="Text Box 21"/>
          <p:cNvSpPr txBox="1">
            <a:spLocks noChangeArrowheads="1"/>
          </p:cNvSpPr>
          <p:nvPr/>
        </p:nvSpPr>
        <p:spPr bwMode="auto">
          <a:xfrm>
            <a:off x="2774951" y="4289426"/>
            <a:ext cx="20478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rdt_rcv(rcvpkt) </a:t>
            </a:r>
          </a:p>
          <a:p>
            <a:pPr eaLnBrk="1" hangingPunct="1">
              <a:spcBef>
                <a:spcPct val="0"/>
              </a:spcBef>
              <a:buFontTx/>
              <a:buNone/>
            </a:pPr>
            <a:r>
              <a:rPr lang="en-US" altLang="en-US" sz="1400"/>
              <a:t>   &amp;&amp; corrupt(rcvpkt)</a:t>
            </a:r>
            <a:r>
              <a:rPr lang="en-US" altLang="en-US" sz="1000"/>
              <a:t> </a:t>
            </a:r>
          </a:p>
          <a:p>
            <a:pPr eaLnBrk="1" hangingPunct="1">
              <a:spcBef>
                <a:spcPct val="0"/>
              </a:spcBef>
              <a:buFontTx/>
              <a:buNone/>
            </a:pPr>
            <a:endParaRPr lang="en-US" altLang="en-US" sz="2400">
              <a:latin typeface="Times New Roman" panose="02020603050405020304" pitchFamily="18" charset="0"/>
            </a:endParaRPr>
          </a:p>
        </p:txBody>
      </p:sp>
      <p:sp>
        <p:nvSpPr>
          <p:cNvPr id="18453" name="Line 22"/>
          <p:cNvSpPr>
            <a:spLocks noChangeShapeType="1"/>
          </p:cNvSpPr>
          <p:nvPr/>
        </p:nvSpPr>
        <p:spPr bwMode="auto">
          <a:xfrm flipV="1">
            <a:off x="2867026" y="4787900"/>
            <a:ext cx="15208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4" name="Freeform 23"/>
          <p:cNvSpPr>
            <a:spLocks/>
          </p:cNvSpPr>
          <p:nvPr/>
        </p:nvSpPr>
        <p:spPr bwMode="auto">
          <a:xfrm>
            <a:off x="4422776" y="4221164"/>
            <a:ext cx="695325" cy="638175"/>
          </a:xfrm>
          <a:custGeom>
            <a:avLst/>
            <a:gdLst>
              <a:gd name="T0" fmla="*/ 2147483647 w 1095"/>
              <a:gd name="T1" fmla="*/ 0 h 1005"/>
              <a:gd name="T2" fmla="*/ 2147483647 w 1095"/>
              <a:gd name="T3" fmla="*/ 2147483647 h 1005"/>
              <a:gd name="T4" fmla="*/ 0 60000 65536"/>
              <a:gd name="T5" fmla="*/ 0 60000 65536"/>
              <a:gd name="T6" fmla="*/ 0 w 1095"/>
              <a:gd name="T7" fmla="*/ 0 h 1005"/>
              <a:gd name="T8" fmla="*/ 1095 w 1095"/>
              <a:gd name="T9" fmla="*/ 1005 h 1005"/>
            </a:gdLst>
            <a:ahLst/>
            <a:cxnLst>
              <a:cxn ang="T4">
                <a:pos x="T0" y="T1"/>
              </a:cxn>
              <a:cxn ang="T5">
                <a:pos x="T2" y="T3"/>
              </a:cxn>
            </a:cxnLst>
            <a:rect l="T6" t="T7" r="T8" b="T9"/>
            <a:pathLst>
              <a:path w="1095" h="1005">
                <a:moveTo>
                  <a:pt x="1005" y="0"/>
                </a:moveTo>
                <a:cubicBezTo>
                  <a:pt x="0" y="30"/>
                  <a:pt x="645" y="1005"/>
                  <a:pt x="1095" y="16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455" name="Text Box 24"/>
          <p:cNvSpPr txBox="1">
            <a:spLocks noChangeArrowheads="1"/>
          </p:cNvSpPr>
          <p:nvPr/>
        </p:nvSpPr>
        <p:spPr bwMode="auto">
          <a:xfrm>
            <a:off x="3054350" y="2927350"/>
            <a:ext cx="323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Symbol" panose="05050102010706020507" pitchFamily="18" charset="2"/>
              </a:rPr>
              <a:t>L</a:t>
            </a:r>
          </a:p>
        </p:txBody>
      </p:sp>
      <p:pic>
        <p:nvPicPr>
          <p:cNvPr id="18456" name="Picture 2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263" y="760414"/>
            <a:ext cx="54848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er 27"/>
          <p:cNvGrpSpPr>
            <a:grpSpLocks/>
          </p:cNvGrpSpPr>
          <p:nvPr/>
        </p:nvGrpSpPr>
        <p:grpSpPr bwMode="auto">
          <a:xfrm>
            <a:off x="1752600" y="1143001"/>
            <a:ext cx="2803972" cy="2322959"/>
            <a:chOff x="1750772" y="1371595"/>
            <a:chExt cx="1418842" cy="2323420"/>
          </a:xfrm>
        </p:grpSpPr>
        <p:sp>
          <p:nvSpPr>
            <p:cNvPr id="18468" name="Line 36"/>
            <p:cNvSpPr>
              <a:spLocks noChangeShapeType="1"/>
            </p:cNvSpPr>
            <p:nvPr/>
          </p:nvSpPr>
          <p:spPr bwMode="auto">
            <a:xfrm>
              <a:off x="3124200" y="1371595"/>
              <a:ext cx="12700" cy="169199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9" name="Text Box 31"/>
            <p:cNvSpPr txBox="1">
              <a:spLocks noChangeArrowheads="1"/>
            </p:cNvSpPr>
            <p:nvPr/>
          </p:nvSpPr>
          <p:spPr bwMode="auto">
            <a:xfrm>
              <a:off x="1750772" y="1447800"/>
              <a:ext cx="1418842" cy="2247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solidFill>
                    <a:srgbClr val="CC0000"/>
                  </a:solidFill>
                  <a:latin typeface="Tahoma" panose="020B0604030504040204" pitchFamily="34" charset="0"/>
                </a:rPr>
                <a:t>First, check if window is full, </a:t>
              </a:r>
            </a:p>
            <a:p>
              <a:pPr eaLnBrk="1" hangingPunct="1">
                <a:spcBef>
                  <a:spcPct val="0"/>
                </a:spcBef>
                <a:buFontTx/>
                <a:buNone/>
              </a:pPr>
              <a:r>
                <a:rPr lang="en-US" altLang="en-US" sz="1400">
                  <a:solidFill>
                    <a:srgbClr val="CC0000"/>
                  </a:solidFill>
                  <a:latin typeface="Tahoma" panose="020B0604030504040204" pitchFamily="34" charset="0"/>
                </a:rPr>
                <a:t>if not send and update variables</a:t>
              </a:r>
            </a:p>
            <a:p>
              <a:pPr eaLnBrk="1" hangingPunct="1">
                <a:spcBef>
                  <a:spcPct val="0"/>
                </a:spcBef>
                <a:buFontTx/>
                <a:buNone/>
              </a:pPr>
              <a:endParaRPr lang="en-US" altLang="en-US" sz="1400">
                <a:solidFill>
                  <a:srgbClr val="CC0000"/>
                </a:solidFill>
                <a:latin typeface="Tahoma" panose="020B0604030504040204" pitchFamily="34" charset="0"/>
              </a:endParaRPr>
            </a:p>
            <a:p>
              <a:pPr eaLnBrk="1" hangingPunct="1">
                <a:spcBef>
                  <a:spcPct val="0"/>
                </a:spcBef>
                <a:buFontTx/>
                <a:buNone/>
              </a:pPr>
              <a:r>
                <a:rPr lang="en-US" altLang="en-US" sz="1400">
                  <a:solidFill>
                    <a:srgbClr val="CC0000"/>
                  </a:solidFill>
                  <a:latin typeface="Tahoma" panose="020B0604030504040204" pitchFamily="34" charset="0"/>
                </a:rPr>
                <a:t>N is the window size</a:t>
              </a:r>
            </a:p>
            <a:p>
              <a:pPr eaLnBrk="1" hangingPunct="1">
                <a:spcBef>
                  <a:spcPct val="0"/>
                </a:spcBef>
                <a:buFontTx/>
                <a:buNone/>
              </a:pPr>
              <a:r>
                <a:rPr lang="en-US" altLang="en-US" sz="1400">
                  <a:solidFill>
                    <a:srgbClr val="CC0000"/>
                  </a:solidFill>
                  <a:latin typeface="Tahoma" panose="020B0604030504040204" pitchFamily="34" charset="0"/>
                </a:rPr>
                <a:t>base=oldest unack</a:t>
              </a:r>
              <a:r>
                <a:rPr lang="en-US" altLang="fr-FR" sz="1400">
                  <a:solidFill>
                    <a:srgbClr val="CC0000"/>
                  </a:solidFill>
                  <a:latin typeface="Tahoma" panose="020B0604030504040204" pitchFamily="34" charset="0"/>
                </a:rPr>
                <a:t>’</a:t>
              </a:r>
              <a:r>
                <a:rPr lang="en-US" altLang="en-US" sz="1400">
                  <a:solidFill>
                    <a:srgbClr val="CC0000"/>
                  </a:solidFill>
                  <a:latin typeface="Tahoma" panose="020B0604030504040204" pitchFamily="34" charset="0"/>
                </a:rPr>
                <a:t>ed</a:t>
              </a:r>
            </a:p>
            <a:p>
              <a:pPr eaLnBrk="1" hangingPunct="1">
                <a:spcBef>
                  <a:spcPct val="0"/>
                </a:spcBef>
                <a:buFontTx/>
                <a:buNone/>
              </a:pPr>
              <a:r>
                <a:rPr lang="en-US" altLang="en-US" sz="1400">
                  <a:solidFill>
                    <a:srgbClr val="CC0000"/>
                  </a:solidFill>
                  <a:latin typeface="Tahoma" panose="020B0604030504040204" pitchFamily="34" charset="0"/>
                </a:rPr>
                <a:t>nextseqnum=seqno of next pckt </a:t>
              </a:r>
            </a:p>
            <a:p>
              <a:pPr eaLnBrk="1" hangingPunct="1">
                <a:spcBef>
                  <a:spcPct val="0"/>
                </a:spcBef>
                <a:buFontTx/>
                <a:buNone/>
              </a:pPr>
              <a:r>
                <a:rPr lang="en-US" altLang="en-US" sz="1400">
                  <a:solidFill>
                    <a:srgbClr val="CC0000"/>
                  </a:solidFill>
                  <a:latin typeface="Tahoma" panose="020B0604030504040204" pitchFamily="34" charset="0"/>
                </a:rPr>
                <a:t> </a:t>
              </a:r>
            </a:p>
            <a:p>
              <a:pPr eaLnBrk="1" hangingPunct="1">
                <a:spcBef>
                  <a:spcPct val="0"/>
                </a:spcBef>
                <a:buFontTx/>
                <a:buNone/>
              </a:pPr>
              <a:endParaRPr lang="en-US" altLang="en-US" sz="1400">
                <a:solidFill>
                  <a:srgbClr val="CC0000"/>
                </a:solidFill>
                <a:latin typeface="Tahoma" panose="020B0604030504040204" pitchFamily="34" charset="0"/>
              </a:endParaRPr>
            </a:p>
            <a:p>
              <a:pPr eaLnBrk="1" hangingPunct="1">
                <a:spcBef>
                  <a:spcPct val="0"/>
                </a:spcBef>
                <a:buFontTx/>
                <a:buNone/>
              </a:pPr>
              <a:endParaRPr lang="en-US" altLang="en-US" sz="1400">
                <a:solidFill>
                  <a:srgbClr val="CC0000"/>
                </a:solidFill>
                <a:latin typeface="Tahoma" panose="020B0604030504040204" pitchFamily="34" charset="0"/>
              </a:endParaRPr>
            </a:p>
            <a:p>
              <a:pPr eaLnBrk="1" hangingPunct="1">
                <a:spcBef>
                  <a:spcPct val="0"/>
                </a:spcBef>
                <a:buFontTx/>
                <a:buNone/>
              </a:pPr>
              <a:endParaRPr lang="en-US" altLang="en-US" sz="1400">
                <a:solidFill>
                  <a:srgbClr val="CC0000"/>
                </a:solidFill>
                <a:latin typeface="Tahoma" panose="020B0604030504040204" pitchFamily="34" charset="0"/>
              </a:endParaRPr>
            </a:p>
          </p:txBody>
        </p:sp>
      </p:grpSp>
      <p:grpSp>
        <p:nvGrpSpPr>
          <p:cNvPr id="5" name="Grouper 30"/>
          <p:cNvGrpSpPr>
            <a:grpSpLocks/>
          </p:cNvGrpSpPr>
          <p:nvPr/>
        </p:nvGrpSpPr>
        <p:grpSpPr bwMode="auto">
          <a:xfrm>
            <a:off x="7162800" y="2133601"/>
            <a:ext cx="3206750" cy="684213"/>
            <a:chOff x="3200442" y="1371600"/>
            <a:chExt cx="3208504" cy="683999"/>
          </a:xfrm>
        </p:grpSpPr>
        <p:sp>
          <p:nvSpPr>
            <p:cNvPr id="18466" name="Line 36"/>
            <p:cNvSpPr>
              <a:spLocks noChangeShapeType="1"/>
            </p:cNvSpPr>
            <p:nvPr/>
          </p:nvSpPr>
          <p:spPr bwMode="auto">
            <a:xfrm>
              <a:off x="3200442" y="1371600"/>
              <a:ext cx="0" cy="683999"/>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7" name="Text Box 31"/>
            <p:cNvSpPr txBox="1">
              <a:spLocks noChangeArrowheads="1"/>
            </p:cNvSpPr>
            <p:nvPr/>
          </p:nvSpPr>
          <p:spPr bwMode="auto">
            <a:xfrm>
              <a:off x="3239371" y="1457980"/>
              <a:ext cx="31695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solidFill>
                    <a:srgbClr val="CC0000"/>
                  </a:solidFill>
                  <a:latin typeface="Tahoma" panose="020B0604030504040204" pitchFamily="34" charset="0"/>
                </a:rPr>
                <a:t>Timer associated with oldest unacked</a:t>
              </a:r>
            </a:p>
            <a:p>
              <a:pPr eaLnBrk="1" hangingPunct="1">
                <a:spcBef>
                  <a:spcPct val="0"/>
                </a:spcBef>
                <a:buFontTx/>
                <a:buNone/>
              </a:pPr>
              <a:r>
                <a:rPr lang="en-US" altLang="en-US" sz="1400">
                  <a:solidFill>
                    <a:srgbClr val="CC0000"/>
                  </a:solidFill>
                  <a:latin typeface="Tahoma" panose="020B0604030504040204" pitchFamily="34" charset="0"/>
                </a:rPr>
                <a:t>base == nextseqnum, when?</a:t>
              </a:r>
            </a:p>
          </p:txBody>
        </p:sp>
      </p:grpSp>
      <p:grpSp>
        <p:nvGrpSpPr>
          <p:cNvPr id="6" name="Grouper 36"/>
          <p:cNvGrpSpPr>
            <a:grpSpLocks/>
          </p:cNvGrpSpPr>
          <p:nvPr/>
        </p:nvGrpSpPr>
        <p:grpSpPr bwMode="auto">
          <a:xfrm>
            <a:off x="8153401" y="3429001"/>
            <a:ext cx="1986487" cy="684213"/>
            <a:chOff x="3200442" y="1371600"/>
            <a:chExt cx="1987806" cy="683999"/>
          </a:xfrm>
        </p:grpSpPr>
        <p:sp>
          <p:nvSpPr>
            <p:cNvPr id="18464" name="Line 36"/>
            <p:cNvSpPr>
              <a:spLocks noChangeShapeType="1"/>
            </p:cNvSpPr>
            <p:nvPr/>
          </p:nvSpPr>
          <p:spPr bwMode="auto">
            <a:xfrm>
              <a:off x="3200442" y="1371600"/>
              <a:ext cx="0" cy="683999"/>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5" name="Text Box 31"/>
            <p:cNvSpPr txBox="1">
              <a:spLocks noChangeArrowheads="1"/>
            </p:cNvSpPr>
            <p:nvPr/>
          </p:nvSpPr>
          <p:spPr bwMode="auto">
            <a:xfrm>
              <a:off x="3239371" y="1457980"/>
              <a:ext cx="1948877" cy="523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solidFill>
                    <a:srgbClr val="CC0000"/>
                  </a:solidFill>
                  <a:latin typeface="Tahoma" panose="020B0604030504040204" pitchFamily="34" charset="0"/>
                </a:rPr>
                <a:t>On timeout resend all </a:t>
              </a:r>
            </a:p>
            <a:p>
              <a:pPr eaLnBrk="1" hangingPunct="1">
                <a:spcBef>
                  <a:spcPct val="0"/>
                </a:spcBef>
                <a:buFontTx/>
                <a:buNone/>
              </a:pPr>
              <a:r>
                <a:rPr lang="en-US" altLang="en-US" sz="1400">
                  <a:solidFill>
                    <a:srgbClr val="CC0000"/>
                  </a:solidFill>
                  <a:latin typeface="Tahoma" panose="020B0604030504040204" pitchFamily="34" charset="0"/>
                </a:rPr>
                <a:t>unack</a:t>
              </a:r>
              <a:r>
                <a:rPr lang="en-US" altLang="fr-FR" sz="1400">
                  <a:solidFill>
                    <a:srgbClr val="CC0000"/>
                  </a:solidFill>
                  <a:latin typeface="Tahoma" panose="020B0604030504040204" pitchFamily="34" charset="0"/>
                </a:rPr>
                <a:t>’</a:t>
              </a:r>
              <a:r>
                <a:rPr lang="en-US" altLang="en-US" sz="1400">
                  <a:solidFill>
                    <a:srgbClr val="CC0000"/>
                  </a:solidFill>
                  <a:latin typeface="Tahoma" panose="020B0604030504040204" pitchFamily="34" charset="0"/>
                </a:rPr>
                <a:t>ed packets </a:t>
              </a:r>
            </a:p>
          </p:txBody>
        </p:sp>
      </p:grpSp>
      <p:grpSp>
        <p:nvGrpSpPr>
          <p:cNvPr id="7" name="Grouper 42"/>
          <p:cNvGrpSpPr>
            <a:grpSpLocks/>
          </p:cNvGrpSpPr>
          <p:nvPr/>
        </p:nvGrpSpPr>
        <p:grpSpPr bwMode="auto">
          <a:xfrm>
            <a:off x="1739900" y="4114801"/>
            <a:ext cx="1003300" cy="684213"/>
            <a:chOff x="2196851" y="1371600"/>
            <a:chExt cx="1003594" cy="683999"/>
          </a:xfrm>
        </p:grpSpPr>
        <p:sp>
          <p:nvSpPr>
            <p:cNvPr id="18462" name="Line 36"/>
            <p:cNvSpPr>
              <a:spLocks noChangeShapeType="1"/>
            </p:cNvSpPr>
            <p:nvPr/>
          </p:nvSpPr>
          <p:spPr bwMode="auto">
            <a:xfrm>
              <a:off x="3200442" y="1371600"/>
              <a:ext cx="0" cy="683999"/>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3" name="Text Box 31"/>
            <p:cNvSpPr txBox="1">
              <a:spLocks noChangeArrowheads="1"/>
            </p:cNvSpPr>
            <p:nvPr/>
          </p:nvSpPr>
          <p:spPr bwMode="auto">
            <a:xfrm>
              <a:off x="2196851" y="1597223"/>
              <a:ext cx="10035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solidFill>
                    <a:srgbClr val="CC0000"/>
                  </a:solidFill>
                  <a:latin typeface="Tahoma" panose="020B0604030504040204" pitchFamily="34" charset="0"/>
                </a:rPr>
                <a:t>Why wait?</a:t>
              </a:r>
            </a:p>
          </p:txBody>
        </p:sp>
      </p:grpSp>
      <p:sp>
        <p:nvSpPr>
          <p:cNvPr id="18461" name="Text Box 24"/>
          <p:cNvSpPr txBox="1">
            <a:spLocks noChangeArrowheads="1"/>
          </p:cNvSpPr>
          <p:nvPr/>
        </p:nvSpPr>
        <p:spPr bwMode="auto">
          <a:xfrm>
            <a:off x="3352800" y="4724400"/>
            <a:ext cx="323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Symbol" panose="05050102010706020507" pitchFamily="18" charset="2"/>
              </a:rPr>
              <a:t>L</a:t>
            </a:r>
          </a:p>
        </p:txBody>
      </p:sp>
    </p:spTree>
    <p:extLst>
      <p:ext uri="{BB962C8B-B14F-4D97-AF65-F5344CB8AC3E}">
        <p14:creationId xmlns:p14="http://schemas.microsoft.com/office/powerpoint/2010/main" val="3897795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sz="half" idx="2"/>
          </p:nvPr>
        </p:nvSpPr>
        <p:spPr>
          <a:xfrm>
            <a:off x="2325689" y="3641726"/>
            <a:ext cx="8148637" cy="2854325"/>
          </a:xfrm>
        </p:spPr>
        <p:txBody>
          <a:bodyPr/>
          <a:lstStyle/>
          <a:p>
            <a:pPr>
              <a:buFont typeface="Wingdings" panose="05000000000000000000" pitchFamily="2" charset="2"/>
              <a:buNone/>
            </a:pPr>
            <a:r>
              <a:rPr lang="en-US" altLang="en-US" sz="2400">
                <a:latin typeface="Gill Sans MT" panose="020B0502020104020203" pitchFamily="34" charset="0"/>
              </a:rPr>
              <a:t>ACK-only: always send ACK for correctly-received pkt with highest </a:t>
            </a:r>
            <a:r>
              <a:rPr lang="en-US" altLang="en-US" sz="2400" i="1">
                <a:solidFill>
                  <a:srgbClr val="CC0000"/>
                </a:solidFill>
                <a:latin typeface="Gill Sans MT" panose="020B0502020104020203" pitchFamily="34" charset="0"/>
              </a:rPr>
              <a:t>in-order</a:t>
            </a:r>
            <a:r>
              <a:rPr lang="en-US" altLang="en-US" sz="2400">
                <a:latin typeface="Gill Sans MT" panose="020B0502020104020203" pitchFamily="34" charset="0"/>
              </a:rPr>
              <a:t> seq #</a:t>
            </a:r>
          </a:p>
          <a:p>
            <a:pPr lvl="1"/>
            <a:r>
              <a:rPr lang="en-US" altLang="en-US" sz="2000">
                <a:latin typeface="Gill Sans MT" panose="020B0502020104020203" pitchFamily="34" charset="0"/>
              </a:rPr>
              <a:t>may generate duplicate ACKs</a:t>
            </a:r>
          </a:p>
          <a:p>
            <a:pPr lvl="1"/>
            <a:r>
              <a:rPr lang="en-US" altLang="en-US" sz="2000">
                <a:latin typeface="Gill Sans MT" panose="020B0502020104020203" pitchFamily="34" charset="0"/>
              </a:rPr>
              <a:t>need only remember </a:t>
            </a:r>
            <a:r>
              <a:rPr lang="en-US" altLang="en-US" sz="2000" b="1">
                <a:latin typeface="Courier New" panose="02070309020205020404" pitchFamily="49" charset="0"/>
              </a:rPr>
              <a:t>expectedseqnum</a:t>
            </a:r>
          </a:p>
          <a:p>
            <a:r>
              <a:rPr lang="en-US" altLang="en-US" sz="2400">
                <a:latin typeface="Gill Sans MT" panose="020B0502020104020203" pitchFamily="34" charset="0"/>
              </a:rPr>
              <a:t>out-of-order pkt: </a:t>
            </a:r>
          </a:p>
          <a:p>
            <a:pPr lvl="1"/>
            <a:r>
              <a:rPr lang="en-US" altLang="en-US" sz="2000">
                <a:latin typeface="Gill Sans MT" panose="020B0502020104020203" pitchFamily="34" charset="0"/>
              </a:rPr>
              <a:t>discard (don</a:t>
            </a:r>
            <a:r>
              <a:rPr lang="ja-JP" altLang="en-US" sz="2000">
                <a:latin typeface="Gill Sans MT" panose="020B0502020104020203" pitchFamily="34" charset="0"/>
              </a:rPr>
              <a:t>’</a:t>
            </a:r>
            <a:r>
              <a:rPr lang="en-US" altLang="ja-JP" sz="2000">
                <a:latin typeface="Gill Sans MT" panose="020B0502020104020203" pitchFamily="34" charset="0"/>
              </a:rPr>
              <a:t>t buffer): </a:t>
            </a:r>
            <a:r>
              <a:rPr lang="en-US" altLang="ja-JP" sz="2000" i="1">
                <a:solidFill>
                  <a:srgbClr val="CC0000"/>
                </a:solidFill>
                <a:latin typeface="Gill Sans MT" panose="020B0502020104020203" pitchFamily="34" charset="0"/>
              </a:rPr>
              <a:t>no receiver buffering!</a:t>
            </a:r>
          </a:p>
          <a:p>
            <a:pPr lvl="1"/>
            <a:r>
              <a:rPr lang="en-US" altLang="en-US" sz="2000">
                <a:latin typeface="Gill Sans MT" panose="020B0502020104020203" pitchFamily="34" charset="0"/>
              </a:rPr>
              <a:t>re-ACK pkt with highest in-order seq #</a:t>
            </a:r>
          </a:p>
        </p:txBody>
      </p:sp>
      <p:sp>
        <p:nvSpPr>
          <p:cNvPr id="19459" name="Oval 4"/>
          <p:cNvSpPr>
            <a:spLocks noChangeArrowheads="1"/>
          </p:cNvSpPr>
          <p:nvPr/>
        </p:nvSpPr>
        <p:spPr bwMode="auto">
          <a:xfrm>
            <a:off x="4683125" y="2041526"/>
            <a:ext cx="666750" cy="657225"/>
          </a:xfrm>
          <a:prstGeom prst="ellipse">
            <a:avLst/>
          </a:prstGeom>
          <a:solidFill>
            <a:srgbClr val="FFFFFF"/>
          </a:solidFill>
          <a:ln w="19050">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460" name="Text Box 5"/>
          <p:cNvSpPr txBox="1">
            <a:spLocks noChangeArrowheads="1"/>
          </p:cNvSpPr>
          <p:nvPr/>
        </p:nvSpPr>
        <p:spPr bwMode="auto">
          <a:xfrm>
            <a:off x="4762500" y="2209801"/>
            <a:ext cx="8001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Wait</a:t>
            </a:r>
            <a:endParaRPr lang="en-US" altLang="en-US" sz="1600">
              <a:latin typeface="Times New Roman" panose="02020603050405020304" pitchFamily="18" charset="0"/>
            </a:endParaRPr>
          </a:p>
        </p:txBody>
      </p:sp>
      <p:sp>
        <p:nvSpPr>
          <p:cNvPr id="19461" name="Line 6"/>
          <p:cNvSpPr>
            <a:spLocks noChangeShapeType="1"/>
          </p:cNvSpPr>
          <p:nvPr/>
        </p:nvSpPr>
        <p:spPr bwMode="auto">
          <a:xfrm>
            <a:off x="2368550" y="1881188"/>
            <a:ext cx="2298700" cy="4746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62" name="Text Box 7"/>
          <p:cNvSpPr txBox="1">
            <a:spLocks noChangeArrowheads="1"/>
          </p:cNvSpPr>
          <p:nvPr/>
        </p:nvSpPr>
        <p:spPr bwMode="auto">
          <a:xfrm>
            <a:off x="4081463" y="1468439"/>
            <a:ext cx="1617662"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udt_send(sndpkt)</a:t>
            </a:r>
            <a:endParaRPr lang="en-US" altLang="en-US" sz="1400">
              <a:latin typeface="Times New Roman" panose="02020603050405020304" pitchFamily="18" charset="0"/>
            </a:endParaRPr>
          </a:p>
        </p:txBody>
      </p:sp>
      <p:sp>
        <p:nvSpPr>
          <p:cNvPr id="19463" name="Text Box 8"/>
          <p:cNvSpPr txBox="1">
            <a:spLocks noChangeArrowheads="1"/>
          </p:cNvSpPr>
          <p:nvPr/>
        </p:nvSpPr>
        <p:spPr bwMode="auto">
          <a:xfrm>
            <a:off x="4121150" y="1192213"/>
            <a:ext cx="725488"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default</a:t>
            </a:r>
            <a:endParaRPr lang="en-US" altLang="en-US" sz="1400">
              <a:latin typeface="Times New Roman" panose="02020603050405020304" pitchFamily="18" charset="0"/>
            </a:endParaRPr>
          </a:p>
          <a:p>
            <a:pPr eaLnBrk="1" hangingPunct="1">
              <a:spcBef>
                <a:spcPct val="0"/>
              </a:spcBef>
              <a:buFontTx/>
              <a:buNone/>
            </a:pPr>
            <a:endParaRPr lang="en-US" altLang="en-US" sz="2400">
              <a:latin typeface="Times New Roman" panose="02020603050405020304" pitchFamily="18" charset="0"/>
            </a:endParaRPr>
          </a:p>
        </p:txBody>
      </p:sp>
      <p:sp>
        <p:nvSpPr>
          <p:cNvPr id="19464" name="Line 9"/>
          <p:cNvSpPr>
            <a:spLocks noChangeShapeType="1"/>
          </p:cNvSpPr>
          <p:nvPr/>
        </p:nvSpPr>
        <p:spPr bwMode="auto">
          <a:xfrm>
            <a:off x="4202114" y="1489075"/>
            <a:ext cx="8159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5" name="Freeform 10"/>
          <p:cNvSpPr>
            <a:spLocks/>
          </p:cNvSpPr>
          <p:nvPr/>
        </p:nvSpPr>
        <p:spPr bwMode="auto">
          <a:xfrm>
            <a:off x="5356226" y="1784351"/>
            <a:ext cx="828675" cy="1152525"/>
          </a:xfrm>
          <a:custGeom>
            <a:avLst/>
            <a:gdLst>
              <a:gd name="T0" fmla="*/ 2147483647 w 619"/>
              <a:gd name="T1" fmla="*/ 2147483647 h 1815"/>
              <a:gd name="T2" fmla="*/ 0 w 619"/>
              <a:gd name="T3" fmla="*/ 2147483647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66" name="Text Box 11"/>
          <p:cNvSpPr txBox="1">
            <a:spLocks noChangeArrowheads="1"/>
          </p:cNvSpPr>
          <p:nvPr/>
        </p:nvSpPr>
        <p:spPr bwMode="auto">
          <a:xfrm>
            <a:off x="5849939" y="1554163"/>
            <a:ext cx="3570287"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rdt_rcv(rcvpkt)</a:t>
            </a:r>
          </a:p>
          <a:p>
            <a:pPr eaLnBrk="1" hangingPunct="1">
              <a:spcBef>
                <a:spcPct val="0"/>
              </a:spcBef>
              <a:buFontTx/>
              <a:buNone/>
            </a:pPr>
            <a:r>
              <a:rPr lang="en-US" altLang="en-US" sz="1400"/>
              <a:t>  &amp;&amp; notcurrupt(rcvpkt)</a:t>
            </a:r>
          </a:p>
          <a:p>
            <a:pPr eaLnBrk="1" hangingPunct="1">
              <a:spcBef>
                <a:spcPct val="0"/>
              </a:spcBef>
              <a:buFontTx/>
              <a:buNone/>
            </a:pPr>
            <a:r>
              <a:rPr lang="en-US" altLang="en-US" sz="1400"/>
              <a:t>  &amp;&amp; hasseqnum(rcvpkt,expectedseqnum) </a:t>
            </a:r>
            <a:endParaRPr lang="en-US" altLang="en-US" sz="1400">
              <a:latin typeface="Times New Roman" panose="02020603050405020304" pitchFamily="18" charset="0"/>
            </a:endParaRPr>
          </a:p>
        </p:txBody>
      </p:sp>
      <p:sp>
        <p:nvSpPr>
          <p:cNvPr id="19467" name="Line 12"/>
          <p:cNvSpPr>
            <a:spLocks noChangeShapeType="1"/>
          </p:cNvSpPr>
          <p:nvPr/>
        </p:nvSpPr>
        <p:spPr bwMode="auto">
          <a:xfrm>
            <a:off x="5919788" y="2246314"/>
            <a:ext cx="31750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8" name="Text Box 13"/>
          <p:cNvSpPr txBox="1">
            <a:spLocks noChangeArrowheads="1"/>
          </p:cNvSpPr>
          <p:nvPr/>
        </p:nvSpPr>
        <p:spPr bwMode="auto">
          <a:xfrm>
            <a:off x="5854701" y="2289175"/>
            <a:ext cx="4314825"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extract(rcvpkt,data)</a:t>
            </a:r>
          </a:p>
          <a:p>
            <a:pPr eaLnBrk="1" hangingPunct="1">
              <a:spcBef>
                <a:spcPct val="0"/>
              </a:spcBef>
              <a:buFontTx/>
              <a:buNone/>
            </a:pPr>
            <a:r>
              <a:rPr lang="en-US" altLang="en-US" sz="1400"/>
              <a:t>deliver_data(data)</a:t>
            </a:r>
          </a:p>
          <a:p>
            <a:pPr eaLnBrk="1" hangingPunct="1">
              <a:spcBef>
                <a:spcPct val="0"/>
              </a:spcBef>
              <a:buFontTx/>
              <a:buNone/>
            </a:pPr>
            <a:r>
              <a:rPr lang="en-US" altLang="en-US" sz="1400"/>
              <a:t>sndpkt = make_pkt(expectedseqnum,ACK,chksum)</a:t>
            </a:r>
          </a:p>
          <a:p>
            <a:pPr eaLnBrk="1" hangingPunct="1">
              <a:spcBef>
                <a:spcPct val="0"/>
              </a:spcBef>
              <a:buFontTx/>
              <a:buNone/>
            </a:pPr>
            <a:r>
              <a:rPr lang="en-US" altLang="en-US" sz="1400"/>
              <a:t>udt_send(sndpkt)</a:t>
            </a:r>
          </a:p>
          <a:p>
            <a:pPr eaLnBrk="1" hangingPunct="1">
              <a:spcBef>
                <a:spcPct val="0"/>
              </a:spcBef>
              <a:buFontTx/>
              <a:buNone/>
            </a:pPr>
            <a:r>
              <a:rPr lang="en-US" altLang="en-US" sz="1400"/>
              <a:t>expectedseqnum++</a:t>
            </a:r>
            <a:endParaRPr lang="en-US" altLang="en-US" sz="1400">
              <a:latin typeface="Times New Roman" panose="02020603050405020304" pitchFamily="18" charset="0"/>
            </a:endParaRPr>
          </a:p>
        </p:txBody>
      </p:sp>
      <p:sp>
        <p:nvSpPr>
          <p:cNvPr id="19469" name="Freeform 14"/>
          <p:cNvSpPr>
            <a:spLocks/>
          </p:cNvSpPr>
          <p:nvPr/>
        </p:nvSpPr>
        <p:spPr bwMode="auto">
          <a:xfrm rot="5142103" flipH="1">
            <a:off x="4829176" y="1260476"/>
            <a:ext cx="393700" cy="1152525"/>
          </a:xfrm>
          <a:custGeom>
            <a:avLst/>
            <a:gdLst>
              <a:gd name="T0" fmla="*/ 2147483647 w 619"/>
              <a:gd name="T1" fmla="*/ 2147483647 h 1815"/>
              <a:gd name="T2" fmla="*/ 0 w 619"/>
              <a:gd name="T3" fmla="*/ 2147483647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70" name="Line 15"/>
          <p:cNvSpPr>
            <a:spLocks noChangeShapeType="1"/>
          </p:cNvSpPr>
          <p:nvPr/>
        </p:nvSpPr>
        <p:spPr bwMode="auto">
          <a:xfrm>
            <a:off x="2308225" y="2293938"/>
            <a:ext cx="1238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1" name="Text Box 16"/>
          <p:cNvSpPr txBox="1">
            <a:spLocks noChangeArrowheads="1"/>
          </p:cNvSpPr>
          <p:nvPr/>
        </p:nvSpPr>
        <p:spPr bwMode="auto">
          <a:xfrm>
            <a:off x="2217738" y="2314576"/>
            <a:ext cx="3725862"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expectedseqnum=1</a:t>
            </a:r>
          </a:p>
          <a:p>
            <a:pPr eaLnBrk="1" hangingPunct="1">
              <a:spcBef>
                <a:spcPct val="0"/>
              </a:spcBef>
              <a:buFontTx/>
              <a:buNone/>
            </a:pPr>
            <a:r>
              <a:rPr lang="en-US" altLang="en-US" sz="1400"/>
              <a:t>sndpkt =    </a:t>
            </a:r>
          </a:p>
          <a:p>
            <a:pPr eaLnBrk="1" hangingPunct="1">
              <a:spcBef>
                <a:spcPct val="0"/>
              </a:spcBef>
              <a:buFontTx/>
              <a:buNone/>
            </a:pPr>
            <a:r>
              <a:rPr lang="en-US" altLang="en-US" sz="1400"/>
              <a:t>make_pkt(</a:t>
            </a:r>
            <a:r>
              <a:rPr lang="en-US" altLang="en-US" sz="1400" b="1">
                <a:solidFill>
                  <a:srgbClr val="FF0000"/>
                </a:solidFill>
              </a:rPr>
              <a:t>expectedseqnum-1</a:t>
            </a:r>
            <a:r>
              <a:rPr lang="en-US" altLang="en-US" sz="1400"/>
              <a:t>,ACK,chksum)</a:t>
            </a:r>
          </a:p>
          <a:p>
            <a:pPr eaLnBrk="1" hangingPunct="1">
              <a:spcBef>
                <a:spcPct val="0"/>
              </a:spcBef>
              <a:buFontTx/>
              <a:buNone/>
            </a:pPr>
            <a:endParaRPr lang="en-US" altLang="en-US" sz="1400">
              <a:latin typeface="Times New Roman" panose="02020603050405020304" pitchFamily="18" charset="0"/>
            </a:endParaRPr>
          </a:p>
          <a:p>
            <a:pPr eaLnBrk="1" hangingPunct="1">
              <a:spcBef>
                <a:spcPct val="0"/>
              </a:spcBef>
              <a:buFontTx/>
              <a:buNone/>
            </a:pPr>
            <a:endParaRPr lang="en-US" altLang="en-US" sz="2400">
              <a:latin typeface="Times New Roman" panose="02020603050405020304" pitchFamily="18" charset="0"/>
            </a:endParaRPr>
          </a:p>
        </p:txBody>
      </p:sp>
      <p:sp>
        <p:nvSpPr>
          <p:cNvPr id="19472" name="Text Box 17"/>
          <p:cNvSpPr txBox="1">
            <a:spLocks noChangeArrowheads="1"/>
          </p:cNvSpPr>
          <p:nvPr/>
        </p:nvSpPr>
        <p:spPr bwMode="auto">
          <a:xfrm>
            <a:off x="2254250" y="1990725"/>
            <a:ext cx="323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Symbol" panose="05050102010706020507" pitchFamily="18" charset="2"/>
              </a:rPr>
              <a:t>L</a:t>
            </a:r>
          </a:p>
        </p:txBody>
      </p:sp>
      <p:sp>
        <p:nvSpPr>
          <p:cNvPr id="50195" name="Rectangle 19"/>
          <p:cNvSpPr>
            <a:spLocks noGrp="1" noChangeArrowheads="1"/>
          </p:cNvSpPr>
          <p:nvPr>
            <p:ph type="title"/>
          </p:nvPr>
        </p:nvSpPr>
        <p:spPr>
          <a:xfrm>
            <a:off x="1968500" y="207964"/>
            <a:ext cx="7772400" cy="700087"/>
          </a:xfrm>
        </p:spPr>
        <p:txBody>
          <a:bodyPr/>
          <a:lstStyle/>
          <a:p>
            <a:pPr>
              <a:defRPr/>
            </a:pPr>
            <a:r>
              <a:rPr lang="en-US">
                <a:cs typeface="+mj-cs"/>
              </a:rPr>
              <a:t>GBN: receiver extended FSM</a:t>
            </a:r>
          </a:p>
        </p:txBody>
      </p:sp>
      <p:pic>
        <p:nvPicPr>
          <p:cNvPr id="19474" name="Picture 22"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1851" y="806450"/>
            <a:ext cx="73136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5042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183946"/>
            <a:ext cx="6618109" cy="5624267"/>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pPr>
            <a:r>
              <a:rPr lang="en-US" sz="3200" dirty="0"/>
              <a:t>Connection-oriented transport: TCP</a:t>
            </a:r>
          </a:p>
          <a:p>
            <a:pPr marL="746125" lvl="1" indent="-288925">
              <a:buFont typeface="Arial"/>
              <a:buChar char="•"/>
              <a:defRPr/>
            </a:pPr>
            <a:r>
              <a:rPr lang="en-US" dirty="0"/>
              <a:t>segment structure</a:t>
            </a:r>
          </a:p>
          <a:p>
            <a:pPr marL="746125" lvl="1" indent="-288925">
              <a:buFont typeface="Arial"/>
              <a:buChar char="•"/>
              <a:defRPr/>
            </a:pPr>
            <a:r>
              <a:rPr lang="en-US" dirty="0"/>
              <a:t>reliable data transfer</a:t>
            </a:r>
          </a:p>
          <a:p>
            <a:pPr marL="746125" lvl="1" indent="-288925">
              <a:buFont typeface="Arial"/>
              <a:buChar char="•"/>
              <a:defRPr/>
            </a:pPr>
            <a:r>
              <a:rPr lang="en-US" dirty="0"/>
              <a:t>flow control</a:t>
            </a:r>
          </a:p>
          <a:p>
            <a:pPr marL="746125" lvl="1" indent="-288925">
              <a:buFont typeface="Arial"/>
              <a:buChar char="•"/>
              <a:defRPr/>
            </a:pPr>
            <a:r>
              <a:rPr lang="en-US" dirty="0"/>
              <a:t>connection management</a:t>
            </a:r>
            <a:endParaRPr lang="en-US" sz="3200" dirty="0"/>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006FDDC9-958A-FA4C-8403-56ABF73A6F8E}"/>
              </a:ext>
            </a:extLst>
          </p:cNvPr>
          <p:cNvSpPr>
            <a:spLocks noGrp="1"/>
          </p:cNvSpPr>
          <p:nvPr>
            <p:ph type="sldNum" sz="quarter" idx="4"/>
          </p:nvPr>
        </p:nvSpPr>
        <p:spPr/>
        <p:txBody>
          <a:bodyPr/>
          <a:lstStyle/>
          <a:p>
            <a:r>
              <a:rPr lang="en-US"/>
              <a:t>Transport Layer: 3-</a:t>
            </a:r>
            <a:fld id="{C4204591-24BD-A542-B9D5-F8D8A88D2FEE}" type="slidenum">
              <a:rPr lang="en-US" smtClean="0"/>
              <a:pPr/>
              <a:t>20</a:t>
            </a:fld>
            <a:endParaRPr lang="en-US" dirty="0"/>
          </a:p>
        </p:txBody>
      </p:sp>
      <p:pic>
        <p:nvPicPr>
          <p:cNvPr id="6" name="Picture 5">
            <a:extLst>
              <a:ext uri="{FF2B5EF4-FFF2-40B4-BE49-F238E27FC236}">
                <a16:creationId xmlns:a16="http://schemas.microsoft.com/office/drawing/2014/main" id="{BC34935B-A6B2-0C48-9638-656FA430E71C}"/>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1327162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overview  </a:t>
            </a:r>
            <a:r>
              <a:rPr lang="en-US" sz="3200" b="0" dirty="0"/>
              <a:t>RFCs: 793,1122, 2018, 5681, 7323</a:t>
            </a:r>
            <a:endParaRPr lang="en-US" sz="4400" b="0" dirty="0"/>
          </a:p>
        </p:txBody>
      </p:sp>
      <p:sp>
        <p:nvSpPr>
          <p:cNvPr id="70" name="Rectangle 3">
            <a:extLst>
              <a:ext uri="{FF2B5EF4-FFF2-40B4-BE49-F238E27FC236}">
                <a16:creationId xmlns:a16="http://schemas.microsoft.com/office/drawing/2014/main" id="{BE7365D6-3297-0A41-9B2B-91B801F95815}"/>
              </a:ext>
            </a:extLst>
          </p:cNvPr>
          <p:cNvSpPr txBox="1">
            <a:spLocks noChangeArrowheads="1"/>
          </p:cNvSpPr>
          <p:nvPr/>
        </p:nvSpPr>
        <p:spPr>
          <a:xfrm>
            <a:off x="5949863" y="1322613"/>
            <a:ext cx="6012953" cy="55353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cumulative ACKs</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pipelining:</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TCP congestion and flow control set window size</a:t>
            </a:r>
            <a:endParaRPr kumimoji="0" lang="en-US" altLang="en-US" sz="28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connection-oriented: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handshaking (exchange of control messages) initializes sender, receiver state before data exchange</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flow controlled:</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will not overwhelm receiver</a:t>
            </a:r>
          </a:p>
        </p:txBody>
      </p:sp>
      <p:sp>
        <p:nvSpPr>
          <p:cNvPr id="71" name="Rectangle 4">
            <a:extLst>
              <a:ext uri="{FF2B5EF4-FFF2-40B4-BE49-F238E27FC236}">
                <a16:creationId xmlns:a16="http://schemas.microsoft.com/office/drawing/2014/main" id="{B36C086D-3E3E-F04F-BB50-EE7FE6F1A87A}"/>
              </a:ext>
            </a:extLst>
          </p:cNvPr>
          <p:cNvSpPr txBox="1">
            <a:spLocks noChangeArrowheads="1"/>
          </p:cNvSpPr>
          <p:nvPr/>
        </p:nvSpPr>
        <p:spPr>
          <a:xfrm>
            <a:off x="687960" y="1322613"/>
            <a:ext cx="5382987"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point-to-point</a:t>
            </a: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one sender, one receiver</a:t>
            </a:r>
            <a:r>
              <a:rPr kumimoji="0" lang="en-US" altLang="en-US" sz="28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reliable, in-order </a:t>
            </a:r>
            <a:r>
              <a:rPr kumimoji="0" lang="en-US" altLang="en-US" sz="32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byte steam:</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message boundaries"</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a:ea typeface="+mn-ea"/>
                <a:cs typeface="+mn-cs"/>
              </a:rPr>
              <a:t>full duplex data:</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bi-directional data flow in same connection</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MSS: maximum segment size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 name="Slide Number Placeholder 2">
            <a:extLst>
              <a:ext uri="{FF2B5EF4-FFF2-40B4-BE49-F238E27FC236}">
                <a16:creationId xmlns:a16="http://schemas.microsoft.com/office/drawing/2014/main" id="{D9F10C56-26D5-5C45-B097-EE8A46539976}"/>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21</a:t>
            </a:fld>
            <a:endParaRPr lang="en-US" dirty="0"/>
          </a:p>
        </p:txBody>
      </p:sp>
    </p:spTree>
    <p:extLst>
      <p:ext uri="{BB962C8B-B14F-4D97-AF65-F5344CB8AC3E}">
        <p14:creationId xmlns:p14="http://schemas.microsoft.com/office/powerpoint/2010/main" val="15559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re 4"/>
          <p:cNvSpPr>
            <a:spLocks noGrp="1"/>
          </p:cNvSpPr>
          <p:nvPr>
            <p:ph type="title"/>
          </p:nvPr>
        </p:nvSpPr>
        <p:spPr/>
        <p:txBody>
          <a:bodyPr/>
          <a:lstStyle/>
          <a:p>
            <a:r>
              <a:rPr lang="fr-FR" altLang="en-US"/>
              <a:t>TCP connection </a:t>
            </a:r>
          </a:p>
        </p:txBody>
      </p:sp>
      <p:sp>
        <p:nvSpPr>
          <p:cNvPr id="13315" name="Espace réservé du contenu 5"/>
          <p:cNvSpPr>
            <a:spLocks noGrp="1"/>
          </p:cNvSpPr>
          <p:nvPr>
            <p:ph idx="1"/>
          </p:nvPr>
        </p:nvSpPr>
        <p:spPr/>
        <p:txBody>
          <a:bodyPr/>
          <a:lstStyle/>
          <a:p>
            <a:r>
              <a:rPr lang="fr-FR" altLang="en-US" dirty="0"/>
              <a:t>TCP </a:t>
            </a:r>
            <a:r>
              <a:rPr lang="fr-FR" altLang="en-US" dirty="0" err="1"/>
              <a:t>connection</a:t>
            </a:r>
            <a:r>
              <a:rPr lang="fr-FR" altLang="en-US" dirty="0"/>
              <a:t> </a:t>
            </a:r>
            <a:r>
              <a:rPr lang="fr-FR" altLang="en-US" dirty="0" err="1"/>
              <a:t>consists</a:t>
            </a:r>
            <a:r>
              <a:rPr lang="fr-FR" altLang="en-US" dirty="0"/>
              <a:t> of </a:t>
            </a:r>
          </a:p>
          <a:p>
            <a:pPr lvl="1"/>
            <a:r>
              <a:rPr lang="fr-FR" altLang="en-US" dirty="0"/>
              <a:t>Buffers and variables</a:t>
            </a:r>
          </a:p>
          <a:p>
            <a:pPr lvl="1"/>
            <a:r>
              <a:rPr lang="fr-FR" altLang="en-US" dirty="0"/>
              <a:t>a socket </a:t>
            </a:r>
            <a:r>
              <a:rPr lang="fr-FR" altLang="en-US" dirty="0" err="1"/>
              <a:t>connection</a:t>
            </a:r>
            <a:r>
              <a:rPr lang="fr-FR" altLang="en-US" dirty="0"/>
              <a:t> to a </a:t>
            </a:r>
            <a:r>
              <a:rPr lang="fr-FR" altLang="en-US" dirty="0" err="1"/>
              <a:t>process</a:t>
            </a:r>
            <a:r>
              <a:rPr lang="fr-FR" altLang="en-US" dirty="0"/>
              <a:t> in one host, and </a:t>
            </a:r>
            <a:r>
              <a:rPr lang="fr-FR" altLang="en-US" dirty="0" err="1"/>
              <a:t>another</a:t>
            </a:r>
            <a:r>
              <a:rPr lang="fr-FR" altLang="en-US" dirty="0"/>
              <a:t> set of buffers, variables, and a socket </a:t>
            </a:r>
            <a:r>
              <a:rPr lang="fr-FR" altLang="en-US" dirty="0" err="1"/>
              <a:t>connection</a:t>
            </a:r>
            <a:r>
              <a:rPr lang="fr-FR" altLang="en-US" dirty="0"/>
              <a:t> to a </a:t>
            </a:r>
            <a:r>
              <a:rPr lang="fr-FR" altLang="en-US" dirty="0" err="1"/>
              <a:t>process</a:t>
            </a:r>
            <a:r>
              <a:rPr lang="fr-FR" altLang="en-US" dirty="0"/>
              <a:t> in </a:t>
            </a:r>
            <a:r>
              <a:rPr lang="fr-FR" altLang="en-US" dirty="0" err="1"/>
              <a:t>another</a:t>
            </a:r>
            <a:r>
              <a:rPr lang="fr-FR" altLang="en-US" dirty="0"/>
              <a:t> host. </a:t>
            </a:r>
          </a:p>
          <a:p>
            <a:pPr lvl="1"/>
            <a:endParaRPr lang="fr-FR" altLang="en-US" dirty="0"/>
          </a:p>
          <a:p>
            <a:r>
              <a:rPr lang="fr-FR" altLang="en-US" dirty="0"/>
              <a:t>Nothing </a:t>
            </a:r>
            <a:r>
              <a:rPr lang="fr-FR" altLang="en-US" dirty="0" err="1"/>
              <a:t>is</a:t>
            </a:r>
            <a:r>
              <a:rPr lang="fr-FR" altLang="en-US" dirty="0"/>
              <a:t> </a:t>
            </a:r>
            <a:r>
              <a:rPr lang="fr-FR" altLang="en-US" dirty="0" err="1"/>
              <a:t>stored</a:t>
            </a:r>
            <a:r>
              <a:rPr lang="fr-FR" altLang="en-US" dirty="0"/>
              <a:t> in the network </a:t>
            </a:r>
            <a:r>
              <a:rPr lang="fr-FR" altLang="en-US" dirty="0" err="1"/>
              <a:t>elements</a:t>
            </a:r>
            <a:r>
              <a:rPr lang="fr-FR" altLang="en-US" dirty="0"/>
              <a:t> (</a:t>
            </a:r>
            <a:r>
              <a:rPr lang="fr-FR" altLang="en-US" dirty="0" err="1"/>
              <a:t>routers</a:t>
            </a:r>
            <a:r>
              <a:rPr lang="fr-FR" altLang="en-US" dirty="0"/>
              <a:t>, switches, and </a:t>
            </a:r>
            <a:r>
              <a:rPr lang="fr-FR" altLang="en-US" dirty="0" err="1"/>
              <a:t>repeaters</a:t>
            </a:r>
            <a:r>
              <a:rPr lang="fr-FR" altLang="en-US" dirty="0"/>
              <a:t>) </a:t>
            </a:r>
            <a:r>
              <a:rPr lang="fr-FR" altLang="en-US" dirty="0" err="1"/>
              <a:t>between</a:t>
            </a:r>
            <a:r>
              <a:rPr lang="fr-FR" altLang="en-US" dirty="0"/>
              <a:t> the hosts. </a:t>
            </a:r>
          </a:p>
          <a:p>
            <a:endParaRPr lang="fr-FR" altLang="en-US" dirty="0"/>
          </a:p>
        </p:txBody>
      </p:sp>
    </p:spTree>
    <p:extLst>
      <p:ext uri="{BB962C8B-B14F-4D97-AF65-F5344CB8AC3E}">
        <p14:creationId xmlns:p14="http://schemas.microsoft.com/office/powerpoint/2010/main" val="944372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re 1"/>
          <p:cNvSpPr>
            <a:spLocks noGrp="1"/>
          </p:cNvSpPr>
          <p:nvPr>
            <p:ph type="title"/>
          </p:nvPr>
        </p:nvSpPr>
        <p:spPr/>
        <p:txBody>
          <a:bodyPr/>
          <a:lstStyle/>
          <a:p>
            <a:r>
              <a:rPr lang="fr-FR" altLang="en-US"/>
              <a:t>TCP Send/Receive buffers</a:t>
            </a:r>
          </a:p>
        </p:txBody>
      </p:sp>
      <p:pic>
        <p:nvPicPr>
          <p:cNvPr id="12291" name="Image 4" descr="Screen Shot 2015-09-27 at 11.26.16.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98489" y="3247566"/>
            <a:ext cx="71469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103088" y="1117600"/>
            <a:ext cx="10958286" cy="2728230"/>
          </a:xfrm>
          <a:prstGeom prst="rect">
            <a:avLst/>
          </a:prstGeom>
        </p:spPr>
        <p:txBody>
          <a:bodyPr wrap="square">
            <a:spAutoFit/>
          </a:bodyPr>
          <a:lstStyle/>
          <a:p>
            <a:pPr marL="342900" indent="-342900">
              <a:buFont typeface="Arial" panose="020B0604020202020204" pitchFamily="34" charset="0"/>
              <a:buChar char="•"/>
              <a:defRPr/>
            </a:pPr>
            <a:r>
              <a:rPr lang="en-US" sz="2400" dirty="0"/>
              <a:t>The client process passes a stream of data through the socket. </a:t>
            </a:r>
          </a:p>
          <a:p>
            <a:pPr marL="342900" indent="-342900">
              <a:buFont typeface="Arial" panose="020B0604020202020204" pitchFamily="34" charset="0"/>
              <a:buChar char="•"/>
              <a:defRPr/>
            </a:pPr>
            <a:r>
              <a:rPr lang="en-US" sz="2400" dirty="0"/>
              <a:t>Once the data passes through the Socket, the data is in the hands of TCP </a:t>
            </a:r>
          </a:p>
          <a:p>
            <a:pPr>
              <a:defRPr/>
            </a:pPr>
            <a:r>
              <a:rPr lang="en-US" sz="2400" dirty="0"/>
              <a:t>      running in the client. </a:t>
            </a:r>
          </a:p>
          <a:p>
            <a:pPr marL="342900" indent="-342900">
              <a:buFont typeface="Arial" panose="020B0604020202020204" pitchFamily="34" charset="0"/>
              <a:buChar char="•"/>
              <a:defRPr/>
            </a:pPr>
            <a:r>
              <a:rPr lang="en-US" sz="2400" dirty="0"/>
              <a:t>TCP directs this data to the connection’s send buffer, which is one of the </a:t>
            </a:r>
          </a:p>
          <a:p>
            <a:pPr>
              <a:defRPr/>
            </a:pPr>
            <a:r>
              <a:rPr lang="en-US" sz="2400" dirty="0"/>
              <a:t>      buffers that is set aside during the initial three-way handshake.</a:t>
            </a:r>
          </a:p>
          <a:p>
            <a:pPr marL="342900" indent="-342900">
              <a:buFont typeface="Arial" panose="020B0604020202020204" pitchFamily="34" charset="0"/>
              <a:buChar char="•"/>
              <a:defRPr/>
            </a:pPr>
            <a:r>
              <a:rPr lang="en-US" sz="2400" dirty="0"/>
              <a:t>From time to time, TCP will grab chunks of data from the send buffer and </a:t>
            </a:r>
          </a:p>
          <a:p>
            <a:pPr>
              <a:defRPr/>
            </a:pPr>
            <a:r>
              <a:rPr lang="en-US" sz="2400" dirty="0"/>
              <a:t>     pass the data to the network layer.</a:t>
            </a:r>
          </a:p>
        </p:txBody>
      </p:sp>
    </p:spTree>
    <p:extLst>
      <p:ext uri="{BB962C8B-B14F-4D97-AF65-F5344CB8AC3E}">
        <p14:creationId xmlns:p14="http://schemas.microsoft.com/office/powerpoint/2010/main" val="3776564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segment structure</a:t>
            </a:r>
            <a:endParaRPr lang="en-US" sz="4400" b="0" dirty="0"/>
          </a:p>
        </p:txBody>
      </p:sp>
      <p:sp>
        <p:nvSpPr>
          <p:cNvPr id="60" name="Rectangle 4">
            <a:extLst>
              <a:ext uri="{FF2B5EF4-FFF2-40B4-BE49-F238E27FC236}">
                <a16:creationId xmlns:a16="http://schemas.microsoft.com/office/drawing/2014/main" id="{1438C6A7-F9CB-854D-92BB-74AFAE175928}"/>
              </a:ext>
            </a:extLst>
          </p:cNvPr>
          <p:cNvSpPr>
            <a:spLocks noChangeArrowheads="1"/>
          </p:cNvSpPr>
          <p:nvPr/>
        </p:nvSpPr>
        <p:spPr bwMode="auto">
          <a:xfrm>
            <a:off x="4432073" y="1560062"/>
            <a:ext cx="3951287" cy="4824412"/>
          </a:xfrm>
          <a:prstGeom prst="rect">
            <a:avLst/>
          </a:prstGeom>
          <a:solidFill>
            <a:srgbClr val="000099"/>
          </a:solidFill>
          <a:ln>
            <a:noFill/>
          </a:ln>
          <a:effectLst/>
          <a:extLst>
            <a:ext uri="{91240B29-F687-4f45-9708-019B960494DF}">
              <a14:hiddenLine xmlns:a14="http://schemas.microsoft.com/office/drawing/2010/main" xmlns="" w="190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61" name="Rectangle 5">
            <a:extLst>
              <a:ext uri="{FF2B5EF4-FFF2-40B4-BE49-F238E27FC236}">
                <a16:creationId xmlns:a16="http://schemas.microsoft.com/office/drawing/2014/main" id="{21D47CEF-020C-9C44-AB75-DA719011CBEF}"/>
              </a:ext>
            </a:extLst>
          </p:cNvPr>
          <p:cNvSpPr>
            <a:spLocks noChangeArrowheads="1"/>
          </p:cNvSpPr>
          <p:nvPr/>
        </p:nvSpPr>
        <p:spPr bwMode="auto">
          <a:xfrm>
            <a:off x="4346348" y="1675949"/>
            <a:ext cx="3951287" cy="4805363"/>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4" name="Group 3">
            <a:extLst>
              <a:ext uri="{FF2B5EF4-FFF2-40B4-BE49-F238E27FC236}">
                <a16:creationId xmlns:a16="http://schemas.microsoft.com/office/drawing/2014/main" id="{A0F66122-9E4A-7644-B40C-189BABEA3388}"/>
              </a:ext>
            </a:extLst>
          </p:cNvPr>
          <p:cNvGrpSpPr/>
          <p:nvPr/>
        </p:nvGrpSpPr>
        <p:grpSpPr>
          <a:xfrm>
            <a:off x="4495573" y="1661303"/>
            <a:ext cx="3450544" cy="401997"/>
            <a:chOff x="4495573" y="1661303"/>
            <a:chExt cx="3450544" cy="401997"/>
          </a:xfrm>
        </p:grpSpPr>
        <p:sp>
          <p:nvSpPr>
            <p:cNvPr id="62" name="Text Box 6">
              <a:extLst>
                <a:ext uri="{FF2B5EF4-FFF2-40B4-BE49-F238E27FC236}">
                  <a16:creationId xmlns:a16="http://schemas.microsoft.com/office/drawing/2014/main" id="{A183A89B-2122-E141-9DF3-203A60EFF295}"/>
                </a:ext>
              </a:extLst>
            </p:cNvPr>
            <p:cNvSpPr txBox="1">
              <a:spLocks noChangeArrowheads="1"/>
            </p:cNvSpPr>
            <p:nvPr/>
          </p:nvSpPr>
          <p:spPr bwMode="auto">
            <a:xfrm>
              <a:off x="4495573" y="1661303"/>
              <a:ext cx="1663700"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source port #</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3" name="Text Box 7">
              <a:extLst>
                <a:ext uri="{FF2B5EF4-FFF2-40B4-BE49-F238E27FC236}">
                  <a16:creationId xmlns:a16="http://schemas.microsoft.com/office/drawing/2014/main" id="{E52BAEBA-8AEA-B545-A35F-AEB6190843E5}"/>
                </a:ext>
              </a:extLst>
            </p:cNvPr>
            <p:cNvSpPr txBox="1">
              <a:spLocks noChangeArrowheads="1"/>
            </p:cNvSpPr>
            <p:nvPr/>
          </p:nvSpPr>
          <p:spPr bwMode="auto">
            <a:xfrm>
              <a:off x="6564992" y="1666425"/>
              <a:ext cx="1381125"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mn-cs"/>
                </a:rPr>
                <a:t>dest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 port #</a:t>
              </a: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64" name="Line 8">
            <a:extLst>
              <a:ext uri="{FF2B5EF4-FFF2-40B4-BE49-F238E27FC236}">
                <a16:creationId xmlns:a16="http://schemas.microsoft.com/office/drawing/2014/main" id="{BDC40F37-DD1A-6848-AB76-2EA7683B9566}"/>
              </a:ext>
            </a:extLst>
          </p:cNvPr>
          <p:cNvSpPr>
            <a:spLocks noChangeShapeType="1"/>
          </p:cNvSpPr>
          <p:nvPr/>
        </p:nvSpPr>
        <p:spPr bwMode="auto">
          <a:xfrm>
            <a:off x="4349523" y="2050599"/>
            <a:ext cx="3946525" cy="4763"/>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 name="Line 9">
            <a:extLst>
              <a:ext uri="{FF2B5EF4-FFF2-40B4-BE49-F238E27FC236}">
                <a16:creationId xmlns:a16="http://schemas.microsoft.com/office/drawing/2014/main" id="{92C91585-33BC-084B-A3CF-F5A7CD082B67}"/>
              </a:ext>
            </a:extLst>
          </p:cNvPr>
          <p:cNvSpPr>
            <a:spLocks noChangeShapeType="1"/>
          </p:cNvSpPr>
          <p:nvPr/>
        </p:nvSpPr>
        <p:spPr bwMode="auto">
          <a:xfrm flipV="1">
            <a:off x="4343173" y="2430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8552304C-19AC-C84B-842E-CBCC3EA9E153}"/>
              </a:ext>
            </a:extLst>
          </p:cNvPr>
          <p:cNvGrpSpPr/>
          <p:nvPr/>
        </p:nvGrpSpPr>
        <p:grpSpPr>
          <a:xfrm>
            <a:off x="4324123" y="1145724"/>
            <a:ext cx="3935412" cy="366713"/>
            <a:chOff x="4324123" y="1145724"/>
            <a:chExt cx="3935412" cy="366713"/>
          </a:xfrm>
        </p:grpSpPr>
        <p:sp>
          <p:nvSpPr>
            <p:cNvPr id="67" name="Text Box 11">
              <a:extLst>
                <a:ext uri="{FF2B5EF4-FFF2-40B4-BE49-F238E27FC236}">
                  <a16:creationId xmlns:a16="http://schemas.microsoft.com/office/drawing/2014/main" id="{D7A6E153-CAA2-2E43-9742-982E16926734}"/>
                </a:ext>
              </a:extLst>
            </p:cNvPr>
            <p:cNvSpPr txBox="1">
              <a:spLocks noChangeArrowheads="1"/>
            </p:cNvSpPr>
            <p:nvPr/>
          </p:nvSpPr>
          <p:spPr bwMode="auto">
            <a:xfrm>
              <a:off x="5832248" y="1145724"/>
              <a:ext cx="8572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rPr>
                <a:t>32 bits</a:t>
              </a:r>
              <a:endParaRPr kumimoji="0" lang="en-US" sz="24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68" name="Line 12">
              <a:extLst>
                <a:ext uri="{FF2B5EF4-FFF2-40B4-BE49-F238E27FC236}">
                  <a16:creationId xmlns:a16="http://schemas.microsoft.com/office/drawing/2014/main" id="{C28AE80D-AED7-BB43-AEEF-9A3E95D70A42}"/>
                </a:ext>
              </a:extLst>
            </p:cNvPr>
            <p:cNvSpPr>
              <a:spLocks noChangeShapeType="1"/>
            </p:cNvSpPr>
            <p:nvPr/>
          </p:nvSpPr>
          <p:spPr bwMode="auto">
            <a:xfrm>
              <a:off x="6832373" y="1391787"/>
              <a:ext cx="1427162" cy="476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9" name="Line 13">
              <a:extLst>
                <a:ext uri="{FF2B5EF4-FFF2-40B4-BE49-F238E27FC236}">
                  <a16:creationId xmlns:a16="http://schemas.microsoft.com/office/drawing/2014/main" id="{0FE91D57-DF52-A948-8B79-BE2C69D24056}"/>
                </a:ext>
              </a:extLst>
            </p:cNvPr>
            <p:cNvSpPr>
              <a:spLocks noChangeShapeType="1"/>
            </p:cNvSpPr>
            <p:nvPr/>
          </p:nvSpPr>
          <p:spPr bwMode="auto">
            <a:xfrm rot="10800000">
              <a:off x="4324123" y="1402899"/>
              <a:ext cx="1341437"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74" name="Line 16">
            <a:extLst>
              <a:ext uri="{FF2B5EF4-FFF2-40B4-BE49-F238E27FC236}">
                <a16:creationId xmlns:a16="http://schemas.microsoft.com/office/drawing/2014/main" id="{ADBC9EF8-B51B-F249-8F7B-C16F5F07A21E}"/>
              </a:ext>
            </a:extLst>
          </p:cNvPr>
          <p:cNvSpPr>
            <a:spLocks noChangeShapeType="1"/>
          </p:cNvSpPr>
          <p:nvPr/>
        </p:nvSpPr>
        <p:spPr bwMode="auto">
          <a:xfrm flipV="1">
            <a:off x="4352698" y="2811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6" name="Line 18">
            <a:extLst>
              <a:ext uri="{FF2B5EF4-FFF2-40B4-BE49-F238E27FC236}">
                <a16:creationId xmlns:a16="http://schemas.microsoft.com/office/drawing/2014/main" id="{32231029-9349-864B-ABF1-0D56E55824BB}"/>
              </a:ext>
            </a:extLst>
          </p:cNvPr>
          <p:cNvSpPr>
            <a:spLocks noChangeShapeType="1"/>
          </p:cNvSpPr>
          <p:nvPr/>
        </p:nvSpPr>
        <p:spPr bwMode="auto">
          <a:xfrm flipV="1">
            <a:off x="4347935" y="3206299"/>
            <a:ext cx="395128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7" name="Line 19">
            <a:extLst>
              <a:ext uri="{FF2B5EF4-FFF2-40B4-BE49-F238E27FC236}">
                <a16:creationId xmlns:a16="http://schemas.microsoft.com/office/drawing/2014/main" id="{F2503E28-C28E-B541-932B-7E2993655C9A}"/>
              </a:ext>
            </a:extLst>
          </p:cNvPr>
          <p:cNvSpPr>
            <a:spLocks noChangeShapeType="1"/>
          </p:cNvSpPr>
          <p:nvPr/>
        </p:nvSpPr>
        <p:spPr bwMode="auto">
          <a:xfrm flipV="1">
            <a:off x="4343173" y="3596824"/>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8" name="Line 20">
            <a:extLst>
              <a:ext uri="{FF2B5EF4-FFF2-40B4-BE49-F238E27FC236}">
                <a16:creationId xmlns:a16="http://schemas.microsoft.com/office/drawing/2014/main" id="{10D5BEAE-CBC6-5040-B37E-6D12FC20E9CB}"/>
              </a:ext>
            </a:extLst>
          </p:cNvPr>
          <p:cNvSpPr>
            <a:spLocks noChangeShapeType="1"/>
          </p:cNvSpPr>
          <p:nvPr/>
        </p:nvSpPr>
        <p:spPr bwMode="auto">
          <a:xfrm flipV="1">
            <a:off x="4343173" y="4158799"/>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9" name="Line 21">
            <a:extLst>
              <a:ext uri="{FF2B5EF4-FFF2-40B4-BE49-F238E27FC236}">
                <a16:creationId xmlns:a16="http://schemas.microsoft.com/office/drawing/2014/main" id="{A186AEBD-F0F5-494B-9D24-09B9888787CD}"/>
              </a:ext>
            </a:extLst>
          </p:cNvPr>
          <p:cNvSpPr>
            <a:spLocks noChangeShapeType="1"/>
          </p:cNvSpPr>
          <p:nvPr/>
        </p:nvSpPr>
        <p:spPr bwMode="auto">
          <a:xfrm flipH="1" flipV="1">
            <a:off x="6303735" y="2814187"/>
            <a:ext cx="4763" cy="777875"/>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Line 29">
            <a:extLst>
              <a:ext uri="{FF2B5EF4-FFF2-40B4-BE49-F238E27FC236}">
                <a16:creationId xmlns:a16="http://schemas.microsoft.com/office/drawing/2014/main" id="{B0BB3064-7239-A344-B7D3-3350540CF7AA}"/>
              </a:ext>
            </a:extLst>
          </p:cNvPr>
          <p:cNvSpPr>
            <a:spLocks noChangeShapeType="1"/>
          </p:cNvSpPr>
          <p:nvPr/>
        </p:nvSpPr>
        <p:spPr bwMode="auto">
          <a:xfrm flipV="1">
            <a:off x="5668735" y="2814187"/>
            <a:ext cx="0" cy="392112"/>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8" name="Line 30">
            <a:extLst>
              <a:ext uri="{FF2B5EF4-FFF2-40B4-BE49-F238E27FC236}">
                <a16:creationId xmlns:a16="http://schemas.microsoft.com/office/drawing/2014/main" id="{22FDEDB0-0202-4C4C-9B34-FF72CC278D77}"/>
              </a:ext>
            </a:extLst>
          </p:cNvPr>
          <p:cNvSpPr>
            <a:spLocks noChangeShapeType="1"/>
          </p:cNvSpPr>
          <p:nvPr/>
        </p:nvSpPr>
        <p:spPr bwMode="auto">
          <a:xfrm flipV="1">
            <a:off x="5514748"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9" name="Line 31">
            <a:extLst>
              <a:ext uri="{FF2B5EF4-FFF2-40B4-BE49-F238E27FC236}">
                <a16:creationId xmlns:a16="http://schemas.microsoft.com/office/drawing/2014/main" id="{9AF172E8-0A6A-6644-BD77-F1EE190D4ADE}"/>
              </a:ext>
            </a:extLst>
          </p:cNvPr>
          <p:cNvSpPr>
            <a:spLocks noChangeShapeType="1"/>
          </p:cNvSpPr>
          <p:nvPr/>
        </p:nvSpPr>
        <p:spPr bwMode="auto">
          <a:xfrm flipV="1">
            <a:off x="5355998" y="2818949"/>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96" name="Text Box 38">
            <a:extLst>
              <a:ext uri="{FF2B5EF4-FFF2-40B4-BE49-F238E27FC236}">
                <a16:creationId xmlns:a16="http://schemas.microsoft.com/office/drawing/2014/main" id="{A4AA77C6-3CD5-F642-BD90-B898C462C724}"/>
              </a:ext>
            </a:extLst>
          </p:cNvPr>
          <p:cNvSpPr txBox="1">
            <a:spLocks noChangeArrowheads="1"/>
          </p:cNvSpPr>
          <p:nvPr/>
        </p:nvSpPr>
        <p:spPr bwMode="auto">
          <a:xfrm>
            <a:off x="4636966" y="2822952"/>
            <a:ext cx="482824" cy="4076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not</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used</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7" name="Line 39">
            <a:extLst>
              <a:ext uri="{FF2B5EF4-FFF2-40B4-BE49-F238E27FC236}">
                <a16:creationId xmlns:a16="http://schemas.microsoft.com/office/drawing/2014/main" id="{356A6247-1FB1-3845-A2C5-956708DFFBCF}"/>
              </a:ext>
            </a:extLst>
          </p:cNvPr>
          <p:cNvSpPr>
            <a:spLocks noChangeShapeType="1"/>
          </p:cNvSpPr>
          <p:nvPr/>
        </p:nvSpPr>
        <p:spPr bwMode="auto">
          <a:xfrm flipV="1">
            <a:off x="4713766"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115" name="Group 114">
            <a:extLst>
              <a:ext uri="{FF2B5EF4-FFF2-40B4-BE49-F238E27FC236}">
                <a16:creationId xmlns:a16="http://schemas.microsoft.com/office/drawing/2014/main" id="{25F3ABB6-FC22-8E45-923B-C272F3E47C12}"/>
              </a:ext>
            </a:extLst>
          </p:cNvPr>
          <p:cNvGrpSpPr/>
          <p:nvPr/>
        </p:nvGrpSpPr>
        <p:grpSpPr>
          <a:xfrm>
            <a:off x="6405335" y="2817362"/>
            <a:ext cx="5252586" cy="731484"/>
            <a:chOff x="6405335" y="2817362"/>
            <a:chExt cx="5252586" cy="731484"/>
          </a:xfrm>
        </p:grpSpPr>
        <p:sp>
          <p:nvSpPr>
            <p:cNvPr id="80" name="Text Box 22">
              <a:extLst>
                <a:ext uri="{FF2B5EF4-FFF2-40B4-BE49-F238E27FC236}">
                  <a16:creationId xmlns:a16="http://schemas.microsoft.com/office/drawing/2014/main" id="{C121B465-E333-C34D-A9B1-4EC95AB29663}"/>
                </a:ext>
              </a:extLst>
            </p:cNvPr>
            <p:cNvSpPr txBox="1">
              <a:spLocks noChangeArrowheads="1"/>
            </p:cNvSpPr>
            <p:nvPr/>
          </p:nvSpPr>
          <p:spPr bwMode="auto">
            <a:xfrm>
              <a:off x="6405335" y="2817362"/>
              <a:ext cx="1746250"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receive window</a:t>
              </a:r>
            </a:p>
          </p:txBody>
        </p:sp>
        <p:sp>
          <p:nvSpPr>
            <p:cNvPr id="107" name="Text Box 49">
              <a:extLst>
                <a:ext uri="{FF2B5EF4-FFF2-40B4-BE49-F238E27FC236}">
                  <a16:creationId xmlns:a16="http://schemas.microsoft.com/office/drawing/2014/main" id="{C1196D10-63E5-F146-A338-FB6B53C00F42}"/>
                </a:ext>
              </a:extLst>
            </p:cNvPr>
            <p:cNvSpPr txBox="1">
              <a:spLocks noChangeArrowheads="1"/>
            </p:cNvSpPr>
            <p:nvPr/>
          </p:nvSpPr>
          <p:spPr bwMode="auto">
            <a:xfrm>
              <a:off x="8724900" y="2847115"/>
              <a:ext cx="2933021" cy="7017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flow control: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bytes receiver willing to accept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1" name="Line 53">
              <a:extLst>
                <a:ext uri="{FF2B5EF4-FFF2-40B4-BE49-F238E27FC236}">
                  <a16:creationId xmlns:a16="http://schemas.microsoft.com/office/drawing/2014/main" id="{AF202832-D8A0-CC44-AEC9-474E90CA4102}"/>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id="{9EBAA956-8E89-0A4A-A4BC-91B08D93CC59}"/>
              </a:ext>
            </a:extLst>
          </p:cNvPr>
          <p:cNvGrpSpPr/>
          <p:nvPr/>
        </p:nvGrpSpPr>
        <p:grpSpPr>
          <a:xfrm>
            <a:off x="4979760" y="1674436"/>
            <a:ext cx="7040433" cy="1034129"/>
            <a:chOff x="4979760" y="1674436"/>
            <a:chExt cx="7040433" cy="1034129"/>
          </a:xfrm>
        </p:grpSpPr>
        <p:sp>
          <p:nvSpPr>
            <p:cNvPr id="73" name="Text Box 15">
              <a:extLst>
                <a:ext uri="{FF2B5EF4-FFF2-40B4-BE49-F238E27FC236}">
                  <a16:creationId xmlns:a16="http://schemas.microsoft.com/office/drawing/2014/main" id="{2925631F-CA45-E24E-A2A3-36475CE0E0E7}"/>
                </a:ext>
              </a:extLst>
            </p:cNvPr>
            <p:cNvSpPr txBox="1">
              <a:spLocks noChangeArrowheads="1"/>
            </p:cNvSpPr>
            <p:nvPr/>
          </p:nvSpPr>
          <p:spPr bwMode="auto">
            <a:xfrm>
              <a:off x="4979760" y="2029962"/>
              <a:ext cx="2486025"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sequence number</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08" name="Text Box 50">
              <a:extLst>
                <a:ext uri="{FF2B5EF4-FFF2-40B4-BE49-F238E27FC236}">
                  <a16:creationId xmlns:a16="http://schemas.microsoft.com/office/drawing/2014/main" id="{62087231-CA89-9F46-9993-D5CE4726B8FD}"/>
                </a:ext>
              </a:extLst>
            </p:cNvPr>
            <p:cNvSpPr txBox="1">
              <a:spLocks noChangeArrowheads="1"/>
            </p:cNvSpPr>
            <p:nvPr/>
          </p:nvSpPr>
          <p:spPr bwMode="auto">
            <a:xfrm>
              <a:off x="8724900" y="1674436"/>
              <a:ext cx="3295293" cy="103412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segment seq  #: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counting bytes of data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into </a:t>
              </a:r>
              <a:r>
                <a:rPr kumimoji="0" lang="en-US" sz="2000" b="0" i="0" u="none" strike="noStrike" kern="1200" cap="none" spc="0" normalizeH="0" baseline="0" noProof="0" dirty="0" err="1">
                  <a:ln>
                    <a:noFill/>
                  </a:ln>
                  <a:solidFill>
                    <a:srgbClr val="000000"/>
                  </a:solidFill>
                  <a:effectLst/>
                  <a:uLnTx/>
                  <a:uFillTx/>
                  <a:latin typeface="Calibri" panose="020F0502020204030204"/>
                  <a:ea typeface="ＭＳ Ｐゴシック" charset="0"/>
                  <a:cs typeface="+mn-cs"/>
                </a:rPr>
                <a:t>bytestream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(not segments!)</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3" name="Line 55">
              <a:extLst>
                <a:ext uri="{FF2B5EF4-FFF2-40B4-BE49-F238E27FC236}">
                  <a16:creationId xmlns:a16="http://schemas.microsoft.com/office/drawing/2014/main" id="{69F8FE7B-57A5-CA45-A15F-AB7CA1D8D54F}"/>
                </a:ext>
              </a:extLst>
            </p:cNvPr>
            <p:cNvSpPr>
              <a:spLocks noChangeShapeType="1"/>
            </p:cNvSpPr>
            <p:nvPr/>
          </p:nvSpPr>
          <p:spPr bwMode="auto">
            <a:xfrm flipH="1" flipV="1">
              <a:off x="7924797" y="2244436"/>
              <a:ext cx="800102"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9" name="Group 128">
            <a:extLst>
              <a:ext uri="{FF2B5EF4-FFF2-40B4-BE49-F238E27FC236}">
                <a16:creationId xmlns:a16="http://schemas.microsoft.com/office/drawing/2014/main" id="{33475873-1909-F649-A643-DFFF77ECF966}"/>
              </a:ext>
            </a:extLst>
          </p:cNvPr>
          <p:cNvGrpSpPr/>
          <p:nvPr/>
        </p:nvGrpSpPr>
        <p:grpSpPr>
          <a:xfrm>
            <a:off x="5398860" y="4614412"/>
            <a:ext cx="5770816" cy="1113459"/>
            <a:chOff x="5398860" y="4614412"/>
            <a:chExt cx="5770816" cy="1113459"/>
          </a:xfrm>
        </p:grpSpPr>
        <p:sp>
          <p:nvSpPr>
            <p:cNvPr id="72" name="Text Box 14">
              <a:extLst>
                <a:ext uri="{FF2B5EF4-FFF2-40B4-BE49-F238E27FC236}">
                  <a16:creationId xmlns:a16="http://schemas.microsoft.com/office/drawing/2014/main" id="{394540FC-9B80-C049-964F-3AEAF7A4BA2D}"/>
                </a:ext>
              </a:extLst>
            </p:cNvPr>
            <p:cNvSpPr txBox="1">
              <a:spLocks noChangeArrowheads="1"/>
            </p:cNvSpPr>
            <p:nvPr/>
          </p:nvSpPr>
          <p:spPr bwMode="auto">
            <a:xfrm>
              <a:off x="5398860" y="4614412"/>
              <a:ext cx="2005013" cy="10064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25" name="TextBox 124">
              <a:extLst>
                <a:ext uri="{FF2B5EF4-FFF2-40B4-BE49-F238E27FC236}">
                  <a16:creationId xmlns:a16="http://schemas.microsoft.com/office/drawing/2014/main" id="{5CEFBFE2-D6C5-6C4B-85CD-C2B1704479E4}"/>
                </a:ext>
              </a:extLst>
            </p:cNvPr>
            <p:cNvSpPr txBox="1"/>
            <p:nvPr/>
          </p:nvSpPr>
          <p:spPr>
            <a:xfrm>
              <a:off x="8980285" y="4638342"/>
              <a:ext cx="2189391" cy="1089529"/>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 sent by application into TCP socket</a:t>
              </a:r>
            </a:p>
          </p:txBody>
        </p:sp>
        <p:cxnSp>
          <p:nvCxnSpPr>
            <p:cNvPr id="127" name="Straight Connector 126">
              <a:extLst>
                <a:ext uri="{FF2B5EF4-FFF2-40B4-BE49-F238E27FC236}">
                  <a16:creationId xmlns:a16="http://schemas.microsoft.com/office/drawing/2014/main" id="{C6493B77-D766-824F-B26A-A73B9CE92231}"/>
                </a:ext>
              </a:extLst>
            </p:cNvPr>
            <p:cNvCxnSpPr>
              <a:cxnSpLocks/>
            </p:cNvCxnSpPr>
            <p:nvPr/>
          </p:nvCxnSpPr>
          <p:spPr>
            <a:xfrm>
              <a:off x="6727821" y="5150307"/>
              <a:ext cx="214947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BF59DCBE-5CE4-3C4C-AE43-7FF674B5D23E}"/>
              </a:ext>
            </a:extLst>
          </p:cNvPr>
          <p:cNvGrpSpPr/>
          <p:nvPr/>
        </p:nvGrpSpPr>
        <p:grpSpPr>
          <a:xfrm>
            <a:off x="230393" y="1952743"/>
            <a:ext cx="7771793" cy="1241280"/>
            <a:chOff x="230393" y="1952743"/>
            <a:chExt cx="7771793" cy="1241280"/>
          </a:xfrm>
        </p:grpSpPr>
        <p:sp>
          <p:nvSpPr>
            <p:cNvPr id="137" name="Text Box 35">
              <a:extLst>
                <a:ext uri="{FF2B5EF4-FFF2-40B4-BE49-F238E27FC236}">
                  <a16:creationId xmlns:a16="http://schemas.microsoft.com/office/drawing/2014/main" id="{56F627F0-D04E-AD42-8864-F7B517B4A587}"/>
                </a:ext>
              </a:extLst>
            </p:cNvPr>
            <p:cNvSpPr txBox="1">
              <a:spLocks noChangeArrowheads="1"/>
            </p:cNvSpPr>
            <p:nvPr/>
          </p:nvSpPr>
          <p:spPr bwMode="auto">
            <a:xfrm>
              <a:off x="5447297" y="2855469"/>
              <a:ext cx="303288"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A</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nvGrpSpPr>
            <p:cNvPr id="15" name="Group 14">
              <a:extLst>
                <a:ext uri="{FF2B5EF4-FFF2-40B4-BE49-F238E27FC236}">
                  <a16:creationId xmlns:a16="http://schemas.microsoft.com/office/drawing/2014/main" id="{3379D87E-87A4-BA4A-B25D-D60B162F998C}"/>
                </a:ext>
              </a:extLst>
            </p:cNvPr>
            <p:cNvGrpSpPr/>
            <p:nvPr/>
          </p:nvGrpSpPr>
          <p:grpSpPr>
            <a:xfrm>
              <a:off x="230393" y="1952743"/>
              <a:ext cx="7771793" cy="971860"/>
              <a:chOff x="217867" y="1965269"/>
              <a:chExt cx="7771793" cy="971860"/>
            </a:xfrm>
          </p:grpSpPr>
          <p:sp>
            <p:nvSpPr>
              <p:cNvPr id="75" name="Text Box 17">
                <a:extLst>
                  <a:ext uri="{FF2B5EF4-FFF2-40B4-BE49-F238E27FC236}">
                    <a16:creationId xmlns:a16="http://schemas.microsoft.com/office/drawing/2014/main" id="{0864898F-71F3-8C4E-ACBC-273A8F765CF5}"/>
                  </a:ext>
                </a:extLst>
              </p:cNvPr>
              <p:cNvSpPr txBox="1">
                <a:spLocks noChangeArrowheads="1"/>
              </p:cNvSpPr>
              <p:nvPr/>
            </p:nvSpPr>
            <p:spPr bwMode="auto">
              <a:xfrm>
                <a:off x="4579710" y="2430012"/>
                <a:ext cx="3409950"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acknowledgement number</a:t>
                </a:r>
              </a:p>
            </p:txBody>
          </p:sp>
          <p:sp>
            <p:nvSpPr>
              <p:cNvPr id="119" name="Text Box 42">
                <a:extLst>
                  <a:ext uri="{FF2B5EF4-FFF2-40B4-BE49-F238E27FC236}">
                    <a16:creationId xmlns:a16="http://schemas.microsoft.com/office/drawing/2014/main" id="{C0762B76-1537-D346-8718-8BAF6E1F14E0}"/>
                  </a:ext>
                </a:extLst>
              </p:cNvPr>
              <p:cNvSpPr txBox="1">
                <a:spLocks noChangeArrowheads="1"/>
              </p:cNvSpPr>
              <p:nvPr/>
            </p:nvSpPr>
            <p:spPr bwMode="auto">
              <a:xfrm>
                <a:off x="217867" y="1965269"/>
                <a:ext cx="3287333" cy="7017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ACK: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 # of next expected byte; A bit: this is an ACK</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30" name="Line 46">
                <a:extLst>
                  <a:ext uri="{FF2B5EF4-FFF2-40B4-BE49-F238E27FC236}">
                    <a16:creationId xmlns:a16="http://schemas.microsoft.com/office/drawing/2014/main" id="{412FF679-1D4F-2847-94BC-15BFC61FB4F3}"/>
                  </a:ext>
                </a:extLst>
              </p:cNvPr>
              <p:cNvSpPr>
                <a:spLocks noChangeShapeType="1"/>
              </p:cNvSpPr>
              <p:nvPr/>
            </p:nvSpPr>
            <p:spPr bwMode="auto">
              <a:xfrm>
                <a:off x="3505200" y="2417523"/>
                <a:ext cx="2076276" cy="519606"/>
              </a:xfrm>
              <a:custGeom>
                <a:avLst/>
                <a:gdLst>
                  <a:gd name="connsiteX0" fmla="*/ 0 w 2082626"/>
                  <a:gd name="connsiteY0" fmla="*/ 0 h 560881"/>
                  <a:gd name="connsiteX1" fmla="*/ 2082626 w 2082626"/>
                  <a:gd name="connsiteY1" fmla="*/ 560881 h 560881"/>
                  <a:gd name="connsiteX0" fmla="*/ 0 w 2076276"/>
                  <a:gd name="connsiteY0" fmla="*/ 0 h 519606"/>
                  <a:gd name="connsiteX1" fmla="*/ 2076276 w 2076276"/>
                  <a:gd name="connsiteY1" fmla="*/ 519606 h 519606"/>
                </a:gdLst>
                <a:ahLst/>
                <a:cxnLst>
                  <a:cxn ang="0">
                    <a:pos x="connsiteX0" y="connsiteY0"/>
                  </a:cxn>
                  <a:cxn ang="0">
                    <a:pos x="connsiteX1" y="connsiteY1"/>
                  </a:cxn>
                </a:cxnLst>
                <a:rect l="l" t="t" r="r" b="b"/>
                <a:pathLst>
                  <a:path w="2076276" h="519606">
                    <a:moveTo>
                      <a:pt x="0" y="0"/>
                    </a:moveTo>
                    <a:cubicBezTo>
                      <a:pt x="694209" y="186960"/>
                      <a:pt x="1382067" y="332646"/>
                      <a:pt x="2076276" y="519606"/>
                    </a:cubicBezTo>
                  </a:path>
                </a:pathLst>
              </a:cu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9" name="Line 46">
                <a:extLst>
                  <a:ext uri="{FF2B5EF4-FFF2-40B4-BE49-F238E27FC236}">
                    <a16:creationId xmlns:a16="http://schemas.microsoft.com/office/drawing/2014/main" id="{EB8BFD18-324C-2547-AC63-1A0429ECFF56}"/>
                  </a:ext>
                </a:extLst>
              </p:cNvPr>
              <p:cNvSpPr>
                <a:spLocks noChangeShapeType="1"/>
              </p:cNvSpPr>
              <p:nvPr/>
            </p:nvSpPr>
            <p:spPr bwMode="auto">
              <a:xfrm>
                <a:off x="3505200" y="2404996"/>
                <a:ext cx="1263476" cy="215853"/>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9" name="Group 18">
            <a:extLst>
              <a:ext uri="{FF2B5EF4-FFF2-40B4-BE49-F238E27FC236}">
                <a16:creationId xmlns:a16="http://schemas.microsoft.com/office/drawing/2014/main" id="{953AA9D9-F43E-B546-80D0-95A95FF3FD84}"/>
              </a:ext>
            </a:extLst>
          </p:cNvPr>
          <p:cNvGrpSpPr/>
          <p:nvPr/>
        </p:nvGrpSpPr>
        <p:grpSpPr>
          <a:xfrm>
            <a:off x="1895418" y="3659802"/>
            <a:ext cx="5828956" cy="1090980"/>
            <a:chOff x="1895418" y="3659802"/>
            <a:chExt cx="5828956" cy="1090980"/>
          </a:xfrm>
        </p:grpSpPr>
        <p:sp>
          <p:nvSpPr>
            <p:cNvPr id="98" name="Text Box 40">
              <a:extLst>
                <a:ext uri="{FF2B5EF4-FFF2-40B4-BE49-F238E27FC236}">
                  <a16:creationId xmlns:a16="http://schemas.microsoft.com/office/drawing/2014/main" id="{CF922213-3DD4-4C4D-B198-ADF3A29EDBE7}"/>
                </a:ext>
              </a:extLst>
            </p:cNvPr>
            <p:cNvSpPr txBox="1">
              <a:spLocks noChangeArrowheads="1"/>
            </p:cNvSpPr>
            <p:nvPr/>
          </p:nvSpPr>
          <p:spPr bwMode="auto">
            <a:xfrm>
              <a:off x="4830361" y="3659802"/>
              <a:ext cx="2894013" cy="4001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options (variable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99" name="Text Box 42">
              <a:extLst>
                <a:ext uri="{FF2B5EF4-FFF2-40B4-BE49-F238E27FC236}">
                  <a16:creationId xmlns:a16="http://schemas.microsoft.com/office/drawing/2014/main" id="{0BC58028-06B7-1A4E-8510-AE6EC1534B60}"/>
                </a:ext>
              </a:extLst>
            </p:cNvPr>
            <p:cNvSpPr txBox="1">
              <a:spLocks noChangeArrowheads="1"/>
            </p:cNvSpPr>
            <p:nvPr/>
          </p:nvSpPr>
          <p:spPr bwMode="auto">
            <a:xfrm>
              <a:off x="1895418" y="4326050"/>
              <a:ext cx="1688926"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options</a:t>
              </a: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cxnSp>
          <p:nvCxnSpPr>
            <p:cNvPr id="7" name="Straight Connector 6">
              <a:extLst>
                <a:ext uri="{FF2B5EF4-FFF2-40B4-BE49-F238E27FC236}">
                  <a16:creationId xmlns:a16="http://schemas.microsoft.com/office/drawing/2014/main" id="{163A6281-16AF-5F4C-91CB-DC46FB513501}"/>
                </a:ext>
              </a:extLst>
            </p:cNvPr>
            <p:cNvCxnSpPr>
              <a:cxnSpLocks/>
              <a:stCxn id="99" idx="3"/>
              <a:endCxn id="98" idx="1"/>
            </p:cNvCxnSpPr>
            <p:nvPr/>
          </p:nvCxnSpPr>
          <p:spPr>
            <a:xfrm flipV="1">
              <a:off x="3584344" y="3859857"/>
              <a:ext cx="1246017" cy="6785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F2A3E3DD-D73E-3547-B33E-7D97BEE9201E}"/>
              </a:ext>
            </a:extLst>
          </p:cNvPr>
          <p:cNvGrpSpPr/>
          <p:nvPr/>
        </p:nvGrpSpPr>
        <p:grpSpPr>
          <a:xfrm>
            <a:off x="318075" y="2819126"/>
            <a:ext cx="4456458" cy="424732"/>
            <a:chOff x="318075" y="2819126"/>
            <a:chExt cx="4456458" cy="424732"/>
          </a:xfrm>
        </p:grpSpPr>
        <p:sp>
          <p:nvSpPr>
            <p:cNvPr id="95" name="Text Box 37">
              <a:extLst>
                <a:ext uri="{FF2B5EF4-FFF2-40B4-BE49-F238E27FC236}">
                  <a16:creationId xmlns:a16="http://schemas.microsoft.com/office/drawing/2014/main" id="{71EB8016-A1DB-1C48-954C-FFBE5CF06DD6}"/>
                </a:ext>
              </a:extLst>
            </p:cNvPr>
            <p:cNvSpPr txBox="1">
              <a:spLocks noChangeArrowheads="1"/>
            </p:cNvSpPr>
            <p:nvPr/>
          </p:nvSpPr>
          <p:spPr bwMode="auto">
            <a:xfrm>
              <a:off x="4278884" y="2826980"/>
              <a:ext cx="495649" cy="4076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head</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Calibri"/>
                  <a:ea typeface="ＭＳ Ｐゴシック" charset="0"/>
                  <a:cs typeface="+mn-cs"/>
                </a:rPr>
                <a:t>len</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3" name="Text Box 42">
              <a:extLst>
                <a:ext uri="{FF2B5EF4-FFF2-40B4-BE49-F238E27FC236}">
                  <a16:creationId xmlns:a16="http://schemas.microsoft.com/office/drawing/2014/main" id="{23616F6F-F6F8-274A-8F63-2AC8E94CAB0A}"/>
                </a:ext>
              </a:extLst>
            </p:cNvPr>
            <p:cNvSpPr txBox="1">
              <a:spLocks noChangeArrowheads="1"/>
            </p:cNvSpPr>
            <p:nvPr/>
          </p:nvSpPr>
          <p:spPr bwMode="auto">
            <a:xfrm>
              <a:off x="318075" y="2819126"/>
              <a:ext cx="3287333"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length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(of TCP header)</a:t>
              </a:r>
            </a:p>
          </p:txBody>
        </p:sp>
        <p:cxnSp>
          <p:nvCxnSpPr>
            <p:cNvPr id="100" name="Straight Connector 99">
              <a:extLst>
                <a:ext uri="{FF2B5EF4-FFF2-40B4-BE49-F238E27FC236}">
                  <a16:creationId xmlns:a16="http://schemas.microsoft.com/office/drawing/2014/main" id="{D004F6AA-C795-934B-B4F0-CA6FD9652FA1}"/>
                </a:ext>
              </a:extLst>
            </p:cNvPr>
            <p:cNvCxnSpPr>
              <a:cxnSpLocks/>
            </p:cNvCxnSpPr>
            <p:nvPr/>
          </p:nvCxnSpPr>
          <p:spPr>
            <a:xfrm>
              <a:off x="3544867" y="3031480"/>
              <a:ext cx="78388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B36175C2-99D1-404D-ADB0-0C09C4338566}"/>
              </a:ext>
            </a:extLst>
          </p:cNvPr>
          <p:cNvGrpSpPr/>
          <p:nvPr/>
        </p:nvGrpSpPr>
        <p:grpSpPr>
          <a:xfrm>
            <a:off x="-24878" y="3174115"/>
            <a:ext cx="6031751" cy="424732"/>
            <a:chOff x="-24878" y="3174115"/>
            <a:chExt cx="6031751" cy="424732"/>
          </a:xfrm>
        </p:grpSpPr>
        <p:sp>
          <p:nvSpPr>
            <p:cNvPr id="82" name="Text Box 24">
              <a:extLst>
                <a:ext uri="{FF2B5EF4-FFF2-40B4-BE49-F238E27FC236}">
                  <a16:creationId xmlns:a16="http://schemas.microsoft.com/office/drawing/2014/main" id="{DA04993C-122C-384A-9568-6515DE95D883}"/>
                </a:ext>
              </a:extLst>
            </p:cNvPr>
            <p:cNvSpPr txBox="1">
              <a:spLocks noChangeArrowheads="1"/>
            </p:cNvSpPr>
            <p:nvPr/>
          </p:nvSpPr>
          <p:spPr bwMode="auto">
            <a:xfrm>
              <a:off x="4794023" y="3203124"/>
              <a:ext cx="12128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checksum</a:t>
              </a:r>
            </a:p>
          </p:txBody>
        </p:sp>
        <p:sp>
          <p:nvSpPr>
            <p:cNvPr id="109" name="Text Box 51">
              <a:extLst>
                <a:ext uri="{FF2B5EF4-FFF2-40B4-BE49-F238E27FC236}">
                  <a16:creationId xmlns:a16="http://schemas.microsoft.com/office/drawing/2014/main" id="{CE090396-5F4D-6E4E-AA9C-2778A62E73B2}"/>
                </a:ext>
              </a:extLst>
            </p:cNvPr>
            <p:cNvSpPr txBox="1">
              <a:spLocks noChangeArrowheads="1"/>
            </p:cNvSpPr>
            <p:nvPr/>
          </p:nvSpPr>
          <p:spPr bwMode="auto">
            <a:xfrm>
              <a:off x="-24878" y="3174115"/>
              <a:ext cx="3595495"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Internet</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checksum</a:t>
              </a:r>
            </a:p>
          </p:txBody>
        </p:sp>
        <p:cxnSp>
          <p:nvCxnSpPr>
            <p:cNvPr id="101" name="Straight Connector 100">
              <a:extLst>
                <a:ext uri="{FF2B5EF4-FFF2-40B4-BE49-F238E27FC236}">
                  <a16:creationId xmlns:a16="http://schemas.microsoft.com/office/drawing/2014/main" id="{4F87AC36-0055-DB45-A995-89129C5BB34A}"/>
                </a:ext>
              </a:extLst>
            </p:cNvPr>
            <p:cNvCxnSpPr>
              <a:cxnSpLocks/>
              <a:stCxn id="109" idx="3"/>
              <a:endCxn id="82" idx="1"/>
            </p:cNvCxnSpPr>
            <p:nvPr/>
          </p:nvCxnSpPr>
          <p:spPr>
            <a:xfrm>
              <a:off x="3570617" y="3386481"/>
              <a:ext cx="122340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6" name="Line 10">
            <a:extLst>
              <a:ext uri="{FF2B5EF4-FFF2-40B4-BE49-F238E27FC236}">
                <a16:creationId xmlns:a16="http://schemas.microsoft.com/office/drawing/2014/main" id="{A7BD37B6-D73B-A04D-BDC5-AC47A5470DF4}"/>
              </a:ext>
            </a:extLst>
          </p:cNvPr>
          <p:cNvSpPr>
            <a:spLocks noChangeShapeType="1"/>
          </p:cNvSpPr>
          <p:nvPr/>
        </p:nvSpPr>
        <p:spPr bwMode="auto">
          <a:xfrm flipH="1" flipV="1">
            <a:off x="6289447" y="1679374"/>
            <a:ext cx="1761" cy="365184"/>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4" name="Line 26">
            <a:extLst>
              <a:ext uri="{FF2B5EF4-FFF2-40B4-BE49-F238E27FC236}">
                <a16:creationId xmlns:a16="http://schemas.microsoft.com/office/drawing/2014/main" id="{E9E32468-C9DF-C94D-9DAD-F82B75D02C08}"/>
              </a:ext>
            </a:extLst>
          </p:cNvPr>
          <p:cNvSpPr>
            <a:spLocks noChangeShapeType="1"/>
          </p:cNvSpPr>
          <p:nvPr/>
        </p:nvSpPr>
        <p:spPr bwMode="auto">
          <a:xfrm flipV="1">
            <a:off x="6150711" y="2804662"/>
            <a:ext cx="0" cy="392112"/>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5" name="Line 27">
            <a:extLst>
              <a:ext uri="{FF2B5EF4-FFF2-40B4-BE49-F238E27FC236}">
                <a16:creationId xmlns:a16="http://schemas.microsoft.com/office/drawing/2014/main" id="{595D2D86-0F8D-4945-A03B-3D969A9DA275}"/>
              </a:ext>
            </a:extLst>
          </p:cNvPr>
          <p:cNvSpPr>
            <a:spLocks noChangeShapeType="1"/>
          </p:cNvSpPr>
          <p:nvPr/>
        </p:nvSpPr>
        <p:spPr bwMode="auto">
          <a:xfrm flipV="1">
            <a:off x="5992924"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6" name="Line 28">
            <a:extLst>
              <a:ext uri="{FF2B5EF4-FFF2-40B4-BE49-F238E27FC236}">
                <a16:creationId xmlns:a16="http://schemas.microsoft.com/office/drawing/2014/main" id="{480E04C4-4E6B-614E-B6E0-47722F1E738E}"/>
              </a:ext>
            </a:extLst>
          </p:cNvPr>
          <p:cNvSpPr>
            <a:spLocks noChangeShapeType="1"/>
          </p:cNvSpPr>
          <p:nvPr/>
        </p:nvSpPr>
        <p:spPr bwMode="auto">
          <a:xfrm flipV="1">
            <a:off x="5830374"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28" name="Group 27">
            <a:extLst>
              <a:ext uri="{FF2B5EF4-FFF2-40B4-BE49-F238E27FC236}">
                <a16:creationId xmlns:a16="http://schemas.microsoft.com/office/drawing/2014/main" id="{D7BB42C1-3F72-AF44-97A0-27D00776292C}"/>
              </a:ext>
            </a:extLst>
          </p:cNvPr>
          <p:cNvGrpSpPr/>
          <p:nvPr/>
        </p:nvGrpSpPr>
        <p:grpSpPr>
          <a:xfrm>
            <a:off x="172543" y="2863949"/>
            <a:ext cx="6190466" cy="2660551"/>
            <a:chOff x="172543" y="2863949"/>
            <a:chExt cx="6190466" cy="2660551"/>
          </a:xfrm>
        </p:grpSpPr>
        <p:sp>
          <p:nvSpPr>
            <p:cNvPr id="102" name="Text Box 44">
              <a:extLst>
                <a:ext uri="{FF2B5EF4-FFF2-40B4-BE49-F238E27FC236}">
                  <a16:creationId xmlns:a16="http://schemas.microsoft.com/office/drawing/2014/main" id="{26B4BE77-FB6F-AB48-BDB1-C2E23D5564F9}"/>
                </a:ext>
              </a:extLst>
            </p:cNvPr>
            <p:cNvSpPr txBox="1">
              <a:spLocks noChangeArrowheads="1"/>
            </p:cNvSpPr>
            <p:nvPr/>
          </p:nvSpPr>
          <p:spPr bwMode="auto">
            <a:xfrm>
              <a:off x="172543" y="4822769"/>
              <a:ext cx="3419248" cy="7017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RST, SYN, FIN: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connection management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06" name="Freeform 48">
              <a:extLst>
                <a:ext uri="{FF2B5EF4-FFF2-40B4-BE49-F238E27FC236}">
                  <a16:creationId xmlns:a16="http://schemas.microsoft.com/office/drawing/2014/main" id="{60B1CDA3-93F4-6C43-A635-618B9929B512}"/>
                </a:ext>
              </a:extLst>
            </p:cNvPr>
            <p:cNvSpPr>
              <a:spLocks/>
            </p:cNvSpPr>
            <p:nvPr/>
          </p:nvSpPr>
          <p:spPr bwMode="auto">
            <a:xfrm>
              <a:off x="3558336" y="3152325"/>
              <a:ext cx="2678659" cy="2026938"/>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877"/>
                <a:gd name="connsiteY0" fmla="*/ 32885 h 32885"/>
                <a:gd name="connsiteX1" fmla="*/ 10451 w 11877"/>
                <a:gd name="connsiteY1" fmla="*/ 0 h 32885"/>
                <a:gd name="connsiteX2" fmla="*/ 11877 w 11877"/>
                <a:gd name="connsiteY2" fmla="*/ 0 h 32885"/>
                <a:gd name="connsiteX0" fmla="*/ 0 w 11573"/>
                <a:gd name="connsiteY0" fmla="*/ 32885 h 32885"/>
                <a:gd name="connsiteX1" fmla="*/ 10147 w 11573"/>
                <a:gd name="connsiteY1" fmla="*/ 0 h 32885"/>
                <a:gd name="connsiteX2" fmla="*/ 11573 w 11573"/>
                <a:gd name="connsiteY2" fmla="*/ 0 h 32885"/>
                <a:gd name="connsiteX0" fmla="*/ 0 w 11573"/>
                <a:gd name="connsiteY0" fmla="*/ 28757 h 28757"/>
                <a:gd name="connsiteX1" fmla="*/ 10147 w 11573"/>
                <a:gd name="connsiteY1" fmla="*/ 0 h 28757"/>
                <a:gd name="connsiteX2" fmla="*/ 11573 w 11573"/>
                <a:gd name="connsiteY2" fmla="*/ 0 h 28757"/>
              </a:gdLst>
              <a:ahLst/>
              <a:cxnLst>
                <a:cxn ang="0">
                  <a:pos x="connsiteX0" y="connsiteY0"/>
                </a:cxn>
                <a:cxn ang="0">
                  <a:pos x="connsiteX1" y="connsiteY1"/>
                </a:cxn>
                <a:cxn ang="0">
                  <a:pos x="connsiteX2" y="connsiteY2"/>
                </a:cxn>
              </a:cxnLst>
              <a:rect l="l" t="t" r="r" b="b"/>
              <a:pathLst>
                <a:path w="11573" h="28757">
                  <a:moveTo>
                    <a:pt x="0" y="28757"/>
                  </a:moveTo>
                  <a:lnTo>
                    <a:pt x="10147" y="0"/>
                  </a:lnTo>
                  <a:lnTo>
                    <a:pt x="11573"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7" name="Group 26">
              <a:extLst>
                <a:ext uri="{FF2B5EF4-FFF2-40B4-BE49-F238E27FC236}">
                  <a16:creationId xmlns:a16="http://schemas.microsoft.com/office/drawing/2014/main" id="{879AF9A6-0FEF-B247-BE32-9C9E788D06B7}"/>
                </a:ext>
              </a:extLst>
            </p:cNvPr>
            <p:cNvGrpSpPr/>
            <p:nvPr/>
          </p:nvGrpSpPr>
          <p:grpSpPr>
            <a:xfrm>
              <a:off x="5775299" y="2863949"/>
              <a:ext cx="587710" cy="339181"/>
              <a:chOff x="5775299" y="2863949"/>
              <a:chExt cx="587710" cy="339181"/>
            </a:xfrm>
          </p:grpSpPr>
          <p:sp>
            <p:nvSpPr>
              <p:cNvPr id="104" name="Text Box 25">
                <a:extLst>
                  <a:ext uri="{FF2B5EF4-FFF2-40B4-BE49-F238E27FC236}">
                    <a16:creationId xmlns:a16="http://schemas.microsoft.com/office/drawing/2014/main" id="{1E9027CA-7A6A-B448-891E-3892BD3436EF}"/>
                  </a:ext>
                </a:extLst>
              </p:cNvPr>
              <p:cNvSpPr txBox="1">
                <a:spLocks noChangeArrowheads="1"/>
              </p:cNvSpPr>
              <p:nvPr/>
            </p:nvSpPr>
            <p:spPr bwMode="auto">
              <a:xfrm>
                <a:off x="6083766" y="2864576"/>
                <a:ext cx="279243"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F</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05" name="Text Box 32">
                <a:extLst>
                  <a:ext uri="{FF2B5EF4-FFF2-40B4-BE49-F238E27FC236}">
                    <a16:creationId xmlns:a16="http://schemas.microsoft.com/office/drawing/2014/main" id="{BF401CFD-599A-5C4B-A029-67CB6B08DBD3}"/>
                  </a:ext>
                </a:extLst>
              </p:cNvPr>
              <p:cNvSpPr txBox="1">
                <a:spLocks noChangeArrowheads="1"/>
              </p:cNvSpPr>
              <p:nvPr/>
            </p:nvSpPr>
            <p:spPr bwMode="auto">
              <a:xfrm>
                <a:off x="5939184" y="2863949"/>
                <a:ext cx="279243"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S</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12" name="Text Box 33">
                <a:extLst>
                  <a:ext uri="{FF2B5EF4-FFF2-40B4-BE49-F238E27FC236}">
                    <a16:creationId xmlns:a16="http://schemas.microsoft.com/office/drawing/2014/main" id="{4835EFCA-3EC6-3040-AA54-B10AD772E111}"/>
                  </a:ext>
                </a:extLst>
              </p:cNvPr>
              <p:cNvSpPr txBox="1">
                <a:spLocks noChangeArrowheads="1"/>
              </p:cNvSpPr>
              <p:nvPr/>
            </p:nvSpPr>
            <p:spPr bwMode="auto">
              <a:xfrm>
                <a:off x="5775299" y="2863950"/>
                <a:ext cx="296876"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R</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grpSp>
      <p:grpSp>
        <p:nvGrpSpPr>
          <p:cNvPr id="25" name="Group 24">
            <a:extLst>
              <a:ext uri="{FF2B5EF4-FFF2-40B4-BE49-F238E27FC236}">
                <a16:creationId xmlns:a16="http://schemas.microsoft.com/office/drawing/2014/main" id="{3AF86AF7-F0A9-0D49-BD66-0BCBA2EFC273}"/>
              </a:ext>
            </a:extLst>
          </p:cNvPr>
          <p:cNvGrpSpPr/>
          <p:nvPr/>
        </p:nvGrpSpPr>
        <p:grpSpPr>
          <a:xfrm>
            <a:off x="5277007" y="2859957"/>
            <a:ext cx="2976178" cy="719405"/>
            <a:chOff x="5277007" y="2859957"/>
            <a:chExt cx="2976178" cy="719405"/>
          </a:xfrm>
        </p:grpSpPr>
        <p:sp>
          <p:nvSpPr>
            <p:cNvPr id="81" name="Text Box 23">
              <a:extLst>
                <a:ext uri="{FF2B5EF4-FFF2-40B4-BE49-F238E27FC236}">
                  <a16:creationId xmlns:a16="http://schemas.microsoft.com/office/drawing/2014/main" id="{81D77D1D-D542-E748-880E-847E52816584}"/>
                </a:ext>
              </a:extLst>
            </p:cNvPr>
            <p:cNvSpPr txBox="1">
              <a:spLocks noChangeArrowheads="1"/>
            </p:cNvSpPr>
            <p:nvPr/>
          </p:nvSpPr>
          <p:spPr bwMode="auto">
            <a:xfrm>
              <a:off x="6430735" y="3212649"/>
              <a:ext cx="18224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prstClr val="white">
                      <a:lumMod val="75000"/>
                    </a:prstClr>
                  </a:solidFill>
                  <a:effectLst/>
                  <a:uLnTx/>
                  <a:uFillTx/>
                  <a:latin typeface="Arial" charset="0"/>
                  <a:ea typeface="ＭＳ Ｐゴシック" charset="0"/>
                  <a:cs typeface="+mn-cs"/>
                </a:rPr>
                <a:t>Urg</a:t>
              </a:r>
              <a:r>
                <a:rPr kumimoji="0" lang="en-US" sz="1800" b="0" i="0" u="none" strike="noStrike" kern="1200" cap="none" spc="0" normalizeH="0" baseline="0" noProof="0" dirty="0">
                  <a:ln>
                    <a:noFill/>
                  </a:ln>
                  <a:solidFill>
                    <a:prstClr val="white">
                      <a:lumMod val="75000"/>
                    </a:prstClr>
                  </a:solidFill>
                  <a:effectLst/>
                  <a:uLnTx/>
                  <a:uFillTx/>
                  <a:latin typeface="Arial" charset="0"/>
                  <a:ea typeface="ＭＳ Ｐゴシック" charset="0"/>
                  <a:cs typeface="+mn-cs"/>
                </a:rPr>
                <a:t> data pointer</a:t>
              </a:r>
            </a:p>
          </p:txBody>
        </p:sp>
        <p:grpSp>
          <p:nvGrpSpPr>
            <p:cNvPr id="20" name="Group 19">
              <a:extLst>
                <a:ext uri="{FF2B5EF4-FFF2-40B4-BE49-F238E27FC236}">
                  <a16:creationId xmlns:a16="http://schemas.microsoft.com/office/drawing/2014/main" id="{B4F94C5D-E8AA-B440-8C55-70C383D81C15}"/>
                </a:ext>
              </a:extLst>
            </p:cNvPr>
            <p:cNvGrpSpPr/>
            <p:nvPr/>
          </p:nvGrpSpPr>
          <p:grpSpPr>
            <a:xfrm>
              <a:off x="5277007" y="2859957"/>
              <a:ext cx="627836" cy="345695"/>
              <a:chOff x="5527528" y="3067992"/>
              <a:chExt cx="627836" cy="345695"/>
            </a:xfrm>
          </p:grpSpPr>
          <p:sp>
            <p:nvSpPr>
              <p:cNvPr id="114" name="Text Box 34">
                <a:extLst>
                  <a:ext uri="{FF2B5EF4-FFF2-40B4-BE49-F238E27FC236}">
                    <a16:creationId xmlns:a16="http://schemas.microsoft.com/office/drawing/2014/main" id="{7FD0470F-0A1F-AA4D-A333-01EBF41CDBEA}"/>
                  </a:ext>
                </a:extLst>
              </p:cNvPr>
              <p:cNvSpPr txBox="1">
                <a:spLocks noChangeArrowheads="1"/>
              </p:cNvSpPr>
              <p:nvPr/>
            </p:nvSpPr>
            <p:spPr bwMode="auto">
              <a:xfrm>
                <a:off x="5864900" y="3067992"/>
                <a:ext cx="290464"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P</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sp>
            <p:nvSpPr>
              <p:cNvPr id="120" name="Text Box 36">
                <a:extLst>
                  <a:ext uri="{FF2B5EF4-FFF2-40B4-BE49-F238E27FC236}">
                    <a16:creationId xmlns:a16="http://schemas.microsoft.com/office/drawing/2014/main" id="{B48CC928-18A3-8E4E-944E-47C0F754B01D}"/>
                  </a:ext>
                </a:extLst>
              </p:cNvPr>
              <p:cNvSpPr txBox="1">
                <a:spLocks noChangeArrowheads="1"/>
              </p:cNvSpPr>
              <p:nvPr/>
            </p:nvSpPr>
            <p:spPr bwMode="auto">
              <a:xfrm>
                <a:off x="5527528" y="3075133"/>
                <a:ext cx="316112"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U</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grpSp>
      </p:grpSp>
      <p:sp>
        <p:nvSpPr>
          <p:cNvPr id="83" name="Line 39">
            <a:extLst>
              <a:ext uri="{FF2B5EF4-FFF2-40B4-BE49-F238E27FC236}">
                <a16:creationId xmlns:a16="http://schemas.microsoft.com/office/drawing/2014/main" id="{392B7123-3C26-1749-8AFA-C33B254E566D}"/>
              </a:ext>
            </a:extLst>
          </p:cNvPr>
          <p:cNvSpPr>
            <a:spLocks noChangeShapeType="1"/>
          </p:cNvSpPr>
          <p:nvPr/>
        </p:nvSpPr>
        <p:spPr bwMode="auto">
          <a:xfrm flipV="1">
            <a:off x="5038305" y="2821148"/>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90" name="Line 39">
            <a:extLst>
              <a:ext uri="{FF2B5EF4-FFF2-40B4-BE49-F238E27FC236}">
                <a16:creationId xmlns:a16="http://schemas.microsoft.com/office/drawing/2014/main" id="{7076B497-C69A-EF44-9C73-7365E43E17C4}"/>
              </a:ext>
            </a:extLst>
          </p:cNvPr>
          <p:cNvSpPr>
            <a:spLocks noChangeShapeType="1"/>
          </p:cNvSpPr>
          <p:nvPr/>
        </p:nvSpPr>
        <p:spPr bwMode="auto">
          <a:xfrm flipV="1">
            <a:off x="5198693" y="2812182"/>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21" name="Group 20">
            <a:extLst>
              <a:ext uri="{FF2B5EF4-FFF2-40B4-BE49-F238E27FC236}">
                <a16:creationId xmlns:a16="http://schemas.microsoft.com/office/drawing/2014/main" id="{EDC6B1EF-A64F-C94C-81C5-7457A0FFD99A}"/>
              </a:ext>
            </a:extLst>
          </p:cNvPr>
          <p:cNvGrpSpPr/>
          <p:nvPr/>
        </p:nvGrpSpPr>
        <p:grpSpPr>
          <a:xfrm>
            <a:off x="182880" y="2863950"/>
            <a:ext cx="5235245" cy="1390074"/>
            <a:chOff x="182880" y="2863950"/>
            <a:chExt cx="5235245" cy="1390074"/>
          </a:xfrm>
        </p:grpSpPr>
        <p:grpSp>
          <p:nvGrpSpPr>
            <p:cNvPr id="18" name="Group 17">
              <a:extLst>
                <a:ext uri="{FF2B5EF4-FFF2-40B4-BE49-F238E27FC236}">
                  <a16:creationId xmlns:a16="http://schemas.microsoft.com/office/drawing/2014/main" id="{A2C55822-331C-DB41-AB07-59E5BF177405}"/>
                </a:ext>
              </a:extLst>
            </p:cNvPr>
            <p:cNvGrpSpPr/>
            <p:nvPr/>
          </p:nvGrpSpPr>
          <p:grpSpPr>
            <a:xfrm>
              <a:off x="4962499" y="2863950"/>
              <a:ext cx="455626" cy="338554"/>
              <a:chOff x="4962499" y="2863950"/>
              <a:chExt cx="455626" cy="338554"/>
            </a:xfrm>
          </p:grpSpPr>
          <p:sp>
            <p:nvSpPr>
              <p:cNvPr id="91" name="Text Box 33">
                <a:extLst>
                  <a:ext uri="{FF2B5EF4-FFF2-40B4-BE49-F238E27FC236}">
                    <a16:creationId xmlns:a16="http://schemas.microsoft.com/office/drawing/2014/main" id="{C85C82AE-5A3B-EC47-8EA4-C0FA0727D048}"/>
                  </a:ext>
                </a:extLst>
              </p:cNvPr>
              <p:cNvSpPr txBox="1">
                <a:spLocks noChangeArrowheads="1"/>
              </p:cNvSpPr>
              <p:nvPr/>
            </p:nvSpPr>
            <p:spPr bwMode="auto">
              <a:xfrm>
                <a:off x="4962499" y="2863950"/>
                <a:ext cx="296876"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C</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2" name="Text Box 33">
                <a:extLst>
                  <a:ext uri="{FF2B5EF4-FFF2-40B4-BE49-F238E27FC236}">
                    <a16:creationId xmlns:a16="http://schemas.microsoft.com/office/drawing/2014/main" id="{D8D1B074-0355-2942-9977-4413DF7E41C7}"/>
                  </a:ext>
                </a:extLst>
              </p:cNvPr>
              <p:cNvSpPr txBox="1">
                <a:spLocks noChangeArrowheads="1"/>
              </p:cNvSpPr>
              <p:nvPr/>
            </p:nvSpPr>
            <p:spPr bwMode="auto">
              <a:xfrm>
                <a:off x="5121249" y="2863950"/>
                <a:ext cx="296876"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E</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sp>
          <p:nvSpPr>
            <p:cNvPr id="103" name="Text Box 44">
              <a:extLst>
                <a:ext uri="{FF2B5EF4-FFF2-40B4-BE49-F238E27FC236}">
                  <a16:creationId xmlns:a16="http://schemas.microsoft.com/office/drawing/2014/main" id="{8DAB804F-166B-0D4B-8089-4B58E3A0811F}"/>
                </a:ext>
              </a:extLst>
            </p:cNvPr>
            <p:cNvSpPr txBox="1">
              <a:spLocks noChangeArrowheads="1"/>
            </p:cNvSpPr>
            <p:nvPr/>
          </p:nvSpPr>
          <p:spPr bwMode="auto">
            <a:xfrm>
              <a:off x="182880" y="3829292"/>
              <a:ext cx="3384479"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 E: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congestion notification</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0" name="Freeform 48">
              <a:extLst>
                <a:ext uri="{FF2B5EF4-FFF2-40B4-BE49-F238E27FC236}">
                  <a16:creationId xmlns:a16="http://schemas.microsoft.com/office/drawing/2014/main" id="{7103D547-1AEC-9743-8B26-22B579AF1CE1}"/>
                </a:ext>
              </a:extLst>
            </p:cNvPr>
            <p:cNvSpPr>
              <a:spLocks/>
            </p:cNvSpPr>
            <p:nvPr/>
          </p:nvSpPr>
          <p:spPr bwMode="auto">
            <a:xfrm>
              <a:off x="3573195" y="3136684"/>
              <a:ext cx="1749482" cy="914811"/>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391"/>
                <a:gd name="connsiteY0" fmla="*/ 28743 h 28743"/>
                <a:gd name="connsiteX1" fmla="*/ 6388 w 11391"/>
                <a:gd name="connsiteY1" fmla="*/ 0 h 28743"/>
                <a:gd name="connsiteX2" fmla="*/ 11391 w 11391"/>
                <a:gd name="connsiteY2" fmla="*/ 49 h 28743"/>
                <a:gd name="connsiteX0" fmla="*/ 0 w 7455"/>
                <a:gd name="connsiteY0" fmla="*/ 28792 h 28792"/>
                <a:gd name="connsiteX1" fmla="*/ 6388 w 7455"/>
                <a:gd name="connsiteY1" fmla="*/ 49 h 28792"/>
                <a:gd name="connsiteX2" fmla="*/ 7455 w 7455"/>
                <a:gd name="connsiteY2" fmla="*/ 0 h 28792"/>
                <a:gd name="connsiteX0" fmla="*/ 0 w 9679"/>
                <a:gd name="connsiteY0" fmla="*/ 9983 h 9983"/>
                <a:gd name="connsiteX1" fmla="*/ 8569 w 9679"/>
                <a:gd name="connsiteY1" fmla="*/ 0 h 9983"/>
                <a:gd name="connsiteX2" fmla="*/ 9679 w 9679"/>
                <a:gd name="connsiteY2" fmla="*/ 34 h 9983"/>
                <a:gd name="connsiteX0" fmla="*/ 0 w 10062"/>
                <a:gd name="connsiteY0" fmla="*/ 10017 h 10017"/>
                <a:gd name="connsiteX1" fmla="*/ 8853 w 10062"/>
                <a:gd name="connsiteY1" fmla="*/ 17 h 10017"/>
                <a:gd name="connsiteX2" fmla="*/ 10062 w 10062"/>
                <a:gd name="connsiteY2" fmla="*/ 0 h 10017"/>
              </a:gdLst>
              <a:ahLst/>
              <a:cxnLst>
                <a:cxn ang="0">
                  <a:pos x="connsiteX0" y="connsiteY0"/>
                </a:cxn>
                <a:cxn ang="0">
                  <a:pos x="connsiteX1" y="connsiteY1"/>
                </a:cxn>
                <a:cxn ang="0">
                  <a:pos x="connsiteX2" y="connsiteY2"/>
                </a:cxn>
              </a:cxnLst>
              <a:rect l="l" t="t" r="r" b="b"/>
              <a:pathLst>
                <a:path w="10062" h="10017">
                  <a:moveTo>
                    <a:pt x="0" y="10017"/>
                  </a:moveTo>
                  <a:lnTo>
                    <a:pt x="8853" y="17"/>
                  </a:lnTo>
                  <a:lnTo>
                    <a:pt x="10062"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4" name="Slide Number Placeholder 2">
            <a:extLst>
              <a:ext uri="{FF2B5EF4-FFF2-40B4-BE49-F238E27FC236}">
                <a16:creationId xmlns:a16="http://schemas.microsoft.com/office/drawing/2014/main" id="{A3EE5CD7-E8F0-2F4B-B766-7EC8F235C30A}"/>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24</a:t>
            </a:fld>
            <a:endParaRPr lang="en-US" dirty="0"/>
          </a:p>
        </p:txBody>
      </p:sp>
    </p:spTree>
    <p:extLst>
      <p:ext uri="{BB962C8B-B14F-4D97-AF65-F5344CB8AC3E}">
        <p14:creationId xmlns:p14="http://schemas.microsoft.com/office/powerpoint/2010/main" val="1761510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dissolve">
                                      <p:cBhvr>
                                        <p:cTn id="22" dur="500"/>
                                        <p:tgtEl>
                                          <p:spTgt spid="12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dissolv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15"/>
                                        </p:tgtEl>
                                        <p:attrNameLst>
                                          <p:attrName>style.visibility</p:attrName>
                                        </p:attrNameLst>
                                      </p:cBhvr>
                                      <p:to>
                                        <p:strVal val="visible"/>
                                      </p:to>
                                    </p:set>
                                    <p:animEffect transition="in" filter="dissolve">
                                      <p:cBhvr>
                                        <p:cTn id="47" dur="500"/>
                                        <p:tgtEl>
                                          <p:spTgt spid="11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dissolv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223" name="Rectangle 5">
            <a:extLst>
              <a:ext uri="{FF2B5EF4-FFF2-40B4-BE49-F238E27FC236}">
                <a16:creationId xmlns:a16="http://schemas.microsoft.com/office/drawing/2014/main" id="{D2976065-03BB-9A44-9CEB-93BE9CAA88A6}"/>
              </a:ext>
            </a:extLst>
          </p:cNvPr>
          <p:cNvSpPr txBox="1">
            <a:spLocks noChangeArrowheads="1"/>
          </p:cNvSpPr>
          <p:nvPr/>
        </p:nvSpPr>
        <p:spPr bwMode="auto">
          <a:xfrm>
            <a:off x="715171" y="1355712"/>
            <a:ext cx="5096669" cy="1311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Sequence numbers:</a:t>
            </a:r>
          </a:p>
          <a:p>
            <a:pPr marL="635000" marR="0" lvl="1" indent="-277813"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byte stream “</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number” of first byte in segment’s data</a:t>
            </a:r>
            <a:endParaRPr kumimoji="0" lang="en-US" altLang="ja-JP"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224" name="Group 192">
            <a:extLst>
              <a:ext uri="{FF2B5EF4-FFF2-40B4-BE49-F238E27FC236}">
                <a16:creationId xmlns:a16="http://schemas.microsoft.com/office/drawing/2014/main" id="{9FCDCC73-BB43-8046-8E2C-1100B11E1F9D}"/>
              </a:ext>
            </a:extLst>
          </p:cNvPr>
          <p:cNvGrpSpPr>
            <a:grpSpLocks/>
          </p:cNvGrpSpPr>
          <p:nvPr/>
        </p:nvGrpSpPr>
        <p:grpSpPr bwMode="auto">
          <a:xfrm>
            <a:off x="7783528" y="3989281"/>
            <a:ext cx="3086106" cy="2541588"/>
            <a:chOff x="3520" y="2404"/>
            <a:chExt cx="1944" cy="1601"/>
          </a:xfrm>
        </p:grpSpPr>
        <p:sp>
          <p:nvSpPr>
            <p:cNvPr id="225" name="Rectangle 167">
              <a:extLst>
                <a:ext uri="{FF2B5EF4-FFF2-40B4-BE49-F238E27FC236}">
                  <a16:creationId xmlns:a16="http://schemas.microsoft.com/office/drawing/2014/main" id="{9463A16E-CF3F-744B-B6DB-33800BAB4519}"/>
                </a:ext>
              </a:extLst>
            </p:cNvPr>
            <p:cNvSpPr>
              <a:spLocks noChangeArrowheads="1"/>
            </p:cNvSpPr>
            <p:nvPr/>
          </p:nvSpPr>
          <p:spPr bwMode="auto">
            <a:xfrm>
              <a:off x="3755" y="3589"/>
              <a:ext cx="1202"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6" name="Group 148">
              <a:extLst>
                <a:ext uri="{FF2B5EF4-FFF2-40B4-BE49-F238E27FC236}">
                  <a16:creationId xmlns:a16="http://schemas.microsoft.com/office/drawing/2014/main" id="{841F4166-2762-C948-9842-0D47AF0FC7F8}"/>
                </a:ext>
              </a:extLst>
            </p:cNvPr>
            <p:cNvGrpSpPr>
              <a:grpSpLocks/>
            </p:cNvGrpSpPr>
            <p:nvPr/>
          </p:nvGrpSpPr>
          <p:grpSpPr bwMode="auto">
            <a:xfrm>
              <a:off x="3731" y="3291"/>
              <a:ext cx="1252" cy="714"/>
              <a:chOff x="1974" y="2984"/>
              <a:chExt cx="1252" cy="714"/>
            </a:xfrm>
          </p:grpSpPr>
          <p:sp>
            <p:nvSpPr>
              <p:cNvPr id="229" name="Rectangle 149">
                <a:extLst>
                  <a:ext uri="{FF2B5EF4-FFF2-40B4-BE49-F238E27FC236}">
                    <a16:creationId xmlns:a16="http://schemas.microsoft.com/office/drawing/2014/main" id="{6E7D0693-0288-9A4A-9FBC-6B90B9B96584}"/>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0" name="Text Box 150">
                <a:extLst>
                  <a:ext uri="{FF2B5EF4-FFF2-40B4-BE49-F238E27FC236}">
                    <a16:creationId xmlns:a16="http://schemas.microsoft.com/office/drawing/2014/main" id="{62697352-4BED-A64F-8830-504FE043B5D0}"/>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source port #</a:t>
                </a:r>
              </a:p>
            </p:txBody>
          </p:sp>
          <p:sp>
            <p:nvSpPr>
              <p:cNvPr id="231" name="Text Box 151">
                <a:extLst>
                  <a:ext uri="{FF2B5EF4-FFF2-40B4-BE49-F238E27FC236}">
                    <a16:creationId xmlns:a16="http://schemas.microsoft.com/office/drawing/2014/main" id="{2C0BFF63-7DCB-6D4D-AF9A-56894AAAD824}"/>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dest port #</a:t>
                </a:r>
              </a:p>
            </p:txBody>
          </p:sp>
          <p:sp>
            <p:nvSpPr>
              <p:cNvPr id="232" name="Text Box 152">
                <a:extLst>
                  <a:ext uri="{FF2B5EF4-FFF2-40B4-BE49-F238E27FC236}">
                    <a16:creationId xmlns:a16="http://schemas.microsoft.com/office/drawing/2014/main" id="{69698EB5-AC5E-124A-AB12-0B1B72742F02}"/>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sequence number</a:t>
                </a:r>
              </a:p>
            </p:txBody>
          </p:sp>
          <p:sp>
            <p:nvSpPr>
              <p:cNvPr id="233" name="Text Box 153">
                <a:extLst>
                  <a:ext uri="{FF2B5EF4-FFF2-40B4-BE49-F238E27FC236}">
                    <a16:creationId xmlns:a16="http://schemas.microsoft.com/office/drawing/2014/main" id="{697ADB2B-E096-7A41-ACDA-9E058B2EFF5D}"/>
                  </a:ext>
                </a:extLst>
              </p:cNvPr>
              <p:cNvSpPr txBox="1">
                <a:spLocks noChangeArrowheads="1"/>
              </p:cNvSpPr>
              <p:nvPr/>
            </p:nvSpPr>
            <p:spPr bwMode="auto">
              <a:xfrm>
                <a:off x="1974" y="3257"/>
                <a:ext cx="125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charset="0"/>
                    <a:ea typeface="ＭＳ Ｐゴシック" charset="0"/>
                    <a:cs typeface="+mn-cs"/>
                  </a:rPr>
                  <a:t>acknowledgement number</a:t>
                </a:r>
              </a:p>
            </p:txBody>
          </p:sp>
          <p:sp>
            <p:nvSpPr>
              <p:cNvPr id="234" name="Text Box 154">
                <a:extLst>
                  <a:ext uri="{FF2B5EF4-FFF2-40B4-BE49-F238E27FC236}">
                    <a16:creationId xmlns:a16="http://schemas.microsoft.com/office/drawing/2014/main" id="{FD66858C-8D5E-8443-9F2A-57EB759D3EFB}"/>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checksum</a:t>
                </a:r>
              </a:p>
            </p:txBody>
          </p:sp>
          <p:sp>
            <p:nvSpPr>
              <p:cNvPr id="235" name="Line 155">
                <a:extLst>
                  <a:ext uri="{FF2B5EF4-FFF2-40B4-BE49-F238E27FC236}">
                    <a16:creationId xmlns:a16="http://schemas.microsoft.com/office/drawing/2014/main" id="{3FFD0288-879C-5D4E-AB0C-3445A5A97975}"/>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6" name="Line 156">
                <a:extLst>
                  <a:ext uri="{FF2B5EF4-FFF2-40B4-BE49-F238E27FC236}">
                    <a16:creationId xmlns:a16="http://schemas.microsoft.com/office/drawing/2014/main" id="{258401F9-F43D-C344-A200-772A5E1E1CB6}"/>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Line 157">
                <a:extLst>
                  <a:ext uri="{FF2B5EF4-FFF2-40B4-BE49-F238E27FC236}">
                    <a16:creationId xmlns:a16="http://schemas.microsoft.com/office/drawing/2014/main" id="{1E8AD451-7070-4243-A92C-2F6573F9406B}"/>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8" name="Line 158">
                <a:extLst>
                  <a:ext uri="{FF2B5EF4-FFF2-40B4-BE49-F238E27FC236}">
                    <a16:creationId xmlns:a16="http://schemas.microsoft.com/office/drawing/2014/main" id="{A4BD4C96-4E2A-074E-8E46-E4BF76EDD858}"/>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Line 159">
                <a:extLst>
                  <a:ext uri="{FF2B5EF4-FFF2-40B4-BE49-F238E27FC236}">
                    <a16:creationId xmlns:a16="http://schemas.microsoft.com/office/drawing/2014/main" id="{2153A22B-2E95-B947-A87C-50991B8DBA5D}"/>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Line 160">
                <a:extLst>
                  <a:ext uri="{FF2B5EF4-FFF2-40B4-BE49-F238E27FC236}">
                    <a16:creationId xmlns:a16="http://schemas.microsoft.com/office/drawing/2014/main" id="{BE256B00-4CFB-254F-8432-198CA45B2CAE}"/>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1" name="Text Box 161">
                <a:extLst>
                  <a:ext uri="{FF2B5EF4-FFF2-40B4-BE49-F238E27FC236}">
                    <a16:creationId xmlns:a16="http://schemas.microsoft.com/office/drawing/2014/main" id="{B0718275-925B-4143-80DA-87B335709565}"/>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rwnd</a:t>
                </a:r>
              </a:p>
            </p:txBody>
          </p:sp>
          <p:sp>
            <p:nvSpPr>
              <p:cNvPr id="242" name="Text Box 162">
                <a:extLst>
                  <a:ext uri="{FF2B5EF4-FFF2-40B4-BE49-F238E27FC236}">
                    <a16:creationId xmlns:a16="http://schemas.microsoft.com/office/drawing/2014/main" id="{539F6CE1-CE5E-234B-9AFA-A6F230193072}"/>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urg pointer</a:t>
                </a:r>
              </a:p>
            </p:txBody>
          </p:sp>
          <p:sp>
            <p:nvSpPr>
              <p:cNvPr id="243" name="Line 163">
                <a:extLst>
                  <a:ext uri="{FF2B5EF4-FFF2-40B4-BE49-F238E27FC236}">
                    <a16:creationId xmlns:a16="http://schemas.microsoft.com/office/drawing/2014/main" id="{6A1FC325-C1C9-E145-AB86-EB4CA77AB42D}"/>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Line 164">
                <a:extLst>
                  <a:ext uri="{FF2B5EF4-FFF2-40B4-BE49-F238E27FC236}">
                    <a16:creationId xmlns:a16="http://schemas.microsoft.com/office/drawing/2014/main" id="{A57D4AEC-EA9B-6441-B943-116E0B65541F}"/>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7" name="Text Box 166">
              <a:extLst>
                <a:ext uri="{FF2B5EF4-FFF2-40B4-BE49-F238E27FC236}">
                  <a16:creationId xmlns:a16="http://schemas.microsoft.com/office/drawing/2014/main" id="{A11A42A2-3DE7-8749-BEFC-4B12DFD4E911}"/>
                </a:ext>
              </a:extLst>
            </p:cNvPr>
            <p:cNvSpPr txBox="1">
              <a:spLocks noChangeArrowheads="1"/>
            </p:cNvSpPr>
            <p:nvPr/>
          </p:nvSpPr>
          <p:spPr bwMode="auto">
            <a:xfrm>
              <a:off x="3520" y="3092"/>
              <a:ext cx="1944"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receiver</a:t>
              </a:r>
            </a:p>
          </p:txBody>
        </p:sp>
        <p:sp>
          <p:nvSpPr>
            <p:cNvPr id="228" name="Freeform 168">
              <a:extLst>
                <a:ext uri="{FF2B5EF4-FFF2-40B4-BE49-F238E27FC236}">
                  <a16:creationId xmlns:a16="http://schemas.microsoft.com/office/drawing/2014/main" id="{06FB8DE4-FF8B-2A4C-9587-9B7067BCC3D8}"/>
                </a:ext>
              </a:extLst>
            </p:cNvPr>
            <p:cNvSpPr>
              <a:spLocks/>
            </p:cNvSpPr>
            <p:nvPr/>
          </p:nvSpPr>
          <p:spPr bwMode="auto">
            <a:xfrm flipH="1" flipV="1">
              <a:off x="3599" y="2404"/>
              <a:ext cx="107" cy="1194"/>
            </a:xfrm>
            <a:custGeom>
              <a:avLst/>
              <a:gdLst>
                <a:gd name="T0" fmla="*/ 0 w 107"/>
                <a:gd name="T1" fmla="*/ 0 h 910"/>
                <a:gd name="T2" fmla="*/ 107 w 107"/>
                <a:gd name="T3" fmla="*/ 0 h 910"/>
                <a:gd name="T4" fmla="*/ 107 w 107"/>
                <a:gd name="T5" fmla="*/ 13768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5" name="Group 195">
            <a:extLst>
              <a:ext uri="{FF2B5EF4-FFF2-40B4-BE49-F238E27FC236}">
                <a16:creationId xmlns:a16="http://schemas.microsoft.com/office/drawing/2014/main" id="{B37D7216-C212-C843-A667-53A7C0B847CF}"/>
              </a:ext>
            </a:extLst>
          </p:cNvPr>
          <p:cNvGrpSpPr>
            <a:grpSpLocks/>
          </p:cNvGrpSpPr>
          <p:nvPr/>
        </p:nvGrpSpPr>
        <p:grpSpPr bwMode="auto">
          <a:xfrm>
            <a:off x="8685214" y="6022869"/>
            <a:ext cx="358775" cy="304800"/>
            <a:chOff x="5144" y="3677"/>
            <a:chExt cx="226" cy="192"/>
          </a:xfrm>
        </p:grpSpPr>
        <p:sp>
          <p:nvSpPr>
            <p:cNvPr id="246" name="Rectangle 194">
              <a:extLst>
                <a:ext uri="{FF2B5EF4-FFF2-40B4-BE49-F238E27FC236}">
                  <a16:creationId xmlns:a16="http://schemas.microsoft.com/office/drawing/2014/main" id="{43AFBFF1-B1C6-C147-BB51-D67A053105CA}"/>
                </a:ext>
              </a:extLst>
            </p:cNvPr>
            <p:cNvSpPr>
              <a:spLocks noChangeArrowheads="1"/>
            </p:cNvSpPr>
            <p:nvPr/>
          </p:nvSpPr>
          <p:spPr bwMode="auto">
            <a:xfrm>
              <a:off x="5212" y="3716"/>
              <a:ext cx="88"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47" name="Text Box 193">
              <a:extLst>
                <a:ext uri="{FF2B5EF4-FFF2-40B4-BE49-F238E27FC236}">
                  <a16:creationId xmlns:a16="http://schemas.microsoft.com/office/drawing/2014/main" id="{BF6FCEAE-49B5-A041-A298-4CB690E54688}"/>
                </a:ext>
              </a:extLst>
            </p:cNvPr>
            <p:cNvSpPr txBox="1">
              <a:spLocks noChangeArrowheads="1"/>
            </p:cNvSpPr>
            <p:nvPr/>
          </p:nvSpPr>
          <p:spPr bwMode="auto">
            <a:xfrm>
              <a:off x="5144" y="3677"/>
              <a:ext cx="22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charset="0"/>
                  <a:ea typeface="ＭＳ Ｐゴシック" charset="0"/>
                  <a:cs typeface="+mn-cs"/>
                </a:rPr>
                <a:t>A</a:t>
              </a:r>
            </a:p>
          </p:txBody>
        </p:sp>
      </p:grpSp>
      <p:sp>
        <p:nvSpPr>
          <p:cNvPr id="248" name="Rectangle 37">
            <a:extLst>
              <a:ext uri="{FF2B5EF4-FFF2-40B4-BE49-F238E27FC236}">
                <a16:creationId xmlns:a16="http://schemas.microsoft.com/office/drawing/2014/main" id="{A8678432-C6E0-9045-9DFE-9E95FBC24301}"/>
              </a:ext>
            </a:extLst>
          </p:cNvPr>
          <p:cNvSpPr>
            <a:spLocks noChangeArrowheads="1"/>
          </p:cNvSpPr>
          <p:nvPr/>
        </p:nvSpPr>
        <p:spPr bwMode="auto">
          <a:xfrm>
            <a:off x="6835777" y="3123626"/>
            <a:ext cx="65087" cy="622300"/>
          </a:xfrm>
          <a:prstGeom prst="rect">
            <a:avLst/>
          </a:prstGeom>
          <a:gradFill rotWithShape="1">
            <a:gsLst>
              <a:gs pos="0">
                <a:srgbClr val="FFFFFF"/>
              </a:gs>
              <a:gs pos="100000">
                <a:srgbClr val="33CC33"/>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9" name="Rectangle 39">
            <a:extLst>
              <a:ext uri="{FF2B5EF4-FFF2-40B4-BE49-F238E27FC236}">
                <a16:creationId xmlns:a16="http://schemas.microsoft.com/office/drawing/2014/main" id="{92ADD221-F1C3-B645-92EB-9D1C9315A58A}"/>
              </a:ext>
            </a:extLst>
          </p:cNvPr>
          <p:cNvSpPr>
            <a:spLocks noChangeArrowheads="1"/>
          </p:cNvSpPr>
          <p:nvPr/>
        </p:nvSpPr>
        <p:spPr bwMode="auto">
          <a:xfrm>
            <a:off x="6932614" y="3125214"/>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0" name="Rectangle 40">
            <a:extLst>
              <a:ext uri="{FF2B5EF4-FFF2-40B4-BE49-F238E27FC236}">
                <a16:creationId xmlns:a16="http://schemas.microsoft.com/office/drawing/2014/main" id="{BB8D0EB3-2337-2A41-9EFC-CC44292E23D6}"/>
              </a:ext>
            </a:extLst>
          </p:cNvPr>
          <p:cNvSpPr>
            <a:spLocks noChangeArrowheads="1"/>
          </p:cNvSpPr>
          <p:nvPr/>
        </p:nvSpPr>
        <p:spPr bwMode="auto">
          <a:xfrm>
            <a:off x="703103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1" name="Rectangle 41">
            <a:extLst>
              <a:ext uri="{FF2B5EF4-FFF2-40B4-BE49-F238E27FC236}">
                <a16:creationId xmlns:a16="http://schemas.microsoft.com/office/drawing/2014/main" id="{08B40AAE-C4F3-B24B-A758-0CBE422C11F5}"/>
              </a:ext>
            </a:extLst>
          </p:cNvPr>
          <p:cNvSpPr>
            <a:spLocks noChangeArrowheads="1"/>
          </p:cNvSpPr>
          <p:nvPr/>
        </p:nvSpPr>
        <p:spPr bwMode="auto">
          <a:xfrm>
            <a:off x="7127877" y="3123626"/>
            <a:ext cx="65087"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2" name="Rectangle 42">
            <a:extLst>
              <a:ext uri="{FF2B5EF4-FFF2-40B4-BE49-F238E27FC236}">
                <a16:creationId xmlns:a16="http://schemas.microsoft.com/office/drawing/2014/main" id="{1B696D21-4399-C041-91DC-701FB61A0E4C}"/>
              </a:ext>
            </a:extLst>
          </p:cNvPr>
          <p:cNvSpPr>
            <a:spLocks noChangeArrowheads="1"/>
          </p:cNvSpPr>
          <p:nvPr/>
        </p:nvSpPr>
        <p:spPr bwMode="auto">
          <a:xfrm>
            <a:off x="7223127" y="3123626"/>
            <a:ext cx="65087"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3" name="Rectangle 43">
            <a:extLst>
              <a:ext uri="{FF2B5EF4-FFF2-40B4-BE49-F238E27FC236}">
                <a16:creationId xmlns:a16="http://schemas.microsoft.com/office/drawing/2014/main" id="{2CEBC228-9E7F-7E48-9C85-63629AFC09AA}"/>
              </a:ext>
            </a:extLst>
          </p:cNvPr>
          <p:cNvSpPr>
            <a:spLocks noChangeArrowheads="1"/>
          </p:cNvSpPr>
          <p:nvPr/>
        </p:nvSpPr>
        <p:spPr bwMode="auto">
          <a:xfrm>
            <a:off x="7319964"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4" name="Rectangle 45">
            <a:extLst>
              <a:ext uri="{FF2B5EF4-FFF2-40B4-BE49-F238E27FC236}">
                <a16:creationId xmlns:a16="http://schemas.microsoft.com/office/drawing/2014/main" id="{499D6101-0E72-764D-90A9-65FA5E9288DF}"/>
              </a:ext>
            </a:extLst>
          </p:cNvPr>
          <p:cNvSpPr>
            <a:spLocks noChangeArrowheads="1"/>
          </p:cNvSpPr>
          <p:nvPr/>
        </p:nvSpPr>
        <p:spPr bwMode="auto">
          <a:xfrm>
            <a:off x="741203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5" name="Rectangle 46">
            <a:extLst>
              <a:ext uri="{FF2B5EF4-FFF2-40B4-BE49-F238E27FC236}">
                <a16:creationId xmlns:a16="http://schemas.microsoft.com/office/drawing/2014/main" id="{69025D46-11EA-C34F-8D0D-7B789A5DBC95}"/>
              </a:ext>
            </a:extLst>
          </p:cNvPr>
          <p:cNvSpPr>
            <a:spLocks noChangeArrowheads="1"/>
          </p:cNvSpPr>
          <p:nvPr/>
        </p:nvSpPr>
        <p:spPr bwMode="auto">
          <a:xfrm>
            <a:off x="750728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6" name="Rectangle 47">
            <a:extLst>
              <a:ext uri="{FF2B5EF4-FFF2-40B4-BE49-F238E27FC236}">
                <a16:creationId xmlns:a16="http://schemas.microsoft.com/office/drawing/2014/main" id="{097282D2-CB09-6743-BD88-978413D66230}"/>
              </a:ext>
            </a:extLst>
          </p:cNvPr>
          <p:cNvSpPr>
            <a:spLocks noChangeArrowheads="1"/>
          </p:cNvSpPr>
          <p:nvPr/>
        </p:nvSpPr>
        <p:spPr bwMode="auto">
          <a:xfrm>
            <a:off x="760253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7" name="Rectangle 50">
            <a:extLst>
              <a:ext uri="{FF2B5EF4-FFF2-40B4-BE49-F238E27FC236}">
                <a16:creationId xmlns:a16="http://schemas.microsoft.com/office/drawing/2014/main" id="{C44BBA4A-C75F-6344-A7C0-80FA59F967B5}"/>
              </a:ext>
            </a:extLst>
          </p:cNvPr>
          <p:cNvSpPr>
            <a:spLocks noChangeArrowheads="1"/>
          </p:cNvSpPr>
          <p:nvPr/>
        </p:nvSpPr>
        <p:spPr bwMode="auto">
          <a:xfrm>
            <a:off x="7708902" y="3123626"/>
            <a:ext cx="65087"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8" name="Rectangle 51">
            <a:extLst>
              <a:ext uri="{FF2B5EF4-FFF2-40B4-BE49-F238E27FC236}">
                <a16:creationId xmlns:a16="http://schemas.microsoft.com/office/drawing/2014/main" id="{660EEC78-FF50-7445-8190-34F20263528D}"/>
              </a:ext>
            </a:extLst>
          </p:cNvPr>
          <p:cNvSpPr>
            <a:spLocks noChangeArrowheads="1"/>
          </p:cNvSpPr>
          <p:nvPr/>
        </p:nvSpPr>
        <p:spPr bwMode="auto">
          <a:xfrm>
            <a:off x="7807327" y="3125214"/>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9" name="Rectangle 52">
            <a:extLst>
              <a:ext uri="{FF2B5EF4-FFF2-40B4-BE49-F238E27FC236}">
                <a16:creationId xmlns:a16="http://schemas.microsoft.com/office/drawing/2014/main" id="{BF1D4EAF-3E48-E64D-A9F0-800C14DE416B}"/>
              </a:ext>
            </a:extLst>
          </p:cNvPr>
          <p:cNvSpPr>
            <a:spLocks noChangeArrowheads="1"/>
          </p:cNvSpPr>
          <p:nvPr/>
        </p:nvSpPr>
        <p:spPr bwMode="auto">
          <a:xfrm>
            <a:off x="7904164"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0" name="Rectangle 53">
            <a:extLst>
              <a:ext uri="{FF2B5EF4-FFF2-40B4-BE49-F238E27FC236}">
                <a16:creationId xmlns:a16="http://schemas.microsoft.com/office/drawing/2014/main" id="{7F7F3BD0-061B-0346-BC6C-7C752F28EF13}"/>
              </a:ext>
            </a:extLst>
          </p:cNvPr>
          <p:cNvSpPr>
            <a:spLocks noChangeArrowheads="1"/>
          </p:cNvSpPr>
          <p:nvPr/>
        </p:nvSpPr>
        <p:spPr bwMode="auto">
          <a:xfrm>
            <a:off x="800100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1" name="Rectangle 54">
            <a:extLst>
              <a:ext uri="{FF2B5EF4-FFF2-40B4-BE49-F238E27FC236}">
                <a16:creationId xmlns:a16="http://schemas.microsoft.com/office/drawing/2014/main" id="{1419AB61-44E3-7B43-ADE9-9DF5C9E18D93}"/>
              </a:ext>
            </a:extLst>
          </p:cNvPr>
          <p:cNvSpPr>
            <a:spLocks noChangeArrowheads="1"/>
          </p:cNvSpPr>
          <p:nvPr/>
        </p:nvSpPr>
        <p:spPr bwMode="auto">
          <a:xfrm>
            <a:off x="8097839"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2" name="Rectangle 55">
            <a:extLst>
              <a:ext uri="{FF2B5EF4-FFF2-40B4-BE49-F238E27FC236}">
                <a16:creationId xmlns:a16="http://schemas.microsoft.com/office/drawing/2014/main" id="{FA07924E-D97C-9E4F-9629-377D86F65D54}"/>
              </a:ext>
            </a:extLst>
          </p:cNvPr>
          <p:cNvSpPr>
            <a:spLocks noChangeArrowheads="1"/>
          </p:cNvSpPr>
          <p:nvPr/>
        </p:nvSpPr>
        <p:spPr bwMode="auto">
          <a:xfrm>
            <a:off x="8193089"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3" name="Rectangle 56">
            <a:extLst>
              <a:ext uri="{FF2B5EF4-FFF2-40B4-BE49-F238E27FC236}">
                <a16:creationId xmlns:a16="http://schemas.microsoft.com/office/drawing/2014/main" id="{78BBA4C2-77BF-7140-8522-72AA5C9FF7DA}"/>
              </a:ext>
            </a:extLst>
          </p:cNvPr>
          <p:cNvSpPr>
            <a:spLocks noChangeArrowheads="1"/>
          </p:cNvSpPr>
          <p:nvPr/>
        </p:nvSpPr>
        <p:spPr bwMode="auto">
          <a:xfrm>
            <a:off x="8285164"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4" name="Rectangle 57">
            <a:extLst>
              <a:ext uri="{FF2B5EF4-FFF2-40B4-BE49-F238E27FC236}">
                <a16:creationId xmlns:a16="http://schemas.microsoft.com/office/drawing/2014/main" id="{8C781153-D0D1-4F49-A7D5-E9E0E02C7481}"/>
              </a:ext>
            </a:extLst>
          </p:cNvPr>
          <p:cNvSpPr>
            <a:spLocks noChangeArrowheads="1"/>
          </p:cNvSpPr>
          <p:nvPr/>
        </p:nvSpPr>
        <p:spPr bwMode="auto">
          <a:xfrm>
            <a:off x="8380414"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5" name="Rectangle 58">
            <a:extLst>
              <a:ext uri="{FF2B5EF4-FFF2-40B4-BE49-F238E27FC236}">
                <a16:creationId xmlns:a16="http://schemas.microsoft.com/office/drawing/2014/main" id="{1252424B-0051-8B4E-8014-7CDFA89980FC}"/>
              </a:ext>
            </a:extLst>
          </p:cNvPr>
          <p:cNvSpPr>
            <a:spLocks noChangeArrowheads="1"/>
          </p:cNvSpPr>
          <p:nvPr/>
        </p:nvSpPr>
        <p:spPr bwMode="auto">
          <a:xfrm>
            <a:off x="847725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6" name="Rectangle 59">
            <a:extLst>
              <a:ext uri="{FF2B5EF4-FFF2-40B4-BE49-F238E27FC236}">
                <a16:creationId xmlns:a16="http://schemas.microsoft.com/office/drawing/2014/main" id="{FA783663-FBFD-1D4F-94E0-8E07864896AD}"/>
              </a:ext>
            </a:extLst>
          </p:cNvPr>
          <p:cNvSpPr>
            <a:spLocks noChangeArrowheads="1"/>
          </p:cNvSpPr>
          <p:nvPr/>
        </p:nvSpPr>
        <p:spPr bwMode="auto">
          <a:xfrm>
            <a:off x="856615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7" name="Rectangle 60">
            <a:extLst>
              <a:ext uri="{FF2B5EF4-FFF2-40B4-BE49-F238E27FC236}">
                <a16:creationId xmlns:a16="http://schemas.microsoft.com/office/drawing/2014/main" id="{9A20FCBA-A9E2-494E-8A95-747703BA2FAA}"/>
              </a:ext>
            </a:extLst>
          </p:cNvPr>
          <p:cNvSpPr>
            <a:spLocks noChangeArrowheads="1"/>
          </p:cNvSpPr>
          <p:nvPr/>
        </p:nvSpPr>
        <p:spPr bwMode="auto">
          <a:xfrm>
            <a:off x="866140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8" name="Rectangle 61">
            <a:extLst>
              <a:ext uri="{FF2B5EF4-FFF2-40B4-BE49-F238E27FC236}">
                <a16:creationId xmlns:a16="http://schemas.microsoft.com/office/drawing/2014/main" id="{BD15B2FA-70B2-F44B-A21B-EE69A9B05DC8}"/>
              </a:ext>
            </a:extLst>
          </p:cNvPr>
          <p:cNvSpPr>
            <a:spLocks noChangeArrowheads="1"/>
          </p:cNvSpPr>
          <p:nvPr/>
        </p:nvSpPr>
        <p:spPr bwMode="auto">
          <a:xfrm>
            <a:off x="8755064" y="3122039"/>
            <a:ext cx="65088"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9" name="Rectangle 62">
            <a:extLst>
              <a:ext uri="{FF2B5EF4-FFF2-40B4-BE49-F238E27FC236}">
                <a16:creationId xmlns:a16="http://schemas.microsoft.com/office/drawing/2014/main" id="{FCC59CFB-2A58-CB44-B886-3040D9E44C77}"/>
              </a:ext>
            </a:extLst>
          </p:cNvPr>
          <p:cNvSpPr>
            <a:spLocks noChangeArrowheads="1"/>
          </p:cNvSpPr>
          <p:nvPr/>
        </p:nvSpPr>
        <p:spPr bwMode="auto">
          <a:xfrm>
            <a:off x="8847139" y="3122039"/>
            <a:ext cx="65088"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0" name="Rectangle 63">
            <a:extLst>
              <a:ext uri="{FF2B5EF4-FFF2-40B4-BE49-F238E27FC236}">
                <a16:creationId xmlns:a16="http://schemas.microsoft.com/office/drawing/2014/main" id="{C2CEED62-895E-984B-A8A4-247D41CE7E93}"/>
              </a:ext>
            </a:extLst>
          </p:cNvPr>
          <p:cNvSpPr>
            <a:spLocks noChangeArrowheads="1"/>
          </p:cNvSpPr>
          <p:nvPr/>
        </p:nvSpPr>
        <p:spPr bwMode="auto">
          <a:xfrm>
            <a:off x="894397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1" name="Rectangle 64">
            <a:extLst>
              <a:ext uri="{FF2B5EF4-FFF2-40B4-BE49-F238E27FC236}">
                <a16:creationId xmlns:a16="http://schemas.microsoft.com/office/drawing/2014/main" id="{A927D859-82EA-9A4A-9764-093C53E03753}"/>
              </a:ext>
            </a:extLst>
          </p:cNvPr>
          <p:cNvSpPr>
            <a:spLocks noChangeArrowheads="1"/>
          </p:cNvSpPr>
          <p:nvPr/>
        </p:nvSpPr>
        <p:spPr bwMode="auto">
          <a:xfrm>
            <a:off x="903922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2" name="Rectangle 65">
            <a:extLst>
              <a:ext uri="{FF2B5EF4-FFF2-40B4-BE49-F238E27FC236}">
                <a16:creationId xmlns:a16="http://schemas.microsoft.com/office/drawing/2014/main" id="{F473CF44-260A-E04B-8696-E13EFF7EE281}"/>
              </a:ext>
            </a:extLst>
          </p:cNvPr>
          <p:cNvSpPr>
            <a:spLocks noChangeArrowheads="1"/>
          </p:cNvSpPr>
          <p:nvPr/>
        </p:nvSpPr>
        <p:spPr bwMode="auto">
          <a:xfrm>
            <a:off x="912812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3" name="Rectangle 66">
            <a:extLst>
              <a:ext uri="{FF2B5EF4-FFF2-40B4-BE49-F238E27FC236}">
                <a16:creationId xmlns:a16="http://schemas.microsoft.com/office/drawing/2014/main" id="{489A018C-E3FF-AC42-A61C-40BC11AD79CE}"/>
              </a:ext>
            </a:extLst>
          </p:cNvPr>
          <p:cNvSpPr>
            <a:spLocks noChangeArrowheads="1"/>
          </p:cNvSpPr>
          <p:nvPr/>
        </p:nvSpPr>
        <p:spPr bwMode="auto">
          <a:xfrm>
            <a:off x="922337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4" name="Rectangle 68">
            <a:extLst>
              <a:ext uri="{FF2B5EF4-FFF2-40B4-BE49-F238E27FC236}">
                <a16:creationId xmlns:a16="http://schemas.microsoft.com/office/drawing/2014/main" id="{15DBA7E3-2A55-A347-8398-5FF2E190C152}"/>
              </a:ext>
            </a:extLst>
          </p:cNvPr>
          <p:cNvSpPr>
            <a:spLocks noChangeArrowheads="1"/>
          </p:cNvSpPr>
          <p:nvPr/>
        </p:nvSpPr>
        <p:spPr bwMode="auto">
          <a:xfrm>
            <a:off x="932021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5" name="Rectangle 69">
            <a:extLst>
              <a:ext uri="{FF2B5EF4-FFF2-40B4-BE49-F238E27FC236}">
                <a16:creationId xmlns:a16="http://schemas.microsoft.com/office/drawing/2014/main" id="{C41C2999-2C3A-6B42-BFD4-461D81F336F2}"/>
              </a:ext>
            </a:extLst>
          </p:cNvPr>
          <p:cNvSpPr>
            <a:spLocks noChangeArrowheads="1"/>
          </p:cNvSpPr>
          <p:nvPr/>
        </p:nvSpPr>
        <p:spPr bwMode="auto">
          <a:xfrm>
            <a:off x="9417052" y="3125214"/>
            <a:ext cx="65087"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6" name="Rectangle 70">
            <a:extLst>
              <a:ext uri="{FF2B5EF4-FFF2-40B4-BE49-F238E27FC236}">
                <a16:creationId xmlns:a16="http://schemas.microsoft.com/office/drawing/2014/main" id="{C31E0892-5A99-CC4B-9267-B95157619AAA}"/>
              </a:ext>
            </a:extLst>
          </p:cNvPr>
          <p:cNvSpPr>
            <a:spLocks noChangeArrowheads="1"/>
          </p:cNvSpPr>
          <p:nvPr/>
        </p:nvSpPr>
        <p:spPr bwMode="auto">
          <a:xfrm>
            <a:off x="9513889"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7" name="Rectangle 71">
            <a:extLst>
              <a:ext uri="{FF2B5EF4-FFF2-40B4-BE49-F238E27FC236}">
                <a16:creationId xmlns:a16="http://schemas.microsoft.com/office/drawing/2014/main" id="{F4A34BCF-97FE-9043-BC3E-A64DDF0FE4E2}"/>
              </a:ext>
            </a:extLst>
          </p:cNvPr>
          <p:cNvSpPr>
            <a:spLocks noChangeArrowheads="1"/>
          </p:cNvSpPr>
          <p:nvPr/>
        </p:nvSpPr>
        <p:spPr bwMode="auto">
          <a:xfrm>
            <a:off x="961231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8" name="Rectangle 72">
            <a:extLst>
              <a:ext uri="{FF2B5EF4-FFF2-40B4-BE49-F238E27FC236}">
                <a16:creationId xmlns:a16="http://schemas.microsoft.com/office/drawing/2014/main" id="{AF39E66A-9553-3344-9AD6-6EDA216F2880}"/>
              </a:ext>
            </a:extLst>
          </p:cNvPr>
          <p:cNvSpPr>
            <a:spLocks noChangeArrowheads="1"/>
          </p:cNvSpPr>
          <p:nvPr/>
        </p:nvSpPr>
        <p:spPr bwMode="auto">
          <a:xfrm>
            <a:off x="970756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9" name="Rectangle 73">
            <a:extLst>
              <a:ext uri="{FF2B5EF4-FFF2-40B4-BE49-F238E27FC236}">
                <a16:creationId xmlns:a16="http://schemas.microsoft.com/office/drawing/2014/main" id="{ECFAFFA1-A372-CF41-884A-8A8C27CFE0C1}"/>
              </a:ext>
            </a:extLst>
          </p:cNvPr>
          <p:cNvSpPr>
            <a:spLocks noChangeArrowheads="1"/>
          </p:cNvSpPr>
          <p:nvPr/>
        </p:nvSpPr>
        <p:spPr bwMode="auto">
          <a:xfrm>
            <a:off x="980281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0" name="Rectangle 74">
            <a:extLst>
              <a:ext uri="{FF2B5EF4-FFF2-40B4-BE49-F238E27FC236}">
                <a16:creationId xmlns:a16="http://schemas.microsoft.com/office/drawing/2014/main" id="{3C3828F5-F0A3-9B49-AB1D-346F1948CC97}"/>
              </a:ext>
            </a:extLst>
          </p:cNvPr>
          <p:cNvSpPr>
            <a:spLocks noChangeArrowheads="1"/>
          </p:cNvSpPr>
          <p:nvPr/>
        </p:nvSpPr>
        <p:spPr bwMode="auto">
          <a:xfrm>
            <a:off x="9894889"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1" name="Rectangle 75">
            <a:extLst>
              <a:ext uri="{FF2B5EF4-FFF2-40B4-BE49-F238E27FC236}">
                <a16:creationId xmlns:a16="http://schemas.microsoft.com/office/drawing/2014/main" id="{E047C25C-F28E-9A40-9394-4DFA7C5CF236}"/>
              </a:ext>
            </a:extLst>
          </p:cNvPr>
          <p:cNvSpPr>
            <a:spLocks noChangeArrowheads="1"/>
          </p:cNvSpPr>
          <p:nvPr/>
        </p:nvSpPr>
        <p:spPr bwMode="auto">
          <a:xfrm>
            <a:off x="9991727" y="3123626"/>
            <a:ext cx="65087"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2" name="Rectangle 76">
            <a:extLst>
              <a:ext uri="{FF2B5EF4-FFF2-40B4-BE49-F238E27FC236}">
                <a16:creationId xmlns:a16="http://schemas.microsoft.com/office/drawing/2014/main" id="{95AB1F8C-60E0-6E4E-BBC9-6AFCA871BF9F}"/>
              </a:ext>
            </a:extLst>
          </p:cNvPr>
          <p:cNvSpPr>
            <a:spLocks noChangeArrowheads="1"/>
          </p:cNvSpPr>
          <p:nvPr/>
        </p:nvSpPr>
        <p:spPr bwMode="auto">
          <a:xfrm>
            <a:off x="10086977" y="3123626"/>
            <a:ext cx="65087" cy="622300"/>
          </a:xfrm>
          <a:prstGeom prst="rect">
            <a:avLst/>
          </a:pr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3" name="Rectangle 78">
            <a:extLst>
              <a:ext uri="{FF2B5EF4-FFF2-40B4-BE49-F238E27FC236}">
                <a16:creationId xmlns:a16="http://schemas.microsoft.com/office/drawing/2014/main" id="{4C4E8CF6-C760-5B4C-9C8B-724BC7EC9D27}"/>
              </a:ext>
            </a:extLst>
          </p:cNvPr>
          <p:cNvSpPr>
            <a:spLocks noChangeArrowheads="1"/>
          </p:cNvSpPr>
          <p:nvPr/>
        </p:nvSpPr>
        <p:spPr bwMode="auto">
          <a:xfrm>
            <a:off x="6792914" y="3861814"/>
            <a:ext cx="3408363" cy="889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4" name="Rectangle 79">
            <a:extLst>
              <a:ext uri="{FF2B5EF4-FFF2-40B4-BE49-F238E27FC236}">
                <a16:creationId xmlns:a16="http://schemas.microsoft.com/office/drawing/2014/main" id="{19F096B9-3111-7D40-B5B1-AE181A6D6D1D}"/>
              </a:ext>
            </a:extLst>
          </p:cNvPr>
          <p:cNvSpPr>
            <a:spLocks noChangeArrowheads="1"/>
          </p:cNvSpPr>
          <p:nvPr/>
        </p:nvSpPr>
        <p:spPr bwMode="auto">
          <a:xfrm>
            <a:off x="6878639" y="3014089"/>
            <a:ext cx="3408363" cy="889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5" name="Line 80">
            <a:extLst>
              <a:ext uri="{FF2B5EF4-FFF2-40B4-BE49-F238E27FC236}">
                <a16:creationId xmlns:a16="http://schemas.microsoft.com/office/drawing/2014/main" id="{E753CF95-7893-FD4E-BE3D-215F410E8408}"/>
              </a:ext>
            </a:extLst>
          </p:cNvPr>
          <p:cNvSpPr>
            <a:spLocks noChangeShapeType="1"/>
          </p:cNvSpPr>
          <p:nvPr/>
        </p:nvSpPr>
        <p:spPr bwMode="auto">
          <a:xfrm>
            <a:off x="6900864" y="3976114"/>
            <a:ext cx="868363"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6" name="Line 82">
            <a:extLst>
              <a:ext uri="{FF2B5EF4-FFF2-40B4-BE49-F238E27FC236}">
                <a16:creationId xmlns:a16="http://schemas.microsoft.com/office/drawing/2014/main" id="{A84B4DF1-EC9A-7F46-AA18-AD952AC6BF0E}"/>
              </a:ext>
            </a:extLst>
          </p:cNvPr>
          <p:cNvSpPr>
            <a:spLocks noChangeShapeType="1"/>
          </p:cNvSpPr>
          <p:nvPr/>
        </p:nvSpPr>
        <p:spPr bwMode="auto">
          <a:xfrm>
            <a:off x="7835902" y="3977701"/>
            <a:ext cx="868362"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7" name="Line 83">
            <a:extLst>
              <a:ext uri="{FF2B5EF4-FFF2-40B4-BE49-F238E27FC236}">
                <a16:creationId xmlns:a16="http://schemas.microsoft.com/office/drawing/2014/main" id="{F05D6B54-06E8-3340-AF49-E2A2D7CDBC38}"/>
              </a:ext>
            </a:extLst>
          </p:cNvPr>
          <p:cNvSpPr>
            <a:spLocks noChangeShapeType="1"/>
          </p:cNvSpPr>
          <p:nvPr/>
        </p:nvSpPr>
        <p:spPr bwMode="auto">
          <a:xfrm>
            <a:off x="9329739" y="3976114"/>
            <a:ext cx="801688"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8" name="Line 84">
            <a:extLst>
              <a:ext uri="{FF2B5EF4-FFF2-40B4-BE49-F238E27FC236}">
                <a16:creationId xmlns:a16="http://schemas.microsoft.com/office/drawing/2014/main" id="{B41A428C-2E0E-ED49-9C7F-ADDB6951A77B}"/>
              </a:ext>
            </a:extLst>
          </p:cNvPr>
          <p:cNvSpPr>
            <a:spLocks noChangeShapeType="1"/>
          </p:cNvSpPr>
          <p:nvPr/>
        </p:nvSpPr>
        <p:spPr bwMode="auto">
          <a:xfrm>
            <a:off x="8759827" y="3977701"/>
            <a:ext cx="528637"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9" name="Line 87">
            <a:extLst>
              <a:ext uri="{FF2B5EF4-FFF2-40B4-BE49-F238E27FC236}">
                <a16:creationId xmlns:a16="http://schemas.microsoft.com/office/drawing/2014/main" id="{F10E82D1-86EA-0A43-A26B-826B8C65625C}"/>
              </a:ext>
            </a:extLst>
          </p:cNvPr>
          <p:cNvSpPr>
            <a:spLocks noChangeShapeType="1"/>
          </p:cNvSpPr>
          <p:nvPr/>
        </p:nvSpPr>
        <p:spPr bwMode="auto">
          <a:xfrm>
            <a:off x="6992939" y="3999926"/>
            <a:ext cx="0" cy="233363"/>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0" name="Line 88">
            <a:extLst>
              <a:ext uri="{FF2B5EF4-FFF2-40B4-BE49-F238E27FC236}">
                <a16:creationId xmlns:a16="http://schemas.microsoft.com/office/drawing/2014/main" id="{849D7775-1F0E-F446-AFC3-AB4363FCD990}"/>
              </a:ext>
            </a:extLst>
          </p:cNvPr>
          <p:cNvSpPr>
            <a:spLocks noChangeShapeType="1"/>
          </p:cNvSpPr>
          <p:nvPr/>
        </p:nvSpPr>
        <p:spPr bwMode="auto">
          <a:xfrm>
            <a:off x="8221664"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1" name="Line 89">
            <a:extLst>
              <a:ext uri="{FF2B5EF4-FFF2-40B4-BE49-F238E27FC236}">
                <a16:creationId xmlns:a16="http://schemas.microsoft.com/office/drawing/2014/main" id="{0E0B871C-6367-774B-BA58-EF11B16FA4E2}"/>
              </a:ext>
            </a:extLst>
          </p:cNvPr>
          <p:cNvSpPr>
            <a:spLocks noChangeShapeType="1"/>
          </p:cNvSpPr>
          <p:nvPr/>
        </p:nvSpPr>
        <p:spPr bwMode="auto">
          <a:xfrm>
            <a:off x="9040814"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2" name="Line 90">
            <a:extLst>
              <a:ext uri="{FF2B5EF4-FFF2-40B4-BE49-F238E27FC236}">
                <a16:creationId xmlns:a16="http://schemas.microsoft.com/office/drawing/2014/main" id="{C09F078D-04FC-E640-8A03-2400CC0F0B8A}"/>
              </a:ext>
            </a:extLst>
          </p:cNvPr>
          <p:cNvSpPr>
            <a:spLocks noChangeShapeType="1"/>
          </p:cNvSpPr>
          <p:nvPr/>
        </p:nvSpPr>
        <p:spPr bwMode="auto">
          <a:xfrm>
            <a:off x="9698039"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3" name="Text Box 91">
            <a:extLst>
              <a:ext uri="{FF2B5EF4-FFF2-40B4-BE49-F238E27FC236}">
                <a16:creationId xmlns:a16="http://schemas.microsoft.com/office/drawing/2014/main" id="{39A723B2-B4B0-634D-AE9D-8AC58218E734}"/>
              </a:ext>
            </a:extLst>
          </p:cNvPr>
          <p:cNvSpPr txBox="1">
            <a:spLocks noChangeArrowheads="1"/>
          </p:cNvSpPr>
          <p:nvPr/>
        </p:nvSpPr>
        <p:spPr bwMode="auto">
          <a:xfrm>
            <a:off x="6869114" y="4223764"/>
            <a:ext cx="693738"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sent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ACKed</a:t>
            </a:r>
          </a:p>
        </p:txBody>
      </p:sp>
      <p:sp>
        <p:nvSpPr>
          <p:cNvPr id="294" name="Text Box 92">
            <a:extLst>
              <a:ext uri="{FF2B5EF4-FFF2-40B4-BE49-F238E27FC236}">
                <a16:creationId xmlns:a16="http://schemas.microsoft.com/office/drawing/2014/main" id="{3B367685-832F-A24C-8E10-9208FC23187F}"/>
              </a:ext>
            </a:extLst>
          </p:cNvPr>
          <p:cNvSpPr txBox="1">
            <a:spLocks noChangeArrowheads="1"/>
          </p:cNvSpPr>
          <p:nvPr/>
        </p:nvSpPr>
        <p:spPr bwMode="auto">
          <a:xfrm>
            <a:off x="7850188" y="4230114"/>
            <a:ext cx="1139821" cy="6848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sent, not-yet </a:t>
            </a:r>
            <a:r>
              <a:rPr kumimoji="0" lang="en-US" altLang="en-US" sz="1400" b="0" i="0" u="none" strike="noStrike" kern="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ACKed</a:t>
            </a:r>
            <a:endPar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0" fontAlgn="base" latinLnBrk="0" hangingPunct="0">
              <a:lnSpc>
                <a:spcPct val="90000"/>
              </a:lnSpc>
              <a:spcBef>
                <a:spcPts val="30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ja-JP"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in-flight”)</a:t>
            </a:r>
            <a:endPar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5" name="Text Box 93">
            <a:extLst>
              <a:ext uri="{FF2B5EF4-FFF2-40B4-BE49-F238E27FC236}">
                <a16:creationId xmlns:a16="http://schemas.microsoft.com/office/drawing/2014/main" id="{81CC0B14-ECA5-7042-90A8-A3D1691D8277}"/>
              </a:ext>
            </a:extLst>
          </p:cNvPr>
          <p:cNvSpPr txBox="1">
            <a:spLocks noChangeArrowheads="1"/>
          </p:cNvSpPr>
          <p:nvPr/>
        </p:nvSpPr>
        <p:spPr bwMode="auto">
          <a:xfrm>
            <a:off x="8829677" y="4225351"/>
            <a:ext cx="1066800" cy="6683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usable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but 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yet sent</a:t>
            </a:r>
          </a:p>
        </p:txBody>
      </p:sp>
      <p:sp>
        <p:nvSpPr>
          <p:cNvPr id="296" name="Text Box 94">
            <a:extLst>
              <a:ext uri="{FF2B5EF4-FFF2-40B4-BE49-F238E27FC236}">
                <a16:creationId xmlns:a16="http://schemas.microsoft.com/office/drawing/2014/main" id="{AA04402D-D3B0-AD47-B91F-3AC1C3E2066A}"/>
              </a:ext>
            </a:extLst>
          </p:cNvPr>
          <p:cNvSpPr txBox="1">
            <a:spLocks noChangeArrowheads="1"/>
          </p:cNvSpPr>
          <p:nvPr/>
        </p:nvSpPr>
        <p:spPr bwMode="auto">
          <a:xfrm>
            <a:off x="9586914" y="4230114"/>
            <a:ext cx="81915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usable</a:t>
            </a:r>
          </a:p>
        </p:txBody>
      </p:sp>
      <p:sp>
        <p:nvSpPr>
          <p:cNvPr id="297" name="Text Box 96">
            <a:extLst>
              <a:ext uri="{FF2B5EF4-FFF2-40B4-BE49-F238E27FC236}">
                <a16:creationId xmlns:a16="http://schemas.microsoft.com/office/drawing/2014/main" id="{7BC9AF2B-9067-6D40-8AD6-38C8B0980442}"/>
              </a:ext>
            </a:extLst>
          </p:cNvPr>
          <p:cNvSpPr txBox="1">
            <a:spLocks noChangeArrowheads="1"/>
          </p:cNvSpPr>
          <p:nvPr/>
        </p:nvSpPr>
        <p:spPr bwMode="auto">
          <a:xfrm>
            <a:off x="7929564" y="2658489"/>
            <a:ext cx="1131888"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window size</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1" u="none" strike="noStrike" kern="0" cap="none" spc="0" normalizeH="0" baseline="0" noProof="0">
                <a:ln>
                  <a:noFill/>
                </a:ln>
                <a:solidFill>
                  <a:srgbClr val="000000"/>
                </a:solidFill>
                <a:effectLst/>
                <a:uLnTx/>
                <a:uFillTx/>
                <a:latin typeface="Tahoma" charset="0"/>
                <a:ea typeface="ＭＳ Ｐゴシック" charset="0"/>
                <a:cs typeface="+mn-cs"/>
              </a:rPr>
              <a:t> N</a:t>
            </a:r>
          </a:p>
        </p:txBody>
      </p:sp>
      <p:grpSp>
        <p:nvGrpSpPr>
          <p:cNvPr id="298" name="Group 99">
            <a:extLst>
              <a:ext uri="{FF2B5EF4-FFF2-40B4-BE49-F238E27FC236}">
                <a16:creationId xmlns:a16="http://schemas.microsoft.com/office/drawing/2014/main" id="{24BD0429-57C9-5949-A0FA-36C1FBC99776}"/>
              </a:ext>
            </a:extLst>
          </p:cNvPr>
          <p:cNvGrpSpPr>
            <a:grpSpLocks/>
          </p:cNvGrpSpPr>
          <p:nvPr/>
        </p:nvGrpSpPr>
        <p:grpSpPr bwMode="auto">
          <a:xfrm>
            <a:off x="8696327" y="2882326"/>
            <a:ext cx="593725" cy="136525"/>
            <a:chOff x="4250" y="1692"/>
            <a:chExt cx="374" cy="86"/>
          </a:xfrm>
        </p:grpSpPr>
        <p:sp>
          <p:nvSpPr>
            <p:cNvPr id="299" name="Line 97">
              <a:extLst>
                <a:ext uri="{FF2B5EF4-FFF2-40B4-BE49-F238E27FC236}">
                  <a16:creationId xmlns:a16="http://schemas.microsoft.com/office/drawing/2014/main" id="{A02E02EA-0929-104A-BF00-5ADA492F2B7C}"/>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0" name="Line 98">
              <a:extLst>
                <a:ext uri="{FF2B5EF4-FFF2-40B4-BE49-F238E27FC236}">
                  <a16:creationId xmlns:a16="http://schemas.microsoft.com/office/drawing/2014/main" id="{BBA1422E-A86D-8048-8C6A-CBCE03DB28AC}"/>
                </a:ext>
              </a:extLst>
            </p:cNvPr>
            <p:cNvSpPr>
              <a:spLocks noChangeShapeType="1"/>
            </p:cNvSpPr>
            <p:nvPr/>
          </p:nvSpPr>
          <p:spPr bwMode="auto">
            <a:xfrm>
              <a:off x="4622" y="1692"/>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01" name="Group 100">
            <a:extLst>
              <a:ext uri="{FF2B5EF4-FFF2-40B4-BE49-F238E27FC236}">
                <a16:creationId xmlns:a16="http://schemas.microsoft.com/office/drawing/2014/main" id="{953BBB09-1247-E749-B041-4AB4BC053F15}"/>
              </a:ext>
            </a:extLst>
          </p:cNvPr>
          <p:cNvGrpSpPr>
            <a:grpSpLocks/>
          </p:cNvGrpSpPr>
          <p:nvPr/>
        </p:nvGrpSpPr>
        <p:grpSpPr bwMode="auto">
          <a:xfrm rot="10800000">
            <a:off x="7804152" y="2907726"/>
            <a:ext cx="593725" cy="136525"/>
            <a:chOff x="4250" y="1692"/>
            <a:chExt cx="374" cy="86"/>
          </a:xfrm>
        </p:grpSpPr>
        <p:sp>
          <p:nvSpPr>
            <p:cNvPr id="302" name="Line 101">
              <a:extLst>
                <a:ext uri="{FF2B5EF4-FFF2-40B4-BE49-F238E27FC236}">
                  <a16:creationId xmlns:a16="http://schemas.microsoft.com/office/drawing/2014/main" id="{3C66FDCF-F2B7-8447-A6D6-18D719B215CF}"/>
                </a:ext>
              </a:extLst>
            </p:cNvPr>
            <p:cNvSpPr>
              <a:spLocks noChangeShapeType="1"/>
            </p:cNvSpPr>
            <p:nvPr/>
          </p:nvSpPr>
          <p:spPr bwMode="auto">
            <a:xfrm>
              <a:off x="4257" y="1745"/>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3" name="Line 102">
              <a:extLst>
                <a:ext uri="{FF2B5EF4-FFF2-40B4-BE49-F238E27FC236}">
                  <a16:creationId xmlns:a16="http://schemas.microsoft.com/office/drawing/2014/main" id="{3E685C18-38D0-2242-B6E7-6B45955EA4D6}"/>
                </a:ext>
              </a:extLst>
            </p:cNvPr>
            <p:cNvSpPr>
              <a:spLocks noChangeShapeType="1"/>
            </p:cNvSpPr>
            <p:nvPr/>
          </p:nvSpPr>
          <p:spPr bwMode="auto">
            <a:xfrm>
              <a:off x="4629" y="1699"/>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304" name="Text Box 196">
            <a:extLst>
              <a:ext uri="{FF2B5EF4-FFF2-40B4-BE49-F238E27FC236}">
                <a16:creationId xmlns:a16="http://schemas.microsoft.com/office/drawing/2014/main" id="{8A4318F8-8B4B-BA46-9E7C-C771B9AFC315}"/>
              </a:ext>
            </a:extLst>
          </p:cNvPr>
          <p:cNvSpPr txBox="1">
            <a:spLocks noChangeArrowheads="1"/>
          </p:cNvSpPr>
          <p:nvPr/>
        </p:nvSpPr>
        <p:spPr bwMode="auto">
          <a:xfrm>
            <a:off x="7085014" y="3677664"/>
            <a:ext cx="31781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marL="342900" indent="-342900">
              <a:defRPr sz="1600">
                <a:solidFill>
                  <a:schemeClr val="tx1"/>
                </a:solidFill>
                <a:latin typeface="Tahoma" charset="0"/>
                <a:ea typeface="ＭＳ Ｐゴシック" charset="0"/>
              </a:defRPr>
            </a:lvl1pPr>
            <a:lvl2pPr>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1" indent="0" algn="ctr" defTabSz="914400" rtl="0" eaLnBrk="0" fontAlgn="base" latinLnBrk="0" hangingPunct="0">
              <a:lnSpc>
                <a:spcPct val="100000"/>
              </a:lnSpc>
              <a:spcBef>
                <a:spcPct val="0"/>
              </a:spcBef>
              <a:spcAft>
                <a:spcPct val="0"/>
              </a:spcAft>
              <a:buClrTx/>
              <a:buSzTx/>
              <a:buFontTx/>
              <a:buNone/>
              <a:tabLst/>
              <a:defRPr/>
            </a:pPr>
            <a:r>
              <a:rPr kumimoji="0" lang="en-US" sz="1400" b="0" i="1" u="none" strike="noStrike" kern="0" cap="none" spc="0" normalizeH="0" baseline="0" noProof="0">
                <a:ln>
                  <a:noFill/>
                </a:ln>
                <a:solidFill>
                  <a:srgbClr val="000000"/>
                </a:solidFill>
                <a:effectLst/>
                <a:uLnTx/>
                <a:uFillTx/>
                <a:latin typeface="Tahoma" charset="0"/>
                <a:ea typeface="ＭＳ Ｐゴシック" charset="0"/>
                <a:cs typeface="+mn-cs"/>
              </a:rPr>
              <a:t>sender sequence number space </a:t>
            </a:r>
          </a:p>
        </p:txBody>
      </p:sp>
      <p:grpSp>
        <p:nvGrpSpPr>
          <p:cNvPr id="305" name="Group 199">
            <a:extLst>
              <a:ext uri="{FF2B5EF4-FFF2-40B4-BE49-F238E27FC236}">
                <a16:creationId xmlns:a16="http://schemas.microsoft.com/office/drawing/2014/main" id="{17C79495-9E5E-D743-8F6F-313B7597C3E0}"/>
              </a:ext>
            </a:extLst>
          </p:cNvPr>
          <p:cNvGrpSpPr>
            <a:grpSpLocks/>
          </p:cNvGrpSpPr>
          <p:nvPr/>
        </p:nvGrpSpPr>
        <p:grpSpPr bwMode="auto">
          <a:xfrm>
            <a:off x="6321427" y="1140839"/>
            <a:ext cx="2952750" cy="1966912"/>
            <a:chOff x="2600" y="665"/>
            <a:chExt cx="1860" cy="1239"/>
          </a:xfrm>
        </p:grpSpPr>
        <p:sp>
          <p:nvSpPr>
            <p:cNvPr id="306" name="Rectangle 171">
              <a:extLst>
                <a:ext uri="{FF2B5EF4-FFF2-40B4-BE49-F238E27FC236}">
                  <a16:creationId xmlns:a16="http://schemas.microsoft.com/office/drawing/2014/main" id="{1EAF4F70-21E7-C34E-8873-423E3B1E6A8A}"/>
                </a:ext>
              </a:extLst>
            </p:cNvPr>
            <p:cNvSpPr>
              <a:spLocks noChangeArrowheads="1"/>
            </p:cNvSpPr>
            <p:nvPr/>
          </p:nvSpPr>
          <p:spPr bwMode="auto">
            <a:xfrm>
              <a:off x="2840" y="1028"/>
              <a:ext cx="1202"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07" name="Group 172">
              <a:extLst>
                <a:ext uri="{FF2B5EF4-FFF2-40B4-BE49-F238E27FC236}">
                  <a16:creationId xmlns:a16="http://schemas.microsoft.com/office/drawing/2014/main" id="{DEE85BA8-BC48-F24A-B3C5-A13DD502AF23}"/>
                </a:ext>
              </a:extLst>
            </p:cNvPr>
            <p:cNvGrpSpPr>
              <a:grpSpLocks/>
            </p:cNvGrpSpPr>
            <p:nvPr/>
          </p:nvGrpSpPr>
          <p:grpSpPr bwMode="auto">
            <a:xfrm>
              <a:off x="2820" y="872"/>
              <a:ext cx="1252" cy="714"/>
              <a:chOff x="1976" y="2984"/>
              <a:chExt cx="1252" cy="714"/>
            </a:xfrm>
          </p:grpSpPr>
          <p:sp>
            <p:nvSpPr>
              <p:cNvPr id="310" name="Rectangle 173">
                <a:extLst>
                  <a:ext uri="{FF2B5EF4-FFF2-40B4-BE49-F238E27FC236}">
                    <a16:creationId xmlns:a16="http://schemas.microsoft.com/office/drawing/2014/main" id="{512EC936-B599-4C42-A3CB-F206B3359FAC}"/>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1" name="Text Box 174">
                <a:extLst>
                  <a:ext uri="{FF2B5EF4-FFF2-40B4-BE49-F238E27FC236}">
                    <a16:creationId xmlns:a16="http://schemas.microsoft.com/office/drawing/2014/main" id="{D1A37C4D-C221-B944-960D-5E1AC157A7DE}"/>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source port #</a:t>
                </a:r>
              </a:p>
            </p:txBody>
          </p:sp>
          <p:sp>
            <p:nvSpPr>
              <p:cNvPr id="312" name="Text Box 175">
                <a:extLst>
                  <a:ext uri="{FF2B5EF4-FFF2-40B4-BE49-F238E27FC236}">
                    <a16:creationId xmlns:a16="http://schemas.microsoft.com/office/drawing/2014/main" id="{DC506D04-4DCA-2A42-8A11-92D274739497}"/>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dest port #</a:t>
                </a:r>
              </a:p>
            </p:txBody>
          </p:sp>
          <p:sp>
            <p:nvSpPr>
              <p:cNvPr id="313" name="Text Box 176">
                <a:extLst>
                  <a:ext uri="{FF2B5EF4-FFF2-40B4-BE49-F238E27FC236}">
                    <a16:creationId xmlns:a16="http://schemas.microsoft.com/office/drawing/2014/main" id="{E9E72ACF-7C4B-3247-896D-D6CDE3C1CEE4}"/>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rial" charset="0"/>
                    <a:ea typeface="ＭＳ Ｐゴシック" charset="0"/>
                    <a:cs typeface="+mn-cs"/>
                  </a:rPr>
                  <a:t>sequence number</a:t>
                </a:r>
              </a:p>
            </p:txBody>
          </p:sp>
          <p:sp>
            <p:nvSpPr>
              <p:cNvPr id="314" name="Text Box 177">
                <a:extLst>
                  <a:ext uri="{FF2B5EF4-FFF2-40B4-BE49-F238E27FC236}">
                    <a16:creationId xmlns:a16="http://schemas.microsoft.com/office/drawing/2014/main" id="{4A1EA7EA-E261-2540-A61F-14F1D3C62770}"/>
                  </a:ext>
                </a:extLst>
              </p:cNvPr>
              <p:cNvSpPr txBox="1">
                <a:spLocks noChangeArrowheads="1"/>
              </p:cNvSpPr>
              <p:nvPr/>
            </p:nvSpPr>
            <p:spPr bwMode="auto">
              <a:xfrm>
                <a:off x="1976" y="3257"/>
                <a:ext cx="125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acknowledgement number</a:t>
                </a:r>
              </a:p>
            </p:txBody>
          </p:sp>
          <p:sp>
            <p:nvSpPr>
              <p:cNvPr id="315" name="Text Box 178">
                <a:extLst>
                  <a:ext uri="{FF2B5EF4-FFF2-40B4-BE49-F238E27FC236}">
                    <a16:creationId xmlns:a16="http://schemas.microsoft.com/office/drawing/2014/main" id="{14D444FC-B976-4B43-AF8C-651999F1EAD7}"/>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checksum</a:t>
                </a:r>
              </a:p>
            </p:txBody>
          </p:sp>
          <p:sp>
            <p:nvSpPr>
              <p:cNvPr id="316" name="Line 179">
                <a:extLst>
                  <a:ext uri="{FF2B5EF4-FFF2-40B4-BE49-F238E27FC236}">
                    <a16:creationId xmlns:a16="http://schemas.microsoft.com/office/drawing/2014/main" id="{03CA3683-10CF-2D45-855C-D741CB3E84FC}"/>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7" name="Line 180">
                <a:extLst>
                  <a:ext uri="{FF2B5EF4-FFF2-40B4-BE49-F238E27FC236}">
                    <a16:creationId xmlns:a16="http://schemas.microsoft.com/office/drawing/2014/main" id="{4427CEC2-BFD3-0543-AAB5-E40DA49DCF81}"/>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8" name="Line 181">
                <a:extLst>
                  <a:ext uri="{FF2B5EF4-FFF2-40B4-BE49-F238E27FC236}">
                    <a16:creationId xmlns:a16="http://schemas.microsoft.com/office/drawing/2014/main" id="{83A31360-0241-B24B-9A5B-5DF36A70BB1A}"/>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9" name="Line 182">
                <a:extLst>
                  <a:ext uri="{FF2B5EF4-FFF2-40B4-BE49-F238E27FC236}">
                    <a16:creationId xmlns:a16="http://schemas.microsoft.com/office/drawing/2014/main" id="{E2E74D6E-689D-3E49-A5CA-1EB053F0D115}"/>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0" name="Line 183">
                <a:extLst>
                  <a:ext uri="{FF2B5EF4-FFF2-40B4-BE49-F238E27FC236}">
                    <a16:creationId xmlns:a16="http://schemas.microsoft.com/office/drawing/2014/main" id="{34408127-C1C4-5142-81BC-0772E406AF42}"/>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1" name="Line 184">
                <a:extLst>
                  <a:ext uri="{FF2B5EF4-FFF2-40B4-BE49-F238E27FC236}">
                    <a16:creationId xmlns:a16="http://schemas.microsoft.com/office/drawing/2014/main" id="{AF6C4EF8-1ED8-1A4B-B94D-F145C940A384}"/>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2" name="Text Box 185">
                <a:extLst>
                  <a:ext uri="{FF2B5EF4-FFF2-40B4-BE49-F238E27FC236}">
                    <a16:creationId xmlns:a16="http://schemas.microsoft.com/office/drawing/2014/main" id="{8F8508CA-EE38-AF4E-A97C-1BE94735E56E}"/>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rwnd</a:t>
                </a:r>
              </a:p>
            </p:txBody>
          </p:sp>
          <p:sp>
            <p:nvSpPr>
              <p:cNvPr id="323" name="Text Box 186">
                <a:extLst>
                  <a:ext uri="{FF2B5EF4-FFF2-40B4-BE49-F238E27FC236}">
                    <a16:creationId xmlns:a16="http://schemas.microsoft.com/office/drawing/2014/main" id="{88BEC28D-C62B-B54E-A090-DF6809C9E835}"/>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urg pointer</a:t>
                </a:r>
              </a:p>
            </p:txBody>
          </p:sp>
          <p:sp>
            <p:nvSpPr>
              <p:cNvPr id="324" name="Line 187">
                <a:extLst>
                  <a:ext uri="{FF2B5EF4-FFF2-40B4-BE49-F238E27FC236}">
                    <a16:creationId xmlns:a16="http://schemas.microsoft.com/office/drawing/2014/main" id="{8CC1CABE-C086-144F-8F1F-A7D004A1EA6E}"/>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5" name="Line 188">
                <a:extLst>
                  <a:ext uri="{FF2B5EF4-FFF2-40B4-BE49-F238E27FC236}">
                    <a16:creationId xmlns:a16="http://schemas.microsoft.com/office/drawing/2014/main" id="{061C4173-FBA5-7749-BCE1-9EBD070DBA3D}"/>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08" name="Text Box 189">
              <a:extLst>
                <a:ext uri="{FF2B5EF4-FFF2-40B4-BE49-F238E27FC236}">
                  <a16:creationId xmlns:a16="http://schemas.microsoft.com/office/drawing/2014/main" id="{961ADE6B-9EA8-FA44-92C6-6941117B3BDE}"/>
                </a:ext>
              </a:extLst>
            </p:cNvPr>
            <p:cNvSpPr txBox="1">
              <a:spLocks noChangeArrowheads="1"/>
            </p:cNvSpPr>
            <p:nvPr/>
          </p:nvSpPr>
          <p:spPr bwMode="auto">
            <a:xfrm>
              <a:off x="2600" y="665"/>
              <a:ext cx="1860"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sender</a:t>
              </a:r>
            </a:p>
          </p:txBody>
        </p:sp>
        <p:sp>
          <p:nvSpPr>
            <p:cNvPr id="309" name="Freeform 190">
              <a:extLst>
                <a:ext uri="{FF2B5EF4-FFF2-40B4-BE49-F238E27FC236}">
                  <a16:creationId xmlns:a16="http://schemas.microsoft.com/office/drawing/2014/main" id="{ECB9422A-F7AA-6143-8673-CA97EE9D620B}"/>
                </a:ext>
              </a:extLst>
            </p:cNvPr>
            <p:cNvSpPr>
              <a:spLocks/>
            </p:cNvSpPr>
            <p:nvPr/>
          </p:nvSpPr>
          <p:spPr bwMode="auto">
            <a:xfrm>
              <a:off x="4050" y="1080"/>
              <a:ext cx="107" cy="824"/>
            </a:xfrm>
            <a:custGeom>
              <a:avLst/>
              <a:gdLst>
                <a:gd name="T0" fmla="*/ 0 w 107"/>
                <a:gd name="T1" fmla="*/ 0 h 910"/>
                <a:gd name="T2" fmla="*/ 107 w 107"/>
                <a:gd name="T3" fmla="*/ 0 h 910"/>
                <a:gd name="T4" fmla="*/ 107 w 107"/>
                <a:gd name="T5" fmla="*/ 337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07" name="Rectangle 5">
            <a:extLst>
              <a:ext uri="{FF2B5EF4-FFF2-40B4-BE49-F238E27FC236}">
                <a16:creationId xmlns:a16="http://schemas.microsoft.com/office/drawing/2014/main" id="{6C3FDCE7-5731-3B49-B3F0-A28BEE20C1DD}"/>
              </a:ext>
            </a:extLst>
          </p:cNvPr>
          <p:cNvSpPr txBox="1">
            <a:spLocks noChangeArrowheads="1"/>
          </p:cNvSpPr>
          <p:nvPr/>
        </p:nvSpPr>
        <p:spPr bwMode="auto">
          <a:xfrm>
            <a:off x="740571" y="2803512"/>
            <a:ext cx="5096669" cy="17684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Acknowledgements</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endPar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endParaRP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 of next byte expected from other side</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cumulative ACK</a:t>
            </a:r>
          </a:p>
        </p:txBody>
      </p:sp>
      <p:sp>
        <p:nvSpPr>
          <p:cNvPr id="108" name="Rectangle 5">
            <a:extLst>
              <a:ext uri="{FF2B5EF4-FFF2-40B4-BE49-F238E27FC236}">
                <a16:creationId xmlns:a16="http://schemas.microsoft.com/office/drawing/2014/main" id="{845D3A7B-C2B2-5F46-AC88-0FE1A562E0B2}"/>
              </a:ext>
            </a:extLst>
          </p:cNvPr>
          <p:cNvSpPr txBox="1">
            <a:spLocks noChangeArrowheads="1"/>
          </p:cNvSpPr>
          <p:nvPr/>
        </p:nvSpPr>
        <p:spPr bwMode="auto">
          <a:xfrm>
            <a:off x="651671" y="4633906"/>
            <a:ext cx="5096669" cy="1730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ts val="1900"/>
              </a:spcBef>
              <a:spcAft>
                <a:spcPct val="0"/>
              </a:spcAft>
              <a:buClr>
                <a:srgbClr val="000099"/>
              </a:buClr>
              <a:buSzPct val="100000"/>
              <a:buFont typeface="Wingdings" pitchFamily="2" charset="2"/>
              <a:buNone/>
              <a:tabLst/>
              <a:defRPr/>
            </a:pPr>
            <a:r>
              <a:rPr kumimoji="0" lang="en-US" altLang="en-US" sz="2800" b="0" i="1"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Q</a:t>
            </a: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 how receiver handles out-of-order segments</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1" u="sng"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 </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TCP spec doesn</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say, - up to implementor</a:t>
            </a:r>
            <a:endPar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09" name="Slide Number Placeholder 2">
            <a:extLst>
              <a:ext uri="{FF2B5EF4-FFF2-40B4-BE49-F238E27FC236}">
                <a16:creationId xmlns:a16="http://schemas.microsoft.com/office/drawing/2014/main" id="{471D7C94-F1DF-F240-884F-FBFDCBF83554}"/>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25</a:t>
            </a:fld>
            <a:endParaRPr lang="en-US" dirty="0"/>
          </a:p>
        </p:txBody>
      </p:sp>
    </p:spTree>
    <p:extLst>
      <p:ext uri="{BB962C8B-B14F-4D97-AF65-F5344CB8AC3E}">
        <p14:creationId xmlns:p14="http://schemas.microsoft.com/office/powerpoint/2010/main" val="165580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dissolve">
                                      <p:cBhvr>
                                        <p:cTn id="7" dur="500"/>
                                        <p:tgtEl>
                                          <p:spTgt spid="3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4"/>
                                        </p:tgtEl>
                                        <p:attrNameLst>
                                          <p:attrName>style.visibility</p:attrName>
                                        </p:attrNameLst>
                                      </p:cBhvr>
                                      <p:to>
                                        <p:strVal val="visible"/>
                                      </p:to>
                                    </p:set>
                                    <p:animEffect transition="in" filter="dissolve">
                                      <p:cBhvr>
                                        <p:cTn id="12" dur="500"/>
                                        <p:tgtEl>
                                          <p:spTgt spid="224"/>
                                        </p:tgtEl>
                                      </p:cBhvr>
                                    </p:animEffect>
                                  </p:childTnLst>
                                </p:cTn>
                              </p:par>
                              <p:par>
                                <p:cTn id="13" presetID="9" presetClass="entr" presetSubtype="0" fill="hold" nodeType="withEffect">
                                  <p:stCondLst>
                                    <p:cond delay="0"/>
                                  </p:stCondLst>
                                  <p:childTnLst>
                                    <p:set>
                                      <p:cBhvr>
                                        <p:cTn id="14" dur="1" fill="hold">
                                          <p:stCondLst>
                                            <p:cond delay="0"/>
                                          </p:stCondLst>
                                        </p:cTn>
                                        <p:tgtEl>
                                          <p:spTgt spid="245"/>
                                        </p:tgtEl>
                                        <p:attrNameLst>
                                          <p:attrName>style.visibility</p:attrName>
                                        </p:attrNameLst>
                                      </p:cBhvr>
                                      <p:to>
                                        <p:strVal val="visible"/>
                                      </p:to>
                                    </p:set>
                                    <p:animEffect transition="in" filter="dissolve">
                                      <p:cBhvr>
                                        <p:cTn id="15" dur="500"/>
                                        <p:tgtEl>
                                          <p:spTgt spid="24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07"/>
                                        </p:tgtEl>
                                        <p:attrNameLst>
                                          <p:attrName>style.visibility</p:attrName>
                                        </p:attrNameLst>
                                      </p:cBhvr>
                                      <p:to>
                                        <p:strVal val="visible"/>
                                      </p:to>
                                    </p:set>
                                    <p:animEffect transition="in" filter="dissolve">
                                      <p:cBhvr>
                                        <p:cTn id="18" dur="500"/>
                                        <p:tgtEl>
                                          <p:spTgt spid="10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8"/>
                                        </p:tgtEl>
                                        <p:attrNameLst>
                                          <p:attrName>style.visibility</p:attrName>
                                        </p:attrNameLst>
                                      </p:cBhvr>
                                      <p:to>
                                        <p:strVal val="visible"/>
                                      </p:to>
                                    </p:set>
                                    <p:animEffect transition="in" filter="dissolve">
                                      <p:cBhvr>
                                        <p:cTn id="23"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re 1"/>
          <p:cNvSpPr>
            <a:spLocks noGrp="1"/>
          </p:cNvSpPr>
          <p:nvPr>
            <p:ph type="title"/>
          </p:nvPr>
        </p:nvSpPr>
        <p:spPr/>
        <p:txBody>
          <a:bodyPr/>
          <a:lstStyle/>
          <a:p>
            <a:r>
              <a:rPr lang="fr-FR" altLang="en-US"/>
              <a:t>Sequence Numbers </a:t>
            </a:r>
          </a:p>
        </p:txBody>
      </p:sp>
      <p:sp>
        <p:nvSpPr>
          <p:cNvPr id="18435" name="Espace réservé du contenu 2"/>
          <p:cNvSpPr>
            <a:spLocks noGrp="1"/>
          </p:cNvSpPr>
          <p:nvPr>
            <p:ph idx="1"/>
          </p:nvPr>
        </p:nvSpPr>
        <p:spPr/>
        <p:txBody>
          <a:bodyPr/>
          <a:lstStyle/>
          <a:p>
            <a:r>
              <a:rPr lang="fr-FR" altLang="en-US" dirty="0"/>
              <a:t>TCP </a:t>
            </a:r>
            <a:r>
              <a:rPr lang="fr-FR" altLang="en-US" dirty="0" err="1"/>
              <a:t>views</a:t>
            </a:r>
            <a:r>
              <a:rPr lang="fr-FR" altLang="en-US" dirty="0"/>
              <a:t> data as an </a:t>
            </a:r>
            <a:r>
              <a:rPr lang="fr-FR" altLang="en-US" dirty="0" err="1"/>
              <a:t>unstructured</a:t>
            </a:r>
            <a:r>
              <a:rPr lang="fr-FR" altLang="en-US" dirty="0"/>
              <a:t>, but </a:t>
            </a:r>
            <a:r>
              <a:rPr lang="fr-FR" altLang="en-US" dirty="0" err="1"/>
              <a:t>ordered</a:t>
            </a:r>
            <a:r>
              <a:rPr lang="fr-FR" altLang="en-US" dirty="0"/>
              <a:t>, </a:t>
            </a:r>
            <a:r>
              <a:rPr lang="fr-FR" altLang="en-US" dirty="0" err="1"/>
              <a:t>stream</a:t>
            </a:r>
            <a:r>
              <a:rPr lang="fr-FR" altLang="en-US" dirty="0"/>
              <a:t> of bytes. </a:t>
            </a:r>
          </a:p>
          <a:p>
            <a:endParaRPr lang="fr-FR" altLang="en-US" dirty="0"/>
          </a:p>
          <a:p>
            <a:r>
              <a:rPr lang="fr-FR" altLang="en-US" dirty="0" err="1"/>
              <a:t>Sequence</a:t>
            </a:r>
            <a:r>
              <a:rPr lang="fr-FR" altLang="en-US" dirty="0"/>
              <a:t> </a:t>
            </a:r>
            <a:r>
              <a:rPr lang="fr-FR" altLang="en-US" dirty="0" err="1"/>
              <a:t>numbers</a:t>
            </a:r>
            <a:r>
              <a:rPr lang="fr-FR" altLang="en-US" dirty="0"/>
              <a:t> are over the </a:t>
            </a:r>
            <a:r>
              <a:rPr lang="fr-FR" altLang="en-US" dirty="0" err="1"/>
              <a:t>stream</a:t>
            </a:r>
            <a:r>
              <a:rPr lang="fr-FR" altLang="en-US" dirty="0"/>
              <a:t> of </a:t>
            </a:r>
            <a:r>
              <a:rPr lang="fr-FR" altLang="en-US" dirty="0" err="1"/>
              <a:t>transmitted</a:t>
            </a:r>
            <a:r>
              <a:rPr lang="fr-FR" altLang="en-US" dirty="0"/>
              <a:t> bytes and </a:t>
            </a:r>
            <a:r>
              <a:rPr lang="fr-FR" altLang="en-US" i="1" dirty="0"/>
              <a:t>not </a:t>
            </a:r>
            <a:r>
              <a:rPr lang="fr-FR" altLang="en-US" dirty="0"/>
              <a:t>over the </a:t>
            </a:r>
            <a:r>
              <a:rPr lang="fr-FR" altLang="en-US" dirty="0" err="1"/>
              <a:t>series</a:t>
            </a:r>
            <a:r>
              <a:rPr lang="fr-FR" altLang="en-US" dirty="0"/>
              <a:t> of </a:t>
            </a:r>
            <a:r>
              <a:rPr lang="fr-FR" altLang="en-US" dirty="0" err="1"/>
              <a:t>transmitted</a:t>
            </a:r>
            <a:r>
              <a:rPr lang="fr-FR" altLang="en-US" dirty="0"/>
              <a:t> segments. </a:t>
            </a:r>
          </a:p>
          <a:p>
            <a:r>
              <a:rPr lang="fr-FR" altLang="en-US" dirty="0"/>
              <a:t>The </a:t>
            </a:r>
            <a:r>
              <a:rPr lang="fr-FR" altLang="en-US" b="1" dirty="0" err="1"/>
              <a:t>sequence</a:t>
            </a:r>
            <a:r>
              <a:rPr lang="fr-FR" altLang="en-US" b="1" dirty="0"/>
              <a:t> </a:t>
            </a:r>
            <a:r>
              <a:rPr lang="fr-FR" altLang="en-US" b="1" dirty="0" err="1"/>
              <a:t>number</a:t>
            </a:r>
            <a:r>
              <a:rPr lang="fr-FR" altLang="en-US" b="1" dirty="0"/>
              <a:t> for a segment </a:t>
            </a:r>
            <a:r>
              <a:rPr lang="fr-FR" altLang="en-US" dirty="0" err="1"/>
              <a:t>is</a:t>
            </a:r>
            <a:r>
              <a:rPr lang="fr-FR" altLang="en-US" dirty="0"/>
              <a:t> </a:t>
            </a:r>
            <a:r>
              <a:rPr lang="fr-FR" altLang="en-US" dirty="0" err="1"/>
              <a:t>therefore</a:t>
            </a:r>
            <a:r>
              <a:rPr lang="fr-FR" altLang="en-US" dirty="0"/>
              <a:t> the byte-</a:t>
            </a:r>
            <a:r>
              <a:rPr lang="fr-FR" altLang="en-US" dirty="0" err="1"/>
              <a:t>stream</a:t>
            </a:r>
            <a:r>
              <a:rPr lang="fr-FR" altLang="en-US" dirty="0"/>
              <a:t> </a:t>
            </a:r>
            <a:r>
              <a:rPr lang="fr-FR" altLang="en-US" dirty="0" err="1"/>
              <a:t>number</a:t>
            </a:r>
            <a:r>
              <a:rPr lang="fr-FR" altLang="en-US" dirty="0"/>
              <a:t> of the first byte in the segment. </a:t>
            </a:r>
          </a:p>
          <a:p>
            <a:endParaRPr lang="fr-FR" altLang="en-US" dirty="0"/>
          </a:p>
          <a:p>
            <a:endParaRPr lang="fr-FR" altLang="en-US" dirty="0"/>
          </a:p>
        </p:txBody>
      </p:sp>
    </p:spTree>
    <p:extLst>
      <p:ext uri="{BB962C8B-B14F-4D97-AF65-F5344CB8AC3E}">
        <p14:creationId xmlns:p14="http://schemas.microsoft.com/office/powerpoint/2010/main" val="41883950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re 1"/>
          <p:cNvSpPr>
            <a:spLocks noGrp="1"/>
          </p:cNvSpPr>
          <p:nvPr>
            <p:ph type="title"/>
          </p:nvPr>
        </p:nvSpPr>
        <p:spPr/>
        <p:txBody>
          <a:bodyPr/>
          <a:lstStyle/>
          <a:p>
            <a:r>
              <a:rPr lang="fr-FR" altLang="en-US"/>
              <a:t>An example</a:t>
            </a:r>
          </a:p>
        </p:txBody>
      </p:sp>
      <p:sp>
        <p:nvSpPr>
          <p:cNvPr id="20483" name="Espace réservé du contenu 2"/>
          <p:cNvSpPr>
            <a:spLocks noGrp="1"/>
          </p:cNvSpPr>
          <p:nvPr>
            <p:ph idx="1"/>
          </p:nvPr>
        </p:nvSpPr>
        <p:spPr/>
        <p:txBody>
          <a:bodyPr/>
          <a:lstStyle/>
          <a:p>
            <a:r>
              <a:rPr lang="fr-FR" altLang="en-US"/>
              <a:t>A process in Host A wants to send a stream of data to a process in Host B. </a:t>
            </a:r>
          </a:p>
          <a:p>
            <a:endParaRPr lang="fr-FR" altLang="en-US"/>
          </a:p>
          <a:p>
            <a:r>
              <a:rPr lang="fr-FR" altLang="en-US"/>
              <a:t>The TCP in Host A will implicitly number each byte in the data stream. </a:t>
            </a:r>
          </a:p>
          <a:p>
            <a:pPr lvl="1"/>
            <a:r>
              <a:rPr lang="fr-FR" altLang="en-US"/>
              <a:t>For a file consisting of 500,000 bytes, </a:t>
            </a:r>
          </a:p>
          <a:p>
            <a:pPr lvl="1"/>
            <a:r>
              <a:rPr lang="fr-FR" altLang="en-US"/>
              <a:t>MSS being 1,000 bytes, and that the first byte of the data stream is numbered 0. </a:t>
            </a:r>
          </a:p>
          <a:p>
            <a:pPr lvl="1"/>
            <a:r>
              <a:rPr lang="fr-FR" altLang="en-US"/>
              <a:t>TCP constructs 500 segments out of the data stream. </a:t>
            </a:r>
          </a:p>
          <a:p>
            <a:endParaRPr lang="fr-FR" altLang="en-US"/>
          </a:p>
        </p:txBody>
      </p:sp>
    </p:spTree>
    <p:extLst>
      <p:ext uri="{BB962C8B-B14F-4D97-AF65-F5344CB8AC3E}">
        <p14:creationId xmlns:p14="http://schemas.microsoft.com/office/powerpoint/2010/main" val="1437431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re 1"/>
          <p:cNvSpPr>
            <a:spLocks noGrp="1"/>
          </p:cNvSpPr>
          <p:nvPr>
            <p:ph type="title"/>
          </p:nvPr>
        </p:nvSpPr>
        <p:spPr/>
        <p:txBody>
          <a:bodyPr/>
          <a:lstStyle/>
          <a:p>
            <a:r>
              <a:rPr lang="fr-FR" altLang="en-US"/>
              <a:t>TCP Sequence Numbers </a:t>
            </a:r>
          </a:p>
        </p:txBody>
      </p:sp>
      <p:pic>
        <p:nvPicPr>
          <p:cNvPr id="21507" name="Image 3" descr="Screen Shot 2015-09-27 at 11.44.04.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3363" y="1371600"/>
            <a:ext cx="9144001"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4"/>
          <p:cNvSpPr>
            <a:spLocks noChangeArrowheads="1"/>
          </p:cNvSpPr>
          <p:nvPr/>
        </p:nvSpPr>
        <p:spPr bwMode="auto">
          <a:xfrm>
            <a:off x="2133600" y="4303713"/>
            <a:ext cx="7924800" cy="1097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2800" baseline="30000"/>
              <a:t>The first segment gets assigned sequence number 0, the second segment gets assigned sequence number 1,000, the third segment gets assigned sequence number 2,000, and so on.</a:t>
            </a:r>
            <a:endParaRPr lang="fr-FR" altLang="en-US" sz="2800"/>
          </a:p>
        </p:txBody>
      </p:sp>
    </p:spTree>
    <p:extLst>
      <p:ext uri="{BB962C8B-B14F-4D97-AF65-F5344CB8AC3E}">
        <p14:creationId xmlns:p14="http://schemas.microsoft.com/office/powerpoint/2010/main" val="2280945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re 1"/>
          <p:cNvSpPr>
            <a:spLocks noGrp="1"/>
          </p:cNvSpPr>
          <p:nvPr>
            <p:ph type="title"/>
          </p:nvPr>
        </p:nvSpPr>
        <p:spPr/>
        <p:txBody>
          <a:bodyPr/>
          <a:lstStyle/>
          <a:p>
            <a:r>
              <a:rPr lang="fr-FR" altLang="en-US"/>
              <a:t>Full duplex</a:t>
            </a:r>
          </a:p>
        </p:txBody>
      </p:sp>
      <p:sp>
        <p:nvSpPr>
          <p:cNvPr id="3" name="Espace réservé du contenu 2"/>
          <p:cNvSpPr>
            <a:spLocks noGrp="1"/>
          </p:cNvSpPr>
          <p:nvPr>
            <p:ph idx="1"/>
          </p:nvPr>
        </p:nvSpPr>
        <p:spPr/>
        <p:txBody>
          <a:bodyPr/>
          <a:lstStyle/>
          <a:p>
            <a:pPr>
              <a:defRPr/>
            </a:pPr>
            <a:r>
              <a:rPr lang="fr-FR" dirty="0"/>
              <a:t>TCP </a:t>
            </a:r>
            <a:r>
              <a:rPr lang="fr-FR" dirty="0" err="1"/>
              <a:t>is</a:t>
            </a:r>
            <a:r>
              <a:rPr lang="fr-FR" dirty="0"/>
              <a:t> full-duplex, </a:t>
            </a:r>
            <a:r>
              <a:rPr lang="fr-FR" dirty="0" err="1"/>
              <a:t>so</a:t>
            </a:r>
            <a:r>
              <a:rPr lang="fr-FR" dirty="0"/>
              <a:t> </a:t>
            </a:r>
            <a:r>
              <a:rPr lang="fr-FR" dirty="0" err="1"/>
              <a:t>that</a:t>
            </a:r>
            <a:r>
              <a:rPr lang="fr-FR" dirty="0"/>
              <a:t> Host A </a:t>
            </a:r>
            <a:r>
              <a:rPr lang="fr-FR" dirty="0" err="1"/>
              <a:t>may</a:t>
            </a:r>
            <a:r>
              <a:rPr lang="fr-FR" dirty="0"/>
              <a:t> </a:t>
            </a:r>
            <a:r>
              <a:rPr lang="fr-FR" dirty="0" err="1"/>
              <a:t>be</a:t>
            </a:r>
            <a:r>
              <a:rPr lang="fr-FR" dirty="0"/>
              <a:t> </a:t>
            </a:r>
            <a:r>
              <a:rPr lang="fr-FR" dirty="0" err="1"/>
              <a:t>receiving</a:t>
            </a:r>
            <a:r>
              <a:rPr lang="fr-FR" dirty="0"/>
              <a:t> data </a:t>
            </a:r>
            <a:r>
              <a:rPr lang="fr-FR" dirty="0" err="1"/>
              <a:t>from</a:t>
            </a:r>
            <a:r>
              <a:rPr lang="fr-FR" dirty="0"/>
              <a:t> Host B </a:t>
            </a:r>
            <a:r>
              <a:rPr lang="fr-FR" dirty="0" err="1"/>
              <a:t>while</a:t>
            </a:r>
            <a:r>
              <a:rPr lang="fr-FR" dirty="0"/>
              <a:t> </a:t>
            </a:r>
            <a:r>
              <a:rPr lang="fr-FR" dirty="0" err="1"/>
              <a:t>it</a:t>
            </a:r>
            <a:r>
              <a:rPr lang="fr-FR" dirty="0"/>
              <a:t> </a:t>
            </a:r>
            <a:r>
              <a:rPr lang="fr-FR" dirty="0" err="1"/>
              <a:t>sends</a:t>
            </a:r>
            <a:r>
              <a:rPr lang="fr-FR" dirty="0"/>
              <a:t> data to Host B (as part of the </a:t>
            </a:r>
            <a:r>
              <a:rPr lang="fr-FR" dirty="0" err="1"/>
              <a:t>same</a:t>
            </a:r>
            <a:r>
              <a:rPr lang="fr-FR" dirty="0"/>
              <a:t> TCP </a:t>
            </a:r>
            <a:r>
              <a:rPr lang="fr-FR" dirty="0" err="1"/>
              <a:t>connection</a:t>
            </a:r>
            <a:r>
              <a:rPr lang="fr-FR" dirty="0"/>
              <a:t>). </a:t>
            </a:r>
          </a:p>
          <a:p>
            <a:pPr>
              <a:defRPr/>
            </a:pPr>
            <a:endParaRPr lang="fr-FR" dirty="0"/>
          </a:p>
          <a:p>
            <a:pPr marL="457200" lvl="1" indent="0">
              <a:buNone/>
              <a:defRPr/>
            </a:pPr>
            <a:endParaRPr lang="fr-FR" dirty="0"/>
          </a:p>
          <a:p>
            <a:pPr lvl="1">
              <a:defRPr/>
            </a:pPr>
            <a:endParaRPr lang="fr-FR" dirty="0"/>
          </a:p>
          <a:p>
            <a:pPr>
              <a:defRPr/>
            </a:pPr>
            <a:endParaRPr lang="fr-FR" dirty="0"/>
          </a:p>
        </p:txBody>
      </p:sp>
      <p:sp>
        <p:nvSpPr>
          <p:cNvPr id="22532" name="Line 20"/>
          <p:cNvSpPr>
            <a:spLocks noChangeShapeType="1"/>
          </p:cNvSpPr>
          <p:nvPr/>
        </p:nvSpPr>
        <p:spPr bwMode="auto">
          <a:xfrm>
            <a:off x="3810000" y="4343400"/>
            <a:ext cx="426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US"/>
          </a:p>
        </p:txBody>
      </p:sp>
      <p:graphicFrame>
        <p:nvGraphicFramePr>
          <p:cNvPr id="22533" name="Object 22"/>
          <p:cNvGraphicFramePr>
            <a:graphicFrameLocks noChangeAspect="1"/>
          </p:cNvGraphicFramePr>
          <p:nvPr/>
        </p:nvGraphicFramePr>
        <p:xfrm>
          <a:off x="3200400" y="3733800"/>
          <a:ext cx="838200" cy="757238"/>
        </p:xfrm>
        <a:graphic>
          <a:graphicData uri="http://schemas.openxmlformats.org/presentationml/2006/ole">
            <mc:AlternateContent xmlns:mc="http://schemas.openxmlformats.org/markup-compatibility/2006">
              <mc:Choice xmlns:v="urn:schemas-microsoft-com:vml" Requires="v">
                <p:oleObj name="Clip" r:id="rId2" imgW="1259840" imgH="1136073" progId="MS_ClipArt_Gallery.2">
                  <p:embed/>
                </p:oleObj>
              </mc:Choice>
              <mc:Fallback>
                <p:oleObj name="Clip" r:id="rId2" imgW="1259840" imgH="1136073" progId="MS_ClipArt_Gallery.2">
                  <p:embed/>
                  <p:pic>
                    <p:nvPicPr>
                      <p:cNvPr id="22533"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733800"/>
                        <a:ext cx="83820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2534" name="Object 23"/>
          <p:cNvGraphicFramePr>
            <a:graphicFrameLocks noChangeAspect="1"/>
          </p:cNvGraphicFramePr>
          <p:nvPr/>
        </p:nvGraphicFramePr>
        <p:xfrm>
          <a:off x="8077200" y="3733800"/>
          <a:ext cx="838200" cy="757238"/>
        </p:xfrm>
        <a:graphic>
          <a:graphicData uri="http://schemas.openxmlformats.org/presentationml/2006/ole">
            <mc:AlternateContent xmlns:mc="http://schemas.openxmlformats.org/markup-compatibility/2006">
              <mc:Choice xmlns:v="urn:schemas-microsoft-com:vml" Requires="v">
                <p:oleObj name="Clip" r:id="rId4" imgW="1259840" imgH="1136073" progId="MS_ClipArt_Gallery.2">
                  <p:embed/>
                </p:oleObj>
              </mc:Choice>
              <mc:Fallback>
                <p:oleObj name="Clip" r:id="rId4" imgW="1259840" imgH="1136073" progId="MS_ClipArt_Gallery.2">
                  <p:embed/>
                  <p:pic>
                    <p:nvPicPr>
                      <p:cNvPr id="22534"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0" y="3733800"/>
                        <a:ext cx="83820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 name="Rectangle 24"/>
          <p:cNvSpPr>
            <a:spLocks noChangeArrowheads="1"/>
          </p:cNvSpPr>
          <p:nvPr/>
        </p:nvSpPr>
        <p:spPr bwMode="auto">
          <a:xfrm>
            <a:off x="4114800" y="3657600"/>
            <a:ext cx="1219200" cy="381000"/>
          </a:xfrm>
          <a:prstGeom prst="rect">
            <a:avLst/>
          </a:prstGeom>
          <a:solidFill>
            <a:srgbClr val="99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800"/>
              <a:t>Data for B</a:t>
            </a:r>
            <a:endParaRPr lang="en-US" altLang="en-US" sz="2800">
              <a:latin typeface="Times New Roman" panose="02020603050405020304" pitchFamily="18" charset="0"/>
            </a:endParaRPr>
          </a:p>
        </p:txBody>
      </p:sp>
      <p:sp>
        <p:nvSpPr>
          <p:cNvPr id="22536" name="Text Box 26"/>
          <p:cNvSpPr txBox="1">
            <a:spLocks noChangeArrowheads="1"/>
          </p:cNvSpPr>
          <p:nvPr/>
        </p:nvSpPr>
        <p:spPr bwMode="auto">
          <a:xfrm>
            <a:off x="3276600" y="45720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a:spcBef>
                <a:spcPct val="20000"/>
              </a:spcBef>
              <a:buChar char="•"/>
              <a:tabLst>
                <a:tab pos="1995488" algn="l"/>
                <a:tab pos="4113213" algn="l"/>
                <a:tab pos="4799013" algn="l"/>
                <a:tab pos="8634413" algn="r"/>
              </a:tabLst>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tabLst>
                <a:tab pos="1995488" algn="l"/>
                <a:tab pos="4113213" algn="l"/>
                <a:tab pos="4799013" algn="l"/>
                <a:tab pos="8634413" algn="r"/>
              </a:tabLst>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tabLst>
                <a:tab pos="1995488" algn="l"/>
                <a:tab pos="4113213" algn="l"/>
                <a:tab pos="4799013" algn="l"/>
                <a:tab pos="8634413" algn="r"/>
              </a:tabLst>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en-US" altLang="en-US" sz="2400">
                <a:solidFill>
                  <a:srgbClr val="000000"/>
                </a:solidFill>
              </a:rPr>
              <a:t>A</a:t>
            </a:r>
          </a:p>
        </p:txBody>
      </p:sp>
      <p:sp>
        <p:nvSpPr>
          <p:cNvPr id="22537" name="Text Box 27"/>
          <p:cNvSpPr txBox="1">
            <a:spLocks noChangeArrowheads="1"/>
          </p:cNvSpPr>
          <p:nvPr/>
        </p:nvSpPr>
        <p:spPr bwMode="auto">
          <a:xfrm>
            <a:off x="8229600" y="4495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a:spcBef>
                <a:spcPct val="20000"/>
              </a:spcBef>
              <a:buChar char="•"/>
              <a:tabLst>
                <a:tab pos="1995488" algn="l"/>
                <a:tab pos="4113213" algn="l"/>
                <a:tab pos="4799013" algn="l"/>
                <a:tab pos="8634413" algn="r"/>
              </a:tabLst>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tabLst>
                <a:tab pos="1995488" algn="l"/>
                <a:tab pos="4113213" algn="l"/>
                <a:tab pos="4799013" algn="l"/>
                <a:tab pos="8634413" algn="r"/>
              </a:tabLst>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tabLst>
                <a:tab pos="1995488" algn="l"/>
                <a:tab pos="4113213" algn="l"/>
                <a:tab pos="4799013" algn="l"/>
                <a:tab pos="8634413" algn="r"/>
              </a:tabLst>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en-US" altLang="en-US" sz="2400">
                <a:solidFill>
                  <a:srgbClr val="000000"/>
                </a:solidFill>
              </a:rPr>
              <a:t>B</a:t>
            </a:r>
          </a:p>
        </p:txBody>
      </p:sp>
      <p:grpSp>
        <p:nvGrpSpPr>
          <p:cNvPr id="4" name="Group 33"/>
          <p:cNvGrpSpPr>
            <a:grpSpLocks/>
          </p:cNvGrpSpPr>
          <p:nvPr/>
        </p:nvGrpSpPr>
        <p:grpSpPr bwMode="auto">
          <a:xfrm>
            <a:off x="5943600" y="4495800"/>
            <a:ext cx="1905000" cy="381000"/>
            <a:chOff x="2448" y="3744"/>
            <a:chExt cx="1200" cy="240"/>
          </a:xfrm>
        </p:grpSpPr>
        <p:sp>
          <p:nvSpPr>
            <p:cNvPr id="22540" name="Rectangle 28"/>
            <p:cNvSpPr>
              <a:spLocks noChangeArrowheads="1"/>
            </p:cNvSpPr>
            <p:nvPr/>
          </p:nvSpPr>
          <p:spPr bwMode="auto">
            <a:xfrm>
              <a:off x="2448" y="3744"/>
              <a:ext cx="768" cy="240"/>
            </a:xfrm>
            <a:prstGeom prst="rect">
              <a:avLst/>
            </a:prstGeom>
            <a:solidFill>
              <a:srgbClr val="99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800"/>
                <a:t>Data for A</a:t>
              </a:r>
            </a:p>
          </p:txBody>
        </p:sp>
        <p:sp>
          <p:nvSpPr>
            <p:cNvPr id="22541" name="Rectangle 31"/>
            <p:cNvSpPr>
              <a:spLocks noChangeArrowheads="1"/>
            </p:cNvSpPr>
            <p:nvPr/>
          </p:nvSpPr>
          <p:spPr bwMode="auto">
            <a:xfrm>
              <a:off x="3216" y="3744"/>
              <a:ext cx="432" cy="240"/>
            </a:xfrm>
            <a:prstGeom prst="rect">
              <a:avLst/>
            </a:prstGeom>
            <a:solidFill>
              <a:srgbClr val="66FF33"/>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800"/>
                <a:t>ACK</a:t>
              </a:r>
            </a:p>
          </p:txBody>
        </p:sp>
      </p:grpSp>
      <p:sp>
        <p:nvSpPr>
          <p:cNvPr id="14" name="Rectangle 32"/>
          <p:cNvSpPr>
            <a:spLocks noChangeArrowheads="1"/>
          </p:cNvSpPr>
          <p:nvPr/>
        </p:nvSpPr>
        <p:spPr bwMode="auto">
          <a:xfrm>
            <a:off x="4114800" y="5181600"/>
            <a:ext cx="685800" cy="381000"/>
          </a:xfrm>
          <a:prstGeom prst="rect">
            <a:avLst/>
          </a:prstGeom>
          <a:solidFill>
            <a:srgbClr val="66FF33"/>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800"/>
              <a:t>ACK</a:t>
            </a:r>
          </a:p>
        </p:txBody>
      </p:sp>
    </p:spTree>
    <p:extLst>
      <p:ext uri="{BB962C8B-B14F-4D97-AF65-F5344CB8AC3E}">
        <p14:creationId xmlns:p14="http://schemas.microsoft.com/office/powerpoint/2010/main" val="23420547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63" presetClass="path" presetSubtype="0" accel="50000" decel="50000" fill="hold" grpId="1" nodeType="clickEffect">
                                  <p:stCondLst>
                                    <p:cond delay="0"/>
                                  </p:stCondLst>
                                  <p:childTnLst>
                                    <p:animMotion origin="layout" path="M 3.33333E-6 2.09453E-6 L 0.35 2.09453E-6 " pathEditMode="relative" rAng="0" ptsTypes="AA">
                                      <p:cBhvr>
                                        <p:cTn id="10" dur="2000" fill="hold"/>
                                        <p:tgtEl>
                                          <p:spTgt spid="8"/>
                                        </p:tgtEl>
                                        <p:attrNameLst>
                                          <p:attrName>ppt_x</p:attrName>
                                          <p:attrName>ppt_y</p:attrName>
                                        </p:attrNameLst>
                                      </p:cBhvr>
                                      <p:rCtr x="17500" y="0"/>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path" presetSubtype="0" accel="50000" decel="50000" fill="hold" nodeType="clickEffect">
                                  <p:stCondLst>
                                    <p:cond delay="0"/>
                                  </p:stCondLst>
                                  <p:childTnLst>
                                    <p:animMotion origin="layout" path="M 3.33333E-6 -3.4013E-6 L -0.30417 -3.4013E-6 " pathEditMode="relative" rAng="0" ptsTypes="AA">
                                      <p:cBhvr>
                                        <p:cTn id="18" dur="2000" fill="hold"/>
                                        <p:tgtEl>
                                          <p:spTgt spid="4"/>
                                        </p:tgtEl>
                                        <p:attrNameLst>
                                          <p:attrName>ppt_x</p:attrName>
                                          <p:attrName>ppt_y</p:attrName>
                                        </p:attrNameLst>
                                      </p:cBhvr>
                                      <p:rCtr x="-15208" y="0"/>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63" presetClass="path" presetSubtype="0" accel="50000" decel="50000" fill="hold" grpId="1" nodeType="clickEffect">
                                  <p:stCondLst>
                                    <p:cond delay="0"/>
                                  </p:stCondLst>
                                  <p:childTnLst>
                                    <p:animMotion origin="layout" path="M 0.0 3.9203E-6 L 0.3875 3.9203E-6 " pathEditMode="relative" rAng="0" ptsTypes="AA">
                                      <p:cBhvr>
                                        <p:cTn id="26" dur="2000" fill="hold"/>
                                        <p:tgtEl>
                                          <p:spTgt spid="14"/>
                                        </p:tgtEl>
                                        <p:attrNameLst>
                                          <p:attrName>ppt_x</p:attrName>
                                          <p:attrName>ppt_y</p:attrName>
                                        </p:attrNameLst>
                                      </p:cBhvr>
                                      <p:rCtr x="1937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4" grpId="0" animBg="1"/>
      <p:bldP spid="14"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re 1"/>
          <p:cNvSpPr>
            <a:spLocks noGrp="1"/>
          </p:cNvSpPr>
          <p:nvPr>
            <p:ph type="title"/>
          </p:nvPr>
        </p:nvSpPr>
        <p:spPr/>
        <p:txBody>
          <a:bodyPr/>
          <a:lstStyle/>
          <a:p>
            <a:r>
              <a:rPr lang="fr-FR" altLang="en-US"/>
              <a:t>Acknowledgment numbers </a:t>
            </a:r>
          </a:p>
        </p:txBody>
      </p:sp>
      <p:sp>
        <p:nvSpPr>
          <p:cNvPr id="3" name="Espace réservé du contenu 2"/>
          <p:cNvSpPr>
            <a:spLocks noGrp="1"/>
          </p:cNvSpPr>
          <p:nvPr>
            <p:ph idx="1"/>
          </p:nvPr>
        </p:nvSpPr>
        <p:spPr/>
        <p:txBody>
          <a:bodyPr/>
          <a:lstStyle/>
          <a:p>
            <a:pPr>
              <a:defRPr/>
            </a:pPr>
            <a:r>
              <a:rPr lang="fr-FR" dirty="0"/>
              <a:t>A </a:t>
            </a:r>
            <a:r>
              <a:rPr lang="fr-FR" dirty="0" err="1"/>
              <a:t>sends</a:t>
            </a:r>
            <a:r>
              <a:rPr lang="fr-FR" dirty="0"/>
              <a:t> a segment to B, </a:t>
            </a:r>
            <a:r>
              <a:rPr lang="fr-FR" dirty="0" err="1"/>
              <a:t>what</a:t>
            </a:r>
            <a:r>
              <a:rPr lang="fr-FR" dirty="0"/>
              <a:t> </a:t>
            </a:r>
            <a:r>
              <a:rPr lang="fr-FR" dirty="0" err="1"/>
              <a:t>would</a:t>
            </a:r>
            <a:r>
              <a:rPr lang="fr-FR" dirty="0"/>
              <a:t> B put in the </a:t>
            </a:r>
            <a:r>
              <a:rPr lang="fr-FR" dirty="0" err="1"/>
              <a:t>Ack</a:t>
            </a:r>
            <a:r>
              <a:rPr lang="fr-FR" dirty="0"/>
              <a:t> </a:t>
            </a:r>
            <a:r>
              <a:rPr lang="fr-FR" dirty="0" err="1"/>
              <a:t>sequence</a:t>
            </a:r>
            <a:r>
              <a:rPr lang="fr-FR" dirty="0"/>
              <a:t> </a:t>
            </a:r>
            <a:r>
              <a:rPr lang="fr-FR" dirty="0" err="1"/>
              <a:t>number</a:t>
            </a:r>
            <a:r>
              <a:rPr lang="fr-FR" dirty="0"/>
              <a:t> in the </a:t>
            </a:r>
            <a:r>
              <a:rPr lang="fr-FR" dirty="0" err="1"/>
              <a:t>next</a:t>
            </a:r>
            <a:r>
              <a:rPr lang="fr-FR" dirty="0"/>
              <a:t> segment </a:t>
            </a:r>
            <a:r>
              <a:rPr lang="fr-FR" dirty="0" err="1"/>
              <a:t>it</a:t>
            </a:r>
            <a:r>
              <a:rPr lang="fr-FR" dirty="0"/>
              <a:t> </a:t>
            </a:r>
            <a:r>
              <a:rPr lang="fr-FR" dirty="0" err="1"/>
              <a:t>sends</a:t>
            </a:r>
            <a:r>
              <a:rPr lang="fr-FR" dirty="0"/>
              <a:t> to A? </a:t>
            </a:r>
          </a:p>
          <a:p>
            <a:pPr lvl="1">
              <a:defRPr/>
            </a:pPr>
            <a:r>
              <a:rPr lang="fr-FR" i="1" dirty="0" err="1"/>
              <a:t>next</a:t>
            </a:r>
            <a:r>
              <a:rPr lang="fr-FR" i="1" dirty="0"/>
              <a:t> byte Host B </a:t>
            </a:r>
            <a:r>
              <a:rPr lang="fr-FR" i="1" dirty="0" err="1"/>
              <a:t>is</a:t>
            </a:r>
            <a:r>
              <a:rPr lang="fr-FR" i="1" dirty="0"/>
              <a:t> </a:t>
            </a:r>
            <a:r>
              <a:rPr lang="fr-FR" i="1" dirty="0" err="1"/>
              <a:t>expecting</a:t>
            </a:r>
            <a:r>
              <a:rPr lang="fr-FR" i="1" dirty="0"/>
              <a:t> </a:t>
            </a:r>
            <a:r>
              <a:rPr lang="fr-FR" i="1" dirty="0" err="1"/>
              <a:t>from</a:t>
            </a:r>
            <a:r>
              <a:rPr lang="fr-FR" i="1" dirty="0"/>
              <a:t> Host A. </a:t>
            </a:r>
          </a:p>
          <a:p>
            <a:pPr>
              <a:defRPr/>
            </a:pPr>
            <a:endParaRPr lang="fr-FR" dirty="0"/>
          </a:p>
          <a:p>
            <a:pPr>
              <a:defRPr/>
            </a:pPr>
            <a:r>
              <a:rPr lang="fr-FR" dirty="0"/>
              <a:t>A </a:t>
            </a:r>
            <a:r>
              <a:rPr lang="fr-FR" dirty="0" err="1"/>
              <a:t>sends</a:t>
            </a:r>
            <a:r>
              <a:rPr lang="fr-FR" dirty="0"/>
              <a:t> a segment to B, </a:t>
            </a:r>
            <a:r>
              <a:rPr lang="fr-FR" dirty="0" err="1"/>
              <a:t>what</a:t>
            </a:r>
            <a:r>
              <a:rPr lang="fr-FR" dirty="0"/>
              <a:t> </a:t>
            </a:r>
            <a:r>
              <a:rPr lang="fr-FR" dirty="0" err="1"/>
              <a:t>would</a:t>
            </a:r>
            <a:r>
              <a:rPr lang="fr-FR" dirty="0"/>
              <a:t> A put in the </a:t>
            </a:r>
            <a:r>
              <a:rPr lang="fr-FR" dirty="0" err="1"/>
              <a:t>Ack</a:t>
            </a:r>
            <a:r>
              <a:rPr lang="fr-FR" dirty="0"/>
              <a:t> </a:t>
            </a:r>
            <a:r>
              <a:rPr lang="fr-FR" dirty="0" err="1"/>
              <a:t>sequence</a:t>
            </a:r>
            <a:r>
              <a:rPr lang="fr-FR" dirty="0"/>
              <a:t> </a:t>
            </a:r>
            <a:r>
              <a:rPr lang="fr-FR" dirty="0" err="1"/>
              <a:t>number</a:t>
            </a:r>
            <a:r>
              <a:rPr lang="fr-FR" dirty="0"/>
              <a:t> in the </a:t>
            </a:r>
            <a:r>
              <a:rPr lang="fr-FR" dirty="0" err="1"/>
              <a:t>next</a:t>
            </a:r>
            <a:r>
              <a:rPr lang="fr-FR" dirty="0"/>
              <a:t> segment </a:t>
            </a:r>
            <a:r>
              <a:rPr lang="fr-FR" dirty="0" err="1"/>
              <a:t>it</a:t>
            </a:r>
            <a:r>
              <a:rPr lang="fr-FR" dirty="0"/>
              <a:t> </a:t>
            </a:r>
            <a:r>
              <a:rPr lang="fr-FR" dirty="0" err="1"/>
              <a:t>sends</a:t>
            </a:r>
            <a:r>
              <a:rPr lang="fr-FR" dirty="0"/>
              <a:t> to B? </a:t>
            </a:r>
          </a:p>
          <a:p>
            <a:pPr lvl="1">
              <a:defRPr/>
            </a:pPr>
            <a:r>
              <a:rPr lang="fr-FR" i="1" dirty="0" err="1"/>
              <a:t>next</a:t>
            </a:r>
            <a:r>
              <a:rPr lang="fr-FR" i="1" dirty="0"/>
              <a:t> byte Host A </a:t>
            </a:r>
            <a:r>
              <a:rPr lang="fr-FR" i="1" dirty="0" err="1"/>
              <a:t>is</a:t>
            </a:r>
            <a:r>
              <a:rPr lang="fr-FR" i="1" dirty="0"/>
              <a:t> </a:t>
            </a:r>
            <a:r>
              <a:rPr lang="fr-FR" i="1" dirty="0" err="1"/>
              <a:t>expecting</a:t>
            </a:r>
            <a:r>
              <a:rPr lang="fr-FR" i="1" dirty="0"/>
              <a:t> </a:t>
            </a:r>
            <a:r>
              <a:rPr lang="fr-FR" i="1" dirty="0" err="1"/>
              <a:t>from</a:t>
            </a:r>
            <a:r>
              <a:rPr lang="fr-FR" i="1" dirty="0"/>
              <a:t> Host B. </a:t>
            </a:r>
          </a:p>
          <a:p>
            <a:pPr marL="457200" lvl="1" indent="0">
              <a:buNone/>
              <a:defRPr/>
            </a:pPr>
            <a:endParaRPr lang="fr-FR" dirty="0"/>
          </a:p>
          <a:p>
            <a:pPr lvl="1">
              <a:defRPr/>
            </a:pPr>
            <a:endParaRPr lang="fr-FR" dirty="0"/>
          </a:p>
          <a:p>
            <a:pPr>
              <a:defRPr/>
            </a:pPr>
            <a:endParaRPr lang="fr-FR" dirty="0"/>
          </a:p>
        </p:txBody>
      </p:sp>
    </p:spTree>
    <p:extLst>
      <p:ext uri="{BB962C8B-B14F-4D97-AF65-F5344CB8AC3E}">
        <p14:creationId xmlns:p14="http://schemas.microsoft.com/office/powerpoint/2010/main" val="41551001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heckerboard(across)">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5" presetClass="entr" presetSubtype="1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checkerboard(across)">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re 1"/>
          <p:cNvSpPr>
            <a:spLocks noGrp="1"/>
          </p:cNvSpPr>
          <p:nvPr>
            <p:ph type="title"/>
          </p:nvPr>
        </p:nvSpPr>
        <p:spPr/>
        <p:txBody>
          <a:bodyPr/>
          <a:lstStyle/>
          <a:p>
            <a:r>
              <a:rPr lang="fr-FR" altLang="en-US"/>
              <a:t>An example</a:t>
            </a:r>
          </a:p>
        </p:txBody>
      </p:sp>
      <p:sp>
        <p:nvSpPr>
          <p:cNvPr id="25603" name="Espace réservé du contenu 2"/>
          <p:cNvSpPr>
            <a:spLocks noGrp="1"/>
          </p:cNvSpPr>
          <p:nvPr>
            <p:ph idx="1"/>
          </p:nvPr>
        </p:nvSpPr>
        <p:spPr/>
        <p:txBody>
          <a:bodyPr/>
          <a:lstStyle/>
          <a:p>
            <a:r>
              <a:rPr lang="fr-FR" altLang="en-US"/>
              <a:t>Host A has received all bytes numbered 0 through 535 from B. </a:t>
            </a:r>
          </a:p>
          <a:p>
            <a:r>
              <a:rPr lang="fr-FR" altLang="en-US"/>
              <a:t>Host A is waiting for byte 536 and all the subsequent bytes in Host B</a:t>
            </a:r>
            <a:r>
              <a:rPr lang="fr-FR" altLang="fr-FR"/>
              <a:t>’</a:t>
            </a:r>
            <a:r>
              <a:rPr lang="fr-FR" altLang="en-US"/>
              <a:t>s data stream. </a:t>
            </a:r>
          </a:p>
          <a:p>
            <a:endParaRPr lang="fr-FR" altLang="en-US"/>
          </a:p>
          <a:p>
            <a:r>
              <a:rPr lang="fr-FR" altLang="en-US"/>
              <a:t>What does Host A put in the acknowledgment number field of the next segment it sends to B?</a:t>
            </a:r>
          </a:p>
          <a:p>
            <a:endParaRPr lang="fr-FR" altLang="en-US"/>
          </a:p>
        </p:txBody>
      </p:sp>
      <p:sp>
        <p:nvSpPr>
          <p:cNvPr id="2" name="Rectangle 1"/>
          <p:cNvSpPr>
            <a:spLocks noChangeArrowheads="1"/>
          </p:cNvSpPr>
          <p:nvPr/>
        </p:nvSpPr>
        <p:spPr bwMode="auto">
          <a:xfrm>
            <a:off x="2438400" y="5410200"/>
            <a:ext cx="77724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2800">
                <a:solidFill>
                  <a:srgbClr val="FF3300"/>
                </a:solidFill>
              </a:rPr>
              <a:t>Host A puts 536 in the acknowledgment number</a:t>
            </a:r>
          </a:p>
          <a:p>
            <a:pPr>
              <a:spcBef>
                <a:spcPct val="0"/>
              </a:spcBef>
              <a:buFontTx/>
              <a:buNone/>
            </a:pPr>
            <a:r>
              <a:rPr lang="en-US" altLang="en-US" sz="2800">
                <a:solidFill>
                  <a:srgbClr val="FF3300"/>
                </a:solidFill>
              </a:rPr>
              <a:t>field of the segment it sends to B</a:t>
            </a:r>
          </a:p>
        </p:txBody>
      </p:sp>
    </p:spTree>
    <p:extLst>
      <p:ext uri="{BB962C8B-B14F-4D97-AF65-F5344CB8AC3E}">
        <p14:creationId xmlns:p14="http://schemas.microsoft.com/office/powerpoint/2010/main" val="2109563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p:cNvSpPr>
            <a:spLocks noGrp="1"/>
          </p:cNvSpPr>
          <p:nvPr>
            <p:ph type="title"/>
          </p:nvPr>
        </p:nvSpPr>
        <p:spPr/>
        <p:txBody>
          <a:bodyPr/>
          <a:lstStyle/>
          <a:p>
            <a:r>
              <a:rPr lang="fr-FR" altLang="en-US"/>
              <a:t>Another example</a:t>
            </a:r>
          </a:p>
        </p:txBody>
      </p:sp>
      <p:sp>
        <p:nvSpPr>
          <p:cNvPr id="20483" name="Espace réservé du contenu 2"/>
          <p:cNvSpPr>
            <a:spLocks noGrp="1"/>
          </p:cNvSpPr>
          <p:nvPr>
            <p:ph idx="1"/>
          </p:nvPr>
        </p:nvSpPr>
        <p:spPr/>
        <p:txBody>
          <a:bodyPr/>
          <a:lstStyle/>
          <a:p>
            <a:pPr>
              <a:defRPr/>
            </a:pPr>
            <a:r>
              <a:rPr lang="fr-FR" altLang="en-US" dirty="0"/>
              <a:t>Host A has </a:t>
            </a:r>
            <a:r>
              <a:rPr lang="fr-FR" altLang="en-US" dirty="0" err="1"/>
              <a:t>received</a:t>
            </a:r>
            <a:r>
              <a:rPr lang="fr-FR" altLang="en-US" dirty="0"/>
              <a:t> all bytes </a:t>
            </a:r>
            <a:r>
              <a:rPr lang="fr-FR" altLang="en-US" dirty="0" err="1"/>
              <a:t>numbered</a:t>
            </a:r>
            <a:r>
              <a:rPr lang="fr-FR" altLang="en-US" dirty="0"/>
              <a:t> 0 </a:t>
            </a:r>
            <a:r>
              <a:rPr lang="fr-FR" altLang="en-US" dirty="0" err="1"/>
              <a:t>through</a:t>
            </a:r>
            <a:r>
              <a:rPr lang="fr-FR" altLang="en-US" dirty="0"/>
              <a:t> 535 </a:t>
            </a:r>
            <a:r>
              <a:rPr lang="fr-FR" altLang="en-US" dirty="0" err="1"/>
              <a:t>from</a:t>
            </a:r>
            <a:r>
              <a:rPr lang="fr-FR" altLang="en-US" dirty="0"/>
              <a:t> B. </a:t>
            </a:r>
          </a:p>
          <a:p>
            <a:pPr>
              <a:defRPr/>
            </a:pPr>
            <a:r>
              <a:rPr lang="fr-FR" altLang="en-US" dirty="0"/>
              <a:t>Host A has </a:t>
            </a:r>
            <a:r>
              <a:rPr lang="fr-FR" altLang="en-US" dirty="0" err="1"/>
              <a:t>also</a:t>
            </a:r>
            <a:r>
              <a:rPr lang="fr-FR" altLang="en-US" dirty="0"/>
              <a:t> </a:t>
            </a:r>
            <a:r>
              <a:rPr lang="fr-FR" altLang="en-US" dirty="0" err="1"/>
              <a:t>received</a:t>
            </a:r>
            <a:r>
              <a:rPr lang="fr-FR" altLang="en-US" dirty="0"/>
              <a:t> </a:t>
            </a:r>
            <a:r>
              <a:rPr lang="fr-FR" altLang="en-US" dirty="0" err="1"/>
              <a:t>another</a:t>
            </a:r>
            <a:r>
              <a:rPr lang="fr-FR" altLang="en-US" dirty="0"/>
              <a:t> segment </a:t>
            </a:r>
            <a:r>
              <a:rPr lang="fr-FR" altLang="en-US" dirty="0" err="1"/>
              <a:t>containing</a:t>
            </a:r>
            <a:r>
              <a:rPr lang="fr-FR" altLang="en-US" dirty="0"/>
              <a:t> bytes 900 </a:t>
            </a:r>
            <a:r>
              <a:rPr lang="fr-FR" altLang="en-US" dirty="0" err="1"/>
              <a:t>through</a:t>
            </a:r>
            <a:r>
              <a:rPr lang="fr-FR" altLang="en-US" dirty="0"/>
              <a:t> 1,000 </a:t>
            </a:r>
          </a:p>
          <a:p>
            <a:pPr lvl="1">
              <a:defRPr/>
            </a:pPr>
            <a:r>
              <a:rPr lang="fr-FR" altLang="en-US" dirty="0"/>
              <a:t>For </a:t>
            </a:r>
            <a:r>
              <a:rPr lang="fr-FR" altLang="en-US" dirty="0" err="1"/>
              <a:t>some</a:t>
            </a:r>
            <a:r>
              <a:rPr lang="fr-FR" altLang="en-US" dirty="0"/>
              <a:t> </a:t>
            </a:r>
            <a:r>
              <a:rPr lang="fr-FR" altLang="en-US" dirty="0" err="1"/>
              <a:t>reason</a:t>
            </a:r>
            <a:r>
              <a:rPr lang="fr-FR" altLang="en-US" dirty="0"/>
              <a:t> Host A has not </a:t>
            </a:r>
            <a:r>
              <a:rPr lang="fr-FR" altLang="en-US" dirty="0" err="1"/>
              <a:t>yet</a:t>
            </a:r>
            <a:r>
              <a:rPr lang="fr-FR" altLang="en-US" dirty="0"/>
              <a:t> </a:t>
            </a:r>
            <a:r>
              <a:rPr lang="fr-FR" altLang="en-US" dirty="0" err="1"/>
              <a:t>received</a:t>
            </a:r>
            <a:r>
              <a:rPr lang="fr-FR" altLang="en-US" dirty="0"/>
              <a:t> bytes 536 </a:t>
            </a:r>
            <a:r>
              <a:rPr lang="fr-FR" altLang="en-US" dirty="0" err="1"/>
              <a:t>through</a:t>
            </a:r>
            <a:r>
              <a:rPr lang="fr-FR" altLang="en-US" dirty="0"/>
              <a:t> 899. </a:t>
            </a:r>
          </a:p>
          <a:p>
            <a:pPr marL="457200" lvl="1" indent="0">
              <a:buNone/>
              <a:defRPr/>
            </a:pPr>
            <a:endParaRPr lang="fr-FR" altLang="en-US" dirty="0"/>
          </a:p>
          <a:p>
            <a:pPr>
              <a:defRPr/>
            </a:pPr>
            <a:r>
              <a:rPr lang="fr-FR" altLang="en-US" dirty="0" err="1"/>
              <a:t>What</a:t>
            </a:r>
            <a:r>
              <a:rPr lang="fr-FR" altLang="en-US" dirty="0"/>
              <a:t> </a:t>
            </a:r>
            <a:r>
              <a:rPr lang="fr-FR" altLang="en-US" dirty="0" err="1"/>
              <a:t>does</a:t>
            </a:r>
            <a:r>
              <a:rPr lang="fr-FR" altLang="en-US" dirty="0"/>
              <a:t> Host A put in the </a:t>
            </a:r>
            <a:r>
              <a:rPr lang="fr-FR" altLang="en-US" dirty="0" err="1"/>
              <a:t>acknowledgment</a:t>
            </a:r>
            <a:r>
              <a:rPr lang="fr-FR" altLang="en-US" dirty="0"/>
              <a:t> </a:t>
            </a:r>
            <a:r>
              <a:rPr lang="fr-FR" altLang="en-US" dirty="0" err="1"/>
              <a:t>number</a:t>
            </a:r>
            <a:r>
              <a:rPr lang="fr-FR" altLang="en-US" dirty="0"/>
              <a:t> </a:t>
            </a:r>
            <a:r>
              <a:rPr lang="fr-FR" altLang="en-US" dirty="0" err="1"/>
              <a:t>field</a:t>
            </a:r>
            <a:r>
              <a:rPr lang="fr-FR" altLang="en-US" dirty="0"/>
              <a:t> of the </a:t>
            </a:r>
            <a:r>
              <a:rPr lang="fr-FR" altLang="en-US" dirty="0" err="1"/>
              <a:t>next</a:t>
            </a:r>
            <a:r>
              <a:rPr lang="fr-FR" altLang="en-US" dirty="0"/>
              <a:t> segment </a:t>
            </a:r>
            <a:r>
              <a:rPr lang="fr-FR" altLang="en-US" dirty="0" err="1"/>
              <a:t>it</a:t>
            </a:r>
            <a:r>
              <a:rPr lang="fr-FR" altLang="en-US" dirty="0"/>
              <a:t> </a:t>
            </a:r>
            <a:r>
              <a:rPr lang="fr-FR" altLang="en-US" dirty="0" err="1"/>
              <a:t>sends</a:t>
            </a:r>
            <a:r>
              <a:rPr lang="fr-FR" altLang="en-US" dirty="0"/>
              <a:t> to B?</a:t>
            </a:r>
          </a:p>
          <a:p>
            <a:pPr>
              <a:defRPr/>
            </a:pPr>
            <a:endParaRPr lang="fr-FR" altLang="en-US" dirty="0"/>
          </a:p>
        </p:txBody>
      </p:sp>
      <p:sp>
        <p:nvSpPr>
          <p:cNvPr id="26628" name="Rectangle 1"/>
          <p:cNvSpPr>
            <a:spLocks noChangeArrowheads="1"/>
          </p:cNvSpPr>
          <p:nvPr/>
        </p:nvSpPr>
        <p:spPr bwMode="auto">
          <a:xfrm>
            <a:off x="2362200" y="5799139"/>
            <a:ext cx="8915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2000">
                <a:solidFill>
                  <a:srgbClr val="FF3300"/>
                </a:solidFill>
              </a:rPr>
              <a:t>A’s next segment to B will contain 536 in the acknowledgment</a:t>
            </a:r>
          </a:p>
          <a:p>
            <a:pPr>
              <a:spcBef>
                <a:spcPct val="0"/>
              </a:spcBef>
              <a:buFontTx/>
              <a:buNone/>
            </a:pPr>
            <a:r>
              <a:rPr lang="en-US" altLang="en-US" sz="2000">
                <a:solidFill>
                  <a:srgbClr val="FF3300"/>
                </a:solidFill>
              </a:rPr>
              <a:t>number field</a:t>
            </a:r>
          </a:p>
        </p:txBody>
      </p:sp>
    </p:spTree>
    <p:extLst>
      <p:ext uri="{BB962C8B-B14F-4D97-AF65-F5344CB8AC3E}">
        <p14:creationId xmlns:p14="http://schemas.microsoft.com/office/powerpoint/2010/main" val="3714574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1"/>
          <p:cNvSpPr>
            <a:spLocks noGrp="1"/>
          </p:cNvSpPr>
          <p:nvPr>
            <p:ph type="title"/>
          </p:nvPr>
        </p:nvSpPr>
        <p:spPr/>
        <p:txBody>
          <a:bodyPr/>
          <a:lstStyle/>
          <a:p>
            <a:r>
              <a:rPr lang="fr-FR" altLang="en-US"/>
              <a:t>Out of order segments</a:t>
            </a:r>
          </a:p>
        </p:txBody>
      </p:sp>
      <p:sp>
        <p:nvSpPr>
          <p:cNvPr id="27651" name="Espace réservé du contenu 2"/>
          <p:cNvSpPr>
            <a:spLocks noGrp="1"/>
          </p:cNvSpPr>
          <p:nvPr>
            <p:ph idx="1"/>
          </p:nvPr>
        </p:nvSpPr>
        <p:spPr/>
        <p:txBody>
          <a:bodyPr/>
          <a:lstStyle/>
          <a:p>
            <a:r>
              <a:rPr lang="fr-FR" altLang="en-US"/>
              <a:t>TCP only acknowledges bytes up to the first missing byte in the stream, TCP is said to provide </a:t>
            </a:r>
            <a:r>
              <a:rPr lang="fr-FR" altLang="en-US" b="1"/>
              <a:t>cumulative acknowledgments</a:t>
            </a:r>
            <a:r>
              <a:rPr lang="fr-FR" altLang="en-US"/>
              <a:t>. </a:t>
            </a:r>
          </a:p>
          <a:p>
            <a:endParaRPr lang="fr-FR" altLang="en-US"/>
          </a:p>
          <a:p>
            <a:r>
              <a:rPr lang="fr-FR" altLang="en-US"/>
              <a:t>For out of order segments it can either discard them or buffer them (the approach actually taken in practice)</a:t>
            </a:r>
          </a:p>
        </p:txBody>
      </p:sp>
    </p:spTree>
    <p:extLst>
      <p:ext uri="{BB962C8B-B14F-4D97-AF65-F5344CB8AC3E}">
        <p14:creationId xmlns:p14="http://schemas.microsoft.com/office/powerpoint/2010/main" val="6972584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a:t>The seg/ack numbers base</a:t>
            </a:r>
          </a:p>
        </p:txBody>
      </p:sp>
      <p:sp>
        <p:nvSpPr>
          <p:cNvPr id="3" name="Espace réservé du contenu 2"/>
          <p:cNvSpPr>
            <a:spLocks noGrp="1"/>
          </p:cNvSpPr>
          <p:nvPr>
            <p:ph idx="1"/>
          </p:nvPr>
        </p:nvSpPr>
        <p:spPr/>
        <p:txBody>
          <a:bodyPr/>
          <a:lstStyle/>
          <a:p>
            <a:r>
              <a:rPr lang="fr-FR" altLang="en-US"/>
              <a:t>we assumed that the initial sequence number was zero. </a:t>
            </a:r>
          </a:p>
          <a:p>
            <a:r>
              <a:rPr lang="fr-FR" altLang="en-US"/>
              <a:t>In truth, both sides of a TCP connection randomly choose an initial sequence number. </a:t>
            </a:r>
          </a:p>
          <a:p>
            <a:endParaRPr lang="fr-FR" altLang="en-US"/>
          </a:p>
          <a:p>
            <a:r>
              <a:rPr lang="fr-FR" altLang="en-US"/>
              <a:t>Why?</a:t>
            </a:r>
          </a:p>
        </p:txBody>
      </p:sp>
    </p:spTree>
    <p:extLst>
      <p:ext uri="{BB962C8B-B14F-4D97-AF65-F5344CB8AC3E}">
        <p14:creationId xmlns:p14="http://schemas.microsoft.com/office/powerpoint/2010/main" val="4000204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133" name="Text Box 8">
            <a:extLst>
              <a:ext uri="{FF2B5EF4-FFF2-40B4-BE49-F238E27FC236}">
                <a16:creationId xmlns:a16="http://schemas.microsoft.com/office/drawing/2014/main" id="{4BFA7F94-ECDC-4F4E-BAAE-2F377F89AF1C}"/>
              </a:ext>
            </a:extLst>
          </p:cNvPr>
          <p:cNvSpPr txBox="1">
            <a:spLocks noChangeArrowheads="1"/>
          </p:cNvSpPr>
          <p:nvPr/>
        </p:nvSpPr>
        <p:spPr bwMode="auto">
          <a:xfrm>
            <a:off x="1661117" y="4011734"/>
            <a:ext cx="2519185" cy="7571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 echoed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4" name="Text Box 9">
            <a:extLst>
              <a:ext uri="{FF2B5EF4-FFF2-40B4-BE49-F238E27FC236}">
                <a16:creationId xmlns:a16="http://schemas.microsoft.com/office/drawing/2014/main" id="{6F6C270A-95D4-3B45-95CD-2E7A27820BF0}"/>
              </a:ext>
            </a:extLst>
          </p:cNvPr>
          <p:cNvSpPr txBox="1">
            <a:spLocks noChangeArrowheads="1"/>
          </p:cNvSpPr>
          <p:nvPr/>
        </p:nvSpPr>
        <p:spPr bwMode="auto">
          <a:xfrm>
            <a:off x="7229477" y="3001865"/>
            <a:ext cx="3187212" cy="83099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echoes </a:t>
            </a: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back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6" name="Text Box 11">
            <a:extLst>
              <a:ext uri="{FF2B5EF4-FFF2-40B4-BE49-F238E27FC236}">
                <a16:creationId xmlns:a16="http://schemas.microsoft.com/office/drawing/2014/main" id="{7AB83FEF-E6C5-3C4E-8F11-410822AB937A}"/>
              </a:ext>
            </a:extLst>
          </p:cNvPr>
          <p:cNvSpPr txBox="1">
            <a:spLocks noChangeArrowheads="1"/>
          </p:cNvSpPr>
          <p:nvPr/>
        </p:nvSpPr>
        <p:spPr bwMode="auto">
          <a:xfrm>
            <a:off x="3961011" y="5644479"/>
            <a:ext cx="3401893" cy="52322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rPr>
              <a:t>simple telnet scenario</a:t>
            </a:r>
            <a:endParaRPr kumimoji="0" lang="en-US" sz="12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endParaRPr>
          </a:p>
        </p:txBody>
      </p:sp>
      <p:sp>
        <p:nvSpPr>
          <p:cNvPr id="137" name="Text Box 13">
            <a:extLst>
              <a:ext uri="{FF2B5EF4-FFF2-40B4-BE49-F238E27FC236}">
                <a16:creationId xmlns:a16="http://schemas.microsoft.com/office/drawing/2014/main" id="{0851DEB2-88A4-C849-8DEA-02D53E9ABCBD}"/>
              </a:ext>
            </a:extLst>
          </p:cNvPr>
          <p:cNvSpPr txBox="1">
            <a:spLocks noChangeArrowheads="1"/>
          </p:cNvSpPr>
          <p:nvPr/>
        </p:nvSpPr>
        <p:spPr bwMode="auto">
          <a:xfrm>
            <a:off x="7129672" y="1492971"/>
            <a:ext cx="997389" cy="46166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B</a:t>
            </a:r>
          </a:p>
        </p:txBody>
      </p:sp>
      <p:sp>
        <p:nvSpPr>
          <p:cNvPr id="138" name="Text Box 17">
            <a:extLst>
              <a:ext uri="{FF2B5EF4-FFF2-40B4-BE49-F238E27FC236}">
                <a16:creationId xmlns:a16="http://schemas.microsoft.com/office/drawing/2014/main" id="{847A8C2E-C7AE-5B45-9FFE-DE39BC581384}"/>
              </a:ext>
            </a:extLst>
          </p:cNvPr>
          <p:cNvSpPr txBox="1">
            <a:spLocks noChangeArrowheads="1"/>
          </p:cNvSpPr>
          <p:nvPr/>
        </p:nvSpPr>
        <p:spPr bwMode="auto">
          <a:xfrm>
            <a:off x="3204390" y="1459336"/>
            <a:ext cx="1008610" cy="46166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A</a:t>
            </a:r>
          </a:p>
        </p:txBody>
      </p:sp>
      <p:grpSp>
        <p:nvGrpSpPr>
          <p:cNvPr id="4" name="Group 3">
            <a:extLst>
              <a:ext uri="{FF2B5EF4-FFF2-40B4-BE49-F238E27FC236}">
                <a16:creationId xmlns:a16="http://schemas.microsoft.com/office/drawing/2014/main" id="{89152BC9-BFE2-2C4F-B7CF-DD705BF09468}"/>
              </a:ext>
            </a:extLst>
          </p:cNvPr>
          <p:cNvGrpSpPr/>
          <p:nvPr/>
        </p:nvGrpSpPr>
        <p:grpSpPr>
          <a:xfrm>
            <a:off x="1499000" y="2541021"/>
            <a:ext cx="5581275" cy="780392"/>
            <a:chOff x="1499000" y="2541021"/>
            <a:chExt cx="5581275" cy="780392"/>
          </a:xfrm>
        </p:grpSpPr>
        <p:sp>
          <p:nvSpPr>
            <p:cNvPr id="131" name="Line 4">
              <a:extLst>
                <a:ext uri="{FF2B5EF4-FFF2-40B4-BE49-F238E27FC236}">
                  <a16:creationId xmlns:a16="http://schemas.microsoft.com/office/drawing/2014/main" id="{4E48AD8B-7F93-B847-8494-F0B86AABA007}"/>
                </a:ext>
              </a:extLst>
            </p:cNvPr>
            <p:cNvSpPr>
              <a:spLocks noChangeShapeType="1"/>
            </p:cNvSpPr>
            <p:nvPr/>
          </p:nvSpPr>
          <p:spPr bwMode="auto">
            <a:xfrm>
              <a:off x="4354237" y="2749913"/>
              <a:ext cx="2586037"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32" name="Text Box 7">
              <a:extLst>
                <a:ext uri="{FF2B5EF4-FFF2-40B4-BE49-F238E27FC236}">
                  <a16:creationId xmlns:a16="http://schemas.microsoft.com/office/drawing/2014/main" id="{B9E9C219-DA90-8A41-A18D-4DF67A2B1B94}"/>
                </a:ext>
              </a:extLst>
            </p:cNvPr>
            <p:cNvSpPr txBox="1">
              <a:spLocks noChangeArrowheads="1"/>
            </p:cNvSpPr>
            <p:nvPr/>
          </p:nvSpPr>
          <p:spPr bwMode="auto">
            <a:xfrm>
              <a:off x="1499000" y="2541021"/>
              <a:ext cx="2725007"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 types</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9" name="Rectangle 18">
              <a:extLst>
                <a:ext uri="{FF2B5EF4-FFF2-40B4-BE49-F238E27FC236}">
                  <a16:creationId xmlns:a16="http://schemas.microsoft.com/office/drawing/2014/main" id="{35BA661F-5A22-C84E-B47D-9147B3088598}"/>
                </a:ext>
              </a:extLst>
            </p:cNvPr>
            <p:cNvSpPr>
              <a:spLocks noChangeArrowheads="1"/>
            </p:cNvSpPr>
            <p:nvPr/>
          </p:nvSpPr>
          <p:spPr bwMode="auto">
            <a:xfrm>
              <a:off x="5167037" y="2841988"/>
              <a:ext cx="814387" cy="3794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0" name="Text Box 19">
              <a:extLst>
                <a:ext uri="{FF2B5EF4-FFF2-40B4-BE49-F238E27FC236}">
                  <a16:creationId xmlns:a16="http://schemas.microsoft.com/office/drawing/2014/main" id="{880D64B6-5AB7-0245-B925-5A511DDE93D7}"/>
                </a:ext>
              </a:extLst>
            </p:cNvPr>
            <p:cNvSpPr txBox="1">
              <a:spLocks noChangeArrowheads="1"/>
            </p:cNvSpPr>
            <p:nvPr/>
          </p:nvSpPr>
          <p:spPr bwMode="auto">
            <a:xfrm>
              <a:off x="4260272" y="2854620"/>
              <a:ext cx="2820003"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Seq=42, ACK=79, data =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30581A9F-48A7-D546-AB16-5A259024E309}"/>
              </a:ext>
            </a:extLst>
          </p:cNvPr>
          <p:cNvGrpSpPr/>
          <p:nvPr/>
        </p:nvGrpSpPr>
        <p:grpSpPr>
          <a:xfrm>
            <a:off x="4264368" y="3523026"/>
            <a:ext cx="2813399" cy="800100"/>
            <a:chOff x="4264368" y="3523026"/>
            <a:chExt cx="2813399" cy="800100"/>
          </a:xfrm>
        </p:grpSpPr>
        <p:sp>
          <p:nvSpPr>
            <p:cNvPr id="135" name="Line 10">
              <a:extLst>
                <a:ext uri="{FF2B5EF4-FFF2-40B4-BE49-F238E27FC236}">
                  <a16:creationId xmlns:a16="http://schemas.microsoft.com/office/drawing/2014/main" id="{7C681F4C-24E8-5D43-BE10-D3949F61CDFA}"/>
                </a:ext>
              </a:extLst>
            </p:cNvPr>
            <p:cNvSpPr>
              <a:spLocks noChangeShapeType="1"/>
            </p:cNvSpPr>
            <p:nvPr/>
          </p:nvSpPr>
          <p:spPr bwMode="auto">
            <a:xfrm flipH="1">
              <a:off x="4344712" y="3523026"/>
              <a:ext cx="2554287" cy="8001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1" name="Rectangle 20">
              <a:extLst>
                <a:ext uri="{FF2B5EF4-FFF2-40B4-BE49-F238E27FC236}">
                  <a16:creationId xmlns:a16="http://schemas.microsoft.com/office/drawing/2014/main" id="{E3E3363E-9511-1A43-912C-05D171708B3A}"/>
                </a:ext>
              </a:extLst>
            </p:cNvPr>
            <p:cNvSpPr>
              <a:spLocks noChangeArrowheads="1"/>
            </p:cNvSpPr>
            <p:nvPr/>
          </p:nvSpPr>
          <p:spPr bwMode="auto">
            <a:xfrm>
              <a:off x="5201962" y="3800838"/>
              <a:ext cx="823912" cy="24606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2" name="Text Box 21">
              <a:extLst>
                <a:ext uri="{FF2B5EF4-FFF2-40B4-BE49-F238E27FC236}">
                  <a16:creationId xmlns:a16="http://schemas.microsoft.com/office/drawing/2014/main" id="{18709FF4-595B-2F4F-9697-F2C14F760728}"/>
                </a:ext>
              </a:extLst>
            </p:cNvPr>
            <p:cNvSpPr txBox="1">
              <a:spLocks noChangeArrowheads="1"/>
            </p:cNvSpPr>
            <p:nvPr/>
          </p:nvSpPr>
          <p:spPr bwMode="auto">
            <a:xfrm>
              <a:off x="4264368" y="3736718"/>
              <a:ext cx="2813399"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Seq=79, ACK=43, data = </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1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9A6C1350-9453-1E48-8790-F100F9587769}"/>
              </a:ext>
            </a:extLst>
          </p:cNvPr>
          <p:cNvGrpSpPr/>
          <p:nvPr/>
        </p:nvGrpSpPr>
        <p:grpSpPr>
          <a:xfrm>
            <a:off x="4339949" y="4518388"/>
            <a:ext cx="2590800" cy="506413"/>
            <a:chOff x="4339949" y="4518388"/>
            <a:chExt cx="2590800" cy="506413"/>
          </a:xfrm>
        </p:grpSpPr>
        <p:sp>
          <p:nvSpPr>
            <p:cNvPr id="130" name="Line 3">
              <a:extLst>
                <a:ext uri="{FF2B5EF4-FFF2-40B4-BE49-F238E27FC236}">
                  <a16:creationId xmlns:a16="http://schemas.microsoft.com/office/drawing/2014/main" id="{21939EAE-12FE-4B4B-8477-DA966E53E581}"/>
                </a:ext>
              </a:extLst>
            </p:cNvPr>
            <p:cNvSpPr>
              <a:spLocks noChangeShapeType="1"/>
            </p:cNvSpPr>
            <p:nvPr/>
          </p:nvSpPr>
          <p:spPr bwMode="auto">
            <a:xfrm>
              <a:off x="4339949" y="4518388"/>
              <a:ext cx="2590800"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3" name="Rectangle 22">
              <a:extLst>
                <a:ext uri="{FF2B5EF4-FFF2-40B4-BE49-F238E27FC236}">
                  <a16:creationId xmlns:a16="http://schemas.microsoft.com/office/drawing/2014/main" id="{36373196-F0F3-9041-A157-0DFF0B56BE41}"/>
                </a:ext>
              </a:extLst>
            </p:cNvPr>
            <p:cNvSpPr>
              <a:spLocks noChangeArrowheads="1"/>
            </p:cNvSpPr>
            <p:nvPr/>
          </p:nvSpPr>
          <p:spPr bwMode="auto">
            <a:xfrm>
              <a:off x="5268637" y="4648563"/>
              <a:ext cx="958850" cy="35718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4" name="Text Box 23">
              <a:extLst>
                <a:ext uri="{FF2B5EF4-FFF2-40B4-BE49-F238E27FC236}">
                  <a16:creationId xmlns:a16="http://schemas.microsoft.com/office/drawing/2014/main" id="{2C94660D-0BE1-434B-85A6-BB22849908C7}"/>
                </a:ext>
              </a:extLst>
            </p:cNvPr>
            <p:cNvSpPr txBox="1">
              <a:spLocks noChangeArrowheads="1"/>
            </p:cNvSpPr>
            <p:nvPr/>
          </p:nvSpPr>
          <p:spPr bwMode="auto">
            <a:xfrm>
              <a:off x="4934710" y="4609843"/>
              <a:ext cx="1712264"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Seq=43, ACK=80</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145" name="Line 24">
            <a:extLst>
              <a:ext uri="{FF2B5EF4-FFF2-40B4-BE49-F238E27FC236}">
                <a16:creationId xmlns:a16="http://schemas.microsoft.com/office/drawing/2014/main" id="{4198420A-33F5-1542-B39F-616C0F629FE7}"/>
              </a:ext>
            </a:extLst>
          </p:cNvPr>
          <p:cNvSpPr>
            <a:spLocks noChangeShapeType="1"/>
          </p:cNvSpPr>
          <p:nvPr/>
        </p:nvSpPr>
        <p:spPr bwMode="auto">
          <a:xfrm>
            <a:off x="4332012" y="2508613"/>
            <a:ext cx="0" cy="2587625"/>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6" name="Line 25">
            <a:extLst>
              <a:ext uri="{FF2B5EF4-FFF2-40B4-BE49-F238E27FC236}">
                <a16:creationId xmlns:a16="http://schemas.microsoft.com/office/drawing/2014/main" id="{C59AD6B4-1F7E-D046-AE58-B0A2143452E4}"/>
              </a:ext>
            </a:extLst>
          </p:cNvPr>
          <p:cNvSpPr>
            <a:spLocks noChangeShapeType="1"/>
          </p:cNvSpPr>
          <p:nvPr/>
        </p:nvSpPr>
        <p:spPr bwMode="auto">
          <a:xfrm>
            <a:off x="6994249" y="2561001"/>
            <a:ext cx="0" cy="2587625"/>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147" name="Group 27">
            <a:extLst>
              <a:ext uri="{FF2B5EF4-FFF2-40B4-BE49-F238E27FC236}">
                <a16:creationId xmlns:a16="http://schemas.microsoft.com/office/drawing/2014/main" id="{78A4C821-5D3D-F049-95FB-64A6C2EFC29B}"/>
              </a:ext>
            </a:extLst>
          </p:cNvPr>
          <p:cNvGrpSpPr>
            <a:grpSpLocks/>
          </p:cNvGrpSpPr>
          <p:nvPr/>
        </p:nvGrpSpPr>
        <p:grpSpPr bwMode="auto">
          <a:xfrm>
            <a:off x="3824012" y="1687876"/>
            <a:ext cx="755650" cy="782637"/>
            <a:chOff x="-44" y="1473"/>
            <a:chExt cx="981" cy="1105"/>
          </a:xfrm>
        </p:grpSpPr>
        <p:pic>
          <p:nvPicPr>
            <p:cNvPr id="148" name="Picture 28" descr="desktop_computer_stylized_medium">
              <a:extLst>
                <a:ext uri="{FF2B5EF4-FFF2-40B4-BE49-F238E27FC236}">
                  <a16:creationId xmlns:a16="http://schemas.microsoft.com/office/drawing/2014/main" id="{37E197D2-A990-E643-BBEF-3FDB8B30E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Freeform 29">
              <a:extLst>
                <a:ext uri="{FF2B5EF4-FFF2-40B4-BE49-F238E27FC236}">
                  <a16:creationId xmlns:a16="http://schemas.microsoft.com/office/drawing/2014/main" id="{B63C2E39-A8CB-1F4B-B3CA-E65FF2976D4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150" name="Group 30">
            <a:extLst>
              <a:ext uri="{FF2B5EF4-FFF2-40B4-BE49-F238E27FC236}">
                <a16:creationId xmlns:a16="http://schemas.microsoft.com/office/drawing/2014/main" id="{AEA67504-808C-2C43-80AA-6BED564C9A22}"/>
              </a:ext>
            </a:extLst>
          </p:cNvPr>
          <p:cNvGrpSpPr>
            <a:grpSpLocks/>
          </p:cNvGrpSpPr>
          <p:nvPr/>
        </p:nvGrpSpPr>
        <p:grpSpPr bwMode="auto">
          <a:xfrm flipH="1">
            <a:off x="6686274" y="1727563"/>
            <a:ext cx="788988" cy="862013"/>
            <a:chOff x="-44" y="1473"/>
            <a:chExt cx="981" cy="1105"/>
          </a:xfrm>
        </p:grpSpPr>
        <p:pic>
          <p:nvPicPr>
            <p:cNvPr id="151" name="Picture 31" descr="desktop_computer_stylized_medium">
              <a:extLst>
                <a:ext uri="{FF2B5EF4-FFF2-40B4-BE49-F238E27FC236}">
                  <a16:creationId xmlns:a16="http://schemas.microsoft.com/office/drawing/2014/main" id="{0B37A6B2-9E4A-114B-85F9-5E3DF6205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Freeform 32">
              <a:extLst>
                <a:ext uri="{FF2B5EF4-FFF2-40B4-BE49-F238E27FC236}">
                  <a16:creationId xmlns:a16="http://schemas.microsoft.com/office/drawing/2014/main" id="{100E17DE-5CEE-AB45-8E97-F0E8B661790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178778AE-4599-7841-B71E-D835F9A5393E}"/>
              </a:ext>
            </a:extLst>
          </p:cNvPr>
          <p:cNvGrpSpPr/>
          <p:nvPr/>
        </p:nvGrpSpPr>
        <p:grpSpPr>
          <a:xfrm>
            <a:off x="4692316" y="2815389"/>
            <a:ext cx="1388485" cy="1371600"/>
            <a:chOff x="4692316" y="2815389"/>
            <a:chExt cx="1388485" cy="1371600"/>
          </a:xfrm>
        </p:grpSpPr>
        <p:sp>
          <p:nvSpPr>
            <p:cNvPr id="3" name="Oval 2">
              <a:extLst>
                <a:ext uri="{FF2B5EF4-FFF2-40B4-BE49-F238E27FC236}">
                  <a16:creationId xmlns:a16="http://schemas.microsoft.com/office/drawing/2014/main" id="{AB715EF6-F294-3449-96CB-B6947A099ADE}"/>
                </a:ext>
              </a:extLst>
            </p:cNvPr>
            <p:cNvSpPr/>
            <p:nvPr/>
          </p:nvSpPr>
          <p:spPr>
            <a:xfrm>
              <a:off x="5566610" y="3721768"/>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Oval 30">
              <a:extLst>
                <a:ext uri="{FF2B5EF4-FFF2-40B4-BE49-F238E27FC236}">
                  <a16:creationId xmlns:a16="http://schemas.microsoft.com/office/drawing/2014/main" id="{7D783624-80C6-2148-8502-F1C29047872A}"/>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 name="Straight Arrow Connector 7">
              <a:extLst>
                <a:ext uri="{FF2B5EF4-FFF2-40B4-BE49-F238E27FC236}">
                  <a16:creationId xmlns:a16="http://schemas.microsoft.com/office/drawing/2014/main" id="{907B7D31-A373-0B4B-A1B5-F4FD39A2F3C3}"/>
                </a:ext>
              </a:extLst>
            </p:cNvPr>
            <p:cNvCxnSpPr/>
            <p:nvPr/>
          </p:nvCxnSpPr>
          <p:spPr>
            <a:xfrm flipH="1" flipV="1">
              <a:off x="5117431" y="3224463"/>
              <a:ext cx="513348" cy="513348"/>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A45AF06C-D673-CA4F-A51B-93240818CB9A}"/>
              </a:ext>
            </a:extLst>
          </p:cNvPr>
          <p:cNvGrpSpPr/>
          <p:nvPr/>
        </p:nvGrpSpPr>
        <p:grpSpPr>
          <a:xfrm>
            <a:off x="4684295" y="3737810"/>
            <a:ext cx="1982043" cy="1307432"/>
            <a:chOff x="4692316" y="2815389"/>
            <a:chExt cx="1982043" cy="1307432"/>
          </a:xfrm>
        </p:grpSpPr>
        <p:sp>
          <p:nvSpPr>
            <p:cNvPr id="36" name="Oval 35">
              <a:extLst>
                <a:ext uri="{FF2B5EF4-FFF2-40B4-BE49-F238E27FC236}">
                  <a16:creationId xmlns:a16="http://schemas.microsoft.com/office/drawing/2014/main" id="{6B1B5065-4044-F742-9CE7-C6C1E51A71E8}"/>
                </a:ext>
              </a:extLst>
            </p:cNvPr>
            <p:cNvSpPr/>
            <p:nvPr/>
          </p:nvSpPr>
          <p:spPr>
            <a:xfrm>
              <a:off x="6160168" y="3657600"/>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Oval 36">
              <a:extLst>
                <a:ext uri="{FF2B5EF4-FFF2-40B4-BE49-F238E27FC236}">
                  <a16:creationId xmlns:a16="http://schemas.microsoft.com/office/drawing/2014/main" id="{C5F4BEC1-9A8B-BA47-BC77-A5A357B8A4B6}"/>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8" name="Straight Arrow Connector 37">
              <a:extLst>
                <a:ext uri="{FF2B5EF4-FFF2-40B4-BE49-F238E27FC236}">
                  <a16:creationId xmlns:a16="http://schemas.microsoft.com/office/drawing/2014/main" id="{1894C7DC-0B9B-5648-ACEB-7945930EE55B}"/>
                </a:ext>
              </a:extLst>
            </p:cNvPr>
            <p:cNvCxnSpPr>
              <a:cxnSpLocks/>
            </p:cNvCxnSpPr>
            <p:nvPr/>
          </p:nvCxnSpPr>
          <p:spPr>
            <a:xfrm flipH="1" flipV="1">
              <a:off x="5165557" y="3224463"/>
              <a:ext cx="970548" cy="521369"/>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Slide Number Placeholder 2">
            <a:extLst>
              <a:ext uri="{FF2B5EF4-FFF2-40B4-BE49-F238E27FC236}">
                <a16:creationId xmlns:a16="http://schemas.microsoft.com/office/drawing/2014/main" id="{951C5C48-402B-A744-B23C-9DA42D7A6E17}"/>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35</a:t>
            </a:fld>
            <a:endParaRPr lang="en-US" dirty="0"/>
          </a:p>
        </p:txBody>
      </p:sp>
    </p:spTree>
    <p:extLst>
      <p:ext uri="{BB962C8B-B14F-4D97-AF65-F5344CB8AC3E}">
        <p14:creationId xmlns:p14="http://schemas.microsoft.com/office/powerpoint/2010/main" val="267750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4"/>
                                        </p:tgtEl>
                                        <p:attrNameLst>
                                          <p:attrName>style.visibility</p:attrName>
                                        </p:attrNameLst>
                                      </p:cBhvr>
                                      <p:to>
                                        <p:strVal val="visible"/>
                                      </p:to>
                                    </p:set>
                                    <p:animEffect transition="in" filter="dissolve">
                                      <p:cBhvr>
                                        <p:cTn id="11" dur="500"/>
                                        <p:tgtEl>
                                          <p:spTgt spid="134"/>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righ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33"/>
                                        </p:tgtEl>
                                        <p:attrNameLst>
                                          <p:attrName>style.visibility</p:attrName>
                                        </p:attrNameLst>
                                      </p:cBhvr>
                                      <p:to>
                                        <p:strVal val="visible"/>
                                      </p:to>
                                    </p:set>
                                    <p:animEffect transition="in" filter="dissolve">
                                      <p:cBhvr>
                                        <p:cTn id="19" dur="500"/>
                                        <p:tgtEl>
                                          <p:spTgt spid="13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xit" presetSubtype="0" fill="hold" nodeType="clickEffect">
                                  <p:stCondLst>
                                    <p:cond delay="0"/>
                                  </p:stCondLst>
                                  <p:childTnLst>
                                    <p:animEffect transition="out" filter="dissolve">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9" presetClass="entr" presetSubtype="0"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dissolve">
                                      <p:cBhvr>
                                        <p:cTn id="3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5"/>
          <p:cNvSpPr>
            <a:spLocks noGrp="1"/>
          </p:cNvSpPr>
          <p:nvPr>
            <p:ph type="ftr"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MS PGothic" charset="0"/>
                <a:cs typeface="MS PGothic" charset="0"/>
              </a:defRPr>
            </a:lvl1pPr>
            <a:lvl2pPr marL="742950" indent="-285750">
              <a:defRPr sz="1600">
                <a:solidFill>
                  <a:schemeClr val="tx1"/>
                </a:solidFill>
                <a:latin typeface="Tahoma" charset="0"/>
                <a:ea typeface="MS PGothic" charset="0"/>
                <a:cs typeface="MS PGothic" charset="0"/>
              </a:defRPr>
            </a:lvl2pPr>
            <a:lvl3pPr marL="1143000" indent="-228600">
              <a:defRPr sz="1600">
                <a:solidFill>
                  <a:schemeClr val="tx1"/>
                </a:solidFill>
                <a:latin typeface="Tahoma" charset="0"/>
                <a:ea typeface="MS PGothic" charset="0"/>
                <a:cs typeface="MS PGothic" charset="0"/>
              </a:defRPr>
            </a:lvl3pPr>
            <a:lvl4pPr marL="1600200" indent="-228600">
              <a:defRPr sz="1600">
                <a:solidFill>
                  <a:schemeClr val="tx1"/>
                </a:solidFill>
                <a:latin typeface="Tahoma" charset="0"/>
                <a:ea typeface="MS PGothic" charset="0"/>
                <a:cs typeface="MS PGothic" charset="0"/>
              </a:defRPr>
            </a:lvl4pPr>
            <a:lvl5pPr marL="2057400" indent="-228600">
              <a:defRPr sz="1600">
                <a:solidFill>
                  <a:schemeClr val="tx1"/>
                </a:solidFill>
                <a:latin typeface="Tahoma" charset="0"/>
                <a:ea typeface="MS PGothic" charset="0"/>
                <a:cs typeface="MS PGothic" charset="0"/>
              </a:defRPr>
            </a:lvl5pPr>
            <a:lvl6pPr marL="25146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6pPr>
            <a:lvl7pPr marL="29718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7pPr>
            <a:lvl8pPr marL="34290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8pPr>
            <a:lvl9pPr marL="38862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ahoma" charset="0"/>
                <a:ea typeface="MS PGothic" charset="0"/>
              </a:rPr>
              <a:t>Transport</a:t>
            </a:r>
            <a:r>
              <a:rPr kumimoji="0" lang="en-US" sz="1200" b="0" i="0" u="none" strike="noStrike" kern="1200" cap="none" spc="0" normalizeH="0" baseline="0" noProof="0">
                <a:ln>
                  <a:noFill/>
                </a:ln>
                <a:solidFill>
                  <a:prstClr val="black"/>
                </a:solidFill>
                <a:effectLst/>
                <a:uLnTx/>
                <a:uFillTx/>
                <a:latin typeface="Tahoma" charset="0"/>
                <a:ea typeface="MS PGothic" charset="0"/>
              </a:rPr>
              <a:t> </a:t>
            </a:r>
            <a:r>
              <a:rPr kumimoji="0" lang="en-US" sz="1100" b="0" i="0" u="none" strike="noStrike" kern="1200" cap="none" spc="0" normalizeH="0" baseline="0" noProof="0">
                <a:ln>
                  <a:noFill/>
                </a:ln>
                <a:solidFill>
                  <a:prstClr val="black"/>
                </a:solidFill>
                <a:effectLst/>
                <a:uLnTx/>
                <a:uFillTx/>
                <a:latin typeface="Tahoma" charset="0"/>
                <a:ea typeface="MS PGothic" charset="0"/>
              </a:rPr>
              <a:t>Layer</a:t>
            </a:r>
          </a:p>
        </p:txBody>
      </p:sp>
      <p:sp>
        <p:nvSpPr>
          <p:cNvPr id="64515" name="Slide Number Placeholder 6"/>
          <p:cNvSpPr>
            <a:spLocks noGrp="1"/>
          </p:cNvSpPr>
          <p:nvPr>
            <p:ph type="sldNum"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rPr>
              <a:t>3-</a:t>
            </a:r>
            <a:fld id="{81424E59-CB39-4DEC-AB61-E8B5E1BE0B73}" type="slidenum">
              <a:rPr kumimoji="0" lang="en-US" altLang="en-US" sz="11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36</a:t>
            </a:fld>
            <a:endParaRPr kumimoji="0" lang="en-US" altLang="en-US" sz="11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62469" name="Rectangle 1026"/>
          <p:cNvSpPr>
            <a:spLocks noGrp="1" noChangeArrowheads="1"/>
          </p:cNvSpPr>
          <p:nvPr>
            <p:ph type="title"/>
          </p:nvPr>
        </p:nvSpPr>
        <p:spPr>
          <a:xfrm>
            <a:off x="2066925" y="233363"/>
            <a:ext cx="7772400" cy="920750"/>
          </a:xfrm>
        </p:spPr>
        <p:txBody>
          <a:bodyPr/>
          <a:lstStyle/>
          <a:p>
            <a:pPr>
              <a:defRPr/>
            </a:pPr>
            <a:r>
              <a:rPr lang="en-US" sz="3200"/>
              <a:t>TCP round trip time, timeout</a:t>
            </a:r>
            <a:endParaRPr lang="en-US"/>
          </a:p>
        </p:txBody>
      </p:sp>
      <p:sp>
        <p:nvSpPr>
          <p:cNvPr id="62470" name="Rectangle 1027"/>
          <p:cNvSpPr>
            <a:spLocks noGrp="1" noChangeArrowheads="1"/>
          </p:cNvSpPr>
          <p:nvPr>
            <p:ph type="body" sz="half" idx="1"/>
          </p:nvPr>
        </p:nvSpPr>
        <p:spPr>
          <a:xfrm>
            <a:off x="2105025" y="1436688"/>
            <a:ext cx="3716338" cy="4648200"/>
          </a:xfrm>
        </p:spPr>
        <p:txBody>
          <a:bodyPr/>
          <a:lstStyle/>
          <a:p>
            <a:pPr>
              <a:buFont typeface="Wingdings" charset="0"/>
              <a:buNone/>
              <a:defRPr/>
            </a:pPr>
            <a:r>
              <a:rPr lang="en-US" u="sng" dirty="0">
                <a:solidFill>
                  <a:srgbClr val="FF0000"/>
                </a:solidFill>
                <a:cs typeface="+mn-cs"/>
              </a:rPr>
              <a:t>Q:</a:t>
            </a:r>
            <a:r>
              <a:rPr lang="en-US" dirty="0">
                <a:cs typeface="+mn-cs"/>
              </a:rPr>
              <a:t> how to set TCP timeout value?</a:t>
            </a:r>
          </a:p>
          <a:p>
            <a:pPr>
              <a:lnSpc>
                <a:spcPct val="90000"/>
              </a:lnSpc>
              <a:defRPr/>
            </a:pPr>
            <a:r>
              <a:rPr lang="en-US" sz="2400" dirty="0"/>
              <a:t>longer than RTT</a:t>
            </a:r>
          </a:p>
          <a:p>
            <a:pPr lvl="1">
              <a:lnSpc>
                <a:spcPct val="90000"/>
              </a:lnSpc>
              <a:defRPr/>
            </a:pPr>
            <a:r>
              <a:rPr lang="en-US" sz="2000" dirty="0"/>
              <a:t>but RTT varies</a:t>
            </a:r>
          </a:p>
          <a:p>
            <a:pPr>
              <a:lnSpc>
                <a:spcPct val="90000"/>
              </a:lnSpc>
              <a:defRPr/>
            </a:pPr>
            <a:r>
              <a:rPr lang="en-US" sz="2400" i="1" dirty="0"/>
              <a:t>too short:</a:t>
            </a:r>
            <a:r>
              <a:rPr lang="en-US" sz="2400" dirty="0"/>
              <a:t> premature timeout, unnecessary retransmissions</a:t>
            </a:r>
          </a:p>
          <a:p>
            <a:pPr>
              <a:lnSpc>
                <a:spcPct val="90000"/>
              </a:lnSpc>
              <a:defRPr/>
            </a:pPr>
            <a:r>
              <a:rPr lang="en-US" sz="2400" i="1" dirty="0"/>
              <a:t>too long:</a:t>
            </a:r>
            <a:r>
              <a:rPr lang="en-US" sz="2400" dirty="0"/>
              <a:t> slow reaction to segment loss</a:t>
            </a:r>
          </a:p>
        </p:txBody>
      </p:sp>
      <p:sp>
        <p:nvSpPr>
          <p:cNvPr id="64519" name="Rectangle 1028"/>
          <p:cNvSpPr>
            <a:spLocks noGrp="1" noChangeArrowheads="1"/>
          </p:cNvSpPr>
          <p:nvPr>
            <p:ph type="body" sz="half" idx="2"/>
          </p:nvPr>
        </p:nvSpPr>
        <p:spPr>
          <a:xfrm>
            <a:off x="6170614" y="1485900"/>
            <a:ext cx="4059237" cy="4648200"/>
          </a:xfrm>
        </p:spPr>
        <p:txBody>
          <a:bodyPr/>
          <a:lstStyle/>
          <a:p>
            <a:pPr>
              <a:buFont typeface="Wingdings" pitchFamily="2" charset="2"/>
              <a:buNone/>
              <a:defRPr/>
            </a:pPr>
            <a:r>
              <a:rPr lang="en-US" altLang="en-US" sz="2400" u="sng">
                <a:solidFill>
                  <a:srgbClr val="FF0000"/>
                </a:solidFill>
                <a:latin typeface="Gill Sans MT" pitchFamily="34" charset="0"/>
              </a:rPr>
              <a:t>Q:</a:t>
            </a:r>
            <a:r>
              <a:rPr lang="en-US" altLang="en-US" sz="2400">
                <a:latin typeface="Gill Sans MT" pitchFamily="34" charset="0"/>
              </a:rPr>
              <a:t> how to estimate RTT?</a:t>
            </a:r>
          </a:p>
          <a:p>
            <a:pPr>
              <a:defRPr/>
            </a:pPr>
            <a:r>
              <a:rPr lang="en-US" altLang="en-US" sz="2000" b="1">
                <a:solidFill>
                  <a:srgbClr val="000099"/>
                </a:solidFill>
                <a:latin typeface="Courier New" pitchFamily="49" charset="0"/>
              </a:rPr>
              <a:t>SampleRTT</a:t>
            </a:r>
            <a:r>
              <a:rPr lang="en-US" altLang="en-US" sz="2000">
                <a:solidFill>
                  <a:srgbClr val="000099"/>
                </a:solidFill>
                <a:latin typeface="Gill Sans MT" pitchFamily="34" charset="0"/>
              </a:rPr>
              <a:t>:</a:t>
            </a:r>
            <a:r>
              <a:rPr lang="en-US" altLang="en-US" sz="2000">
                <a:latin typeface="Gill Sans MT" pitchFamily="34" charset="0"/>
              </a:rPr>
              <a:t> measured time from segment transmission until ACK receipt</a:t>
            </a:r>
          </a:p>
          <a:p>
            <a:pPr lvl="1">
              <a:defRPr/>
            </a:pPr>
            <a:r>
              <a:rPr lang="en-US" altLang="en-US" sz="2000">
                <a:latin typeface="Gill Sans MT" pitchFamily="34" charset="0"/>
              </a:rPr>
              <a:t>ignore retransmissions</a:t>
            </a:r>
          </a:p>
          <a:p>
            <a:pPr>
              <a:defRPr/>
            </a:pPr>
            <a:r>
              <a:rPr lang="en-US" altLang="en-US" sz="2000" b="1">
                <a:latin typeface="Courier New" pitchFamily="49" charset="0"/>
              </a:rPr>
              <a:t>SampleRTT</a:t>
            </a:r>
            <a:r>
              <a:rPr lang="en-US" altLang="en-US" sz="2000">
                <a:latin typeface="Gill Sans MT" pitchFamily="34" charset="0"/>
              </a:rPr>
              <a:t> will vary, want estimated RTT </a:t>
            </a:r>
            <a:r>
              <a:rPr lang="ja-JP" altLang="en-US" sz="2000">
                <a:latin typeface="Gill Sans MT" pitchFamily="34" charset="0"/>
              </a:rPr>
              <a:t>“</a:t>
            </a:r>
            <a:r>
              <a:rPr lang="en-US" altLang="ja-JP" sz="2000">
                <a:latin typeface="Gill Sans MT" pitchFamily="34" charset="0"/>
              </a:rPr>
              <a:t>smoother</a:t>
            </a:r>
            <a:r>
              <a:rPr lang="ja-JP" altLang="en-US" sz="2000">
                <a:latin typeface="Gill Sans MT" pitchFamily="34" charset="0"/>
              </a:rPr>
              <a:t>”</a:t>
            </a:r>
            <a:endParaRPr lang="en-US" altLang="ja-JP" sz="2400">
              <a:latin typeface="Gill Sans MT" pitchFamily="34" charset="0"/>
            </a:endParaRPr>
          </a:p>
          <a:p>
            <a:pPr lvl="1">
              <a:defRPr/>
            </a:pPr>
            <a:r>
              <a:rPr lang="en-US" altLang="en-US" sz="2000">
                <a:latin typeface="Gill Sans MT" pitchFamily="34" charset="0"/>
              </a:rPr>
              <a:t>average several </a:t>
            </a:r>
            <a:r>
              <a:rPr lang="en-US" altLang="en-US" sz="2000" i="1">
                <a:latin typeface="Gill Sans MT" pitchFamily="34" charset="0"/>
              </a:rPr>
              <a:t>recent</a:t>
            </a:r>
            <a:r>
              <a:rPr lang="en-US" altLang="en-US" sz="2000">
                <a:latin typeface="Gill Sans MT" pitchFamily="34" charset="0"/>
              </a:rPr>
              <a:t> measurements, not just current </a:t>
            </a:r>
            <a:r>
              <a:rPr lang="en-US" altLang="en-US" sz="2000" b="1">
                <a:latin typeface="Courier New" pitchFamily="49" charset="0"/>
              </a:rPr>
              <a:t>SampleRTT</a:t>
            </a:r>
            <a:endParaRPr lang="en-US" altLang="en-US" sz="2000">
              <a:latin typeface="Gill Sans MT" pitchFamily="34" charset="0"/>
            </a:endParaRPr>
          </a:p>
        </p:txBody>
      </p:sp>
    </p:spTree>
    <p:extLst>
      <p:ext uri="{BB962C8B-B14F-4D97-AF65-F5344CB8AC3E}">
        <p14:creationId xmlns:p14="http://schemas.microsoft.com/office/powerpoint/2010/main" val="36031003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47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470">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2470">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2470">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4519">
                                            <p:txEl>
                                              <p:pRg st="0" end="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64519">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4519">
                                            <p:txEl>
                                              <p:pRg st="2" end="2"/>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4519">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45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09" name="Group 14"/>
          <p:cNvGrpSpPr>
            <a:grpSpLocks/>
          </p:cNvGrpSpPr>
          <p:nvPr/>
        </p:nvGrpSpPr>
        <p:grpSpPr bwMode="auto">
          <a:xfrm>
            <a:off x="3232151" y="2193925"/>
            <a:ext cx="6272213" cy="4292600"/>
            <a:chOff x="782" y="1865"/>
            <a:chExt cx="3951" cy="2704"/>
          </a:xfrm>
        </p:grpSpPr>
        <p:pic>
          <p:nvPicPr>
            <p:cNvPr id="6157"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 y="1865"/>
              <a:ext cx="3951" cy="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8" name="Rectangle 13"/>
            <p:cNvSpPr>
              <a:spLocks noChangeArrowheads="1"/>
            </p:cNvSpPr>
            <p:nvPr/>
          </p:nvSpPr>
          <p:spPr bwMode="auto">
            <a:xfrm>
              <a:off x="2070" y="1926"/>
              <a:ext cx="1404" cy="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fr-FR" altLang="en-US" sz="2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6147" name="Text Box 3"/>
          <p:cNvSpPr txBox="1">
            <a:spLocks noChangeArrowheads="1"/>
          </p:cNvSpPr>
          <p:nvPr/>
        </p:nvSpPr>
        <p:spPr bwMode="auto">
          <a:xfrm>
            <a:off x="2057401" y="990601"/>
            <a:ext cx="7515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EstimatedRTT = (1- </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)*EstimatedRTT + </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*SampleRTT</a:t>
            </a:r>
          </a:p>
        </p:txBody>
      </p:sp>
      <p:sp>
        <p:nvSpPr>
          <p:cNvPr id="17411" name="Rectangle 4"/>
          <p:cNvSpPr>
            <a:spLocks noChangeArrowheads="1"/>
          </p:cNvSpPr>
          <p:nvPr/>
        </p:nvSpPr>
        <p:spPr bwMode="auto">
          <a:xfrm>
            <a:off x="2687638" y="1465264"/>
            <a:ext cx="7067550"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75000"/>
              </a:lnSpc>
              <a:spcBef>
                <a:spcPct val="20000"/>
              </a:spcBef>
              <a:spcAft>
                <a:spcPts val="0"/>
              </a:spcAft>
              <a:buClr>
                <a:srgbClr val="000099"/>
              </a:buClr>
              <a:buSzPct val="65000"/>
              <a:buFont typeface="Wingdings" panose="05000000000000000000" pitchFamily="2" charset="2"/>
              <a:buChar char="v"/>
              <a:tabLst/>
              <a:defRPr/>
            </a:pPr>
            <a:r>
              <a:rPr kumimoji="0" lang="en-US" altLang="en-US" sz="2400" b="0" i="0" u="none" strike="noStrike" kern="1200" cap="none" spc="0" normalizeH="0" baseline="0" noProof="0">
                <a:ln>
                  <a:noFill/>
                </a:ln>
                <a:solidFill>
                  <a:prstClr val="black"/>
                </a:solidFill>
                <a:effectLst/>
                <a:uLnTx/>
                <a:uFillTx/>
                <a:latin typeface="Gill Sans MT" panose="020B0502020104020203" pitchFamily="34" charset="0"/>
                <a:ea typeface="ＭＳ Ｐゴシック" panose="020B0600070205080204" pitchFamily="34" charset="-128"/>
                <a:cs typeface="+mn-cs"/>
              </a:rPr>
              <a:t>exponential weighted moving average</a:t>
            </a:r>
          </a:p>
          <a:p>
            <a:pPr marL="342900" marR="0" lvl="0" indent="-342900" algn="l" defTabSz="914400" rtl="0" eaLnBrk="1" fontAlgn="auto" latinLnBrk="0" hangingPunct="1">
              <a:lnSpc>
                <a:spcPct val="75000"/>
              </a:lnSpc>
              <a:spcBef>
                <a:spcPct val="20000"/>
              </a:spcBef>
              <a:spcAft>
                <a:spcPts val="0"/>
              </a:spcAft>
              <a:buClr>
                <a:srgbClr val="000099"/>
              </a:buClr>
              <a:buSzPct val="65000"/>
              <a:buFont typeface="Wingdings" panose="05000000000000000000" pitchFamily="2" charset="2"/>
              <a:buChar char="v"/>
              <a:tabLst/>
              <a:defRPr/>
            </a:pPr>
            <a:r>
              <a:rPr kumimoji="0" lang="en-US" altLang="en-US" sz="2400" b="0" i="0" u="none" strike="noStrike" kern="1200" cap="none" spc="0" normalizeH="0" baseline="0" noProof="0">
                <a:ln>
                  <a:noFill/>
                </a:ln>
                <a:solidFill>
                  <a:prstClr val="black"/>
                </a:solidFill>
                <a:effectLst/>
                <a:uLnTx/>
                <a:uFillTx/>
                <a:latin typeface="Gill Sans MT" panose="020B0502020104020203" pitchFamily="34" charset="0"/>
                <a:ea typeface="ＭＳ Ｐゴシック" panose="020B0600070205080204" pitchFamily="34" charset="-128"/>
                <a:cs typeface="+mn-cs"/>
              </a:rPr>
              <a:t>influence of past sample decreases exponentially fast</a:t>
            </a:r>
          </a:p>
          <a:p>
            <a:pPr marL="342900" marR="0" lvl="0" indent="-342900" algn="l" defTabSz="914400" rtl="0" eaLnBrk="1" fontAlgn="auto" latinLnBrk="0" hangingPunct="1">
              <a:lnSpc>
                <a:spcPct val="75000"/>
              </a:lnSpc>
              <a:spcBef>
                <a:spcPct val="20000"/>
              </a:spcBef>
              <a:spcAft>
                <a:spcPts val="0"/>
              </a:spcAft>
              <a:buClr>
                <a:srgbClr val="000099"/>
              </a:buClr>
              <a:buSzPct val="65000"/>
              <a:buFont typeface="Wingdings" panose="05000000000000000000" pitchFamily="2" charset="2"/>
              <a:buChar char="v"/>
              <a:tabLst/>
              <a:defRPr/>
            </a:pPr>
            <a:r>
              <a:rPr kumimoji="0" lang="en-US" altLang="en-US" sz="2400" b="0" i="0" u="none" strike="noStrike" kern="1200" cap="none" spc="0" normalizeH="0" baseline="0" noProof="0">
                <a:ln>
                  <a:noFill/>
                </a:ln>
                <a:solidFill>
                  <a:prstClr val="black"/>
                </a:solidFill>
                <a:effectLst/>
                <a:uLnTx/>
                <a:uFillTx/>
                <a:latin typeface="Gill Sans MT" panose="020B0502020104020203" pitchFamily="34" charset="0"/>
                <a:ea typeface="ＭＳ Ｐゴシック" panose="020B0600070205080204" pitchFamily="34" charset="-128"/>
                <a:cs typeface="+mn-cs"/>
              </a:rPr>
              <a:t>typical value: </a:t>
            </a:r>
            <a:r>
              <a:rPr kumimoji="0" lang="en-US" altLang="en-US" sz="24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 =</a:t>
            </a:r>
            <a:r>
              <a:rPr kumimoji="0" lang="en-US" altLang="en-US" sz="2400" b="0" i="0" u="none" strike="noStrike" kern="1200" cap="none" spc="0" normalizeH="0" baseline="0" noProof="0">
                <a:ln>
                  <a:noFill/>
                </a:ln>
                <a:solidFill>
                  <a:prstClr val="black"/>
                </a:solidFill>
                <a:effectLst/>
                <a:uLnTx/>
                <a:uFillTx/>
                <a:latin typeface="Gill Sans MT" panose="020B0502020104020203" pitchFamily="34" charset="0"/>
                <a:ea typeface="ＭＳ Ｐゴシック" panose="020B0600070205080204" pitchFamily="34" charset="-128"/>
                <a:cs typeface="+mn-cs"/>
              </a:rPr>
              <a:t> 0.125</a:t>
            </a:r>
          </a:p>
        </p:txBody>
      </p:sp>
      <p:sp>
        <p:nvSpPr>
          <p:cNvPr id="63496" name="Rectangle 11"/>
          <p:cNvSpPr>
            <a:spLocks noGrp="1" noChangeArrowheads="1"/>
          </p:cNvSpPr>
          <p:nvPr>
            <p:ph type="title"/>
          </p:nvPr>
        </p:nvSpPr>
        <p:spPr>
          <a:xfrm>
            <a:off x="2066925" y="233363"/>
            <a:ext cx="7772400" cy="920750"/>
          </a:xfrm>
        </p:spPr>
        <p:txBody>
          <a:bodyPr/>
          <a:lstStyle/>
          <a:p>
            <a:pPr>
              <a:defRPr/>
            </a:pPr>
            <a:r>
              <a:rPr lang="en-US">
                <a:cs typeface="+mj-cs"/>
              </a:rPr>
              <a:t>TCP round trip time, timeout</a:t>
            </a:r>
          </a:p>
        </p:txBody>
      </p:sp>
      <p:sp>
        <p:nvSpPr>
          <p:cNvPr id="17414" name="Text Box 18"/>
          <p:cNvSpPr txBox="1">
            <a:spLocks noChangeArrowheads="1"/>
          </p:cNvSpPr>
          <p:nvPr/>
        </p:nvSpPr>
        <p:spPr bwMode="auto">
          <a:xfrm rot="10800000">
            <a:off x="3054808" y="3162952"/>
            <a:ext cx="430887" cy="17497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rPr>
              <a:t>RTT (milliseconds)</a:t>
            </a:r>
          </a:p>
        </p:txBody>
      </p:sp>
      <p:sp>
        <p:nvSpPr>
          <p:cNvPr id="17415" name="Text Box 19"/>
          <p:cNvSpPr txBox="1">
            <a:spLocks noChangeArrowheads="1"/>
          </p:cNvSpPr>
          <p:nvPr/>
        </p:nvSpPr>
        <p:spPr bwMode="auto">
          <a:xfrm>
            <a:off x="3789363" y="2797175"/>
            <a:ext cx="3867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RTT:</a:t>
            </a:r>
            <a:r>
              <a:rPr kumimoji="0" lang="en-US" altLang="en-US" sz="1400" b="0" i="0" u="none" strike="noStrike" kern="1200" cap="none" spc="0" normalizeH="0" baseline="0" noProof="0">
                <a:ln>
                  <a:noFill/>
                </a:ln>
                <a:solidFill>
                  <a:prstClr val="white"/>
                </a:solidFill>
                <a:effectLst/>
                <a:uLnTx/>
                <a:uFillTx/>
                <a:latin typeface="Arial" panose="020B0604020202020204" pitchFamily="34" charset="0"/>
                <a:ea typeface="ＭＳ Ｐゴシック" panose="020B0600070205080204" pitchFamily="34" charset="-128"/>
                <a:cs typeface="+mn-cs"/>
              </a:rPr>
              <a:t> </a:t>
            </a: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gaia.cs.umass.edu</a:t>
            </a:r>
            <a:r>
              <a:rPr kumimoji="0" lang="en-US" altLang="en-US" sz="1400" b="0" i="0" u="none" strike="noStrike" kern="1200" cap="none" spc="0" normalizeH="0" baseline="0" noProof="0">
                <a:ln>
                  <a:noFill/>
                </a:ln>
                <a:solidFill>
                  <a:prstClr val="white"/>
                </a:solidFill>
                <a:effectLst/>
                <a:uLnTx/>
                <a:uFillTx/>
                <a:latin typeface="Arial" panose="020B0604020202020204" pitchFamily="34" charset="0"/>
                <a:ea typeface="ＭＳ Ｐゴシック" panose="020B0600070205080204" pitchFamily="34" charset="-128"/>
                <a:cs typeface="+mn-cs"/>
              </a:rPr>
              <a:t> </a:t>
            </a: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to</a:t>
            </a:r>
            <a:r>
              <a:rPr kumimoji="0" lang="en-US" altLang="en-US" sz="1400" b="0" i="0" u="none" strike="noStrike" kern="1200" cap="none" spc="0" normalizeH="0" baseline="0" noProof="0">
                <a:ln>
                  <a:noFill/>
                </a:ln>
                <a:solidFill>
                  <a:prstClr val="white"/>
                </a:solidFill>
                <a:effectLst/>
                <a:uLnTx/>
                <a:uFillTx/>
                <a:latin typeface="Arial" panose="020B0604020202020204" pitchFamily="34" charset="0"/>
                <a:ea typeface="ＭＳ Ｐゴシック" panose="020B0600070205080204" pitchFamily="34" charset="-128"/>
                <a:cs typeface="+mn-cs"/>
              </a:rPr>
              <a:t> </a:t>
            </a: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fantasia.eurecom.fr</a:t>
            </a:r>
          </a:p>
        </p:txBody>
      </p:sp>
      <p:sp>
        <p:nvSpPr>
          <p:cNvPr id="17416" name="Text Box 20"/>
          <p:cNvSpPr txBox="1">
            <a:spLocks noChangeArrowheads="1"/>
          </p:cNvSpPr>
          <p:nvPr/>
        </p:nvSpPr>
        <p:spPr bwMode="auto">
          <a:xfrm>
            <a:off x="7745413" y="4859338"/>
            <a:ext cx="1181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rPr>
              <a:t>sampleRTT</a:t>
            </a:r>
          </a:p>
        </p:txBody>
      </p:sp>
      <p:sp>
        <p:nvSpPr>
          <p:cNvPr id="17417" name="Text Box 21"/>
          <p:cNvSpPr txBox="1">
            <a:spLocks noChangeArrowheads="1"/>
          </p:cNvSpPr>
          <p:nvPr/>
        </p:nvSpPr>
        <p:spPr bwMode="auto">
          <a:xfrm>
            <a:off x="7739064" y="5176838"/>
            <a:ext cx="1431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rPr>
              <a:t>EstimatedRTT</a:t>
            </a:r>
          </a:p>
        </p:txBody>
      </p:sp>
      <p:sp>
        <p:nvSpPr>
          <p:cNvPr id="17418" name="AutoShape 22"/>
          <p:cNvSpPr>
            <a:spLocks noChangeArrowheads="1"/>
          </p:cNvSpPr>
          <p:nvPr/>
        </p:nvSpPr>
        <p:spPr bwMode="auto">
          <a:xfrm>
            <a:off x="7529514" y="4972051"/>
            <a:ext cx="147637" cy="142875"/>
          </a:xfrm>
          <a:prstGeom prst="diamond">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fr-FR" altLang="en-US" sz="2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7419" name="AutoShape 23"/>
          <p:cNvSpPr>
            <a:spLocks noChangeArrowheads="1"/>
          </p:cNvSpPr>
          <p:nvPr/>
        </p:nvSpPr>
        <p:spPr bwMode="auto">
          <a:xfrm rot="2776382">
            <a:off x="7535070" y="5261770"/>
            <a:ext cx="147637" cy="142875"/>
          </a:xfrm>
          <a:prstGeom prst="diamond">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fr-FR" altLang="en-US" sz="2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7310799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0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4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17414" grpId="0" animBg="1"/>
      <p:bldP spid="17415" grpId="0"/>
      <p:bldP spid="17416" grpId="0"/>
      <p:bldP spid="17417" grpId="0"/>
      <p:bldP spid="17418" grpId="0" animBg="1"/>
      <p:bldP spid="1741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5"/>
          <p:cNvSpPr>
            <a:spLocks noGrp="1" noChangeArrowheads="1"/>
          </p:cNvSpPr>
          <p:nvPr>
            <p:ph type="body" sz="half" idx="1"/>
          </p:nvPr>
        </p:nvSpPr>
        <p:spPr>
          <a:xfrm>
            <a:off x="2079625" y="1595439"/>
            <a:ext cx="7918450" cy="1495425"/>
          </a:xfrm>
        </p:spPr>
        <p:txBody>
          <a:bodyPr/>
          <a:lstStyle/>
          <a:p>
            <a:pPr>
              <a:lnSpc>
                <a:spcPct val="90000"/>
              </a:lnSpc>
              <a:defRPr/>
            </a:pPr>
            <a:r>
              <a:rPr lang="en-US" altLang="en-US" dirty="0">
                <a:solidFill>
                  <a:srgbClr val="000099"/>
                </a:solidFill>
                <a:latin typeface="Gill Sans MT" pitchFamily="34" charset="0"/>
              </a:rPr>
              <a:t>timeout interval:</a:t>
            </a:r>
            <a:r>
              <a:rPr lang="en-US" altLang="en-US" sz="2400" b="1" dirty="0">
                <a:latin typeface="Courier New" pitchFamily="49" charset="0"/>
              </a:rPr>
              <a:t> </a:t>
            </a:r>
            <a:r>
              <a:rPr lang="en-US" altLang="en-US" sz="2400" b="1" dirty="0" err="1">
                <a:latin typeface="Courier New" pitchFamily="49" charset="0"/>
              </a:rPr>
              <a:t>EstimatedRTT</a:t>
            </a:r>
            <a:r>
              <a:rPr lang="en-US" altLang="en-US" sz="2400" dirty="0">
                <a:latin typeface="Gill Sans MT" pitchFamily="34" charset="0"/>
              </a:rPr>
              <a:t> plus </a:t>
            </a:r>
            <a:r>
              <a:rPr lang="ja-JP" altLang="en-US" sz="2400" dirty="0">
                <a:latin typeface="Gill Sans MT" pitchFamily="34" charset="0"/>
              </a:rPr>
              <a:t>“</a:t>
            </a:r>
            <a:r>
              <a:rPr lang="en-US" altLang="ja-JP" sz="2400" dirty="0">
                <a:latin typeface="Gill Sans MT" pitchFamily="34" charset="0"/>
              </a:rPr>
              <a:t>safety margin</a:t>
            </a:r>
            <a:r>
              <a:rPr lang="ja-JP" altLang="en-US" sz="2400" dirty="0">
                <a:latin typeface="Gill Sans MT" pitchFamily="34" charset="0"/>
              </a:rPr>
              <a:t>”</a:t>
            </a:r>
            <a:endParaRPr lang="en-US" altLang="ja-JP" sz="2400" dirty="0">
              <a:latin typeface="Gill Sans MT" pitchFamily="34" charset="0"/>
            </a:endParaRPr>
          </a:p>
          <a:p>
            <a:pPr lvl="1">
              <a:lnSpc>
                <a:spcPct val="90000"/>
              </a:lnSpc>
              <a:defRPr/>
            </a:pPr>
            <a:r>
              <a:rPr lang="en-US" altLang="en-US" sz="2000" dirty="0">
                <a:latin typeface="Gill Sans MT" pitchFamily="34" charset="0"/>
              </a:rPr>
              <a:t>large variation in </a:t>
            </a:r>
            <a:r>
              <a:rPr lang="en-US" altLang="en-US" sz="2000" b="1" dirty="0" err="1">
                <a:latin typeface="Courier New" pitchFamily="49" charset="0"/>
              </a:rPr>
              <a:t>EstimatedRTT</a:t>
            </a:r>
            <a:r>
              <a:rPr lang="en-US" altLang="en-US" sz="2000" b="1" dirty="0">
                <a:latin typeface="Courier New" pitchFamily="49" charset="0"/>
              </a:rPr>
              <a:t> -&gt;</a:t>
            </a:r>
            <a:r>
              <a:rPr lang="en-US" altLang="en-US" sz="2000" dirty="0">
                <a:latin typeface="Gill Sans MT" pitchFamily="34" charset="0"/>
              </a:rPr>
              <a:t> larger safety margin</a:t>
            </a:r>
          </a:p>
          <a:p>
            <a:pPr>
              <a:lnSpc>
                <a:spcPct val="90000"/>
              </a:lnSpc>
              <a:spcBef>
                <a:spcPct val="35000"/>
              </a:spcBef>
              <a:defRPr/>
            </a:pPr>
            <a:r>
              <a:rPr lang="en-US" altLang="en-US" sz="2400" dirty="0">
                <a:latin typeface="Gill Sans MT" pitchFamily="34" charset="0"/>
              </a:rPr>
              <a:t>estimate </a:t>
            </a:r>
            <a:r>
              <a:rPr lang="en-US" altLang="en-US" sz="2400" dirty="0" err="1">
                <a:latin typeface="Gill Sans MT" pitchFamily="34" charset="0"/>
              </a:rPr>
              <a:t>SampleRTT</a:t>
            </a:r>
            <a:r>
              <a:rPr lang="en-US" altLang="en-US" sz="2400" dirty="0">
                <a:latin typeface="Gill Sans MT" pitchFamily="34" charset="0"/>
              </a:rPr>
              <a:t> deviation from </a:t>
            </a:r>
            <a:r>
              <a:rPr lang="en-US" altLang="en-US" sz="2400" dirty="0" err="1">
                <a:latin typeface="Gill Sans MT" pitchFamily="34" charset="0"/>
              </a:rPr>
              <a:t>EstimatedRTT</a:t>
            </a:r>
            <a:r>
              <a:rPr lang="en-US" altLang="en-US" sz="2400" dirty="0">
                <a:latin typeface="Gill Sans MT" pitchFamily="34" charset="0"/>
              </a:rPr>
              <a:t>: </a:t>
            </a:r>
          </a:p>
        </p:txBody>
      </p:sp>
      <p:sp>
        <p:nvSpPr>
          <p:cNvPr id="37892" name="Text Box 7"/>
          <p:cNvSpPr txBox="1">
            <a:spLocks noChangeArrowheads="1"/>
          </p:cNvSpPr>
          <p:nvPr/>
        </p:nvSpPr>
        <p:spPr bwMode="auto">
          <a:xfrm>
            <a:off x="2693989" y="2871789"/>
            <a:ext cx="69754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DevRTT = (1-</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)*DevRTT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             </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*|SampleRTT-EstimatedRTT|</a:t>
            </a:r>
          </a:p>
        </p:txBody>
      </p:sp>
      <p:sp>
        <p:nvSpPr>
          <p:cNvPr id="64519" name="Rectangle 11"/>
          <p:cNvSpPr>
            <a:spLocks noGrp="1" noChangeArrowheads="1"/>
          </p:cNvSpPr>
          <p:nvPr>
            <p:ph type="title"/>
          </p:nvPr>
        </p:nvSpPr>
        <p:spPr>
          <a:xfrm>
            <a:off x="2066925" y="233363"/>
            <a:ext cx="7772400" cy="920750"/>
          </a:xfrm>
        </p:spPr>
        <p:txBody>
          <a:bodyPr/>
          <a:lstStyle/>
          <a:p>
            <a:pPr>
              <a:defRPr/>
            </a:pPr>
            <a:r>
              <a:rPr lang="en-US" dirty="0">
                <a:cs typeface="+mj-cs"/>
              </a:rPr>
              <a:t>TCP round trip time, timeout</a:t>
            </a:r>
          </a:p>
        </p:txBody>
      </p:sp>
      <p:sp>
        <p:nvSpPr>
          <p:cNvPr id="37895" name="Text Box 12"/>
          <p:cNvSpPr txBox="1">
            <a:spLocks noChangeArrowheads="1"/>
          </p:cNvSpPr>
          <p:nvPr/>
        </p:nvSpPr>
        <p:spPr bwMode="auto">
          <a:xfrm>
            <a:off x="4608514" y="3592514"/>
            <a:ext cx="3386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(typically, </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 = 0.25)</a:t>
            </a:r>
          </a:p>
        </p:txBody>
      </p:sp>
      <p:sp>
        <p:nvSpPr>
          <p:cNvPr id="37896" name="Rectangle 13"/>
          <p:cNvSpPr>
            <a:spLocks noChangeArrowheads="1"/>
          </p:cNvSpPr>
          <p:nvPr/>
        </p:nvSpPr>
        <p:spPr bwMode="auto">
          <a:xfrm>
            <a:off x="2089150" y="4368800"/>
            <a:ext cx="791845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TimeoutInterval = EstimatedRTT + 4*DevRTT</a:t>
            </a:r>
          </a:p>
        </p:txBody>
      </p:sp>
      <p:sp>
        <p:nvSpPr>
          <p:cNvPr id="37897" name="Text Box 14"/>
          <p:cNvSpPr txBox="1">
            <a:spLocks noChangeArrowheads="1"/>
          </p:cNvSpPr>
          <p:nvPr/>
        </p:nvSpPr>
        <p:spPr bwMode="auto">
          <a:xfrm>
            <a:off x="5534025" y="5122864"/>
            <a:ext cx="1811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estimated RTT</a:t>
            </a:r>
          </a:p>
        </p:txBody>
      </p:sp>
      <p:sp>
        <p:nvSpPr>
          <p:cNvPr id="37898" name="Text Box 16"/>
          <p:cNvSpPr txBox="1">
            <a:spLocks noChangeArrowheads="1"/>
          </p:cNvSpPr>
          <p:nvPr/>
        </p:nvSpPr>
        <p:spPr bwMode="auto">
          <a:xfrm>
            <a:off x="7966076" y="5141913"/>
            <a:ext cx="19801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r>
              <a:rPr kumimoji="0" lang="en-US" altLang="ja-JP"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safety margin</a:t>
            </a: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endParaRPr kumimoji="0" lang="en-US"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endParaRPr>
          </a:p>
        </p:txBody>
      </p:sp>
      <p:sp>
        <p:nvSpPr>
          <p:cNvPr id="37899" name="Line 17"/>
          <p:cNvSpPr>
            <a:spLocks noChangeShapeType="1"/>
          </p:cNvSpPr>
          <p:nvPr/>
        </p:nvSpPr>
        <p:spPr bwMode="auto">
          <a:xfrm flipV="1">
            <a:off x="6330950" y="4762500"/>
            <a:ext cx="0" cy="446088"/>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00" name="Line 19"/>
          <p:cNvSpPr>
            <a:spLocks noChangeShapeType="1"/>
          </p:cNvSpPr>
          <p:nvPr/>
        </p:nvSpPr>
        <p:spPr bwMode="auto">
          <a:xfrm flipV="1">
            <a:off x="8902700" y="4768850"/>
            <a:ext cx="0" cy="446088"/>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7901" name="Picture 20" descr="alarm_clock_ring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5164" y="4773614"/>
            <a:ext cx="7524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4538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564">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89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78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8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89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89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90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9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p:bldP spid="37895" grpId="0"/>
      <p:bldP spid="37896" grpId="0"/>
      <p:bldP spid="37897" grpId="0"/>
      <p:bldP spid="3789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5"/>
          <p:cNvSpPr>
            <a:spLocks noGrp="1"/>
          </p:cNvSpPr>
          <p:nvPr>
            <p:ph type="ftr"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MS PGothic" charset="0"/>
                <a:cs typeface="MS PGothic" charset="0"/>
              </a:defRPr>
            </a:lvl1pPr>
            <a:lvl2pPr marL="742950" indent="-285750">
              <a:defRPr sz="1600">
                <a:solidFill>
                  <a:schemeClr val="tx1"/>
                </a:solidFill>
                <a:latin typeface="Tahoma" charset="0"/>
                <a:ea typeface="MS PGothic" charset="0"/>
                <a:cs typeface="MS PGothic" charset="0"/>
              </a:defRPr>
            </a:lvl2pPr>
            <a:lvl3pPr marL="1143000" indent="-228600">
              <a:defRPr sz="1600">
                <a:solidFill>
                  <a:schemeClr val="tx1"/>
                </a:solidFill>
                <a:latin typeface="Tahoma" charset="0"/>
                <a:ea typeface="MS PGothic" charset="0"/>
                <a:cs typeface="MS PGothic" charset="0"/>
              </a:defRPr>
            </a:lvl3pPr>
            <a:lvl4pPr marL="1600200" indent="-228600">
              <a:defRPr sz="1600">
                <a:solidFill>
                  <a:schemeClr val="tx1"/>
                </a:solidFill>
                <a:latin typeface="Tahoma" charset="0"/>
                <a:ea typeface="MS PGothic" charset="0"/>
                <a:cs typeface="MS PGothic" charset="0"/>
              </a:defRPr>
            </a:lvl4pPr>
            <a:lvl5pPr marL="2057400" indent="-228600">
              <a:defRPr sz="1600">
                <a:solidFill>
                  <a:schemeClr val="tx1"/>
                </a:solidFill>
                <a:latin typeface="Tahoma" charset="0"/>
                <a:ea typeface="MS PGothic" charset="0"/>
                <a:cs typeface="MS PGothic" charset="0"/>
              </a:defRPr>
            </a:lvl5pPr>
            <a:lvl6pPr marL="25146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6pPr>
            <a:lvl7pPr marL="29718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7pPr>
            <a:lvl8pPr marL="34290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8pPr>
            <a:lvl9pPr marL="38862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9pPr>
          </a:lstStyle>
          <a:p>
            <a:pPr>
              <a:defRPr/>
            </a:pPr>
            <a:r>
              <a:rPr lang="en-US" sz="1100"/>
              <a:t>Transport</a:t>
            </a:r>
            <a:r>
              <a:rPr lang="en-US" sz="1200"/>
              <a:t> </a:t>
            </a:r>
            <a:r>
              <a:rPr lang="en-US" sz="1100"/>
              <a:t>Layer</a:t>
            </a:r>
          </a:p>
        </p:txBody>
      </p:sp>
      <p:sp>
        <p:nvSpPr>
          <p:cNvPr id="68611" name="Slide Number Placeholder 6"/>
          <p:cNvSpPr>
            <a:spLocks noGrp="1"/>
          </p:cNvSpPr>
          <p:nvPr>
            <p:ph type="sldNum"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defRPr/>
            </a:pPr>
            <a:r>
              <a:rPr lang="en-US" altLang="en-US" sz="1100">
                <a:latin typeface="Tahoma" panose="020B0604030504040204" pitchFamily="34" charset="0"/>
              </a:rPr>
              <a:t>3-</a:t>
            </a:r>
            <a:fld id="{096CC60D-A7D7-41C6-ABC0-6931EE4D11E8}" type="slidenum">
              <a:rPr lang="en-US" altLang="en-US" sz="1100">
                <a:latin typeface="Tahoma" panose="020B0604030504040204" pitchFamily="34" charset="0"/>
              </a:rPr>
              <a:pPr eaLnBrk="1" hangingPunct="1">
                <a:spcBef>
                  <a:spcPct val="0"/>
                </a:spcBef>
                <a:buFontTx/>
                <a:buNone/>
                <a:defRPr/>
              </a:pPr>
              <a:t>39</a:t>
            </a:fld>
            <a:endParaRPr lang="en-US" altLang="en-US" sz="1100">
              <a:latin typeface="Tahoma" panose="020B0604030504040204" pitchFamily="34" charset="0"/>
            </a:endParaRPr>
          </a:p>
        </p:txBody>
      </p:sp>
      <p:sp>
        <p:nvSpPr>
          <p:cNvPr id="66564" name="Rectangle 2"/>
          <p:cNvSpPr>
            <a:spLocks noGrp="1" noChangeArrowheads="1"/>
          </p:cNvSpPr>
          <p:nvPr>
            <p:ph type="title"/>
          </p:nvPr>
        </p:nvSpPr>
        <p:spPr>
          <a:xfrm>
            <a:off x="2057400" y="173038"/>
            <a:ext cx="7772400" cy="1143000"/>
          </a:xfrm>
        </p:spPr>
        <p:txBody>
          <a:bodyPr/>
          <a:lstStyle/>
          <a:p>
            <a:pPr>
              <a:defRPr/>
            </a:pPr>
            <a:r>
              <a:rPr lang="en-US" sz="3200" dirty="0"/>
              <a:t>TCP reliable data transfer</a:t>
            </a:r>
          </a:p>
        </p:txBody>
      </p:sp>
      <p:sp>
        <p:nvSpPr>
          <p:cNvPr id="68613" name="Rectangle 3"/>
          <p:cNvSpPr>
            <a:spLocks noGrp="1" noChangeArrowheads="1"/>
          </p:cNvSpPr>
          <p:nvPr>
            <p:ph type="body" sz="half" idx="1"/>
          </p:nvPr>
        </p:nvSpPr>
        <p:spPr>
          <a:xfrm>
            <a:off x="2057400" y="1500188"/>
            <a:ext cx="4070350" cy="4648200"/>
          </a:xfrm>
        </p:spPr>
        <p:txBody>
          <a:bodyPr/>
          <a:lstStyle/>
          <a:p>
            <a:pPr>
              <a:defRPr/>
            </a:pPr>
            <a:r>
              <a:rPr lang="en-US" altLang="en-US" sz="2400">
                <a:latin typeface="Gill Sans MT" pitchFamily="34" charset="0"/>
              </a:rPr>
              <a:t>TCP creates rdt service on top of IP</a:t>
            </a:r>
            <a:r>
              <a:rPr lang="ja-JP" altLang="en-US" sz="2400">
                <a:latin typeface="Gill Sans MT" pitchFamily="34" charset="0"/>
              </a:rPr>
              <a:t>’</a:t>
            </a:r>
            <a:r>
              <a:rPr lang="en-US" altLang="ja-JP" sz="2400">
                <a:latin typeface="Gill Sans MT" pitchFamily="34" charset="0"/>
              </a:rPr>
              <a:t>s unreliable service</a:t>
            </a:r>
          </a:p>
          <a:p>
            <a:pPr lvl="1">
              <a:defRPr/>
            </a:pPr>
            <a:r>
              <a:rPr lang="en-US" altLang="en-US" sz="2000">
                <a:latin typeface="Gill Sans MT" pitchFamily="34" charset="0"/>
              </a:rPr>
              <a:t>pipelined segments</a:t>
            </a:r>
          </a:p>
          <a:p>
            <a:pPr lvl="1">
              <a:defRPr/>
            </a:pPr>
            <a:r>
              <a:rPr lang="en-US" altLang="en-US" sz="2000">
                <a:latin typeface="Gill Sans MT" pitchFamily="34" charset="0"/>
              </a:rPr>
              <a:t>cumulative acks</a:t>
            </a:r>
          </a:p>
          <a:p>
            <a:pPr lvl="1">
              <a:defRPr/>
            </a:pPr>
            <a:r>
              <a:rPr lang="en-US" altLang="en-US" sz="2000">
                <a:latin typeface="Gill Sans MT" pitchFamily="34" charset="0"/>
              </a:rPr>
              <a:t>single retransmission timer</a:t>
            </a:r>
          </a:p>
          <a:p>
            <a:pPr>
              <a:defRPr/>
            </a:pPr>
            <a:r>
              <a:rPr lang="en-US" altLang="en-US" sz="2400">
                <a:latin typeface="Gill Sans MT" pitchFamily="34" charset="0"/>
              </a:rPr>
              <a:t>Retransmissions triggered by:</a:t>
            </a:r>
          </a:p>
          <a:p>
            <a:pPr lvl="1">
              <a:defRPr/>
            </a:pPr>
            <a:r>
              <a:rPr lang="en-US" altLang="en-US" sz="2000">
                <a:latin typeface="Gill Sans MT" pitchFamily="34" charset="0"/>
              </a:rPr>
              <a:t>timeout events</a:t>
            </a:r>
          </a:p>
          <a:p>
            <a:pPr lvl="1">
              <a:defRPr/>
            </a:pPr>
            <a:r>
              <a:rPr lang="en-US" altLang="en-US" sz="2000">
                <a:latin typeface="Gill Sans MT" pitchFamily="34" charset="0"/>
              </a:rPr>
              <a:t>duplicate acks</a:t>
            </a:r>
          </a:p>
          <a:p>
            <a:pPr>
              <a:defRPr/>
            </a:pPr>
            <a:endParaRPr lang="en-US" altLang="en-US" sz="2400">
              <a:latin typeface="Gill Sans MT" pitchFamily="34" charset="0"/>
            </a:endParaRPr>
          </a:p>
          <a:p>
            <a:pPr>
              <a:defRPr/>
            </a:pPr>
            <a:endParaRPr lang="en-US" altLang="en-US" sz="2400">
              <a:latin typeface="Gill Sans MT" pitchFamily="34" charset="0"/>
            </a:endParaRPr>
          </a:p>
        </p:txBody>
      </p:sp>
      <p:sp>
        <p:nvSpPr>
          <p:cNvPr id="68614" name="Rectangle 4"/>
          <p:cNvSpPr>
            <a:spLocks noGrp="1" noChangeArrowheads="1"/>
          </p:cNvSpPr>
          <p:nvPr>
            <p:ph type="body" sz="half" idx="2"/>
          </p:nvPr>
        </p:nvSpPr>
        <p:spPr>
          <a:xfrm>
            <a:off x="6178551" y="2911476"/>
            <a:ext cx="3933825" cy="2119313"/>
          </a:xfrm>
        </p:spPr>
        <p:txBody>
          <a:bodyPr/>
          <a:lstStyle/>
          <a:p>
            <a:pPr>
              <a:buFont typeface="Wingdings" pitchFamily="2" charset="2"/>
              <a:buNone/>
              <a:defRPr/>
            </a:pPr>
            <a:r>
              <a:rPr lang="en-US" altLang="en-US" sz="2400">
                <a:latin typeface="Gill Sans MT" pitchFamily="34" charset="0"/>
              </a:rPr>
              <a:t>let</a:t>
            </a:r>
            <a:r>
              <a:rPr lang="ja-JP" altLang="en-US" sz="2400">
                <a:latin typeface="Gill Sans MT" pitchFamily="34" charset="0"/>
              </a:rPr>
              <a:t>’</a:t>
            </a:r>
            <a:r>
              <a:rPr lang="en-US" altLang="ja-JP" sz="2400">
                <a:latin typeface="Gill Sans MT" pitchFamily="34" charset="0"/>
              </a:rPr>
              <a:t>s initially consider simplified TCP sender</a:t>
            </a:r>
          </a:p>
        </p:txBody>
      </p:sp>
      <p:pic>
        <p:nvPicPr>
          <p:cNvPr id="8199" name="Picture 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0913" y="996950"/>
            <a:ext cx="5942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59950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61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61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613">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86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Sender </a:t>
            </a:r>
            <a:r>
              <a:rPr lang="en-US" sz="3600" dirty="0"/>
              <a:t>(simplified)</a:t>
            </a:r>
            <a:endParaRPr lang="en-US" sz="4400" b="0" dirty="0"/>
          </a:p>
        </p:txBody>
      </p:sp>
      <p:sp>
        <p:nvSpPr>
          <p:cNvPr id="6" name="Rectangle 3">
            <a:extLst>
              <a:ext uri="{FF2B5EF4-FFF2-40B4-BE49-F238E27FC236}">
                <a16:creationId xmlns:a16="http://schemas.microsoft.com/office/drawing/2014/main" id="{93E50F9F-34A2-434D-9CCF-7D058EEE958D}"/>
              </a:ext>
            </a:extLst>
          </p:cNvPr>
          <p:cNvSpPr txBox="1">
            <a:spLocks noChangeArrowheads="1"/>
          </p:cNvSpPr>
          <p:nvPr/>
        </p:nvSpPr>
        <p:spPr>
          <a:xfrm>
            <a:off x="798690" y="1384386"/>
            <a:ext cx="495300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event: data received from application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create segment with seq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seq # is byte-stream number of first data byte in  segment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start timer if not already running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think of timer as for oldest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segment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expiration interval: </a:t>
            </a:r>
            <a:r>
              <a:rPr kumimoji="0" lang="en-US" sz="2400" b="1" i="0" u="none" strike="noStrike" kern="1200" cap="none" spc="0" normalizeH="0" baseline="0" noProof="0" dirty="0" err="1">
                <a:ln>
                  <a:noFill/>
                </a:ln>
                <a:solidFill>
                  <a:prstClr val="black"/>
                </a:solidFill>
                <a:effectLst/>
                <a:uLnTx/>
                <a:uFillTx/>
                <a:latin typeface="Courier New" charset="0"/>
                <a:ea typeface="+mn-ea"/>
                <a:cs typeface="+mn-cs"/>
              </a:rPr>
              <a:t>TimeOutInterval</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a:extLst>
              <a:ext uri="{FF2B5EF4-FFF2-40B4-BE49-F238E27FC236}">
                <a16:creationId xmlns:a16="http://schemas.microsoft.com/office/drawing/2014/main" id="{DA35D0F5-641B-DD43-98AE-2CF2FD980706}"/>
              </a:ext>
            </a:extLst>
          </p:cNvPr>
          <p:cNvSpPr txBox="1">
            <a:spLocks noChangeArrowheads="1"/>
          </p:cNvSpPr>
          <p:nvPr/>
        </p:nvSpPr>
        <p:spPr>
          <a:xfrm>
            <a:off x="6728208" y="1446144"/>
            <a:ext cx="3810000" cy="1943100"/>
          </a:xfrm>
          <a:prstGeom prst="rect">
            <a:avLst/>
          </a:prstGeom>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000" b="0" i="1" u="none" strike="noStrike" kern="1200" cap="none" spc="0" normalizeH="0" baseline="0" noProof="0" dirty="0">
                <a:ln>
                  <a:noFill/>
                </a:ln>
                <a:solidFill>
                  <a:srgbClr val="CC0000"/>
                </a:solidFill>
                <a:effectLst/>
                <a:uLnTx/>
                <a:uFillTx/>
                <a:latin typeface="Calibri" panose="020F0502020204030204"/>
                <a:ea typeface="+mn-ea"/>
                <a:cs typeface="+mn-cs"/>
              </a:rPr>
              <a:t>event: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retransmit segment that caused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restart timer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8" name="Rectangle 4">
            <a:extLst>
              <a:ext uri="{FF2B5EF4-FFF2-40B4-BE49-F238E27FC236}">
                <a16:creationId xmlns:a16="http://schemas.microsoft.com/office/drawing/2014/main" id="{7626FEA2-2ED1-6640-83D4-E13C73302CE0}"/>
              </a:ext>
            </a:extLst>
          </p:cNvPr>
          <p:cNvSpPr txBox="1">
            <a:spLocks noChangeArrowheads="1"/>
          </p:cNvSpPr>
          <p:nvPr/>
        </p:nvSpPr>
        <p:spPr>
          <a:xfrm>
            <a:off x="6728208" y="3392552"/>
            <a:ext cx="4920453" cy="319377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event: ACK received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if ACK acknowledges previously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update what is known to be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start timer if there are  still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lide Number Placeholder 2">
            <a:extLst>
              <a:ext uri="{FF2B5EF4-FFF2-40B4-BE49-F238E27FC236}">
                <a16:creationId xmlns:a16="http://schemas.microsoft.com/office/drawing/2014/main" id="{F7A5BD9A-E49F-7E4D-A1AC-729448A7B15E}"/>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40</a:t>
            </a:fld>
            <a:endParaRPr lang="en-US" dirty="0"/>
          </a:p>
        </p:txBody>
      </p:sp>
    </p:spTree>
    <p:extLst>
      <p:ext uri="{BB962C8B-B14F-4D97-AF65-F5344CB8AC3E}">
        <p14:creationId xmlns:p14="http://schemas.microsoft.com/office/powerpoint/2010/main" val="422074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Oval 7"/>
          <p:cNvSpPr>
            <a:spLocks noChangeArrowheads="1"/>
          </p:cNvSpPr>
          <p:nvPr/>
        </p:nvSpPr>
        <p:spPr bwMode="auto">
          <a:xfrm>
            <a:off x="4421188" y="2730500"/>
            <a:ext cx="1071562" cy="971550"/>
          </a:xfrm>
          <a:prstGeom prst="ellipse">
            <a:avLst/>
          </a:pr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0244" name="Oval 6"/>
          <p:cNvSpPr>
            <a:spLocks noChangeArrowheads="1"/>
          </p:cNvSpPr>
          <p:nvPr/>
        </p:nvSpPr>
        <p:spPr bwMode="auto">
          <a:xfrm>
            <a:off x="4346576" y="2778125"/>
            <a:ext cx="1071563" cy="971550"/>
          </a:xfrm>
          <a:prstGeom prst="ellipse">
            <a:avLst/>
          </a:prstGeom>
          <a:solidFill>
            <a:schemeClr val="bg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68615" name="Rectangle 2"/>
          <p:cNvSpPr>
            <a:spLocks noGrp="1" noChangeArrowheads="1"/>
          </p:cNvSpPr>
          <p:nvPr>
            <p:ph type="title"/>
          </p:nvPr>
        </p:nvSpPr>
        <p:spPr>
          <a:xfrm>
            <a:off x="1898650" y="187326"/>
            <a:ext cx="7734300" cy="898525"/>
          </a:xfrm>
        </p:spPr>
        <p:txBody>
          <a:bodyPr/>
          <a:lstStyle/>
          <a:p>
            <a:pPr>
              <a:defRPr/>
            </a:pPr>
            <a:r>
              <a:rPr lang="en-US">
                <a:cs typeface="+mj-cs"/>
              </a:rPr>
              <a:t>TCP sender </a:t>
            </a:r>
            <a:r>
              <a:rPr lang="en-US" sz="3200"/>
              <a:t>(simplified)</a:t>
            </a:r>
            <a:endParaRPr lang="en-US">
              <a:cs typeface="+mj-cs"/>
            </a:endParaRPr>
          </a:p>
        </p:txBody>
      </p:sp>
      <p:sp>
        <p:nvSpPr>
          <p:cNvPr id="10246" name="Text Box 5"/>
          <p:cNvSpPr txBox="1">
            <a:spLocks noChangeArrowheads="1"/>
          </p:cNvSpPr>
          <p:nvPr/>
        </p:nvSpPr>
        <p:spPr bwMode="auto">
          <a:xfrm>
            <a:off x="4503738" y="2781300"/>
            <a:ext cx="7429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t>wait</a:t>
            </a:r>
          </a:p>
          <a:p>
            <a:pPr eaLnBrk="1" hangingPunct="1">
              <a:spcBef>
                <a:spcPct val="0"/>
              </a:spcBef>
              <a:buFontTx/>
              <a:buNone/>
            </a:pPr>
            <a:r>
              <a:rPr lang="en-US" altLang="en-US" sz="1800"/>
              <a:t>for </a:t>
            </a:r>
          </a:p>
          <a:p>
            <a:pPr eaLnBrk="1" hangingPunct="1">
              <a:spcBef>
                <a:spcPct val="0"/>
              </a:spcBef>
              <a:buFontTx/>
              <a:buNone/>
            </a:pPr>
            <a:r>
              <a:rPr lang="en-US" altLang="en-US" sz="1800"/>
              <a:t>event</a:t>
            </a:r>
          </a:p>
        </p:txBody>
      </p:sp>
      <p:sp>
        <p:nvSpPr>
          <p:cNvPr id="10247" name="Line 8"/>
          <p:cNvSpPr>
            <a:spLocks noChangeShapeType="1"/>
          </p:cNvSpPr>
          <p:nvPr/>
        </p:nvSpPr>
        <p:spPr bwMode="auto">
          <a:xfrm>
            <a:off x="3379788" y="2247901"/>
            <a:ext cx="1071562" cy="68897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248" name="Text Box 9"/>
          <p:cNvSpPr txBox="1">
            <a:spLocks noChangeArrowheads="1"/>
          </p:cNvSpPr>
          <p:nvPr/>
        </p:nvSpPr>
        <p:spPr bwMode="auto">
          <a:xfrm>
            <a:off x="1838325" y="2874963"/>
            <a:ext cx="25699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NextSeqNum = InitialSeqNum</a:t>
            </a:r>
          </a:p>
          <a:p>
            <a:pPr eaLnBrk="1" hangingPunct="1">
              <a:spcBef>
                <a:spcPct val="0"/>
              </a:spcBef>
              <a:buFontTx/>
              <a:buNone/>
            </a:pPr>
            <a:r>
              <a:rPr lang="en-US" altLang="en-US" sz="1400"/>
              <a:t>SendBase = InitialSeqNum</a:t>
            </a:r>
          </a:p>
        </p:txBody>
      </p:sp>
      <p:sp>
        <p:nvSpPr>
          <p:cNvPr id="10249" name="Line 10"/>
          <p:cNvSpPr>
            <a:spLocks noChangeShapeType="1"/>
          </p:cNvSpPr>
          <p:nvPr/>
        </p:nvSpPr>
        <p:spPr bwMode="auto">
          <a:xfrm>
            <a:off x="1941514" y="2889250"/>
            <a:ext cx="2179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50" name="Text Box 11"/>
          <p:cNvSpPr txBox="1">
            <a:spLocks noChangeArrowheads="1"/>
          </p:cNvSpPr>
          <p:nvPr/>
        </p:nvSpPr>
        <p:spPr bwMode="auto">
          <a:xfrm>
            <a:off x="2811463" y="2571751"/>
            <a:ext cx="341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Symbol" panose="05050102010706020507" pitchFamily="18" charset="2"/>
              </a:rPr>
              <a:t>L</a:t>
            </a:r>
          </a:p>
        </p:txBody>
      </p:sp>
      <p:grpSp>
        <p:nvGrpSpPr>
          <p:cNvPr id="10251" name="Group 23"/>
          <p:cNvGrpSpPr>
            <a:grpSpLocks/>
          </p:cNvGrpSpPr>
          <p:nvPr/>
        </p:nvGrpSpPr>
        <p:grpSpPr bwMode="auto">
          <a:xfrm>
            <a:off x="6129339" y="1333501"/>
            <a:ext cx="4251325" cy="1928813"/>
            <a:chOff x="3003" y="1263"/>
            <a:chExt cx="2678" cy="1215"/>
          </a:xfrm>
        </p:grpSpPr>
        <p:sp>
          <p:nvSpPr>
            <p:cNvPr id="10263" name="Text Box 12"/>
            <p:cNvSpPr txBox="1">
              <a:spLocks noChangeArrowheads="1"/>
            </p:cNvSpPr>
            <p:nvPr/>
          </p:nvSpPr>
          <p:spPr bwMode="auto">
            <a:xfrm>
              <a:off x="3019" y="1456"/>
              <a:ext cx="2662" cy="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lnSpc>
                  <a:spcPct val="105000"/>
                </a:lnSpc>
                <a:spcBef>
                  <a:spcPct val="0"/>
                </a:spcBef>
                <a:buFontTx/>
                <a:buNone/>
              </a:pPr>
              <a:r>
                <a:rPr lang="en-US" altLang="en-US" sz="1600">
                  <a:latin typeface="Tahoma" panose="020B0604030504040204" pitchFamily="34" charset="0"/>
                </a:rPr>
                <a:t>create segment, seq. #: NextSeqNum</a:t>
              </a:r>
            </a:p>
            <a:p>
              <a:pPr eaLnBrk="1" hangingPunct="1">
                <a:lnSpc>
                  <a:spcPct val="105000"/>
                </a:lnSpc>
                <a:spcBef>
                  <a:spcPct val="0"/>
                </a:spcBef>
                <a:buFontTx/>
                <a:buNone/>
              </a:pPr>
              <a:r>
                <a:rPr lang="en-US" altLang="en-US" sz="1600">
                  <a:latin typeface="Tahoma" panose="020B0604030504040204" pitchFamily="34" charset="0"/>
                </a:rPr>
                <a:t>pass segment to IP (i.e., </a:t>
              </a:r>
              <a:r>
                <a:rPr lang="ja-JP" altLang="en-US" sz="1600">
                  <a:latin typeface="Tahoma" panose="020B0604030504040204" pitchFamily="34" charset="0"/>
                </a:rPr>
                <a:t>“</a:t>
              </a:r>
              <a:r>
                <a:rPr lang="en-US" altLang="ja-JP" sz="1600">
                  <a:latin typeface="Tahoma" panose="020B0604030504040204" pitchFamily="34" charset="0"/>
                </a:rPr>
                <a:t>send</a:t>
              </a:r>
              <a:r>
                <a:rPr lang="ja-JP" altLang="en-US" sz="1600">
                  <a:latin typeface="Tahoma" panose="020B0604030504040204" pitchFamily="34" charset="0"/>
                </a:rPr>
                <a:t>”</a:t>
              </a:r>
              <a:r>
                <a:rPr lang="en-US" altLang="ja-JP" sz="1600">
                  <a:latin typeface="Tahoma" panose="020B0604030504040204" pitchFamily="34" charset="0"/>
                </a:rPr>
                <a:t>)</a:t>
              </a:r>
            </a:p>
            <a:p>
              <a:pPr eaLnBrk="1" hangingPunct="1">
                <a:lnSpc>
                  <a:spcPct val="105000"/>
                </a:lnSpc>
                <a:spcBef>
                  <a:spcPct val="0"/>
                </a:spcBef>
                <a:buFontTx/>
                <a:buNone/>
              </a:pPr>
              <a:r>
                <a:rPr lang="en-US" altLang="en-US" sz="1600">
                  <a:latin typeface="Tahoma" panose="020B0604030504040204" pitchFamily="34" charset="0"/>
                </a:rPr>
                <a:t>NextSeqNum = NextSeqNum + length(data) </a:t>
              </a:r>
            </a:p>
            <a:p>
              <a:pPr eaLnBrk="1" hangingPunct="1">
                <a:lnSpc>
                  <a:spcPct val="105000"/>
                </a:lnSpc>
                <a:spcBef>
                  <a:spcPct val="0"/>
                </a:spcBef>
                <a:buFontTx/>
                <a:buNone/>
              </a:pPr>
              <a:r>
                <a:rPr lang="en-US" altLang="en-US" sz="1600">
                  <a:latin typeface="Tahoma" panose="020B0604030504040204" pitchFamily="34" charset="0"/>
                </a:rPr>
                <a:t>if (timer currently not running)</a:t>
              </a:r>
            </a:p>
            <a:p>
              <a:pPr eaLnBrk="1" hangingPunct="1">
                <a:lnSpc>
                  <a:spcPct val="105000"/>
                </a:lnSpc>
                <a:spcBef>
                  <a:spcPct val="0"/>
                </a:spcBef>
                <a:buFontTx/>
                <a:buNone/>
              </a:pPr>
              <a:r>
                <a:rPr lang="en-US" altLang="en-US" sz="1600">
                  <a:latin typeface="Tahoma" panose="020B0604030504040204" pitchFamily="34" charset="0"/>
                </a:rPr>
                <a:t>    start timer</a:t>
              </a:r>
            </a:p>
            <a:p>
              <a:pPr eaLnBrk="1" hangingPunct="1">
                <a:spcBef>
                  <a:spcPct val="0"/>
                </a:spcBef>
                <a:buFontTx/>
                <a:buNone/>
              </a:pPr>
              <a:r>
                <a:rPr lang="en-US" altLang="en-US" sz="1600">
                  <a:latin typeface="Tahoma" panose="020B0604030504040204" pitchFamily="34" charset="0"/>
                </a:rPr>
                <a:t>                 </a:t>
              </a:r>
            </a:p>
          </p:txBody>
        </p:sp>
        <p:sp>
          <p:nvSpPr>
            <p:cNvPr id="10264" name="Text Box 13"/>
            <p:cNvSpPr txBox="1">
              <a:spLocks noChangeArrowheads="1"/>
            </p:cNvSpPr>
            <p:nvPr/>
          </p:nvSpPr>
          <p:spPr bwMode="auto">
            <a:xfrm>
              <a:off x="3003" y="1263"/>
              <a:ext cx="2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data received from application above</a:t>
              </a:r>
            </a:p>
          </p:txBody>
        </p:sp>
        <p:sp>
          <p:nvSpPr>
            <p:cNvPr id="10265" name="Line 15"/>
            <p:cNvSpPr>
              <a:spLocks noChangeShapeType="1"/>
            </p:cNvSpPr>
            <p:nvPr/>
          </p:nvSpPr>
          <p:spPr bwMode="auto">
            <a:xfrm>
              <a:off x="3081" y="1490"/>
              <a:ext cx="17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0252" name="Group 20"/>
          <p:cNvGrpSpPr>
            <a:grpSpLocks/>
          </p:cNvGrpSpPr>
          <p:nvPr/>
        </p:nvGrpSpPr>
        <p:grpSpPr bwMode="auto">
          <a:xfrm>
            <a:off x="6329364" y="3406776"/>
            <a:ext cx="3298825" cy="1147763"/>
            <a:chOff x="1270" y="3518"/>
            <a:chExt cx="2078" cy="723"/>
          </a:xfrm>
        </p:grpSpPr>
        <p:sp>
          <p:nvSpPr>
            <p:cNvPr id="10260" name="Text Box 16"/>
            <p:cNvSpPr txBox="1">
              <a:spLocks noChangeArrowheads="1"/>
            </p:cNvSpPr>
            <p:nvPr/>
          </p:nvSpPr>
          <p:spPr bwMode="auto">
            <a:xfrm>
              <a:off x="1275" y="3721"/>
              <a:ext cx="2073"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retransmit not-yet-acked segment         	with smallest seq. #</a:t>
              </a:r>
            </a:p>
            <a:p>
              <a:pPr eaLnBrk="1" hangingPunct="1">
                <a:spcBef>
                  <a:spcPct val="0"/>
                </a:spcBef>
                <a:buFontTx/>
                <a:buNone/>
              </a:pPr>
              <a:r>
                <a:rPr lang="en-US" altLang="en-US" sz="1600">
                  <a:latin typeface="Tahoma" panose="020B0604030504040204" pitchFamily="34" charset="0"/>
                </a:rPr>
                <a:t>start timer</a:t>
              </a:r>
            </a:p>
          </p:txBody>
        </p:sp>
        <p:sp>
          <p:nvSpPr>
            <p:cNvPr id="10261" name="Text Box 17"/>
            <p:cNvSpPr txBox="1">
              <a:spLocks noChangeArrowheads="1"/>
            </p:cNvSpPr>
            <p:nvPr/>
          </p:nvSpPr>
          <p:spPr bwMode="auto">
            <a:xfrm>
              <a:off x="1270" y="3518"/>
              <a:ext cx="54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timeout</a:t>
              </a:r>
            </a:p>
          </p:txBody>
        </p:sp>
        <p:sp>
          <p:nvSpPr>
            <p:cNvPr id="10262" name="Line 18"/>
            <p:cNvSpPr>
              <a:spLocks noChangeShapeType="1"/>
            </p:cNvSpPr>
            <p:nvPr/>
          </p:nvSpPr>
          <p:spPr bwMode="auto">
            <a:xfrm>
              <a:off x="1342" y="3741"/>
              <a:ext cx="18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0253" name="Group 24"/>
          <p:cNvGrpSpPr>
            <a:grpSpLocks/>
          </p:cNvGrpSpPr>
          <p:nvPr/>
        </p:nvGrpSpPr>
        <p:grpSpPr bwMode="auto">
          <a:xfrm>
            <a:off x="2476501" y="4513263"/>
            <a:ext cx="4735513" cy="1947862"/>
            <a:chOff x="678" y="2592"/>
            <a:chExt cx="2983" cy="1227"/>
          </a:xfrm>
        </p:grpSpPr>
        <p:sp>
          <p:nvSpPr>
            <p:cNvPr id="10257" name="Text Box 3"/>
            <p:cNvSpPr txBox="1">
              <a:spLocks noChangeArrowheads="1"/>
            </p:cNvSpPr>
            <p:nvPr/>
          </p:nvSpPr>
          <p:spPr bwMode="auto">
            <a:xfrm>
              <a:off x="678" y="2830"/>
              <a:ext cx="2983"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if (y &gt; SendBase) { </a:t>
              </a:r>
            </a:p>
            <a:p>
              <a:pPr eaLnBrk="1" hangingPunct="1">
                <a:spcBef>
                  <a:spcPct val="0"/>
                </a:spcBef>
                <a:buFontTx/>
                <a:buNone/>
              </a:pPr>
              <a:r>
                <a:rPr lang="en-US" altLang="en-US" sz="1600"/>
                <a:t>    SendBase = y </a:t>
              </a:r>
            </a:p>
            <a:p>
              <a:pPr eaLnBrk="1" hangingPunct="1">
                <a:spcBef>
                  <a:spcPct val="0"/>
                </a:spcBef>
                <a:buFontTx/>
                <a:buNone/>
              </a:pPr>
              <a:r>
                <a:rPr lang="en-US" altLang="en-US" sz="1600"/>
                <a:t>    /* SendBase–1: last cumulatively ACKed byte */</a:t>
              </a:r>
            </a:p>
            <a:p>
              <a:pPr eaLnBrk="1" hangingPunct="1">
                <a:spcBef>
                  <a:spcPct val="0"/>
                </a:spcBef>
                <a:buFontTx/>
                <a:buNone/>
              </a:pPr>
              <a:r>
                <a:rPr lang="en-US" altLang="en-US" sz="1600"/>
                <a:t>    if (there are currently not-yet-acked segments)</a:t>
              </a:r>
            </a:p>
            <a:p>
              <a:pPr eaLnBrk="1" hangingPunct="1">
                <a:spcBef>
                  <a:spcPct val="0"/>
                </a:spcBef>
                <a:buFontTx/>
                <a:buNone/>
              </a:pPr>
              <a:r>
                <a:rPr lang="en-US" altLang="en-US" sz="1600"/>
                <a:t>         start timer </a:t>
              </a:r>
            </a:p>
            <a:p>
              <a:pPr eaLnBrk="1" hangingPunct="1">
                <a:spcBef>
                  <a:spcPct val="0"/>
                </a:spcBef>
                <a:buFontTx/>
                <a:buNone/>
              </a:pPr>
              <a:r>
                <a:rPr lang="en-US" altLang="en-US" sz="1600"/>
                <a:t>     } </a:t>
              </a:r>
            </a:p>
          </p:txBody>
        </p:sp>
        <p:sp>
          <p:nvSpPr>
            <p:cNvPr id="10258" name="Text Box 21"/>
            <p:cNvSpPr txBox="1">
              <a:spLocks noChangeArrowheads="1"/>
            </p:cNvSpPr>
            <p:nvPr/>
          </p:nvSpPr>
          <p:spPr bwMode="auto">
            <a:xfrm>
              <a:off x="705" y="2592"/>
              <a:ext cx="22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ACK received, with ACK field value y </a:t>
              </a:r>
            </a:p>
          </p:txBody>
        </p:sp>
        <p:sp>
          <p:nvSpPr>
            <p:cNvPr id="10259" name="Line 22"/>
            <p:cNvSpPr>
              <a:spLocks noChangeShapeType="1"/>
            </p:cNvSpPr>
            <p:nvPr/>
          </p:nvSpPr>
          <p:spPr bwMode="auto">
            <a:xfrm>
              <a:off x="748" y="2815"/>
              <a:ext cx="20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0254" name="Freeform 26"/>
          <p:cNvSpPr>
            <a:spLocks/>
          </p:cNvSpPr>
          <p:nvPr/>
        </p:nvSpPr>
        <p:spPr bwMode="auto">
          <a:xfrm>
            <a:off x="5173664" y="1644650"/>
            <a:ext cx="1254125" cy="1258888"/>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 name="T9" fmla="*/ 0 w 1052"/>
              <a:gd name="T10" fmla="*/ 0 h 990"/>
              <a:gd name="T11" fmla="*/ 1052 w 1052"/>
              <a:gd name="T12" fmla="*/ 990 h 990"/>
            </a:gdLst>
            <a:ahLst/>
            <a:cxnLst>
              <a:cxn ang="T6">
                <a:pos x="T0" y="T1"/>
              </a:cxn>
              <a:cxn ang="T7">
                <a:pos x="T2" y="T3"/>
              </a:cxn>
              <a:cxn ang="T8">
                <a:pos x="T4" y="T5"/>
              </a:cxn>
            </a:cxnLst>
            <a:rect l="T9" t="T10" r="T11" b="T12"/>
            <a:pathLst>
              <a:path w="1052" h="990">
                <a:moveTo>
                  <a:pt x="26" y="825"/>
                </a:moveTo>
                <a:cubicBezTo>
                  <a:pt x="0" y="569"/>
                  <a:pt x="98" y="0"/>
                  <a:pt x="575" y="386"/>
                </a:cubicBezTo>
                <a:cubicBezTo>
                  <a:pt x="1052" y="772"/>
                  <a:pt x="404" y="968"/>
                  <a:pt x="208" y="990"/>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10255" name="Freeform 27"/>
          <p:cNvSpPr>
            <a:spLocks/>
          </p:cNvSpPr>
          <p:nvPr/>
        </p:nvSpPr>
        <p:spPr bwMode="auto">
          <a:xfrm rot="4468137">
            <a:off x="5496720" y="3117058"/>
            <a:ext cx="1254125" cy="1258887"/>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 name="T9" fmla="*/ 0 w 1052"/>
              <a:gd name="T10" fmla="*/ 0 h 990"/>
              <a:gd name="T11" fmla="*/ 1052 w 1052"/>
              <a:gd name="T12" fmla="*/ 990 h 990"/>
            </a:gdLst>
            <a:ahLst/>
            <a:cxnLst>
              <a:cxn ang="T6">
                <a:pos x="T0" y="T1"/>
              </a:cxn>
              <a:cxn ang="T7">
                <a:pos x="T2" y="T3"/>
              </a:cxn>
              <a:cxn ang="T8">
                <a:pos x="T4" y="T5"/>
              </a:cxn>
            </a:cxnLst>
            <a:rect l="T9" t="T10" r="T11" b="T12"/>
            <a:pathLst>
              <a:path w="1052" h="990">
                <a:moveTo>
                  <a:pt x="26" y="825"/>
                </a:moveTo>
                <a:cubicBezTo>
                  <a:pt x="0" y="569"/>
                  <a:pt x="98" y="0"/>
                  <a:pt x="575" y="386"/>
                </a:cubicBezTo>
                <a:cubicBezTo>
                  <a:pt x="1052" y="772"/>
                  <a:pt x="404" y="968"/>
                  <a:pt x="208" y="990"/>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10256" name="Freeform 28"/>
          <p:cNvSpPr>
            <a:spLocks/>
          </p:cNvSpPr>
          <p:nvPr/>
        </p:nvSpPr>
        <p:spPr bwMode="auto">
          <a:xfrm rot="10674503">
            <a:off x="3438526" y="3616325"/>
            <a:ext cx="1254125" cy="1258888"/>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 name="T9" fmla="*/ 0 w 1052"/>
              <a:gd name="T10" fmla="*/ 0 h 990"/>
              <a:gd name="T11" fmla="*/ 1052 w 1052"/>
              <a:gd name="T12" fmla="*/ 990 h 990"/>
            </a:gdLst>
            <a:ahLst/>
            <a:cxnLst>
              <a:cxn ang="T6">
                <a:pos x="T0" y="T1"/>
              </a:cxn>
              <a:cxn ang="T7">
                <a:pos x="T2" y="T3"/>
              </a:cxn>
              <a:cxn ang="T8">
                <a:pos x="T4" y="T5"/>
              </a:cxn>
            </a:cxnLst>
            <a:rect l="T9" t="T10" r="T11" b="T12"/>
            <a:pathLst>
              <a:path w="1052" h="990">
                <a:moveTo>
                  <a:pt x="26" y="825"/>
                </a:moveTo>
                <a:cubicBezTo>
                  <a:pt x="0" y="569"/>
                  <a:pt x="98" y="0"/>
                  <a:pt x="575" y="386"/>
                </a:cubicBezTo>
                <a:cubicBezTo>
                  <a:pt x="1052" y="772"/>
                  <a:pt x="404" y="968"/>
                  <a:pt x="208" y="990"/>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Tree>
    <p:extLst>
      <p:ext uri="{BB962C8B-B14F-4D97-AF65-F5344CB8AC3E}">
        <p14:creationId xmlns:p14="http://schemas.microsoft.com/office/powerpoint/2010/main" val="3156638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7"/>
          <p:cNvSpPr>
            <a:spLocks noGrp="1" noChangeArrowheads="1"/>
          </p:cNvSpPr>
          <p:nvPr>
            <p:ph type="title"/>
          </p:nvPr>
        </p:nvSpPr>
        <p:spPr>
          <a:xfrm>
            <a:off x="2000250" y="238126"/>
            <a:ext cx="7772400" cy="904875"/>
          </a:xfrm>
        </p:spPr>
        <p:txBody>
          <a:bodyPr/>
          <a:lstStyle/>
          <a:p>
            <a:pPr>
              <a:defRPr/>
            </a:pPr>
            <a:r>
              <a:rPr lang="en-US" sz="4000"/>
              <a:t>TCP: retransmission scenarios</a:t>
            </a:r>
            <a:endParaRPr lang="en-US">
              <a:cs typeface="+mj-cs"/>
            </a:endParaRPr>
          </a:p>
        </p:txBody>
      </p:sp>
      <p:sp>
        <p:nvSpPr>
          <p:cNvPr id="11267" name="Text Box 105"/>
          <p:cNvSpPr txBox="1">
            <a:spLocks noChangeArrowheads="1"/>
          </p:cNvSpPr>
          <p:nvPr/>
        </p:nvSpPr>
        <p:spPr bwMode="auto">
          <a:xfrm>
            <a:off x="2806701" y="5946776"/>
            <a:ext cx="19224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ahoma" panose="020B0604030504040204" pitchFamily="34" charset="0"/>
              </a:rPr>
              <a:t>lost ACK scenario</a:t>
            </a:r>
            <a:endParaRPr lang="en-US" altLang="en-US" sz="1000">
              <a:latin typeface="Tahoma" panose="020B0604030504040204" pitchFamily="34" charset="0"/>
            </a:endParaRPr>
          </a:p>
        </p:txBody>
      </p:sp>
      <p:sp>
        <p:nvSpPr>
          <p:cNvPr id="11268" name="Line 99"/>
          <p:cNvSpPr>
            <a:spLocks noChangeShapeType="1"/>
          </p:cNvSpPr>
          <p:nvPr/>
        </p:nvSpPr>
        <p:spPr bwMode="auto">
          <a:xfrm>
            <a:off x="2589214" y="4184651"/>
            <a:ext cx="2351087" cy="506413"/>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69" name="Line 100"/>
          <p:cNvSpPr>
            <a:spLocks noChangeShapeType="1"/>
          </p:cNvSpPr>
          <p:nvPr/>
        </p:nvSpPr>
        <p:spPr bwMode="auto">
          <a:xfrm>
            <a:off x="2601914" y="2416175"/>
            <a:ext cx="234632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0" name="Line 104"/>
          <p:cNvSpPr>
            <a:spLocks noChangeShapeType="1"/>
          </p:cNvSpPr>
          <p:nvPr/>
        </p:nvSpPr>
        <p:spPr bwMode="auto">
          <a:xfrm flipH="1">
            <a:off x="3638551" y="3078164"/>
            <a:ext cx="1273175" cy="42703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1" name="Text Box 107"/>
          <p:cNvSpPr txBox="1">
            <a:spLocks noChangeArrowheads="1"/>
          </p:cNvSpPr>
          <p:nvPr/>
        </p:nvSpPr>
        <p:spPr bwMode="auto">
          <a:xfrm>
            <a:off x="4540251" y="1257300"/>
            <a:ext cx="7731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B</a:t>
            </a:r>
          </a:p>
        </p:txBody>
      </p:sp>
      <p:sp>
        <p:nvSpPr>
          <p:cNvPr id="11272" name="Text Box 111"/>
          <p:cNvSpPr txBox="1">
            <a:spLocks noChangeArrowheads="1"/>
          </p:cNvSpPr>
          <p:nvPr/>
        </p:nvSpPr>
        <p:spPr bwMode="auto">
          <a:xfrm>
            <a:off x="2206625" y="1274763"/>
            <a:ext cx="776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A</a:t>
            </a:r>
          </a:p>
        </p:txBody>
      </p:sp>
      <p:sp>
        <p:nvSpPr>
          <p:cNvPr id="11273" name="Rectangle 112"/>
          <p:cNvSpPr>
            <a:spLocks noChangeArrowheads="1"/>
          </p:cNvSpPr>
          <p:nvPr/>
        </p:nvSpPr>
        <p:spPr bwMode="auto">
          <a:xfrm>
            <a:off x="3305175" y="2497139"/>
            <a:ext cx="869950"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274" name="Text Box 113"/>
          <p:cNvSpPr txBox="1">
            <a:spLocks noChangeArrowheads="1"/>
          </p:cNvSpPr>
          <p:nvPr/>
        </p:nvSpPr>
        <p:spPr bwMode="auto">
          <a:xfrm>
            <a:off x="2746376" y="2549526"/>
            <a:ext cx="21066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Seq=92, 8 bytes of data</a:t>
            </a:r>
          </a:p>
        </p:txBody>
      </p:sp>
      <p:sp>
        <p:nvSpPr>
          <p:cNvPr id="11275" name="Rectangle 114"/>
          <p:cNvSpPr>
            <a:spLocks noChangeArrowheads="1"/>
          </p:cNvSpPr>
          <p:nvPr/>
        </p:nvSpPr>
        <p:spPr bwMode="auto">
          <a:xfrm>
            <a:off x="3873501" y="3163888"/>
            <a:ext cx="747713"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276" name="Text Box 115"/>
          <p:cNvSpPr txBox="1">
            <a:spLocks noChangeArrowheads="1"/>
          </p:cNvSpPr>
          <p:nvPr/>
        </p:nvSpPr>
        <p:spPr bwMode="auto">
          <a:xfrm>
            <a:off x="3794126" y="3119438"/>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ACK=100</a:t>
            </a:r>
            <a:endParaRPr lang="en-US" altLang="en-US" sz="1000">
              <a:latin typeface="Times New Roman" panose="02020603050405020304" pitchFamily="18" charset="0"/>
            </a:endParaRPr>
          </a:p>
        </p:txBody>
      </p:sp>
      <p:sp>
        <p:nvSpPr>
          <p:cNvPr id="11277" name="Line 118"/>
          <p:cNvSpPr>
            <a:spLocks noChangeShapeType="1"/>
          </p:cNvSpPr>
          <p:nvPr/>
        </p:nvSpPr>
        <p:spPr bwMode="auto">
          <a:xfrm>
            <a:off x="2581275" y="2174875"/>
            <a:ext cx="0" cy="35258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278" name="Line 119"/>
          <p:cNvSpPr>
            <a:spLocks noChangeShapeType="1"/>
          </p:cNvSpPr>
          <p:nvPr/>
        </p:nvSpPr>
        <p:spPr bwMode="auto">
          <a:xfrm>
            <a:off x="5008563" y="2170114"/>
            <a:ext cx="0" cy="35385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279" name="Rectangle 122"/>
          <p:cNvSpPr>
            <a:spLocks noChangeArrowheads="1"/>
          </p:cNvSpPr>
          <p:nvPr/>
        </p:nvSpPr>
        <p:spPr bwMode="auto">
          <a:xfrm>
            <a:off x="3198813" y="4178301"/>
            <a:ext cx="989012" cy="430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280" name="Text Box 123"/>
          <p:cNvSpPr txBox="1">
            <a:spLocks noChangeArrowheads="1"/>
          </p:cNvSpPr>
          <p:nvPr/>
        </p:nvSpPr>
        <p:spPr bwMode="auto">
          <a:xfrm>
            <a:off x="2735264" y="4259264"/>
            <a:ext cx="21066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Seq=92, 8 bytes of data</a:t>
            </a:r>
          </a:p>
        </p:txBody>
      </p:sp>
      <p:sp>
        <p:nvSpPr>
          <p:cNvPr id="11281" name="Text Box 124"/>
          <p:cNvSpPr txBox="1">
            <a:spLocks noChangeArrowheads="1"/>
          </p:cNvSpPr>
          <p:nvPr/>
        </p:nvSpPr>
        <p:spPr bwMode="auto">
          <a:xfrm>
            <a:off x="3427414" y="3309939"/>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b="1">
                <a:solidFill>
                  <a:srgbClr val="FF0000"/>
                </a:solidFill>
                <a:latin typeface="Tahoma" panose="020B0604030504040204" pitchFamily="34" charset="0"/>
              </a:rPr>
              <a:t>X</a:t>
            </a:r>
          </a:p>
        </p:txBody>
      </p:sp>
      <p:sp>
        <p:nvSpPr>
          <p:cNvPr id="11282" name="Text Box 126"/>
          <p:cNvSpPr txBox="1">
            <a:spLocks noChangeArrowheads="1"/>
          </p:cNvSpPr>
          <p:nvPr/>
        </p:nvSpPr>
        <p:spPr bwMode="auto">
          <a:xfrm rot="10800000">
            <a:off x="2206596" y="2960820"/>
            <a:ext cx="400110" cy="69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timeout</a:t>
            </a:r>
          </a:p>
        </p:txBody>
      </p:sp>
      <p:sp>
        <p:nvSpPr>
          <p:cNvPr id="11283" name="Line 127"/>
          <p:cNvSpPr>
            <a:spLocks noChangeShapeType="1"/>
          </p:cNvSpPr>
          <p:nvPr/>
        </p:nvSpPr>
        <p:spPr bwMode="auto">
          <a:xfrm flipH="1">
            <a:off x="2578100" y="4776789"/>
            <a:ext cx="2338388" cy="78263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84" name="Rectangle 128"/>
          <p:cNvSpPr>
            <a:spLocks noChangeArrowheads="1"/>
          </p:cNvSpPr>
          <p:nvPr/>
        </p:nvSpPr>
        <p:spPr bwMode="auto">
          <a:xfrm>
            <a:off x="3411538" y="5033963"/>
            <a:ext cx="747712"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9237" name="Text Box 129"/>
          <p:cNvSpPr txBox="1">
            <a:spLocks noChangeArrowheads="1"/>
          </p:cNvSpPr>
          <p:nvPr/>
        </p:nvSpPr>
        <p:spPr bwMode="auto">
          <a:xfrm>
            <a:off x="3332164" y="4989513"/>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ACK=100</a:t>
            </a:r>
            <a:endParaRPr lang="en-US" altLang="en-US" sz="1000">
              <a:latin typeface="Times New Roman" panose="02020603050405020304" pitchFamily="18" charset="0"/>
            </a:endParaRPr>
          </a:p>
        </p:txBody>
      </p:sp>
      <p:grpSp>
        <p:nvGrpSpPr>
          <p:cNvPr id="11286" name="Group 134"/>
          <p:cNvGrpSpPr>
            <a:grpSpLocks/>
          </p:cNvGrpSpPr>
          <p:nvPr/>
        </p:nvGrpSpPr>
        <p:grpSpPr bwMode="auto">
          <a:xfrm>
            <a:off x="2349501" y="2420938"/>
            <a:ext cx="104775" cy="508000"/>
            <a:chOff x="3099" y="1749"/>
            <a:chExt cx="66" cy="320"/>
          </a:xfrm>
        </p:grpSpPr>
        <p:sp>
          <p:nvSpPr>
            <p:cNvPr id="11340" name="Line 132"/>
            <p:cNvSpPr>
              <a:spLocks noChangeShapeType="1"/>
            </p:cNvSpPr>
            <p:nvPr/>
          </p:nvSpPr>
          <p:spPr bwMode="auto">
            <a:xfrm flipV="1">
              <a:off x="3129"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341" name="Line 133"/>
            <p:cNvSpPr>
              <a:spLocks noChangeShapeType="1"/>
            </p:cNvSpPr>
            <p:nvPr/>
          </p:nvSpPr>
          <p:spPr bwMode="auto">
            <a:xfrm>
              <a:off x="3099"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1287" name="Group 135"/>
          <p:cNvGrpSpPr>
            <a:grpSpLocks/>
          </p:cNvGrpSpPr>
          <p:nvPr/>
        </p:nvGrpSpPr>
        <p:grpSpPr bwMode="auto">
          <a:xfrm rot="10800000">
            <a:off x="2344739" y="3663950"/>
            <a:ext cx="104775" cy="508000"/>
            <a:chOff x="3099" y="1749"/>
            <a:chExt cx="66" cy="320"/>
          </a:xfrm>
        </p:grpSpPr>
        <p:sp>
          <p:nvSpPr>
            <p:cNvPr id="11338" name="Line 136"/>
            <p:cNvSpPr>
              <a:spLocks noChangeShapeType="1"/>
            </p:cNvSpPr>
            <p:nvPr/>
          </p:nvSpPr>
          <p:spPr bwMode="auto">
            <a:xfrm flipV="1">
              <a:off x="3132" y="1752"/>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339" name="Line 137"/>
            <p:cNvSpPr>
              <a:spLocks noChangeShapeType="1"/>
            </p:cNvSpPr>
            <p:nvPr/>
          </p:nvSpPr>
          <p:spPr bwMode="auto">
            <a:xfrm>
              <a:off x="3102" y="1755"/>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9481" name="Text Box 172"/>
          <p:cNvSpPr txBox="1">
            <a:spLocks noChangeArrowheads="1"/>
          </p:cNvSpPr>
          <p:nvPr/>
        </p:nvSpPr>
        <p:spPr bwMode="auto">
          <a:xfrm>
            <a:off x="7469189" y="5953126"/>
            <a:ext cx="2073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ahoma" panose="020B0604030504040204" pitchFamily="34" charset="0"/>
              </a:rPr>
              <a:t>premature timeout</a:t>
            </a:r>
            <a:endParaRPr lang="en-US" altLang="en-US" sz="1000">
              <a:latin typeface="Tahoma" panose="020B0604030504040204" pitchFamily="34" charset="0"/>
            </a:endParaRPr>
          </a:p>
        </p:txBody>
      </p:sp>
      <p:sp>
        <p:nvSpPr>
          <p:cNvPr id="19482" name="Line 173"/>
          <p:cNvSpPr>
            <a:spLocks noChangeShapeType="1"/>
          </p:cNvSpPr>
          <p:nvPr/>
        </p:nvSpPr>
        <p:spPr bwMode="auto">
          <a:xfrm>
            <a:off x="7305676" y="4191001"/>
            <a:ext cx="2441575" cy="665163"/>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83" name="Line 174"/>
          <p:cNvSpPr>
            <a:spLocks noChangeShapeType="1"/>
          </p:cNvSpPr>
          <p:nvPr/>
        </p:nvSpPr>
        <p:spPr bwMode="auto">
          <a:xfrm>
            <a:off x="7339014" y="2422525"/>
            <a:ext cx="234632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84" name="Line 175"/>
          <p:cNvSpPr>
            <a:spLocks noChangeShapeType="1"/>
          </p:cNvSpPr>
          <p:nvPr/>
        </p:nvSpPr>
        <p:spPr bwMode="auto">
          <a:xfrm flipH="1">
            <a:off x="7313613" y="3084514"/>
            <a:ext cx="2335212" cy="158908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85" name="Text Box 177"/>
          <p:cNvSpPr txBox="1">
            <a:spLocks noChangeArrowheads="1"/>
          </p:cNvSpPr>
          <p:nvPr/>
        </p:nvSpPr>
        <p:spPr bwMode="auto">
          <a:xfrm>
            <a:off x="9277351" y="1263650"/>
            <a:ext cx="7731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B</a:t>
            </a:r>
          </a:p>
        </p:txBody>
      </p:sp>
      <p:sp>
        <p:nvSpPr>
          <p:cNvPr id="19486" name="Text Box 181"/>
          <p:cNvSpPr txBox="1">
            <a:spLocks noChangeArrowheads="1"/>
          </p:cNvSpPr>
          <p:nvPr/>
        </p:nvSpPr>
        <p:spPr bwMode="auto">
          <a:xfrm>
            <a:off x="6943725" y="1281113"/>
            <a:ext cx="776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A</a:t>
            </a:r>
          </a:p>
        </p:txBody>
      </p:sp>
      <p:sp>
        <p:nvSpPr>
          <p:cNvPr id="19487" name="Rectangle 182"/>
          <p:cNvSpPr>
            <a:spLocks noChangeArrowheads="1"/>
          </p:cNvSpPr>
          <p:nvPr/>
        </p:nvSpPr>
        <p:spPr bwMode="auto">
          <a:xfrm>
            <a:off x="8042275" y="2503489"/>
            <a:ext cx="869950"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488" name="Text Box 183"/>
          <p:cNvSpPr txBox="1">
            <a:spLocks noChangeArrowheads="1"/>
          </p:cNvSpPr>
          <p:nvPr/>
        </p:nvSpPr>
        <p:spPr bwMode="auto">
          <a:xfrm>
            <a:off x="7483476" y="2555876"/>
            <a:ext cx="21066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Seq=92, 8 bytes of data</a:t>
            </a:r>
          </a:p>
        </p:txBody>
      </p:sp>
      <p:grpSp>
        <p:nvGrpSpPr>
          <p:cNvPr id="19489" name="Group 202"/>
          <p:cNvGrpSpPr>
            <a:grpSpLocks/>
          </p:cNvGrpSpPr>
          <p:nvPr/>
        </p:nvGrpSpPr>
        <p:grpSpPr bwMode="auto">
          <a:xfrm>
            <a:off x="8215314" y="3576638"/>
            <a:ext cx="949325" cy="304800"/>
            <a:chOff x="4215" y="2253"/>
            <a:chExt cx="598" cy="192"/>
          </a:xfrm>
        </p:grpSpPr>
        <p:sp>
          <p:nvSpPr>
            <p:cNvPr id="11336" name="Rectangle 184"/>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337" name="Text Box 185"/>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ACK=100</a:t>
              </a:r>
              <a:endParaRPr lang="en-US" altLang="en-US" sz="1000">
                <a:latin typeface="Times New Roman" panose="02020603050405020304" pitchFamily="18" charset="0"/>
              </a:endParaRPr>
            </a:p>
          </p:txBody>
        </p:sp>
      </p:grpSp>
      <p:sp>
        <p:nvSpPr>
          <p:cNvPr id="19490" name="Line 186"/>
          <p:cNvSpPr>
            <a:spLocks noChangeShapeType="1"/>
          </p:cNvSpPr>
          <p:nvPr/>
        </p:nvSpPr>
        <p:spPr bwMode="auto">
          <a:xfrm>
            <a:off x="7318375" y="2181225"/>
            <a:ext cx="0" cy="35258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491" name="Line 187"/>
          <p:cNvSpPr>
            <a:spLocks noChangeShapeType="1"/>
          </p:cNvSpPr>
          <p:nvPr/>
        </p:nvSpPr>
        <p:spPr bwMode="auto">
          <a:xfrm>
            <a:off x="9723438" y="2176464"/>
            <a:ext cx="0" cy="35385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492" name="Rectangle 188"/>
          <p:cNvSpPr>
            <a:spLocks noChangeArrowheads="1"/>
          </p:cNvSpPr>
          <p:nvPr/>
        </p:nvSpPr>
        <p:spPr bwMode="auto">
          <a:xfrm>
            <a:off x="8331201" y="4308475"/>
            <a:ext cx="1057275" cy="50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493" name="Text Box 189"/>
          <p:cNvSpPr txBox="1">
            <a:spLocks noChangeArrowheads="1"/>
          </p:cNvSpPr>
          <p:nvPr/>
        </p:nvSpPr>
        <p:spPr bwMode="auto">
          <a:xfrm>
            <a:off x="8251825" y="4341813"/>
            <a:ext cx="12230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Seq=92,  8</a:t>
            </a:r>
          </a:p>
          <a:p>
            <a:pPr eaLnBrk="1" hangingPunct="1">
              <a:spcBef>
                <a:spcPct val="0"/>
              </a:spcBef>
              <a:buFontTx/>
              <a:buNone/>
            </a:pPr>
            <a:r>
              <a:rPr lang="en-US" altLang="en-US" sz="1400">
                <a:latin typeface="Tahoma" panose="020B0604030504040204" pitchFamily="34" charset="0"/>
              </a:rPr>
              <a:t>bytes of data</a:t>
            </a:r>
          </a:p>
        </p:txBody>
      </p:sp>
      <p:sp>
        <p:nvSpPr>
          <p:cNvPr id="19494" name="Text Box 191"/>
          <p:cNvSpPr txBox="1">
            <a:spLocks noChangeArrowheads="1"/>
          </p:cNvSpPr>
          <p:nvPr/>
        </p:nvSpPr>
        <p:spPr bwMode="auto">
          <a:xfrm rot="10800000">
            <a:off x="6943696" y="2967170"/>
            <a:ext cx="400110" cy="69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timeout</a:t>
            </a:r>
          </a:p>
        </p:txBody>
      </p:sp>
      <p:sp>
        <p:nvSpPr>
          <p:cNvPr id="19495" name="Line 192"/>
          <p:cNvSpPr>
            <a:spLocks noChangeShapeType="1"/>
          </p:cNvSpPr>
          <p:nvPr/>
        </p:nvSpPr>
        <p:spPr bwMode="auto">
          <a:xfrm flipH="1">
            <a:off x="7337425" y="4894264"/>
            <a:ext cx="2338388" cy="78263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96" name="Rectangle 193"/>
          <p:cNvSpPr>
            <a:spLocks noChangeArrowheads="1"/>
          </p:cNvSpPr>
          <p:nvPr/>
        </p:nvSpPr>
        <p:spPr bwMode="auto">
          <a:xfrm>
            <a:off x="8170863" y="5151438"/>
            <a:ext cx="747712"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497" name="Text Box 194"/>
          <p:cNvSpPr txBox="1">
            <a:spLocks noChangeArrowheads="1"/>
          </p:cNvSpPr>
          <p:nvPr/>
        </p:nvSpPr>
        <p:spPr bwMode="auto">
          <a:xfrm>
            <a:off x="8091489" y="5106988"/>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ACK=120</a:t>
            </a:r>
            <a:endParaRPr lang="en-US" altLang="en-US" sz="1000">
              <a:latin typeface="Times New Roman" panose="02020603050405020304" pitchFamily="18" charset="0"/>
            </a:endParaRPr>
          </a:p>
        </p:txBody>
      </p:sp>
      <p:grpSp>
        <p:nvGrpSpPr>
          <p:cNvPr id="19498" name="Group 195"/>
          <p:cNvGrpSpPr>
            <a:grpSpLocks/>
          </p:cNvGrpSpPr>
          <p:nvPr/>
        </p:nvGrpSpPr>
        <p:grpSpPr bwMode="auto">
          <a:xfrm>
            <a:off x="7086601" y="2427288"/>
            <a:ext cx="104775" cy="508000"/>
            <a:chOff x="3099" y="1749"/>
            <a:chExt cx="66" cy="320"/>
          </a:xfrm>
        </p:grpSpPr>
        <p:sp>
          <p:nvSpPr>
            <p:cNvPr id="11334" name="Line 196"/>
            <p:cNvSpPr>
              <a:spLocks noChangeShapeType="1"/>
            </p:cNvSpPr>
            <p:nvPr/>
          </p:nvSpPr>
          <p:spPr bwMode="auto">
            <a:xfrm flipV="1">
              <a:off x="3129"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335" name="Line 197"/>
            <p:cNvSpPr>
              <a:spLocks noChangeShapeType="1"/>
            </p:cNvSpPr>
            <p:nvPr/>
          </p:nvSpPr>
          <p:spPr bwMode="auto">
            <a:xfrm>
              <a:off x="3099"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9499" name="Group 198"/>
          <p:cNvGrpSpPr>
            <a:grpSpLocks/>
          </p:cNvGrpSpPr>
          <p:nvPr/>
        </p:nvGrpSpPr>
        <p:grpSpPr bwMode="auto">
          <a:xfrm rot="10800000">
            <a:off x="7081839" y="3670300"/>
            <a:ext cx="104775" cy="508000"/>
            <a:chOff x="3099" y="1749"/>
            <a:chExt cx="66" cy="320"/>
          </a:xfrm>
        </p:grpSpPr>
        <p:sp>
          <p:nvSpPr>
            <p:cNvPr id="11332" name="Line 199"/>
            <p:cNvSpPr>
              <a:spLocks noChangeShapeType="1"/>
            </p:cNvSpPr>
            <p:nvPr/>
          </p:nvSpPr>
          <p:spPr bwMode="auto">
            <a:xfrm flipV="1">
              <a:off x="3133" y="1752"/>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333" name="Line 200"/>
            <p:cNvSpPr>
              <a:spLocks noChangeShapeType="1"/>
            </p:cNvSpPr>
            <p:nvPr/>
          </p:nvSpPr>
          <p:spPr bwMode="auto">
            <a:xfrm>
              <a:off x="3103" y="1755"/>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9500" name="Group 206"/>
          <p:cNvGrpSpPr>
            <a:grpSpLocks/>
          </p:cNvGrpSpPr>
          <p:nvPr/>
        </p:nvGrpSpPr>
        <p:grpSpPr bwMode="auto">
          <a:xfrm>
            <a:off x="7324726" y="2808288"/>
            <a:ext cx="2346325" cy="571500"/>
            <a:chOff x="3759" y="1622"/>
            <a:chExt cx="1478" cy="360"/>
          </a:xfrm>
        </p:grpSpPr>
        <p:sp>
          <p:nvSpPr>
            <p:cNvPr id="11329" name="Line 203"/>
            <p:cNvSpPr>
              <a:spLocks noChangeShapeType="1"/>
            </p:cNvSpPr>
            <p:nvPr/>
          </p:nvSpPr>
          <p:spPr bwMode="auto">
            <a:xfrm>
              <a:off x="3759" y="1622"/>
              <a:ext cx="1478" cy="36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30" name="Rectangle 204"/>
            <p:cNvSpPr>
              <a:spLocks noChangeArrowheads="1"/>
            </p:cNvSpPr>
            <p:nvPr/>
          </p:nvSpPr>
          <p:spPr bwMode="auto">
            <a:xfrm>
              <a:off x="4202" y="1673"/>
              <a:ext cx="548" cy="25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331" name="Text Box 205"/>
            <p:cNvSpPr txBox="1">
              <a:spLocks noChangeArrowheads="1"/>
            </p:cNvSpPr>
            <p:nvPr/>
          </p:nvSpPr>
          <p:spPr bwMode="auto">
            <a:xfrm>
              <a:off x="3790" y="1706"/>
              <a:ext cx="1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Seq=100, 20 bytes of data</a:t>
              </a:r>
            </a:p>
          </p:txBody>
        </p:sp>
      </p:grpSp>
      <p:sp>
        <p:nvSpPr>
          <p:cNvPr id="19501" name="Line 207"/>
          <p:cNvSpPr>
            <a:spLocks noChangeShapeType="1"/>
          </p:cNvSpPr>
          <p:nvPr/>
        </p:nvSpPr>
        <p:spPr bwMode="auto">
          <a:xfrm flipH="1">
            <a:off x="7318376" y="3440114"/>
            <a:ext cx="2335213" cy="158908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9502" name="Group 208"/>
          <p:cNvGrpSpPr>
            <a:grpSpLocks/>
          </p:cNvGrpSpPr>
          <p:nvPr/>
        </p:nvGrpSpPr>
        <p:grpSpPr bwMode="auto">
          <a:xfrm>
            <a:off x="8455026" y="3852863"/>
            <a:ext cx="949325" cy="304800"/>
            <a:chOff x="4215" y="2253"/>
            <a:chExt cx="598" cy="192"/>
          </a:xfrm>
        </p:grpSpPr>
        <p:sp>
          <p:nvSpPr>
            <p:cNvPr id="11327" name="Rectangle 209"/>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328" name="Text Box 210"/>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ACK=120</a:t>
              </a:r>
              <a:endParaRPr lang="en-US" altLang="en-US" sz="1000">
                <a:latin typeface="Times New Roman" panose="02020603050405020304" pitchFamily="18" charset="0"/>
              </a:endParaRPr>
            </a:p>
          </p:txBody>
        </p:sp>
      </p:grpSp>
      <p:sp>
        <p:nvSpPr>
          <p:cNvPr id="19503" name="Text Box 211"/>
          <p:cNvSpPr txBox="1">
            <a:spLocks noChangeArrowheads="1"/>
          </p:cNvSpPr>
          <p:nvPr/>
        </p:nvSpPr>
        <p:spPr bwMode="auto">
          <a:xfrm>
            <a:off x="5951538" y="4495800"/>
            <a:ext cx="13636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SendBase=100</a:t>
            </a:r>
          </a:p>
        </p:txBody>
      </p:sp>
      <p:sp>
        <p:nvSpPr>
          <p:cNvPr id="19504" name="Text Box 212"/>
          <p:cNvSpPr txBox="1">
            <a:spLocks noChangeArrowheads="1"/>
          </p:cNvSpPr>
          <p:nvPr/>
        </p:nvSpPr>
        <p:spPr bwMode="auto">
          <a:xfrm>
            <a:off x="5970588" y="4837113"/>
            <a:ext cx="13636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SendBase=120</a:t>
            </a:r>
          </a:p>
        </p:txBody>
      </p:sp>
      <p:sp>
        <p:nvSpPr>
          <p:cNvPr id="19505" name="Text Box 213"/>
          <p:cNvSpPr txBox="1">
            <a:spLocks noChangeArrowheads="1"/>
          </p:cNvSpPr>
          <p:nvPr/>
        </p:nvSpPr>
        <p:spPr bwMode="auto">
          <a:xfrm>
            <a:off x="5989638" y="5511800"/>
            <a:ext cx="13636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SendBase=120</a:t>
            </a:r>
          </a:p>
        </p:txBody>
      </p:sp>
      <p:sp>
        <p:nvSpPr>
          <p:cNvPr id="19506" name="Text Box 214"/>
          <p:cNvSpPr txBox="1">
            <a:spLocks noChangeArrowheads="1"/>
          </p:cNvSpPr>
          <p:nvPr/>
        </p:nvSpPr>
        <p:spPr bwMode="auto">
          <a:xfrm>
            <a:off x="6016626" y="2266950"/>
            <a:ext cx="1266825"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SendBase=92</a:t>
            </a:r>
          </a:p>
        </p:txBody>
      </p:sp>
      <p:pic>
        <p:nvPicPr>
          <p:cNvPr id="11314" name="Picture 218"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912814"/>
            <a:ext cx="63992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508" name="Group 219"/>
          <p:cNvGrpSpPr>
            <a:grpSpLocks/>
          </p:cNvGrpSpPr>
          <p:nvPr/>
        </p:nvGrpSpPr>
        <p:grpSpPr bwMode="auto">
          <a:xfrm>
            <a:off x="6896100" y="1543050"/>
            <a:ext cx="630238" cy="533400"/>
            <a:chOff x="-44" y="1473"/>
            <a:chExt cx="981" cy="1105"/>
          </a:xfrm>
        </p:grpSpPr>
        <p:pic>
          <p:nvPicPr>
            <p:cNvPr id="11325" name="Picture 220"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26" name="Freeform 221"/>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grpSp>
        <p:nvGrpSpPr>
          <p:cNvPr id="19509" name="Group 225"/>
          <p:cNvGrpSpPr>
            <a:grpSpLocks/>
          </p:cNvGrpSpPr>
          <p:nvPr/>
        </p:nvGrpSpPr>
        <p:grpSpPr bwMode="auto">
          <a:xfrm flipH="1">
            <a:off x="9463089" y="1549400"/>
            <a:ext cx="631825" cy="622300"/>
            <a:chOff x="-44" y="1473"/>
            <a:chExt cx="981" cy="1105"/>
          </a:xfrm>
        </p:grpSpPr>
        <p:pic>
          <p:nvPicPr>
            <p:cNvPr id="11323" name="Picture 226"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24" name="Freeform 227"/>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grpSp>
        <p:nvGrpSpPr>
          <p:cNvPr id="11317" name="Group 228"/>
          <p:cNvGrpSpPr>
            <a:grpSpLocks/>
          </p:cNvGrpSpPr>
          <p:nvPr/>
        </p:nvGrpSpPr>
        <p:grpSpPr bwMode="auto">
          <a:xfrm>
            <a:off x="2171700" y="1547813"/>
            <a:ext cx="630238" cy="533400"/>
            <a:chOff x="-44" y="1473"/>
            <a:chExt cx="981" cy="1105"/>
          </a:xfrm>
        </p:grpSpPr>
        <p:pic>
          <p:nvPicPr>
            <p:cNvPr id="11321" name="Picture 229"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22" name="Freeform 230"/>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grpSp>
        <p:nvGrpSpPr>
          <p:cNvPr id="11318" name="Group 231"/>
          <p:cNvGrpSpPr>
            <a:grpSpLocks/>
          </p:cNvGrpSpPr>
          <p:nvPr/>
        </p:nvGrpSpPr>
        <p:grpSpPr bwMode="auto">
          <a:xfrm flipH="1">
            <a:off x="4749801" y="1531939"/>
            <a:ext cx="709613" cy="600075"/>
            <a:chOff x="-44" y="1473"/>
            <a:chExt cx="981" cy="1105"/>
          </a:xfrm>
        </p:grpSpPr>
        <p:pic>
          <p:nvPicPr>
            <p:cNvPr id="11319" name="Picture 232"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20" name="Freeform 233"/>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spTree>
    <p:extLst>
      <p:ext uri="{BB962C8B-B14F-4D97-AF65-F5344CB8AC3E}">
        <p14:creationId xmlns:p14="http://schemas.microsoft.com/office/powerpoint/2010/main" val="231792849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923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48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48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48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48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48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48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49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49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49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49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49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49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49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49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49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50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950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50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950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50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5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506"/>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949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950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950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94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7" grpId="0"/>
      <p:bldP spid="9237" grpId="1"/>
      <p:bldP spid="19481" grpId="0"/>
      <p:bldP spid="19485" grpId="0"/>
      <p:bldP spid="19486" grpId="0"/>
      <p:bldP spid="19487" grpId="0" animBg="1"/>
      <p:bldP spid="19488" grpId="0"/>
      <p:bldP spid="19492" grpId="0" animBg="1"/>
      <p:bldP spid="19493" grpId="0"/>
      <p:bldP spid="19494" grpId="0"/>
      <p:bldP spid="19496" grpId="0" animBg="1"/>
      <p:bldP spid="19497" grpId="0"/>
      <p:bldP spid="19503" grpId="0"/>
      <p:bldP spid="19504" grpId="0"/>
      <p:bldP spid="19505" grpId="0"/>
      <p:bldP spid="1950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p:cNvSpPr>
            <a:spLocks noGrp="1"/>
          </p:cNvSpPr>
          <p:nvPr>
            <p:ph type="ftr"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MS PGothic" charset="0"/>
                <a:cs typeface="MS PGothic" charset="0"/>
              </a:defRPr>
            </a:lvl1pPr>
            <a:lvl2pPr marL="742950" indent="-285750">
              <a:defRPr sz="1600">
                <a:solidFill>
                  <a:schemeClr val="tx1"/>
                </a:solidFill>
                <a:latin typeface="Tahoma" charset="0"/>
                <a:ea typeface="MS PGothic" charset="0"/>
                <a:cs typeface="MS PGothic" charset="0"/>
              </a:defRPr>
            </a:lvl2pPr>
            <a:lvl3pPr marL="1143000" indent="-228600">
              <a:defRPr sz="1600">
                <a:solidFill>
                  <a:schemeClr val="tx1"/>
                </a:solidFill>
                <a:latin typeface="Tahoma" charset="0"/>
                <a:ea typeface="MS PGothic" charset="0"/>
                <a:cs typeface="MS PGothic" charset="0"/>
              </a:defRPr>
            </a:lvl3pPr>
            <a:lvl4pPr marL="1600200" indent="-228600">
              <a:defRPr sz="1600">
                <a:solidFill>
                  <a:schemeClr val="tx1"/>
                </a:solidFill>
                <a:latin typeface="Tahoma" charset="0"/>
                <a:ea typeface="MS PGothic" charset="0"/>
                <a:cs typeface="MS PGothic" charset="0"/>
              </a:defRPr>
            </a:lvl4pPr>
            <a:lvl5pPr marL="2057400" indent="-228600">
              <a:defRPr sz="1600">
                <a:solidFill>
                  <a:schemeClr val="tx1"/>
                </a:solidFill>
                <a:latin typeface="Tahoma" charset="0"/>
                <a:ea typeface="MS PGothic" charset="0"/>
                <a:cs typeface="MS PGothic" charset="0"/>
              </a:defRPr>
            </a:lvl5pPr>
            <a:lvl6pPr marL="25146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6pPr>
            <a:lvl7pPr marL="29718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7pPr>
            <a:lvl8pPr marL="34290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8pPr>
            <a:lvl9pPr marL="38862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9pPr>
          </a:lstStyle>
          <a:p>
            <a:pPr>
              <a:defRPr/>
            </a:pPr>
            <a:r>
              <a:rPr lang="en-US" sz="1200"/>
              <a:t>Transport</a:t>
            </a:r>
            <a:r>
              <a:rPr lang="en-US" sz="1400"/>
              <a:t> </a:t>
            </a:r>
            <a:r>
              <a:rPr lang="en-US" sz="1200"/>
              <a:t>Layer</a:t>
            </a:r>
          </a:p>
        </p:txBody>
      </p:sp>
      <p:sp>
        <p:nvSpPr>
          <p:cNvPr id="72707" name="Slide Number Placeholder 4"/>
          <p:cNvSpPr>
            <a:spLocks noGrp="1"/>
          </p:cNvSpPr>
          <p:nvPr>
            <p:ph type="sldNum"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defRPr/>
            </a:pPr>
            <a:r>
              <a:rPr lang="en-US" altLang="en-US" sz="1200">
                <a:latin typeface="Tahoma" panose="020B0604030504040204" pitchFamily="34" charset="0"/>
              </a:rPr>
              <a:t>3-</a:t>
            </a:r>
            <a:fld id="{4A56FDD5-AD2D-49D7-8772-EFFB69AFE17B}" type="slidenum">
              <a:rPr lang="en-US" altLang="en-US" sz="1200">
                <a:latin typeface="Tahoma" panose="020B0604030504040204" pitchFamily="34" charset="0"/>
              </a:rPr>
              <a:pPr eaLnBrk="1" hangingPunct="1">
                <a:spcBef>
                  <a:spcPct val="0"/>
                </a:spcBef>
                <a:buFontTx/>
                <a:buNone/>
                <a:defRPr/>
              </a:pPr>
              <a:t>43</a:t>
            </a:fld>
            <a:endParaRPr lang="en-US" altLang="en-US" sz="1200">
              <a:latin typeface="Tahoma" panose="020B0604030504040204" pitchFamily="34" charset="0"/>
            </a:endParaRPr>
          </a:p>
        </p:txBody>
      </p:sp>
      <p:sp>
        <p:nvSpPr>
          <p:cNvPr id="70660" name="Rectangle 2"/>
          <p:cNvSpPr>
            <a:spLocks noGrp="1" noChangeArrowheads="1"/>
          </p:cNvSpPr>
          <p:nvPr>
            <p:ph type="title"/>
          </p:nvPr>
        </p:nvSpPr>
        <p:spPr>
          <a:xfrm>
            <a:off x="2000250" y="238126"/>
            <a:ext cx="7772400" cy="904875"/>
          </a:xfrm>
        </p:spPr>
        <p:txBody>
          <a:bodyPr/>
          <a:lstStyle/>
          <a:p>
            <a:pPr>
              <a:defRPr/>
            </a:pPr>
            <a:r>
              <a:rPr lang="en-US" sz="4000"/>
              <a:t>TCP: retransmission scenarios</a:t>
            </a:r>
            <a:endParaRPr lang="en-US">
              <a:cs typeface="+mj-cs"/>
            </a:endParaRPr>
          </a:p>
        </p:txBody>
      </p:sp>
      <p:sp>
        <p:nvSpPr>
          <p:cNvPr id="13317" name="Text Box 22"/>
          <p:cNvSpPr txBox="1">
            <a:spLocks noChangeArrowheads="1"/>
          </p:cNvSpPr>
          <p:nvPr/>
        </p:nvSpPr>
        <p:spPr bwMode="auto">
          <a:xfrm>
            <a:off x="3482976" y="3468689"/>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b="1">
                <a:solidFill>
                  <a:srgbClr val="FF0000"/>
                </a:solidFill>
                <a:latin typeface="Tahoma" panose="020B0604030504040204" pitchFamily="34" charset="0"/>
              </a:rPr>
              <a:t>X</a:t>
            </a:r>
          </a:p>
        </p:txBody>
      </p:sp>
      <p:sp>
        <p:nvSpPr>
          <p:cNvPr id="13318" name="Text Box 34"/>
          <p:cNvSpPr txBox="1">
            <a:spLocks noChangeArrowheads="1"/>
          </p:cNvSpPr>
          <p:nvPr/>
        </p:nvSpPr>
        <p:spPr bwMode="auto">
          <a:xfrm>
            <a:off x="3163888" y="5975351"/>
            <a:ext cx="17510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ahoma" panose="020B0604030504040204" pitchFamily="34" charset="0"/>
              </a:rPr>
              <a:t>cumulative ACK</a:t>
            </a:r>
            <a:endParaRPr lang="en-US" altLang="en-US" sz="1000">
              <a:latin typeface="Tahoma" panose="020B0604030504040204" pitchFamily="34" charset="0"/>
            </a:endParaRPr>
          </a:p>
        </p:txBody>
      </p:sp>
      <p:sp>
        <p:nvSpPr>
          <p:cNvPr id="13319" name="Line 35"/>
          <p:cNvSpPr>
            <a:spLocks noChangeShapeType="1"/>
          </p:cNvSpPr>
          <p:nvPr/>
        </p:nvSpPr>
        <p:spPr bwMode="auto">
          <a:xfrm>
            <a:off x="2892426" y="4540251"/>
            <a:ext cx="2441575" cy="665163"/>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0" name="Line 36"/>
          <p:cNvSpPr>
            <a:spLocks noChangeShapeType="1"/>
          </p:cNvSpPr>
          <p:nvPr/>
        </p:nvSpPr>
        <p:spPr bwMode="auto">
          <a:xfrm>
            <a:off x="2868614" y="2444750"/>
            <a:ext cx="234632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1" name="Line 37"/>
          <p:cNvSpPr>
            <a:spLocks noChangeShapeType="1"/>
          </p:cNvSpPr>
          <p:nvPr/>
        </p:nvSpPr>
        <p:spPr bwMode="auto">
          <a:xfrm flipH="1">
            <a:off x="3746501" y="3106739"/>
            <a:ext cx="1431925" cy="57308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2" name="Text Box 39"/>
          <p:cNvSpPr txBox="1">
            <a:spLocks noChangeArrowheads="1"/>
          </p:cNvSpPr>
          <p:nvPr/>
        </p:nvSpPr>
        <p:spPr bwMode="auto">
          <a:xfrm>
            <a:off x="4794251" y="1273175"/>
            <a:ext cx="7731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B</a:t>
            </a:r>
          </a:p>
        </p:txBody>
      </p:sp>
      <p:sp>
        <p:nvSpPr>
          <p:cNvPr id="13323" name="Text Box 43"/>
          <p:cNvSpPr txBox="1">
            <a:spLocks noChangeArrowheads="1"/>
          </p:cNvSpPr>
          <p:nvPr/>
        </p:nvSpPr>
        <p:spPr bwMode="auto">
          <a:xfrm>
            <a:off x="2473325" y="1303338"/>
            <a:ext cx="776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A</a:t>
            </a:r>
          </a:p>
        </p:txBody>
      </p:sp>
      <p:sp>
        <p:nvSpPr>
          <p:cNvPr id="13324" name="Rectangle 44"/>
          <p:cNvSpPr>
            <a:spLocks noChangeArrowheads="1"/>
          </p:cNvSpPr>
          <p:nvPr/>
        </p:nvSpPr>
        <p:spPr bwMode="auto">
          <a:xfrm>
            <a:off x="3571875" y="2525714"/>
            <a:ext cx="869950"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3325" name="Text Box 45"/>
          <p:cNvSpPr txBox="1">
            <a:spLocks noChangeArrowheads="1"/>
          </p:cNvSpPr>
          <p:nvPr/>
        </p:nvSpPr>
        <p:spPr bwMode="auto">
          <a:xfrm>
            <a:off x="3013076" y="2578101"/>
            <a:ext cx="21066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Seq=92, 8 bytes of data</a:t>
            </a:r>
          </a:p>
        </p:txBody>
      </p:sp>
      <p:grpSp>
        <p:nvGrpSpPr>
          <p:cNvPr id="13326" name="Group 46"/>
          <p:cNvGrpSpPr>
            <a:grpSpLocks/>
          </p:cNvGrpSpPr>
          <p:nvPr/>
        </p:nvGrpSpPr>
        <p:grpSpPr bwMode="auto">
          <a:xfrm>
            <a:off x="3768726" y="3306763"/>
            <a:ext cx="949325" cy="304800"/>
            <a:chOff x="4215" y="2253"/>
            <a:chExt cx="598" cy="192"/>
          </a:xfrm>
        </p:grpSpPr>
        <p:sp>
          <p:nvSpPr>
            <p:cNvPr id="13355" name="Rectangle 47"/>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3356" name="Text Box 48"/>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ACK=100</a:t>
              </a:r>
              <a:endParaRPr lang="en-US" altLang="en-US" sz="1000">
                <a:latin typeface="Times New Roman" panose="02020603050405020304" pitchFamily="18" charset="0"/>
              </a:endParaRPr>
            </a:p>
          </p:txBody>
        </p:sp>
      </p:grpSp>
      <p:sp>
        <p:nvSpPr>
          <p:cNvPr id="13327" name="Line 49"/>
          <p:cNvSpPr>
            <a:spLocks noChangeShapeType="1"/>
          </p:cNvSpPr>
          <p:nvPr/>
        </p:nvSpPr>
        <p:spPr bwMode="auto">
          <a:xfrm>
            <a:off x="2847975" y="2203450"/>
            <a:ext cx="0" cy="35258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3328" name="Line 50"/>
          <p:cNvSpPr>
            <a:spLocks noChangeShapeType="1"/>
          </p:cNvSpPr>
          <p:nvPr/>
        </p:nvSpPr>
        <p:spPr bwMode="auto">
          <a:xfrm>
            <a:off x="5253038" y="2198689"/>
            <a:ext cx="0" cy="35385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3329" name="Rectangle 51"/>
          <p:cNvSpPr>
            <a:spLocks noChangeArrowheads="1"/>
          </p:cNvSpPr>
          <p:nvPr/>
        </p:nvSpPr>
        <p:spPr bwMode="auto">
          <a:xfrm>
            <a:off x="3589338" y="4613275"/>
            <a:ext cx="933450" cy="50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0258" name="Text Box 52"/>
          <p:cNvSpPr txBox="1">
            <a:spLocks noChangeArrowheads="1"/>
          </p:cNvSpPr>
          <p:nvPr/>
        </p:nvSpPr>
        <p:spPr bwMode="auto">
          <a:xfrm>
            <a:off x="2863851" y="4700588"/>
            <a:ext cx="2652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Seq=120,  15 bytes of data</a:t>
            </a:r>
          </a:p>
        </p:txBody>
      </p:sp>
      <p:sp>
        <p:nvSpPr>
          <p:cNvPr id="13331" name="Rectangle 55"/>
          <p:cNvSpPr>
            <a:spLocks noChangeArrowheads="1"/>
          </p:cNvSpPr>
          <p:nvPr/>
        </p:nvSpPr>
        <p:spPr bwMode="auto">
          <a:xfrm>
            <a:off x="3700463" y="5173663"/>
            <a:ext cx="747712"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grpSp>
        <p:nvGrpSpPr>
          <p:cNvPr id="13332" name="Group 75"/>
          <p:cNvGrpSpPr>
            <a:grpSpLocks/>
          </p:cNvGrpSpPr>
          <p:nvPr/>
        </p:nvGrpSpPr>
        <p:grpSpPr bwMode="auto">
          <a:xfrm>
            <a:off x="2471738" y="2449513"/>
            <a:ext cx="400050" cy="2406650"/>
            <a:chOff x="3413" y="1529"/>
            <a:chExt cx="252" cy="1103"/>
          </a:xfrm>
        </p:grpSpPr>
        <p:sp>
          <p:nvSpPr>
            <p:cNvPr id="13348" name="Text Box 53"/>
            <p:cNvSpPr txBox="1">
              <a:spLocks noChangeArrowheads="1"/>
            </p:cNvSpPr>
            <p:nvPr/>
          </p:nvSpPr>
          <p:spPr bwMode="auto">
            <a:xfrm rot="10800000">
              <a:off x="3413" y="1930"/>
              <a:ext cx="252"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timeout</a:t>
              </a:r>
            </a:p>
          </p:txBody>
        </p:sp>
        <p:grpSp>
          <p:nvGrpSpPr>
            <p:cNvPr id="13349" name="Group 57"/>
            <p:cNvGrpSpPr>
              <a:grpSpLocks/>
            </p:cNvGrpSpPr>
            <p:nvPr/>
          </p:nvGrpSpPr>
          <p:grpSpPr bwMode="auto">
            <a:xfrm>
              <a:off x="3504" y="1529"/>
              <a:ext cx="66" cy="320"/>
              <a:chOff x="3099" y="1749"/>
              <a:chExt cx="66" cy="320"/>
            </a:xfrm>
          </p:grpSpPr>
          <p:sp>
            <p:nvSpPr>
              <p:cNvPr id="13353" name="Line 58"/>
              <p:cNvSpPr>
                <a:spLocks noChangeShapeType="1"/>
              </p:cNvSpPr>
              <p:nvPr/>
            </p:nvSpPr>
            <p:spPr bwMode="auto">
              <a:xfrm flipV="1">
                <a:off x="3129"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54" name="Line 59"/>
              <p:cNvSpPr>
                <a:spLocks noChangeShapeType="1"/>
              </p:cNvSpPr>
              <p:nvPr/>
            </p:nvSpPr>
            <p:spPr bwMode="auto">
              <a:xfrm>
                <a:off x="3099"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3350" name="Group 60"/>
            <p:cNvGrpSpPr>
              <a:grpSpLocks/>
            </p:cNvGrpSpPr>
            <p:nvPr/>
          </p:nvGrpSpPr>
          <p:grpSpPr bwMode="auto">
            <a:xfrm rot="10800000">
              <a:off x="3501" y="2312"/>
              <a:ext cx="66" cy="320"/>
              <a:chOff x="3099" y="1749"/>
              <a:chExt cx="66" cy="320"/>
            </a:xfrm>
          </p:grpSpPr>
          <p:sp>
            <p:nvSpPr>
              <p:cNvPr id="13351" name="Line 61"/>
              <p:cNvSpPr>
                <a:spLocks noChangeShapeType="1"/>
              </p:cNvSpPr>
              <p:nvPr/>
            </p:nvSpPr>
            <p:spPr bwMode="auto">
              <a:xfrm flipV="1">
                <a:off x="3132" y="1750"/>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52" name="Line 62"/>
              <p:cNvSpPr>
                <a:spLocks noChangeShapeType="1"/>
              </p:cNvSpPr>
              <p:nvPr/>
            </p:nvSpPr>
            <p:spPr bwMode="auto">
              <a:xfrm>
                <a:off x="3102" y="1755"/>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grpSp>
        <p:nvGrpSpPr>
          <p:cNvPr id="13333" name="Group 63"/>
          <p:cNvGrpSpPr>
            <a:grpSpLocks/>
          </p:cNvGrpSpPr>
          <p:nvPr/>
        </p:nvGrpSpPr>
        <p:grpSpPr bwMode="auto">
          <a:xfrm>
            <a:off x="2854326" y="2830513"/>
            <a:ext cx="2346325" cy="571500"/>
            <a:chOff x="3759" y="1622"/>
            <a:chExt cx="1478" cy="360"/>
          </a:xfrm>
        </p:grpSpPr>
        <p:sp>
          <p:nvSpPr>
            <p:cNvPr id="13345" name="Line 64"/>
            <p:cNvSpPr>
              <a:spLocks noChangeShapeType="1"/>
            </p:cNvSpPr>
            <p:nvPr/>
          </p:nvSpPr>
          <p:spPr bwMode="auto">
            <a:xfrm>
              <a:off x="3759" y="1622"/>
              <a:ext cx="1478" cy="36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46" name="Rectangle 65"/>
            <p:cNvSpPr>
              <a:spLocks noChangeArrowheads="1"/>
            </p:cNvSpPr>
            <p:nvPr/>
          </p:nvSpPr>
          <p:spPr bwMode="auto">
            <a:xfrm>
              <a:off x="4202" y="1673"/>
              <a:ext cx="548" cy="25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3347" name="Text Box 66"/>
            <p:cNvSpPr txBox="1">
              <a:spLocks noChangeArrowheads="1"/>
            </p:cNvSpPr>
            <p:nvPr/>
          </p:nvSpPr>
          <p:spPr bwMode="auto">
            <a:xfrm>
              <a:off x="3790" y="1706"/>
              <a:ext cx="1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Seq=100, 20 bytes of data</a:t>
              </a:r>
            </a:p>
          </p:txBody>
        </p:sp>
      </p:grpSp>
      <p:sp>
        <p:nvSpPr>
          <p:cNvPr id="13334" name="Line 67"/>
          <p:cNvSpPr>
            <a:spLocks noChangeShapeType="1"/>
          </p:cNvSpPr>
          <p:nvPr/>
        </p:nvSpPr>
        <p:spPr bwMode="auto">
          <a:xfrm flipH="1">
            <a:off x="2859088" y="3462339"/>
            <a:ext cx="2324100" cy="10255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3335" name="Group 68"/>
          <p:cNvGrpSpPr>
            <a:grpSpLocks/>
          </p:cNvGrpSpPr>
          <p:nvPr/>
        </p:nvGrpSpPr>
        <p:grpSpPr bwMode="auto">
          <a:xfrm>
            <a:off x="3502026" y="3863975"/>
            <a:ext cx="949325" cy="304800"/>
            <a:chOff x="4215" y="2253"/>
            <a:chExt cx="598" cy="192"/>
          </a:xfrm>
        </p:grpSpPr>
        <p:sp>
          <p:nvSpPr>
            <p:cNvPr id="13343" name="Rectangle 69"/>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3344" name="Text Box 70"/>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ACK=120</a:t>
              </a:r>
              <a:endParaRPr lang="en-US" altLang="en-US" sz="1000">
                <a:latin typeface="Times New Roman" panose="02020603050405020304" pitchFamily="18" charset="0"/>
              </a:endParaRPr>
            </a:p>
          </p:txBody>
        </p:sp>
      </p:grpSp>
      <p:pic>
        <p:nvPicPr>
          <p:cNvPr id="13336" name="Picture 77"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912814"/>
            <a:ext cx="63992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37" name="Group 84"/>
          <p:cNvGrpSpPr>
            <a:grpSpLocks/>
          </p:cNvGrpSpPr>
          <p:nvPr/>
        </p:nvGrpSpPr>
        <p:grpSpPr bwMode="auto">
          <a:xfrm>
            <a:off x="2427289" y="1565275"/>
            <a:ext cx="630237" cy="533400"/>
            <a:chOff x="-44" y="1473"/>
            <a:chExt cx="981" cy="1105"/>
          </a:xfrm>
        </p:grpSpPr>
        <p:pic>
          <p:nvPicPr>
            <p:cNvPr id="13341" name="Picture 8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42" name="Freeform 86"/>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grpSp>
        <p:nvGrpSpPr>
          <p:cNvPr id="13338" name="Group 87"/>
          <p:cNvGrpSpPr>
            <a:grpSpLocks/>
          </p:cNvGrpSpPr>
          <p:nvPr/>
        </p:nvGrpSpPr>
        <p:grpSpPr bwMode="auto">
          <a:xfrm flipH="1">
            <a:off x="5005389" y="1560513"/>
            <a:ext cx="674687" cy="590550"/>
            <a:chOff x="-44" y="1473"/>
            <a:chExt cx="981" cy="1105"/>
          </a:xfrm>
        </p:grpSpPr>
        <p:pic>
          <p:nvPicPr>
            <p:cNvPr id="13339" name="Picture 88"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40" name="Freeform 89"/>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spTree>
    <p:extLst>
      <p:ext uri="{BB962C8B-B14F-4D97-AF65-F5344CB8AC3E}">
        <p14:creationId xmlns:p14="http://schemas.microsoft.com/office/powerpoint/2010/main" val="4570523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58"/>
                                        </p:tgtEl>
                                        <p:attrNameLst>
                                          <p:attrName>style.visibility</p:attrName>
                                        </p:attrNameLst>
                                      </p:cBhvr>
                                      <p:to>
                                        <p:strVal val="visible"/>
                                      </p:to>
                                    </p:set>
                                    <p:animEffect transition="in" filter="fade">
                                      <p:cBhvr>
                                        <p:cTn id="7" dur="500"/>
                                        <p:tgtEl>
                                          <p:spTgt spid="10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defRPr/>
            </a:pPr>
            <a:r>
              <a:rPr lang="fr-FR" altLang="en-US" sz="3200"/>
              <a:t>Modified TCP – Doubling Timeout Interval</a:t>
            </a:r>
          </a:p>
        </p:txBody>
      </p:sp>
      <p:sp>
        <p:nvSpPr>
          <p:cNvPr id="3" name="Espace réservé du contenu 2"/>
          <p:cNvSpPr>
            <a:spLocks noGrp="1"/>
          </p:cNvSpPr>
          <p:nvPr>
            <p:ph idx="1"/>
          </p:nvPr>
        </p:nvSpPr>
        <p:spPr/>
        <p:txBody>
          <a:bodyPr/>
          <a:lstStyle/>
          <a:p>
            <a:pPr>
              <a:defRPr/>
            </a:pPr>
            <a:r>
              <a:rPr lang="fr-FR" sz="2400" dirty="0" err="1"/>
              <a:t>Whenever</a:t>
            </a:r>
            <a:r>
              <a:rPr lang="fr-FR" sz="2400" dirty="0"/>
              <a:t> the timeout </a:t>
            </a:r>
            <a:r>
              <a:rPr lang="fr-FR" sz="2400" dirty="0" err="1"/>
              <a:t>event</a:t>
            </a:r>
            <a:r>
              <a:rPr lang="fr-FR" sz="2400" dirty="0"/>
              <a:t> </a:t>
            </a:r>
            <a:r>
              <a:rPr lang="fr-FR" sz="2400" dirty="0" err="1"/>
              <a:t>occurs</a:t>
            </a:r>
            <a:r>
              <a:rPr lang="fr-FR" sz="2400" dirty="0"/>
              <a:t> </a:t>
            </a:r>
            <a:r>
              <a:rPr lang="fr-FR" sz="2400" dirty="0" err="1"/>
              <a:t>it</a:t>
            </a:r>
            <a:r>
              <a:rPr lang="fr-FR" sz="2400" dirty="0"/>
              <a:t> sets the </a:t>
            </a:r>
            <a:r>
              <a:rPr lang="fr-FR" sz="2400" dirty="0" err="1"/>
              <a:t>next</a:t>
            </a:r>
            <a:r>
              <a:rPr lang="fr-FR" sz="2400" dirty="0"/>
              <a:t> timeout </a:t>
            </a:r>
            <a:r>
              <a:rPr lang="fr-FR" sz="2400" dirty="0" err="1"/>
              <a:t>interval</a:t>
            </a:r>
            <a:r>
              <a:rPr lang="fr-FR" sz="2400" dirty="0"/>
              <a:t> to </a:t>
            </a:r>
            <a:r>
              <a:rPr lang="fr-FR" sz="2400" dirty="0" err="1"/>
              <a:t>twice</a:t>
            </a:r>
            <a:r>
              <a:rPr lang="fr-FR" sz="2400" dirty="0"/>
              <a:t> the </a:t>
            </a:r>
            <a:r>
              <a:rPr lang="fr-FR" sz="2400" dirty="0" err="1"/>
              <a:t>previous</a:t>
            </a:r>
            <a:r>
              <a:rPr lang="fr-FR" sz="2400" dirty="0"/>
              <a:t> value, </a:t>
            </a:r>
          </a:p>
          <a:p>
            <a:pPr lvl="1">
              <a:defRPr/>
            </a:pPr>
            <a:r>
              <a:rPr lang="fr-FR" sz="2000" dirty="0" err="1"/>
              <a:t>rather</a:t>
            </a:r>
            <a:r>
              <a:rPr lang="fr-FR" sz="2000" dirty="0"/>
              <a:t> </a:t>
            </a:r>
            <a:r>
              <a:rPr lang="fr-FR" sz="2000" dirty="0" err="1"/>
              <a:t>than</a:t>
            </a:r>
            <a:r>
              <a:rPr lang="fr-FR" sz="2000" dirty="0"/>
              <a:t> </a:t>
            </a:r>
            <a:r>
              <a:rPr lang="fr-FR" sz="2000" dirty="0" err="1"/>
              <a:t>deriving</a:t>
            </a:r>
            <a:r>
              <a:rPr lang="fr-FR" sz="2000" dirty="0"/>
              <a:t> </a:t>
            </a:r>
            <a:r>
              <a:rPr lang="fr-FR" sz="2000" dirty="0" err="1"/>
              <a:t>it</a:t>
            </a:r>
            <a:r>
              <a:rPr lang="fr-FR" sz="2000" dirty="0"/>
              <a:t> </a:t>
            </a:r>
            <a:r>
              <a:rPr lang="fr-FR" sz="2000" dirty="0" err="1"/>
              <a:t>from</a:t>
            </a:r>
            <a:r>
              <a:rPr lang="fr-FR" sz="2000" dirty="0"/>
              <a:t> the last </a:t>
            </a:r>
            <a:r>
              <a:rPr lang="fr-FR" sz="2000" dirty="0" err="1"/>
              <a:t>EstimatedRTT</a:t>
            </a:r>
            <a:r>
              <a:rPr lang="fr-FR" sz="2000" dirty="0"/>
              <a:t> and </a:t>
            </a:r>
            <a:r>
              <a:rPr lang="fr-FR" sz="2000" dirty="0" err="1"/>
              <a:t>DevRTT</a:t>
            </a:r>
            <a:endParaRPr lang="fr-FR" sz="2000" dirty="0"/>
          </a:p>
          <a:p>
            <a:pPr lvl="1">
              <a:defRPr/>
            </a:pPr>
            <a:r>
              <a:rPr lang="fr-FR" sz="2000" dirty="0" err="1"/>
              <a:t>However</a:t>
            </a:r>
            <a:r>
              <a:rPr lang="fr-FR" sz="2000" dirty="0"/>
              <a:t>, in case of </a:t>
            </a:r>
            <a:r>
              <a:rPr lang="fr-FR" sz="2000" dirty="0" err="1"/>
              <a:t>other</a:t>
            </a:r>
            <a:r>
              <a:rPr lang="fr-FR" sz="2000" dirty="0"/>
              <a:t> </a:t>
            </a:r>
            <a:r>
              <a:rPr lang="fr-FR" sz="2000" dirty="0" err="1"/>
              <a:t>two</a:t>
            </a:r>
            <a:r>
              <a:rPr lang="fr-FR" sz="2000" dirty="0"/>
              <a:t> </a:t>
            </a:r>
            <a:r>
              <a:rPr lang="fr-FR" sz="2000" dirty="0" err="1"/>
              <a:t>events</a:t>
            </a:r>
            <a:r>
              <a:rPr lang="fr-FR" sz="2000" dirty="0"/>
              <a:t> (</a:t>
            </a:r>
            <a:r>
              <a:rPr lang="fr-FR" sz="2000" dirty="0" err="1"/>
              <a:t>app</a:t>
            </a:r>
            <a:r>
              <a:rPr lang="fr-FR" sz="2000" dirty="0"/>
              <a:t> data </a:t>
            </a:r>
            <a:r>
              <a:rPr lang="fr-FR" sz="2000" dirty="0" err="1"/>
              <a:t>received</a:t>
            </a:r>
            <a:r>
              <a:rPr lang="fr-FR" sz="2000" dirty="0"/>
              <a:t> or ACK </a:t>
            </a:r>
            <a:r>
              <a:rPr lang="fr-FR" sz="2000" dirty="0" err="1"/>
              <a:t>received</a:t>
            </a:r>
            <a:r>
              <a:rPr lang="fr-FR" sz="2000" dirty="0"/>
              <a:t>), </a:t>
            </a:r>
            <a:r>
              <a:rPr lang="fr-FR" sz="2000" dirty="0" err="1"/>
              <a:t>it</a:t>
            </a:r>
            <a:r>
              <a:rPr lang="fr-FR" sz="2000" dirty="0"/>
              <a:t> </a:t>
            </a:r>
            <a:r>
              <a:rPr lang="fr-FR" sz="2000" dirty="0" err="1"/>
              <a:t>is</a:t>
            </a:r>
            <a:r>
              <a:rPr lang="fr-FR" sz="2000" dirty="0"/>
              <a:t> </a:t>
            </a:r>
            <a:r>
              <a:rPr lang="fr-FR" sz="2000" dirty="0" err="1"/>
              <a:t>derived</a:t>
            </a:r>
            <a:r>
              <a:rPr lang="fr-FR" sz="2000" dirty="0"/>
              <a:t>. </a:t>
            </a:r>
          </a:p>
          <a:p>
            <a:pPr lvl="1">
              <a:defRPr/>
            </a:pPr>
            <a:endParaRPr lang="fr-FR" sz="2000" dirty="0"/>
          </a:p>
          <a:p>
            <a:pPr lvl="1">
              <a:defRPr/>
            </a:pPr>
            <a:endParaRPr lang="fr-FR" sz="2000" dirty="0"/>
          </a:p>
          <a:p>
            <a:pPr>
              <a:defRPr/>
            </a:pPr>
            <a:r>
              <a:rPr lang="fr-FR" sz="2400" dirty="0"/>
              <a:t>It </a:t>
            </a:r>
            <a:r>
              <a:rPr lang="fr-FR" sz="2400" dirty="0" err="1"/>
              <a:t>also</a:t>
            </a:r>
            <a:r>
              <a:rPr lang="fr-FR" sz="2400" dirty="0"/>
              <a:t> </a:t>
            </a:r>
            <a:r>
              <a:rPr lang="fr-FR" sz="2400" dirty="0" err="1"/>
              <a:t>provides</a:t>
            </a:r>
            <a:r>
              <a:rPr lang="fr-FR" sz="2400" dirty="0"/>
              <a:t> a </a:t>
            </a:r>
            <a:r>
              <a:rPr lang="fr-FR" sz="2400" dirty="0" err="1"/>
              <a:t>limited</a:t>
            </a:r>
            <a:r>
              <a:rPr lang="fr-FR" sz="2400" dirty="0"/>
              <a:t> </a:t>
            </a:r>
            <a:r>
              <a:rPr lang="fr-FR" sz="2400" dirty="0" err="1"/>
              <a:t>form</a:t>
            </a:r>
            <a:r>
              <a:rPr lang="fr-FR" sz="2400" dirty="0"/>
              <a:t> of congestion control. </a:t>
            </a:r>
          </a:p>
          <a:p>
            <a:pPr lvl="1">
              <a:defRPr/>
            </a:pPr>
            <a:r>
              <a:rPr lang="fr-FR" sz="2000" dirty="0" err="1"/>
              <a:t>Timer</a:t>
            </a:r>
            <a:r>
              <a:rPr lang="fr-FR" sz="2000" dirty="0"/>
              <a:t> expiration due to congestion</a:t>
            </a:r>
          </a:p>
          <a:p>
            <a:pPr lvl="1">
              <a:defRPr/>
            </a:pPr>
            <a:r>
              <a:rPr lang="fr-FR" sz="2000" dirty="0"/>
              <a:t>It </a:t>
            </a:r>
            <a:r>
              <a:rPr lang="fr-FR" sz="2000" dirty="0" err="1"/>
              <a:t>is</a:t>
            </a:r>
            <a:r>
              <a:rPr lang="fr-FR" sz="2000" dirty="0"/>
              <a:t> </a:t>
            </a:r>
            <a:r>
              <a:rPr lang="fr-FR" sz="2000" dirty="0" err="1"/>
              <a:t>better</a:t>
            </a:r>
            <a:r>
              <a:rPr lang="fr-FR" sz="2000" dirty="0"/>
              <a:t> to </a:t>
            </a:r>
            <a:r>
              <a:rPr lang="fr-FR" sz="2000" dirty="0" err="1"/>
              <a:t>wait</a:t>
            </a:r>
            <a:r>
              <a:rPr lang="fr-FR" sz="2000" dirty="0"/>
              <a:t> </a:t>
            </a:r>
            <a:r>
              <a:rPr lang="fr-FR" sz="2000" dirty="0" err="1"/>
              <a:t>rather</a:t>
            </a:r>
            <a:r>
              <a:rPr lang="fr-FR" sz="2000" dirty="0"/>
              <a:t> </a:t>
            </a:r>
            <a:r>
              <a:rPr lang="fr-FR" sz="2000" dirty="0" err="1"/>
              <a:t>than</a:t>
            </a:r>
            <a:r>
              <a:rPr lang="fr-FR" sz="2000" dirty="0"/>
              <a:t> </a:t>
            </a:r>
            <a:r>
              <a:rPr lang="fr-FR" sz="2000" dirty="0" err="1"/>
              <a:t>keep</a:t>
            </a:r>
            <a:r>
              <a:rPr lang="fr-FR" sz="2000" dirty="0"/>
              <a:t> </a:t>
            </a:r>
            <a:r>
              <a:rPr lang="fr-FR" sz="2000" dirty="0" err="1"/>
              <a:t>sending</a:t>
            </a:r>
            <a:endParaRPr lang="fr-FR" sz="2000" dirty="0"/>
          </a:p>
          <a:p>
            <a:pPr>
              <a:defRPr/>
            </a:pPr>
            <a:endParaRPr lang="fr-FR" sz="2400" dirty="0"/>
          </a:p>
        </p:txBody>
      </p:sp>
    </p:spTree>
    <p:extLst>
      <p:ext uri="{BB962C8B-B14F-4D97-AF65-F5344CB8AC3E}">
        <p14:creationId xmlns:p14="http://schemas.microsoft.com/office/powerpoint/2010/main" val="41606572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defRPr/>
            </a:pPr>
            <a:r>
              <a:rPr lang="fr-FR" altLang="en-US" sz="3200"/>
              <a:t>Modified TCP – Fast Retransmit </a:t>
            </a:r>
          </a:p>
        </p:txBody>
      </p:sp>
      <p:sp>
        <p:nvSpPr>
          <p:cNvPr id="3" name="Espace réservé du contenu 2"/>
          <p:cNvSpPr>
            <a:spLocks noGrp="1"/>
          </p:cNvSpPr>
          <p:nvPr>
            <p:ph idx="1"/>
          </p:nvPr>
        </p:nvSpPr>
        <p:spPr/>
        <p:txBody>
          <a:bodyPr/>
          <a:lstStyle/>
          <a:p>
            <a:pPr>
              <a:defRPr/>
            </a:pPr>
            <a:r>
              <a:rPr lang="fr-FR" sz="2400" dirty="0"/>
              <a:t>Timeout-</a:t>
            </a:r>
            <a:r>
              <a:rPr lang="fr-FR" sz="2400" dirty="0" err="1"/>
              <a:t>triggered</a:t>
            </a:r>
            <a:r>
              <a:rPr lang="fr-FR" sz="2400" dirty="0"/>
              <a:t> retransmissions </a:t>
            </a:r>
            <a:r>
              <a:rPr lang="fr-FR" sz="2400" dirty="0" err="1"/>
              <a:t>can</a:t>
            </a:r>
            <a:r>
              <a:rPr lang="fr-FR" sz="2400" dirty="0"/>
              <a:t> </a:t>
            </a:r>
            <a:r>
              <a:rPr lang="fr-FR" sz="2400" dirty="0" err="1"/>
              <a:t>take</a:t>
            </a:r>
            <a:r>
              <a:rPr lang="fr-FR" sz="2400" dirty="0"/>
              <a:t> long</a:t>
            </a:r>
          </a:p>
          <a:p>
            <a:pPr>
              <a:defRPr/>
            </a:pPr>
            <a:r>
              <a:rPr lang="fr-FR" sz="2400" dirty="0"/>
              <a:t>Duplicate </a:t>
            </a:r>
            <a:r>
              <a:rPr lang="fr-FR" sz="2400" dirty="0" err="1"/>
              <a:t>ACKs</a:t>
            </a:r>
            <a:r>
              <a:rPr lang="fr-FR" sz="2400" dirty="0"/>
              <a:t> </a:t>
            </a:r>
            <a:r>
              <a:rPr lang="fr-FR" sz="2400" dirty="0" err="1"/>
              <a:t>can</a:t>
            </a:r>
            <a:r>
              <a:rPr lang="fr-FR" sz="2400" dirty="0"/>
              <a:t> help </a:t>
            </a:r>
            <a:r>
              <a:rPr lang="fr-FR" sz="2400" dirty="0" err="1"/>
              <a:t>sender</a:t>
            </a:r>
            <a:r>
              <a:rPr lang="fr-FR" sz="2400" dirty="0"/>
              <a:t> to </a:t>
            </a:r>
            <a:r>
              <a:rPr lang="fr-FR" sz="2400" dirty="0" err="1"/>
              <a:t>detect</a:t>
            </a:r>
            <a:r>
              <a:rPr lang="fr-FR" sz="2400" dirty="0"/>
              <a:t> </a:t>
            </a:r>
            <a:r>
              <a:rPr lang="fr-FR" sz="2400" dirty="0" err="1"/>
              <a:t>packet</a:t>
            </a:r>
            <a:r>
              <a:rPr lang="fr-FR" sz="2400" dirty="0"/>
              <a:t> </a:t>
            </a:r>
            <a:r>
              <a:rPr lang="fr-FR" sz="2400" dirty="0" err="1"/>
              <a:t>loss</a:t>
            </a:r>
            <a:endParaRPr lang="fr-FR" sz="2400" dirty="0"/>
          </a:p>
          <a:p>
            <a:pPr>
              <a:defRPr/>
            </a:pPr>
            <a:endParaRPr lang="fr-FR" sz="2400" dirty="0"/>
          </a:p>
          <a:p>
            <a:pPr>
              <a:defRPr/>
            </a:pPr>
            <a:r>
              <a:rPr lang="fr-FR" sz="2400" dirty="0"/>
              <a:t> A </a:t>
            </a:r>
            <a:r>
              <a:rPr lang="fr-FR" sz="2400" b="1" dirty="0"/>
              <a:t>duplicate ACK </a:t>
            </a:r>
            <a:r>
              <a:rPr lang="fr-FR" sz="2400" dirty="0" err="1"/>
              <a:t>is</a:t>
            </a:r>
            <a:r>
              <a:rPr lang="fr-FR" sz="2400" dirty="0"/>
              <a:t> an ACK </a:t>
            </a:r>
            <a:r>
              <a:rPr lang="fr-FR" sz="2400" dirty="0" err="1"/>
              <a:t>that</a:t>
            </a:r>
            <a:r>
              <a:rPr lang="fr-FR" sz="2400" dirty="0"/>
              <a:t> </a:t>
            </a:r>
            <a:r>
              <a:rPr lang="fr-FR" sz="2400" dirty="0" err="1"/>
              <a:t>reacknowledges</a:t>
            </a:r>
            <a:r>
              <a:rPr lang="fr-FR" sz="2400" dirty="0"/>
              <a:t> a segment for </a:t>
            </a:r>
            <a:r>
              <a:rPr lang="fr-FR" sz="2400" dirty="0" err="1"/>
              <a:t>which</a:t>
            </a:r>
            <a:r>
              <a:rPr lang="fr-FR" sz="2400" dirty="0"/>
              <a:t> the </a:t>
            </a:r>
            <a:r>
              <a:rPr lang="fr-FR" sz="2400" dirty="0" err="1"/>
              <a:t>sender</a:t>
            </a:r>
            <a:r>
              <a:rPr lang="fr-FR" sz="2400" dirty="0"/>
              <a:t> has </a:t>
            </a:r>
            <a:r>
              <a:rPr lang="fr-FR" sz="2400" dirty="0" err="1"/>
              <a:t>already</a:t>
            </a:r>
            <a:r>
              <a:rPr lang="fr-FR" sz="2400" dirty="0"/>
              <a:t> </a:t>
            </a:r>
            <a:r>
              <a:rPr lang="fr-FR" sz="2400" dirty="0" err="1"/>
              <a:t>received</a:t>
            </a:r>
            <a:r>
              <a:rPr lang="fr-FR" sz="2400" dirty="0"/>
              <a:t> an </a:t>
            </a:r>
            <a:r>
              <a:rPr lang="fr-FR" sz="2400" dirty="0" err="1"/>
              <a:t>earlier</a:t>
            </a:r>
            <a:r>
              <a:rPr lang="fr-FR" sz="2400" dirty="0"/>
              <a:t> </a:t>
            </a:r>
            <a:r>
              <a:rPr lang="fr-FR" sz="2400" dirty="0" err="1"/>
              <a:t>acknowledgment</a:t>
            </a:r>
            <a:r>
              <a:rPr lang="fr-FR" sz="2400" dirty="0"/>
              <a:t>. </a:t>
            </a:r>
          </a:p>
          <a:p>
            <a:pPr>
              <a:defRPr/>
            </a:pPr>
            <a:endParaRPr lang="fr-FR" sz="2400" dirty="0"/>
          </a:p>
          <a:p>
            <a:pPr>
              <a:defRPr/>
            </a:pPr>
            <a:r>
              <a:rPr lang="fr-FR" sz="2400" dirty="0" err="1"/>
              <a:t>When</a:t>
            </a:r>
            <a:r>
              <a:rPr lang="fr-FR" sz="2400" dirty="0"/>
              <a:t> </a:t>
            </a:r>
            <a:r>
              <a:rPr lang="fr-FR" sz="2400" dirty="0" err="1"/>
              <a:t>it</a:t>
            </a:r>
            <a:r>
              <a:rPr lang="fr-FR" sz="2400" dirty="0"/>
              <a:t> </a:t>
            </a:r>
            <a:r>
              <a:rPr lang="fr-FR" sz="2400" dirty="0" err="1"/>
              <a:t>is</a:t>
            </a:r>
            <a:r>
              <a:rPr lang="fr-FR" sz="2400" dirty="0"/>
              <a:t> sent/</a:t>
            </a:r>
            <a:r>
              <a:rPr lang="fr-FR" sz="2400" dirty="0" err="1"/>
              <a:t>received</a:t>
            </a:r>
            <a:r>
              <a:rPr lang="fr-FR" sz="2400" dirty="0"/>
              <a:t>? </a:t>
            </a:r>
          </a:p>
          <a:p>
            <a:pPr>
              <a:defRPr/>
            </a:pPr>
            <a:endParaRPr lang="fr-FR" sz="2400" dirty="0"/>
          </a:p>
        </p:txBody>
      </p:sp>
    </p:spTree>
    <p:extLst>
      <p:ext uri="{BB962C8B-B14F-4D97-AF65-F5344CB8AC3E}">
        <p14:creationId xmlns:p14="http://schemas.microsoft.com/office/powerpoint/2010/main" val="20499538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fast retransmit</a:t>
            </a:r>
            <a:endParaRPr lang="en-US" sz="4400" b="0" dirty="0"/>
          </a:p>
        </p:txBody>
      </p:sp>
      <p:sp>
        <p:nvSpPr>
          <p:cNvPr id="62" name="Line 10">
            <a:extLst>
              <a:ext uri="{FF2B5EF4-FFF2-40B4-BE49-F238E27FC236}">
                <a16:creationId xmlns:a16="http://schemas.microsoft.com/office/drawing/2014/main" id="{D5DBB1B8-3A7B-2149-A7A5-727E44799BF4}"/>
              </a:ext>
            </a:extLst>
          </p:cNvPr>
          <p:cNvSpPr>
            <a:spLocks noChangeShapeType="1"/>
          </p:cNvSpPr>
          <p:nvPr/>
        </p:nvSpPr>
        <p:spPr bwMode="auto">
          <a:xfrm flipH="1">
            <a:off x="7137251" y="1928015"/>
            <a:ext cx="0" cy="4413474"/>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3" name="Line 11">
            <a:extLst>
              <a:ext uri="{FF2B5EF4-FFF2-40B4-BE49-F238E27FC236}">
                <a16:creationId xmlns:a16="http://schemas.microsoft.com/office/drawing/2014/main" id="{689C7DF6-5B6C-F34C-B350-3B553A4C7C71}"/>
              </a:ext>
            </a:extLst>
          </p:cNvPr>
          <p:cNvSpPr>
            <a:spLocks noChangeShapeType="1"/>
          </p:cNvSpPr>
          <p:nvPr/>
        </p:nvSpPr>
        <p:spPr bwMode="auto">
          <a:xfrm>
            <a:off x="10614518" y="2016469"/>
            <a:ext cx="14666" cy="43250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4"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9960336" y="1045159"/>
            <a:ext cx="1069083"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75"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6733327" y="1065430"/>
            <a:ext cx="1073474"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grpSp>
        <p:nvGrpSpPr>
          <p:cNvPr id="80" name="Group 78">
            <a:extLst>
              <a:ext uri="{FF2B5EF4-FFF2-40B4-BE49-F238E27FC236}">
                <a16:creationId xmlns:a16="http://schemas.microsoft.com/office/drawing/2014/main" id="{BFB3AB37-E716-1346-A8BA-2EFF122E1DFB}"/>
              </a:ext>
            </a:extLst>
          </p:cNvPr>
          <p:cNvGrpSpPr>
            <a:grpSpLocks/>
          </p:cNvGrpSpPr>
          <p:nvPr/>
        </p:nvGrpSpPr>
        <p:grpSpPr bwMode="auto">
          <a:xfrm>
            <a:off x="6606003" y="2250502"/>
            <a:ext cx="548811" cy="4090987"/>
            <a:chOff x="397" y="868"/>
            <a:chExt cx="250" cy="2220"/>
          </a:xfrm>
        </p:grpSpPr>
        <p:sp>
          <p:nvSpPr>
            <p:cNvPr id="81"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397" y="1778"/>
              <a:ext cx="250" cy="4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timeout</a:t>
              </a:r>
            </a:p>
          </p:txBody>
        </p:sp>
        <p:grpSp>
          <p:nvGrpSpPr>
            <p:cNvPr id="82"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83"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5"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5" name="Group 4">
            <a:extLst>
              <a:ext uri="{FF2B5EF4-FFF2-40B4-BE49-F238E27FC236}">
                <a16:creationId xmlns:a16="http://schemas.microsoft.com/office/drawing/2014/main" id="{DFEC346A-D192-A745-962D-2F7187BE2EBA}"/>
              </a:ext>
            </a:extLst>
          </p:cNvPr>
          <p:cNvGrpSpPr/>
          <p:nvPr/>
        </p:nvGrpSpPr>
        <p:grpSpPr>
          <a:xfrm>
            <a:off x="7013299" y="3003106"/>
            <a:ext cx="3612455" cy="2092660"/>
            <a:chOff x="7013299" y="3003106"/>
            <a:chExt cx="3612455" cy="2092660"/>
          </a:xfrm>
        </p:grpSpPr>
        <p:sp>
          <p:nvSpPr>
            <p:cNvPr id="64" name="Line 12">
              <a:extLst>
                <a:ext uri="{FF2B5EF4-FFF2-40B4-BE49-F238E27FC236}">
                  <a16:creationId xmlns:a16="http://schemas.microsoft.com/office/drawing/2014/main"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8"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9"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0"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9" name="Text Box 43">
              <a:extLst>
                <a:ext uri="{FF2B5EF4-FFF2-40B4-BE49-F238E27FC236}">
                  <a16:creationId xmlns:a16="http://schemas.microsoft.com/office/drawing/2014/main" id="{239E35BD-73CE-0B47-977F-0F2E0F1170FF}"/>
                </a:ext>
              </a:extLst>
            </p:cNvPr>
            <p:cNvSpPr txBox="1">
              <a:spLocks noChangeArrowheads="1"/>
            </p:cNvSpPr>
            <p:nvPr/>
          </p:nvSpPr>
          <p:spPr bwMode="auto">
            <a:xfrm rot="20736981">
              <a:off x="7013299" y="3540991"/>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0" name="Text Box 67">
              <a:extLst>
                <a:ext uri="{FF2B5EF4-FFF2-40B4-BE49-F238E27FC236}">
                  <a16:creationId xmlns:a16="http://schemas.microsoft.com/office/drawing/2014/main" id="{0D263B80-AF59-D348-84FD-932DC45167E5}"/>
                </a:ext>
              </a:extLst>
            </p:cNvPr>
            <p:cNvSpPr txBox="1">
              <a:spLocks noChangeArrowheads="1"/>
            </p:cNvSpPr>
            <p:nvPr/>
          </p:nvSpPr>
          <p:spPr bwMode="auto">
            <a:xfrm rot="20635106">
              <a:off x="7025762" y="4030047"/>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3" name="Text Box 74">
              <a:extLst>
                <a:ext uri="{FF2B5EF4-FFF2-40B4-BE49-F238E27FC236}">
                  <a16:creationId xmlns:a16="http://schemas.microsoft.com/office/drawing/2014/main" id="{8EFF23A0-366A-E64A-A6E3-90FD7CB3D7C0}"/>
                </a:ext>
              </a:extLst>
            </p:cNvPr>
            <p:cNvSpPr txBox="1">
              <a:spLocks noChangeArrowheads="1"/>
            </p:cNvSpPr>
            <p:nvPr/>
          </p:nvSpPr>
          <p:spPr bwMode="auto">
            <a:xfrm rot="20657108">
              <a:off x="7017491" y="4400415"/>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6" name="Text Box 77">
              <a:extLst>
                <a:ext uri="{FF2B5EF4-FFF2-40B4-BE49-F238E27FC236}">
                  <a16:creationId xmlns:a16="http://schemas.microsoft.com/office/drawing/2014/main" id="{589E2F0E-5EA2-944C-B543-F8CCDFFE3457}"/>
                </a:ext>
              </a:extLst>
            </p:cNvPr>
            <p:cNvSpPr txBox="1">
              <a:spLocks noChangeArrowheads="1"/>
            </p:cNvSpPr>
            <p:nvPr/>
          </p:nvSpPr>
          <p:spPr bwMode="auto">
            <a:xfrm rot="20628354">
              <a:off x="7020313" y="4687228"/>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97" name="Rectangle 84">
            <a:extLst>
              <a:ext uri="{FF2B5EF4-FFF2-40B4-BE49-F238E27FC236}">
                <a16:creationId xmlns:a16="http://schemas.microsoft.com/office/drawing/2014/main" id="{DDC13008-E549-D946-9386-1DAF70895444}"/>
              </a:ext>
            </a:extLst>
          </p:cNvPr>
          <p:cNvSpPr>
            <a:spLocks noChangeArrowheads="1"/>
          </p:cNvSpPr>
          <p:nvPr/>
        </p:nvSpPr>
        <p:spPr bwMode="auto">
          <a:xfrm>
            <a:off x="7435805" y="2563776"/>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A410A887-ABC6-3C43-BE7B-AF0C2FBB6C93}"/>
              </a:ext>
            </a:extLst>
          </p:cNvPr>
          <p:cNvGrpSpPr/>
          <p:nvPr/>
        </p:nvGrpSpPr>
        <p:grpSpPr>
          <a:xfrm>
            <a:off x="7137252" y="2219051"/>
            <a:ext cx="3503609" cy="1809741"/>
            <a:chOff x="7137252" y="2219051"/>
            <a:chExt cx="3503609" cy="1809741"/>
          </a:xfrm>
        </p:grpSpPr>
        <p:sp>
          <p:nvSpPr>
            <p:cNvPr id="60" name="Line 3">
              <a:extLst>
                <a:ext uri="{FF2B5EF4-FFF2-40B4-BE49-F238E27FC236}">
                  <a16:creationId xmlns:a16="http://schemas.microsoft.com/office/drawing/2014/main"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1"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6"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7"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1" name="Text Box 20">
              <a:extLst>
                <a:ext uri="{FF2B5EF4-FFF2-40B4-BE49-F238E27FC236}">
                  <a16:creationId xmlns:a16="http://schemas.microsoft.com/office/drawing/2014/main" id="{E876EFCF-EFAF-7745-82C0-69510059A681}"/>
                </a:ext>
              </a:extLst>
            </p:cNvPr>
            <p:cNvSpPr txBox="1">
              <a:spLocks noChangeArrowheads="1"/>
            </p:cNvSpPr>
            <p:nvPr/>
          </p:nvSpPr>
          <p:spPr bwMode="auto">
            <a:xfrm>
              <a:off x="9451039" y="2740684"/>
              <a:ext cx="390753" cy="53072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Arial" charset="0"/>
                  <a:ea typeface="ＭＳ Ｐゴシック" charset="0"/>
                  <a:cs typeface="+mn-cs"/>
                </a:rPr>
                <a:t>X</a:t>
              </a:r>
              <a:endParaRPr kumimoji="0" lang="en-US" sz="1000" b="0" i="0" u="none" strike="noStrike" kern="1200" cap="none" spc="0" normalizeH="0" baseline="0" noProof="0">
                <a:ln>
                  <a:noFill/>
                </a:ln>
                <a:solidFill>
                  <a:srgbClr val="000000"/>
                </a:solidFill>
                <a:effectLst/>
                <a:uLnTx/>
                <a:uFillTx/>
                <a:latin typeface="Times New Roman" charset="0"/>
                <a:ea typeface="ＭＳ Ｐゴシック" charset="0"/>
                <a:cs typeface="+mn-cs"/>
              </a:endParaRPr>
            </a:p>
          </p:txBody>
        </p:sp>
        <p:sp>
          <p:nvSpPr>
            <p:cNvPr id="76" name="Text Box 40">
              <a:extLst>
                <a:ext uri="{FF2B5EF4-FFF2-40B4-BE49-F238E27FC236}">
                  <a16:creationId xmlns:a16="http://schemas.microsoft.com/office/drawing/2014/main" id="{9B99FD84-14B7-6845-8B4C-03596E083BDE}"/>
                </a:ext>
              </a:extLst>
            </p:cNvPr>
            <p:cNvSpPr txBox="1">
              <a:spLocks noChangeArrowheads="1"/>
            </p:cNvSpPr>
            <p:nvPr/>
          </p:nvSpPr>
          <p:spPr bwMode="auto">
            <a:xfrm rot="584648">
              <a:off x="7273253" y="2219051"/>
              <a:ext cx="2122193" cy="307777"/>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98" name="Text Box 83">
              <a:extLst>
                <a:ext uri="{FF2B5EF4-FFF2-40B4-BE49-F238E27FC236}">
                  <a16:creationId xmlns:a16="http://schemas.microsoft.com/office/drawing/2014/main" id="{677E8A81-661D-AA46-A7ED-6BC634EAB244}"/>
                </a:ext>
              </a:extLst>
            </p:cNvPr>
            <p:cNvSpPr txBox="1">
              <a:spLocks noChangeArrowheads="1"/>
            </p:cNvSpPr>
            <p:nvPr/>
          </p:nvSpPr>
          <p:spPr bwMode="auto">
            <a:xfrm rot="665764">
              <a:off x="7287508" y="2545419"/>
              <a:ext cx="2313691" cy="30777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8" name="Group 7">
            <a:extLst>
              <a:ext uri="{FF2B5EF4-FFF2-40B4-BE49-F238E27FC236}">
                <a16:creationId xmlns:a16="http://schemas.microsoft.com/office/drawing/2014/main" id="{13A0E61A-342C-6348-8A8F-CA25838E85CE}"/>
              </a:ext>
            </a:extLst>
          </p:cNvPr>
          <p:cNvGrpSpPr/>
          <p:nvPr/>
        </p:nvGrpSpPr>
        <p:grpSpPr>
          <a:xfrm>
            <a:off x="6842436" y="5132585"/>
            <a:ext cx="3833549" cy="696610"/>
            <a:chOff x="6842436" y="5132585"/>
            <a:chExt cx="3833549" cy="696610"/>
          </a:xfrm>
        </p:grpSpPr>
        <p:sp>
          <p:nvSpPr>
            <p:cNvPr id="72" name="Line 24">
              <a:extLst>
                <a:ext uri="{FF2B5EF4-FFF2-40B4-BE49-F238E27FC236}">
                  <a16:creationId xmlns:a16="http://schemas.microsoft.com/office/drawing/2014/main"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99" name="Rectangle 85">
              <a:extLst>
                <a:ext uri="{FF2B5EF4-FFF2-40B4-BE49-F238E27FC236}">
                  <a16:creationId xmlns:a16="http://schemas.microsoft.com/office/drawing/2014/main"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00" name="Text Box 86">
              <a:extLst>
                <a:ext uri="{FF2B5EF4-FFF2-40B4-BE49-F238E27FC236}">
                  <a16:creationId xmlns:a16="http://schemas.microsoft.com/office/drawing/2014/main" id="{DDF60828-DFE2-734F-A384-4D3CA07DDADD}"/>
                </a:ext>
              </a:extLst>
            </p:cNvPr>
            <p:cNvSpPr txBox="1">
              <a:spLocks noChangeArrowheads="1"/>
            </p:cNvSpPr>
            <p:nvPr/>
          </p:nvSpPr>
          <p:spPr bwMode="auto">
            <a:xfrm>
              <a:off x="6842436" y="5132585"/>
              <a:ext cx="3154565" cy="35381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101" name="Group 93">
            <a:extLst>
              <a:ext uri="{FF2B5EF4-FFF2-40B4-BE49-F238E27FC236}">
                <a16:creationId xmlns:a16="http://schemas.microsoft.com/office/drawing/2014/main" id="{90980625-BCFD-F546-BD95-6CC80FC48859}"/>
              </a:ext>
            </a:extLst>
          </p:cNvPr>
          <p:cNvGrpSpPr>
            <a:grpSpLocks/>
          </p:cNvGrpSpPr>
          <p:nvPr/>
        </p:nvGrpSpPr>
        <p:grpSpPr bwMode="auto">
          <a:xfrm>
            <a:off x="6608198" y="1343690"/>
            <a:ext cx="810044" cy="619176"/>
            <a:chOff x="-44" y="1473"/>
            <a:chExt cx="981" cy="1105"/>
          </a:xfrm>
        </p:grpSpPr>
        <p:pic>
          <p:nvPicPr>
            <p:cNvPr id="102"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4" name="Group 96">
            <a:extLst>
              <a:ext uri="{FF2B5EF4-FFF2-40B4-BE49-F238E27FC236}">
                <a16:creationId xmlns:a16="http://schemas.microsoft.com/office/drawing/2014/main" id="{30D13886-717C-5C49-84EB-DD7C28AC75E9}"/>
              </a:ext>
            </a:extLst>
          </p:cNvPr>
          <p:cNvGrpSpPr>
            <a:grpSpLocks/>
          </p:cNvGrpSpPr>
          <p:nvPr/>
        </p:nvGrpSpPr>
        <p:grpSpPr bwMode="auto">
          <a:xfrm flipH="1">
            <a:off x="10328620" y="1375018"/>
            <a:ext cx="749093" cy="672617"/>
            <a:chOff x="-44" y="1473"/>
            <a:chExt cx="981" cy="1105"/>
          </a:xfrm>
        </p:grpSpPr>
        <p:pic>
          <p:nvPicPr>
            <p:cNvPr id="105"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96BABFE7-C970-8E4B-A16C-A7D788B9DA23}"/>
              </a:ext>
            </a:extLst>
          </p:cNvPr>
          <p:cNvGrpSpPr/>
          <p:nvPr/>
        </p:nvGrpSpPr>
        <p:grpSpPr>
          <a:xfrm>
            <a:off x="1803400" y="4591050"/>
            <a:ext cx="5319534" cy="1606314"/>
            <a:chOff x="1803400" y="4591050"/>
            <a:chExt cx="5319534" cy="1606314"/>
          </a:xfrm>
        </p:grpSpPr>
        <p:pic>
          <p:nvPicPr>
            <p:cNvPr id="52" name="Picture 2" descr="Image result for light bulb icon">
              <a:extLst>
                <a:ext uri="{FF2B5EF4-FFF2-40B4-BE49-F238E27FC236}">
                  <a16:creationId xmlns:a16="http://schemas.microsoft.com/office/drawing/2014/main" id="{F30DA35F-A671-6D4D-9DD4-D0D5E13E1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a16="http://schemas.microsoft.com/office/drawing/2014/main" id="{34AAC8DC-F059-7445-99BF-80AECC3E6614}"/>
                </a:ext>
              </a:extLst>
            </p:cNvPr>
            <p:cNvSpPr txBox="1">
              <a:spLocks noChangeArrowheads="1"/>
            </p:cNvSpPr>
            <p:nvPr/>
          </p:nvSpPr>
          <p:spPr bwMode="auto">
            <a:xfrm>
              <a:off x="2235200" y="4775436"/>
              <a:ext cx="4145527" cy="142192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Receipt of three duplicate ACKs indicates 3 segments received after a missing segment – lost segment is likely. So retransmit!</a:t>
              </a:r>
              <a:endParaRPr kumimoji="0" lang="en-US" sz="11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cxnSp>
          <p:nvCxnSpPr>
            <p:cNvPr id="6" name="Straight Connector 5">
              <a:extLst>
                <a:ext uri="{FF2B5EF4-FFF2-40B4-BE49-F238E27FC236}">
                  <a16:creationId xmlns:a16="http://schemas.microsoft.com/office/drawing/2014/main"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34962C80-D280-E449-81BD-84D3E53124DD}"/>
              </a:ext>
            </a:extLst>
          </p:cNvPr>
          <p:cNvGrpSpPr/>
          <p:nvPr/>
        </p:nvGrpSpPr>
        <p:grpSpPr>
          <a:xfrm>
            <a:off x="790711" y="1227535"/>
            <a:ext cx="5214977" cy="2878929"/>
            <a:chOff x="7089911" y="1681505"/>
            <a:chExt cx="5214977" cy="2878929"/>
          </a:xfrm>
        </p:grpSpPr>
        <p:sp>
          <p:nvSpPr>
            <p:cNvPr id="58" name="Rectangle 5">
              <a:extLst>
                <a:ext uri="{FF2B5EF4-FFF2-40B4-BE49-F238E27FC236}">
                  <a16:creationId xmlns:a16="http://schemas.microsoft.com/office/drawing/2014/main" id="{F5C10379-FA54-C34D-B355-F07F5DA409A8}"/>
                </a:ext>
              </a:extLst>
            </p:cNvPr>
            <p:cNvSpPr>
              <a:spLocks noChangeArrowheads="1"/>
            </p:cNvSpPr>
            <p:nvPr/>
          </p:nvSpPr>
          <p:spPr bwMode="auto">
            <a:xfrm>
              <a:off x="7360355" y="2207758"/>
              <a:ext cx="4809067" cy="22637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sender receives 3 additional ACKs for same data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triple duplicate ACKs”),</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resend </a:t>
              </a:r>
              <a:r>
                <a:rPr kumimoji="0" lang="en-US" altLang="ja-JP"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segment with smallest seq #</a:t>
              </a:r>
            </a:p>
            <a:p>
              <a:pPr marL="463550" marR="0" lvl="1" indent="-2381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likely that </a:t>
              </a:r>
              <a:r>
                <a:rPr kumimoji="0" lang="en-US" altLang="en-US" sz="24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segment lost, so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wait for timeout</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9" name="Rectangle 6">
              <a:extLst>
                <a:ext uri="{FF2B5EF4-FFF2-40B4-BE49-F238E27FC236}">
                  <a16:creationId xmlns:a16="http://schemas.microsoft.com/office/drawing/2014/main"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7" name="Text Box 7">
              <a:extLst>
                <a:ext uri="{FF2B5EF4-FFF2-40B4-BE49-F238E27FC236}">
                  <a16:creationId xmlns:a16="http://schemas.microsoft.com/office/drawing/2014/main" id="{F5EE31CA-1C9B-9E4F-8E15-A0B0919A3B54}"/>
                </a:ext>
              </a:extLst>
            </p:cNvPr>
            <p:cNvSpPr txBox="1">
              <a:spLocks noChangeArrowheads="1"/>
            </p:cNvSpPr>
            <p:nvPr/>
          </p:nvSpPr>
          <p:spPr bwMode="auto">
            <a:xfrm>
              <a:off x="7348953" y="1681505"/>
              <a:ext cx="2773363" cy="4572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CC0000"/>
                  </a:solidFill>
                  <a:effectLst/>
                  <a:uLnTx/>
                  <a:uFillTx/>
                  <a:latin typeface="Tahoma" charset="0"/>
                  <a:ea typeface="ＭＳ Ｐゴシック" charset="0"/>
                  <a:cs typeface="+mn-cs"/>
                </a:rPr>
                <a:t>TCP fast retransmit</a:t>
              </a:r>
            </a:p>
          </p:txBody>
        </p:sp>
      </p:grpSp>
      <p:sp>
        <p:nvSpPr>
          <p:cNvPr id="53" name="Slide Number Placeholder 2">
            <a:extLst>
              <a:ext uri="{FF2B5EF4-FFF2-40B4-BE49-F238E27FC236}">
                <a16:creationId xmlns:a16="http://schemas.microsoft.com/office/drawing/2014/main" id="{16A9B416-8E8B-FD4A-BF46-FBBC16EEB4F4}"/>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46</a:t>
            </a:fld>
            <a:endParaRPr lang="en-US" dirty="0"/>
          </a:p>
        </p:txBody>
      </p:sp>
    </p:spTree>
    <p:extLst>
      <p:ext uri="{BB962C8B-B14F-4D97-AF65-F5344CB8AC3E}">
        <p14:creationId xmlns:p14="http://schemas.microsoft.com/office/powerpoint/2010/main" val="119661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Receiver: ACK generation </a:t>
            </a:r>
            <a:r>
              <a:rPr lang="en-US" sz="2400" b="0" dirty="0"/>
              <a:t>[RFC 5681]</a:t>
            </a:r>
            <a:endParaRPr lang="en-US" sz="4400" b="0" dirty="0"/>
          </a:p>
        </p:txBody>
      </p:sp>
      <p:sp>
        <p:nvSpPr>
          <p:cNvPr id="43" name="Text Box 3">
            <a:extLst>
              <a:ext uri="{FF2B5EF4-FFF2-40B4-BE49-F238E27FC236}">
                <a16:creationId xmlns:a16="http://schemas.microsoft.com/office/drawing/2014/main" id="{0C54E9E4-D2A0-C64E-B652-DCC0E63DDD71}"/>
              </a:ext>
            </a:extLst>
          </p:cNvPr>
          <p:cNvSpPr txBox="1">
            <a:spLocks noChangeArrowheads="1"/>
          </p:cNvSpPr>
          <p:nvPr/>
        </p:nvSpPr>
        <p:spPr bwMode="auto">
          <a:xfrm>
            <a:off x="2143953" y="1439289"/>
            <a:ext cx="3496406" cy="50644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Event at receiver</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All data up to</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already </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ACKed</a:t>
            </a: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One other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has ACK pending</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out-of-order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higher-than-expect seq. #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Gap detected</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segment that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partially or completely fills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4" name="Text Box 4">
            <a:extLst>
              <a:ext uri="{FF2B5EF4-FFF2-40B4-BE49-F238E27FC236}">
                <a16:creationId xmlns:a16="http://schemas.microsoft.com/office/drawing/2014/main" id="{7D1A8937-7497-E947-B481-036DB6905786}"/>
              </a:ext>
            </a:extLst>
          </p:cNvPr>
          <p:cNvSpPr txBox="1">
            <a:spLocks noChangeArrowheads="1"/>
          </p:cNvSpPr>
          <p:nvPr/>
        </p:nvSpPr>
        <p:spPr bwMode="auto">
          <a:xfrm>
            <a:off x="5906328" y="1429764"/>
            <a:ext cx="4189545" cy="50644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TCP receiver action</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delayed ACK. Wait up to 500ms</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for next segment. If no next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 ACK</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single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ACK, </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ACKing</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both in-order segments </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a:t>
            </a:r>
            <a:r>
              <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duplicate ACK</a:t>
            </a:r>
            <a:r>
              <a:rPr kumimoji="0" lang="en-US" sz="20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indicating seq. # of next expected byte</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 send ACK, provided that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starts at lower end of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5" name="Line 9">
            <a:extLst>
              <a:ext uri="{FF2B5EF4-FFF2-40B4-BE49-F238E27FC236}">
                <a16:creationId xmlns:a16="http://schemas.microsoft.com/office/drawing/2014/main" id="{B5C333E2-4347-8B41-A67B-31280E7B23CD}"/>
              </a:ext>
            </a:extLst>
          </p:cNvPr>
          <p:cNvSpPr>
            <a:spLocks noChangeShapeType="1"/>
          </p:cNvSpPr>
          <p:nvPr/>
        </p:nvSpPr>
        <p:spPr bwMode="auto">
          <a:xfrm>
            <a:off x="5715828" y="1590101"/>
            <a:ext cx="0" cy="4352925"/>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6" name="Line 11">
            <a:extLst>
              <a:ext uri="{FF2B5EF4-FFF2-40B4-BE49-F238E27FC236}">
                <a16:creationId xmlns:a16="http://schemas.microsoft.com/office/drawing/2014/main" id="{A3C87D27-55A1-0740-A388-14FABFDCAECD}"/>
              </a:ext>
            </a:extLst>
          </p:cNvPr>
          <p:cNvSpPr>
            <a:spLocks noChangeShapeType="1"/>
          </p:cNvSpPr>
          <p:nvPr/>
        </p:nvSpPr>
        <p:spPr bwMode="auto">
          <a:xfrm>
            <a:off x="2159828" y="2029839"/>
            <a:ext cx="7494588"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7" name="Line 12">
            <a:extLst>
              <a:ext uri="{FF2B5EF4-FFF2-40B4-BE49-F238E27FC236}">
                <a16:creationId xmlns:a16="http://schemas.microsoft.com/office/drawing/2014/main" id="{BAEE28BF-45B4-7B4F-8643-BEFCF1817DB3}"/>
              </a:ext>
            </a:extLst>
          </p:cNvPr>
          <p:cNvSpPr>
            <a:spLocks noChangeShapeType="1"/>
          </p:cNvSpPr>
          <p:nvPr/>
        </p:nvSpPr>
        <p:spPr bwMode="auto">
          <a:xfrm>
            <a:off x="2143953" y="3083939"/>
            <a:ext cx="7494588"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8" name="Line 13">
            <a:extLst>
              <a:ext uri="{FF2B5EF4-FFF2-40B4-BE49-F238E27FC236}">
                <a16:creationId xmlns:a16="http://schemas.microsoft.com/office/drawing/2014/main" id="{497F621D-E3C3-D549-BCDE-B1C658BA2FF8}"/>
              </a:ext>
            </a:extLst>
          </p:cNvPr>
          <p:cNvSpPr>
            <a:spLocks noChangeShapeType="1"/>
          </p:cNvSpPr>
          <p:nvPr/>
        </p:nvSpPr>
        <p:spPr bwMode="auto">
          <a:xfrm>
            <a:off x="2161416" y="4182489"/>
            <a:ext cx="7494587"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9" name="Line 14">
            <a:extLst>
              <a:ext uri="{FF2B5EF4-FFF2-40B4-BE49-F238E27FC236}">
                <a16:creationId xmlns:a16="http://schemas.microsoft.com/office/drawing/2014/main" id="{B5CA7B9A-CEFE-9440-989C-72777EDC3F97}"/>
              </a:ext>
            </a:extLst>
          </p:cNvPr>
          <p:cNvSpPr>
            <a:spLocks noChangeShapeType="1"/>
          </p:cNvSpPr>
          <p:nvPr/>
        </p:nvSpPr>
        <p:spPr bwMode="auto">
          <a:xfrm>
            <a:off x="2155066" y="5271514"/>
            <a:ext cx="7494587"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 name="Rectangle 3">
            <a:extLst>
              <a:ext uri="{FF2B5EF4-FFF2-40B4-BE49-F238E27FC236}">
                <a16:creationId xmlns:a16="http://schemas.microsoft.com/office/drawing/2014/main" id="{446007AE-16BF-5641-9533-FDFCED5467B7}"/>
              </a:ext>
            </a:extLst>
          </p:cNvPr>
          <p:cNvSpPr/>
          <p:nvPr/>
        </p:nvSpPr>
        <p:spPr>
          <a:xfrm>
            <a:off x="2141951" y="2079321"/>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4788DE70-9425-C941-B687-5CDA29AFB818}"/>
              </a:ext>
            </a:extLst>
          </p:cNvPr>
          <p:cNvSpPr/>
          <p:nvPr/>
        </p:nvSpPr>
        <p:spPr>
          <a:xfrm>
            <a:off x="2006253" y="3158647"/>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A265DF2-3FEE-3D4C-9E18-1D8A86817D23}"/>
              </a:ext>
            </a:extLst>
          </p:cNvPr>
          <p:cNvSpPr/>
          <p:nvPr/>
        </p:nvSpPr>
        <p:spPr>
          <a:xfrm>
            <a:off x="2196231" y="4237973"/>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03861685-9E67-3541-901D-AC152EC9F9C7}"/>
              </a:ext>
            </a:extLst>
          </p:cNvPr>
          <p:cNvSpPr/>
          <p:nvPr/>
        </p:nvSpPr>
        <p:spPr>
          <a:xfrm>
            <a:off x="2246335" y="5340264"/>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Slide Number Placeholder 2">
            <a:extLst>
              <a:ext uri="{FF2B5EF4-FFF2-40B4-BE49-F238E27FC236}">
                <a16:creationId xmlns:a16="http://schemas.microsoft.com/office/drawing/2014/main" id="{340791B0-4154-D14E-9DBD-0157764BBAE9}"/>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47</a:t>
            </a:fld>
            <a:endParaRPr lang="en-US" dirty="0"/>
          </a:p>
        </p:txBody>
      </p:sp>
    </p:spTree>
    <p:extLst>
      <p:ext uri="{BB962C8B-B14F-4D97-AF65-F5344CB8AC3E}">
        <p14:creationId xmlns:p14="http://schemas.microsoft.com/office/powerpoint/2010/main" val="177131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9004</TotalTime>
  <Words>5121</Words>
  <Application>Microsoft Office PowerPoint</Application>
  <PresentationFormat>Widescreen</PresentationFormat>
  <Paragraphs>866</Paragraphs>
  <Slides>47</Slides>
  <Notes>32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47</vt:i4>
      </vt:variant>
    </vt:vector>
  </HeadingPairs>
  <TitlesOfParts>
    <vt:vector size="59" baseType="lpstr">
      <vt:lpstr>Arial</vt:lpstr>
      <vt:lpstr>Arial Narrow</vt:lpstr>
      <vt:lpstr>Calibri</vt:lpstr>
      <vt:lpstr>Courier New</vt:lpstr>
      <vt:lpstr>Gill Sans MT</vt:lpstr>
      <vt:lpstr>Symbol</vt:lpstr>
      <vt:lpstr>Tahoma</vt:lpstr>
      <vt:lpstr>Times New Roman</vt:lpstr>
      <vt:lpstr>Wingdings</vt:lpstr>
      <vt:lpstr>Office Theme</vt:lpstr>
      <vt:lpstr>Picture</vt:lpstr>
      <vt:lpstr>Clip</vt:lpstr>
      <vt:lpstr>PowerPoint Presentation</vt:lpstr>
      <vt:lpstr>Performance of rdt3.0 (stop-and-wait)</vt:lpstr>
      <vt:lpstr>rdt3.0: stop-and-wait operation</vt:lpstr>
      <vt:lpstr>rdt3.0: stop-and-wait operation</vt:lpstr>
      <vt:lpstr>rdt3.0: pipelined protocols operation</vt:lpstr>
      <vt:lpstr>Pipelining: increased utilization</vt:lpstr>
      <vt:lpstr>Go-Back-N: sender</vt:lpstr>
      <vt:lpstr>Go-Back-N: receiver</vt:lpstr>
      <vt:lpstr>Go-Back-N in action</vt:lpstr>
      <vt:lpstr>Selective repeat</vt:lpstr>
      <vt:lpstr>Selective repeat: sender, receiver windows</vt:lpstr>
      <vt:lpstr>Selective repeat: sender and receiver</vt:lpstr>
      <vt:lpstr>Selective Repeat in action</vt:lpstr>
      <vt:lpstr>Selective repeat:  a dilemma!</vt:lpstr>
      <vt:lpstr>Selective repeat:  a dilemma!</vt:lpstr>
      <vt:lpstr>Animation Link</vt:lpstr>
      <vt:lpstr>Review</vt:lpstr>
      <vt:lpstr>GBN: sender extended FSM</vt:lpstr>
      <vt:lpstr>GBN: receiver extended FSM</vt:lpstr>
      <vt:lpstr>Chapter 3: roadmap</vt:lpstr>
      <vt:lpstr>TCP: overview  RFCs: 793,1122, 2018, 5681, 7323</vt:lpstr>
      <vt:lpstr>TCP connection </vt:lpstr>
      <vt:lpstr>TCP Send/Receive buffers</vt:lpstr>
      <vt:lpstr>TCP segment structure</vt:lpstr>
      <vt:lpstr>TCP sequence numbers, ACKs</vt:lpstr>
      <vt:lpstr>Sequence Numbers </vt:lpstr>
      <vt:lpstr>An example</vt:lpstr>
      <vt:lpstr>TCP Sequence Numbers </vt:lpstr>
      <vt:lpstr>Full duplex</vt:lpstr>
      <vt:lpstr>Acknowledgment numbers </vt:lpstr>
      <vt:lpstr>An example</vt:lpstr>
      <vt:lpstr>Another example</vt:lpstr>
      <vt:lpstr>Out of order segments</vt:lpstr>
      <vt:lpstr>The seg/ack numbers base</vt:lpstr>
      <vt:lpstr>TCP sequence numbers, ACKs</vt:lpstr>
      <vt:lpstr>TCP round trip time, timeout</vt:lpstr>
      <vt:lpstr>TCP round trip time, timeout</vt:lpstr>
      <vt:lpstr>TCP round trip time, timeout</vt:lpstr>
      <vt:lpstr>TCP reliable data transfer</vt:lpstr>
      <vt:lpstr>TCP Sender (simplified)</vt:lpstr>
      <vt:lpstr>TCP sender (simplified)</vt:lpstr>
      <vt:lpstr>TCP: retransmission scenarios</vt:lpstr>
      <vt:lpstr>TCP: retransmission scenarios</vt:lpstr>
      <vt:lpstr>Modified TCP – Doubling Timeout Interval</vt:lpstr>
      <vt:lpstr>Modified TCP – Fast Retransmit </vt:lpstr>
      <vt:lpstr>TCP fast retransmit</vt:lpstr>
      <vt:lpstr>TCP Receiver: ACK generation [RFC 5681]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Danish Shehzad</cp:lastModifiedBy>
  <cp:revision>412</cp:revision>
  <dcterms:created xsi:type="dcterms:W3CDTF">2020-01-18T07:24:59Z</dcterms:created>
  <dcterms:modified xsi:type="dcterms:W3CDTF">2024-10-06T05:14:18Z</dcterms:modified>
</cp:coreProperties>
</file>