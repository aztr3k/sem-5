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1254" r:id="rId2"/>
    <p:sldId id="1042" r:id="rId3"/>
    <p:sldId id="1068" r:id="rId4"/>
    <p:sldId id="1069" r:id="rId5"/>
    <p:sldId id="1070" r:id="rId6"/>
    <p:sldId id="1072" r:id="rId7"/>
    <p:sldId id="1073" r:id="rId8"/>
    <p:sldId id="1074" r:id="rId9"/>
    <p:sldId id="1075" r:id="rId10"/>
    <p:sldId id="1076" r:id="rId11"/>
    <p:sldId id="1077" r:id="rId12"/>
    <p:sldId id="1078" r:id="rId13"/>
    <p:sldId id="1079" r:id="rId14"/>
    <p:sldId id="1080" r:id="rId15"/>
    <p:sldId id="1081" r:id="rId16"/>
    <p:sldId id="1082" r:id="rId17"/>
    <p:sldId id="1083" r:id="rId18"/>
    <p:sldId id="1084" r:id="rId19"/>
    <p:sldId id="1085" r:id="rId20"/>
    <p:sldId id="1086" r:id="rId21"/>
    <p:sldId id="122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85E22-934F-404E-B36C-BCD6922C2DC5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16380-C9F0-4D98-BDE0-7DC8E7138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73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180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898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8282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336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244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747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22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681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708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093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01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101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1466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136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49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90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268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79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0962-E08D-1EB7-2FD0-06752C35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0CD66-E18B-583C-A80B-9EE1CC872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9B10B-DA8A-3E6A-F7C4-6D5B76BC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FA82-E2E5-3E4B-E450-2B3C8F4D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ECD62-5094-31C5-8BE6-D0AEFAD8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3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4D1B-688E-0B67-53A5-FB5B887F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1AC8-74B4-E2C1-011E-F3154527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1F783-A97F-3FD4-C675-AD654461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E491-C6CB-386C-7A3C-9D0CE1F0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D4CC6-DFEA-66E7-C3E7-07C5CAC5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1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4E67-68A1-BCFC-1EF7-46248A3A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77ABA-9C6E-7EE3-BCA7-0143F6CA5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3AD52-4ABD-54E1-F8D4-68C3BBF2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E883F-CD12-64B8-2D1F-4EED17F7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0A1F1-C44E-C0C4-0287-64F8B0BA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4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772F-19F9-5219-8423-6377E6EC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59FB9-63F2-1F55-B6DD-5AA6C8520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19039-59F4-3E91-B4E5-463C839DF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0F727-0320-C1F1-87D3-CBDE59D3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374BE-2A9C-508A-A31C-4781B2B3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55161-B4FE-B4AD-82F4-6898DFDD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4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861F-47F7-8757-DD3C-8B1D418C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5999D-5AD3-BC13-72A6-354A1BB5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EB63B-4F7E-99BF-256D-03EE2CFE1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DF8CD-0BC6-0D65-7B18-982297A63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BA179-72F5-5886-F39D-54AD9BBFA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F6369-E494-249F-35A5-C17F7B03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D2643-F4AA-1741-6319-2EB97D9C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8428B-27FA-A0A9-6CA1-C6D052A7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7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5424-9CDF-7FAC-C6F0-F29FB647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788D4-AF04-C06F-1C09-A222950C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BC2CB-9130-AD05-A005-4E60215A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CFA17-4716-7CE9-1CF6-4D8A0581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6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8A559-C85D-6D50-4079-68F1BA2C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1B873-6F36-C519-6F2C-2DD74842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2EB3-C979-9629-076D-FCBC317C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28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51F6-D315-623B-26BF-09D6C1A9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BA554-5046-B51D-A42B-60C55491C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92C83-D5AC-7087-64D9-49CFE657F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7FBFF-5E5A-A41E-9151-755CCEDB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D45F3-3DC7-4B55-B997-66A0A355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23073-611E-BF2B-E5F0-8209F6B6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82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929F-7357-EEF3-C710-6A4807972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A5657-D382-FBFD-CBA3-FBF0B64ED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E824A-D641-C159-1BDE-C1414C572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53AA0-3A57-0513-E8E1-385A2597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B1102-CA5E-B381-E36A-505BAC50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270FB-2319-C31A-DD23-4517B849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C9B1-9B4D-DA9D-CF17-C1BA8DB6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DBB2F-CC6F-64DD-AC9F-34091BF6B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3D32F-37D9-EA22-1D45-9AF30778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C0382-8DA9-856A-9F55-4CE13C5C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9774B-01AB-76FC-6FA5-693C702A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8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11D679-5C0B-D384-A80F-57CEC3641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5127C-99EE-15C4-5ED7-38315B808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6E5C0-D971-2999-BE66-247C22C34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998D8-ED5B-664A-0453-44DA675D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03AD-6EBD-A46B-8B68-49704DB5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9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33549-ABC0-41B0-E85A-2ABBE585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E83A8-415B-0A0D-C98C-171FD125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BD4AD-95F5-9A14-15C3-FCDC79621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8C115-069A-45A5-AA00-2560A528E73E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3A7AD-A1F1-9847-E568-F89D18DD8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EFE01-CD3C-73D9-6E15-A36100469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DEFA5-7EFD-4ECC-BB8D-A8D8E020D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Web and HTTP</a:t>
            </a:r>
          </a:p>
        </p:txBody>
      </p:sp>
    </p:spTree>
    <p:extLst>
      <p:ext uri="{BB962C8B-B14F-4D97-AF65-F5344CB8AC3E}">
        <p14:creationId xmlns:p14="http://schemas.microsoft.com/office/powerpoint/2010/main" val="61984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 descr="Kurose&amp;Ross 8th edition photo">
            <a:extLst>
              <a:ext uri="{FF2B5EF4-FFF2-40B4-BE49-F238E27FC236}">
                <a16:creationId xmlns:a16="http://schemas.microsoft.com/office/drawing/2014/main" id="{95F7992F-0B40-8A40-9C6C-9B0007DB8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First, a quick review…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each of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which can be stored on different Web servers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can be HTML file, JPEG image, Java applet, audio file,…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 HTML-file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which includes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several referenced objects, each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addressable by a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URL,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e.g.,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www.someschool.edu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/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someDept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/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pic.gif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path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name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1E9D565-6810-E44B-9B1D-6FAB7B7F8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kumimoji="0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67724E3-B9EF-784C-81CF-0208D90CEEBE}"/>
              </a:ext>
            </a:extLst>
          </p:cNvPr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id="{61B2A806-9EFC-9449-97BE-336492E83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iPhone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Safari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87" name="Picture 43" descr="iphone_stylized_small">
              <a:extLst>
                <a:ext uri="{FF2B5EF4-FFF2-40B4-BE49-F238E27FC236}">
                  <a16:creationId xmlns:a16="http://schemas.microsoft.com/office/drawing/2014/main" id="{D1E934F1-FF6C-B341-A221-3811072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E3F8E5-5BB6-9F4D-BD7D-96E3FCFF937E}"/>
              </a:ext>
            </a:extLst>
          </p:cNvPr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id="{EE5DED9F-E1C4-F34D-899C-5E5BAFDA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PC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Firefox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id="{9EAD6FC3-A72E-8241-AA6C-FE53B68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89" name="Picture 45" descr="desktop_computer_stylized_medium">
                <a:extLst>
                  <a:ext uri="{FF2B5EF4-FFF2-40B4-BE49-F238E27FC236}">
                    <a16:creationId xmlns:a16="http://schemas.microsoft.com/office/drawing/2014/main" id="{1ADDC1FA-6D07-3F4E-8F74-21843504B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id="{42A6104A-05E4-B94E-8AC8-1F8524B85F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6FA54E-9DBE-BF46-9FA4-0BD5D56FE85D}"/>
              </a:ext>
            </a:extLst>
          </p:cNvPr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1DB0406D-8424-A242-88CD-CF99DD0C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Apache Web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" name="Group 47">
              <a:extLst>
                <a:ext uri="{FF2B5EF4-FFF2-40B4-BE49-F238E27FC236}">
                  <a16:creationId xmlns:a16="http://schemas.microsoft.com/office/drawing/2014/main" id="{1578750D-9ADE-FF47-A035-3F58F7F95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92" name="Freeform 48">
                <a:extLst>
                  <a:ext uri="{FF2B5EF4-FFF2-40B4-BE49-F238E27FC236}">
                    <a16:creationId xmlns:a16="http://schemas.microsoft.com/office/drawing/2014/main" id="{30FC1D0E-933E-6B40-9A42-0E9717238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Rectangle 49">
                <a:extLst>
                  <a:ext uri="{FF2B5EF4-FFF2-40B4-BE49-F238E27FC236}">
                    <a16:creationId xmlns:a16="http://schemas.microsoft.com/office/drawing/2014/main" id="{B5655423-6CF0-CD49-B3A9-063B782C1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Freeform 50">
                <a:extLst>
                  <a:ext uri="{FF2B5EF4-FFF2-40B4-BE49-F238E27FC236}">
                    <a16:creationId xmlns:a16="http://schemas.microsoft.com/office/drawing/2014/main" id="{A0AC0D67-FA58-B147-A1DC-19113472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Freeform 51">
                <a:extLst>
                  <a:ext uri="{FF2B5EF4-FFF2-40B4-BE49-F238E27FC236}">
                    <a16:creationId xmlns:a16="http://schemas.microsoft.com/office/drawing/2014/main" id="{DE00B670-08D8-5142-A593-67DE6409B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Rectangle 52">
                <a:extLst>
                  <a:ext uri="{FF2B5EF4-FFF2-40B4-BE49-F238E27FC236}">
                    <a16:creationId xmlns:a16="http://schemas.microsoft.com/office/drawing/2014/main" id="{C0F46C25-0562-1D41-A932-B4DCFBC60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7" name="Group 53">
                <a:extLst>
                  <a:ext uri="{FF2B5EF4-FFF2-40B4-BE49-F238E27FC236}">
                    <a16:creationId xmlns:a16="http://schemas.microsoft.com/office/drawing/2014/main" id="{42D2ADD9-FBDF-B348-8727-B1428057A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2" name="AutoShape 54">
                  <a:extLst>
                    <a:ext uri="{FF2B5EF4-FFF2-40B4-BE49-F238E27FC236}">
                      <a16:creationId xmlns:a16="http://schemas.microsoft.com/office/drawing/2014/main" id="{B3A024BC-0571-B343-B957-96A9956CB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3" name="AutoShape 55">
                  <a:extLst>
                    <a:ext uri="{FF2B5EF4-FFF2-40B4-BE49-F238E27FC236}">
                      <a16:creationId xmlns:a16="http://schemas.microsoft.com/office/drawing/2014/main" id="{BCE631BE-5109-0446-9778-CCBD1DF0A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8" name="Rectangle 56">
                <a:extLst>
                  <a:ext uri="{FF2B5EF4-FFF2-40B4-BE49-F238E27FC236}">
                    <a16:creationId xmlns:a16="http://schemas.microsoft.com/office/drawing/2014/main" id="{5D3DFADC-1C8D-AF4C-85AA-0F7A2C55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9" name="Group 57">
                <a:extLst>
                  <a:ext uri="{FF2B5EF4-FFF2-40B4-BE49-F238E27FC236}">
                    <a16:creationId xmlns:a16="http://schemas.microsoft.com/office/drawing/2014/main" id="{C1D33EC1-1E29-8544-B98D-73191F02F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0" name="AutoShape 58">
                  <a:extLst>
                    <a:ext uri="{FF2B5EF4-FFF2-40B4-BE49-F238E27FC236}">
                      <a16:creationId xmlns:a16="http://schemas.microsoft.com/office/drawing/2014/main" id="{82D153A1-613C-9C4E-A2C0-B1C929BC0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AutoShape 59">
                  <a:extLst>
                    <a:ext uri="{FF2B5EF4-FFF2-40B4-BE49-F238E27FC236}">
                      <a16:creationId xmlns:a16="http://schemas.microsoft.com/office/drawing/2014/main" id="{F147FCC4-6131-8F44-A906-F0D80C4D7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0" name="Rectangle 60">
                <a:extLst>
                  <a:ext uri="{FF2B5EF4-FFF2-40B4-BE49-F238E27FC236}">
                    <a16:creationId xmlns:a16="http://schemas.microsoft.com/office/drawing/2014/main" id="{85C735FA-9571-F248-9BA5-6CDBDBE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61">
                <a:extLst>
                  <a:ext uri="{FF2B5EF4-FFF2-40B4-BE49-F238E27FC236}">
                    <a16:creationId xmlns:a16="http://schemas.microsoft.com/office/drawing/2014/main" id="{5812C6A4-3EC0-A249-9E63-F4652754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2" name="Group 62">
                <a:extLst>
                  <a:ext uri="{FF2B5EF4-FFF2-40B4-BE49-F238E27FC236}">
                    <a16:creationId xmlns:a16="http://schemas.microsoft.com/office/drawing/2014/main" id="{7E620A9B-CBE1-F240-88FD-585574663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8" name="AutoShape 63">
                  <a:extLst>
                    <a:ext uri="{FF2B5EF4-FFF2-40B4-BE49-F238E27FC236}">
                      <a16:creationId xmlns:a16="http://schemas.microsoft.com/office/drawing/2014/main" id="{042898BA-1F4B-D343-83D2-32F6B871E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9" name="AutoShape 64">
                  <a:extLst>
                    <a:ext uri="{FF2B5EF4-FFF2-40B4-BE49-F238E27FC236}">
                      <a16:creationId xmlns:a16="http://schemas.microsoft.com/office/drawing/2014/main" id="{43D7819E-9A5B-E741-ACC4-82E6487AE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7CC2BA69-A482-5D4B-8CA5-B5AC73726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4" name="Group 66">
                <a:extLst>
                  <a:ext uri="{FF2B5EF4-FFF2-40B4-BE49-F238E27FC236}">
                    <a16:creationId xmlns:a16="http://schemas.microsoft.com/office/drawing/2014/main" id="{F21B3CA3-EDB9-ED4A-9790-00B635137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6" name="AutoShape 67">
                  <a:extLst>
                    <a:ext uri="{FF2B5EF4-FFF2-40B4-BE49-F238E27FC236}">
                      <a16:creationId xmlns:a16="http://schemas.microsoft.com/office/drawing/2014/main" id="{9EDB1FCF-F653-F642-8D80-BF382D9E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7" name="AutoShape 68">
                  <a:extLst>
                    <a:ext uri="{FF2B5EF4-FFF2-40B4-BE49-F238E27FC236}">
                      <a16:creationId xmlns:a16="http://schemas.microsoft.com/office/drawing/2014/main" id="{609BFCAD-4861-EE43-8362-EA6C48556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5" name="Rectangle 69">
                <a:extLst>
                  <a:ext uri="{FF2B5EF4-FFF2-40B4-BE49-F238E27FC236}">
                    <a16:creationId xmlns:a16="http://schemas.microsoft.com/office/drawing/2014/main" id="{5D47278C-43D3-204F-86FD-15B20209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70">
                <a:extLst>
                  <a:ext uri="{FF2B5EF4-FFF2-40B4-BE49-F238E27FC236}">
                    <a16:creationId xmlns:a16="http://schemas.microsoft.com/office/drawing/2014/main" id="{C4685EB6-AA09-4243-9AED-1759E88D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Freeform 71">
                <a:extLst>
                  <a:ext uri="{FF2B5EF4-FFF2-40B4-BE49-F238E27FC236}">
                    <a16:creationId xmlns:a16="http://schemas.microsoft.com/office/drawing/2014/main" id="{F8013113-6639-D746-8787-464D70E73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Oval 72">
                <a:extLst>
                  <a:ext uri="{FF2B5EF4-FFF2-40B4-BE49-F238E27FC236}">
                    <a16:creationId xmlns:a16="http://schemas.microsoft.com/office/drawing/2014/main" id="{BAF4B182-B231-9044-AFF9-C80B2E27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Freeform 73">
                <a:extLst>
                  <a:ext uri="{FF2B5EF4-FFF2-40B4-BE49-F238E27FC236}">
                    <a16:creationId xmlns:a16="http://schemas.microsoft.com/office/drawing/2014/main" id="{5BF1720C-9B23-A442-9078-1CB2D3EA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AutoShape 74">
                <a:extLst>
                  <a:ext uri="{FF2B5EF4-FFF2-40B4-BE49-F238E27FC236}">
                    <a16:creationId xmlns:a16="http://schemas.microsoft.com/office/drawing/2014/main" id="{5C72D219-90B2-E948-8C51-2DF4C76E6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AutoShape 75">
                <a:extLst>
                  <a:ext uri="{FF2B5EF4-FFF2-40B4-BE49-F238E27FC236}">
                    <a16:creationId xmlns:a16="http://schemas.microsoft.com/office/drawing/2014/main" id="{83107432-CCDD-3F4A-A673-5C965AB66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Oval 76">
                <a:extLst>
                  <a:ext uri="{FF2B5EF4-FFF2-40B4-BE49-F238E27FC236}">
                    <a16:creationId xmlns:a16="http://schemas.microsoft.com/office/drawing/2014/main" id="{93D83AE9-CB35-4043-B0A0-1FFA7908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Oval 77">
                <a:extLst>
                  <a:ext uri="{FF2B5EF4-FFF2-40B4-BE49-F238E27FC236}">
                    <a16:creationId xmlns:a16="http://schemas.microsoft.com/office/drawing/2014/main" id="{C8BA1D5C-380B-5844-9DFE-FB0350399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78">
                <a:extLst>
                  <a:ext uri="{FF2B5EF4-FFF2-40B4-BE49-F238E27FC236}">
                    <a16:creationId xmlns:a16="http://schemas.microsoft.com/office/drawing/2014/main" id="{EF0EACD3-D07B-0F4F-BB94-4F2D6391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79">
                <a:extLst>
                  <a:ext uri="{FF2B5EF4-FFF2-40B4-BE49-F238E27FC236}">
                    <a16:creationId xmlns:a16="http://schemas.microsoft.com/office/drawing/2014/main" id="{C545DB8D-EFCD-9A46-858D-A246B93C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C473C8CC-FB59-904B-86D0-BFB6A6140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3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 (continued)</a:t>
            </a:r>
            <a:endParaRPr lang="en-US" sz="4400" dirty="0"/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FA4476ED-595B-8542-B50D-C134553D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uses TCP: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client initiates TCP connection (creates socket) to server,  port 80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server accepts TCP connection from client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HTTP messages (application-layer protocol messages) exchanged between browser (HTTP client) and Web server (HTTP server)</a:t>
            </a:r>
          </a:p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</a:rPr>
              <a:t>TCP connection closed</a:t>
            </a: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1CC4B9E5-1262-0749-B776-9A1B21976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HTTP is </a:t>
            </a:r>
            <a:r>
              <a:rPr kumimoji="0" lang="ja-JP" altLang="en-US" sz="32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“</a:t>
            </a:r>
            <a:r>
              <a:rPr kumimoji="0" lang="en-US" altLang="ja-JP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stateless</a:t>
            </a:r>
            <a:r>
              <a:rPr kumimoji="0" lang="ja-JP" altLang="en-US" sz="32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”</a:t>
            </a:r>
            <a:endParaRPr kumimoji="0" lang="en-US" altLang="ja-JP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server maintains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 no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94DB0D-84CB-6F41-9F45-5FA35ED2C87F}"/>
              </a:ext>
            </a:extLst>
          </p:cNvPr>
          <p:cNvGrpSpPr/>
          <p:nvPr/>
        </p:nvGrpSpPr>
        <p:grpSpPr>
          <a:xfrm>
            <a:off x="6909802" y="3209500"/>
            <a:ext cx="5282198" cy="3248103"/>
            <a:chOff x="6909802" y="3209500"/>
            <a:chExt cx="5282198" cy="3248103"/>
          </a:xfrm>
        </p:grpSpPr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74F3501A-F7F5-FD47-A745-1E00F8869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7">
              <a:extLst>
                <a:ext uri="{FF2B5EF4-FFF2-40B4-BE49-F238E27FC236}">
                  <a16:creationId xmlns:a16="http://schemas.microsoft.com/office/drawing/2014/main" id="{21466037-84B8-2C47-8046-BD516C96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Rectangle 9">
              <a:extLst>
                <a:ext uri="{FF2B5EF4-FFF2-40B4-BE49-F238E27FC236}">
                  <a16:creationId xmlns:a16="http://schemas.microsoft.com/office/drawing/2014/main" id="{132EE02F-99A4-C148-8E27-84A38CF87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Rectangle 6">
              <a:extLst>
                <a:ext uri="{FF2B5EF4-FFF2-40B4-BE49-F238E27FC236}">
                  <a16:creationId xmlns:a16="http://schemas.microsoft.com/office/drawing/2014/main" id="{64A41E8B-84D6-BE48-B3C9-3F388FD9B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8987" y="3609628"/>
              <a:ext cx="5053013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protocols that maintain </a:t>
              </a:r>
              <a:r>
                <a:rPr kumimoji="0" lang="ja-JP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“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</a:t>
              </a:r>
              <a:r>
                <a:rPr kumimoji="0" lang="ja-JP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”</a:t>
              </a:r>
              <a:r>
                <a:rPr kumimoji="0" lang="en-US" altLang="ja-JP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are complex!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past history (state) must be maintained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90000"/>
                </a:lnSpc>
                <a:spcBef>
                  <a:spcPts val="4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if server/client crashes, their views of </a:t>
              </a:r>
              <a:r>
                <a:rPr kumimoji="0" lang="ja-JP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state</a:t>
              </a:r>
              <a:r>
                <a:rPr kumimoji="0" lang="ja-JP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”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may be inconsistent, must be reconciled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Char char="r"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8">
              <a:extLst>
                <a:ext uri="{FF2B5EF4-FFF2-40B4-BE49-F238E27FC236}">
                  <a16:creationId xmlns:a16="http://schemas.microsoft.com/office/drawing/2014/main" id="{ADCE3EE0-3E4E-7741-A055-6E8599605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aside</a:t>
              </a:r>
            </a:p>
          </p:txBody>
        </p: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43C0D7C-054F-1B4F-AC91-25A09EF99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3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0F92E26-A453-3745-8C0F-BF92C1E3A8B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most one object sent over TCP connection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downloading multiple objects required multiple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E46F3CB-B7A2-6C4C-B085-55F383976BB8}"/>
              </a:ext>
            </a:extLst>
          </p:cNvPr>
          <p:cNvSpPr txBox="1">
            <a:spLocks noChangeArrowheads="1"/>
          </p:cNvSpPr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Persistent HTTP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 to a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 objects can be sent over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single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TCP connection between client, and that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55A10CF-7248-164C-A5EF-FC5AA96E9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5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</a:t>
            </a:r>
            <a:endParaRPr lang="en-US" sz="4400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944384" y="2447251"/>
            <a:ext cx="4850242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initiates TCP connection to HTTP server (process) at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sends HTTP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(containing URL) into TCP connection socket. Message indicates that client wants object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someDepartment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home.index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at host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waiting for TCP connection at port 80  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accepts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connection, notifying 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server receives request message, forms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containing requested object, and sends message into its socket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530" y="4961816"/>
            <a:ext cx="1800180" cy="60195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9517" y="5671992"/>
            <a:ext cx="1410287" cy="8918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851" y="2779258"/>
            <a:ext cx="155102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2530" y="3366635"/>
            <a:ext cx="1551026" cy="100698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someDepartment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home.index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FD2215CF-ECE6-6746-8DE5-3833EE239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4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 (cont.)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someDepartment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home.index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3200188"/>
            <a:ext cx="5085273" cy="20101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receives response message containing html file, displays html.  Parsing html file, finds 10 referenced jpeg  objects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4.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7465" y="3200187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62" name="Slide Number Placeholder 2">
            <a:extLst>
              <a:ext uri="{FF2B5EF4-FFF2-40B4-BE49-F238E27FC236}">
                <a16:creationId xmlns:a16="http://schemas.microsoft.com/office/drawing/2014/main" id="{805F15D5-7E9E-E54C-BDFB-FEFBBAA1D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6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response time</a:t>
            </a:r>
            <a:endParaRPr lang="en-US" sz="4400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6FDB6615-546D-6440-BBC8-3C06990BF0E4}"/>
              </a:ext>
            </a:extLst>
          </p:cNvPr>
          <p:cNvSpPr txBox="1">
            <a:spLocks noChangeArrowheads="1"/>
          </p:cNvSpPr>
          <p:nvPr/>
        </p:nvSpPr>
        <p:spPr>
          <a:xfrm>
            <a:off x="736393" y="1919178"/>
            <a:ext cx="5683502" cy="33373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 (definition):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time for a small packet to travel from client to server and back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 time (per object):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to initiate TCP connection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for HTTP request and first few bytes of HTTP response to return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obect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/file transmission time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id="{4929D219-0DD0-EE4D-B40F-3D0B3F80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229" y="2671284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id="{8CAAC30A-AACE-CA43-94F8-6356C7DB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7916" y="2664934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Line 17">
            <a:extLst>
              <a:ext uri="{FF2B5EF4-FFF2-40B4-BE49-F238E27FC236}">
                <a16:creationId xmlns:a16="http://schemas.microsoft.com/office/drawing/2014/main" id="{AF42B5BB-493F-1A4F-A479-A45F6B47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516" y="290305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Line 18">
            <a:extLst>
              <a:ext uri="{FF2B5EF4-FFF2-40B4-BE49-F238E27FC236}">
                <a16:creationId xmlns:a16="http://schemas.microsoft.com/office/drawing/2014/main" id="{C9AE042D-B868-CC49-B9F2-374B1A84C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229" y="3341209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99C22C7D-D82A-5C41-99D1-EA13F124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166" y="384920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id="{DD02DF36-65CF-F14E-88DF-53BB17EBFDA7}"/>
              </a:ext>
            </a:extLst>
          </p:cNvPr>
          <p:cNvSpPr>
            <a:spLocks/>
          </p:cNvSpPr>
          <p:nvPr/>
        </p:nvSpPr>
        <p:spPr bwMode="auto"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22">
            <a:extLst>
              <a:ext uri="{FF2B5EF4-FFF2-40B4-BE49-F238E27FC236}">
                <a16:creationId xmlns:a16="http://schemas.microsoft.com/office/drawing/2014/main" id="{CCB0A876-D266-4A45-A302-8A1ECD42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 to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transmit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</a:t>
            </a: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id="{5718D752-EA30-EF40-828E-5D0FFEB1D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704" y="2877659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 Box 24">
            <a:extLst>
              <a:ext uri="{FF2B5EF4-FFF2-40B4-BE49-F238E27FC236}">
                <a16:creationId xmlns:a16="http://schemas.microsoft.com/office/drawing/2014/main" id="{8BC58F30-FF48-FF4E-819B-1E40B909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1676996C-B2C6-6440-BDFC-70D850B75C3C}"/>
              </a:ext>
            </a:extLst>
          </p:cNvPr>
          <p:cNvSpPr>
            <a:spLocks/>
          </p:cNvSpPr>
          <p:nvPr/>
        </p:nvSpPr>
        <p:spPr bwMode="auto"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id="{86DB8643-EF07-8F4F-9625-5A4CA4A1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id="{981309A0-6209-8843-8011-139102021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5916" y="3782534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 Box 28">
            <a:extLst>
              <a:ext uri="{FF2B5EF4-FFF2-40B4-BE49-F238E27FC236}">
                <a16:creationId xmlns:a16="http://schemas.microsoft.com/office/drawing/2014/main" id="{F8F4F9A2-8F8A-0A49-A582-7B28C50C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file</a:t>
            </a:r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38B5D7F5-BB3A-C042-A65C-E340A56B8131}"/>
              </a:ext>
            </a:extLst>
          </p:cNvPr>
          <p:cNvSpPr>
            <a:spLocks/>
          </p:cNvSpPr>
          <p:nvPr/>
        </p:nvSpPr>
        <p:spPr bwMode="auto"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0">
            <a:extLst>
              <a:ext uri="{FF2B5EF4-FFF2-40B4-BE49-F238E27FC236}">
                <a16:creationId xmlns:a16="http://schemas.microsoft.com/office/drawing/2014/main" id="{F6FF37B4-B442-4047-946B-77B07E91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1D97958B-3B35-E742-B7C6-848FC7C17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988" y="4805006"/>
            <a:ext cx="361323" cy="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id="{24A3B2D9-8989-434A-9FC2-223A7BF47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 received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id="{5F7EC06B-E293-DF46-888B-439F61ED3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29F1D00D-DC1A-684B-8E6D-3829DD41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id="{541F6086-47C8-874D-8AA5-F7E42EE4D031}"/>
              </a:ext>
            </a:extLst>
          </p:cNvPr>
          <p:cNvGrpSpPr>
            <a:grpSpLocks/>
          </p:cNvGrpSpPr>
          <p:nvPr/>
        </p:nvGrpSpPr>
        <p:grpSpPr bwMode="auto"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id="{6DAF6B62-B819-F74E-96B5-61332060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50F7D37B-F313-5C49-8576-42FF33D8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id="{87E40F45-93DC-2B4E-ADDC-55D37D40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Freeform 47">
              <a:extLst>
                <a:ext uri="{FF2B5EF4-FFF2-40B4-BE49-F238E27FC236}">
                  <a16:creationId xmlns:a16="http://schemas.microsoft.com/office/drawing/2014/main" id="{7B112D55-79F9-1F4D-B446-8C88751F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48">
              <a:extLst>
                <a:ext uri="{FF2B5EF4-FFF2-40B4-BE49-F238E27FC236}">
                  <a16:creationId xmlns:a16="http://schemas.microsoft.com/office/drawing/2014/main" id="{956D8EF0-FF87-9E4B-887E-2B313EF7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3" name="Group 49">
              <a:extLst>
                <a:ext uri="{FF2B5EF4-FFF2-40B4-BE49-F238E27FC236}">
                  <a16:creationId xmlns:a16="http://schemas.microsoft.com/office/drawing/2014/main" id="{66F581E1-4301-C04A-BC92-0FE36983E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50">
                <a:extLst>
                  <a:ext uri="{FF2B5EF4-FFF2-40B4-BE49-F238E27FC236}">
                    <a16:creationId xmlns:a16="http://schemas.microsoft.com/office/drawing/2014/main" id="{060EE10F-40BB-F147-A18B-D592D49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AutoShape 51">
                <a:extLst>
                  <a:ext uri="{FF2B5EF4-FFF2-40B4-BE49-F238E27FC236}">
                    <a16:creationId xmlns:a16="http://schemas.microsoft.com/office/drawing/2014/main" id="{964C81AE-2600-6248-820C-48DB107C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4" name="Rectangle 52">
              <a:extLst>
                <a:ext uri="{FF2B5EF4-FFF2-40B4-BE49-F238E27FC236}">
                  <a16:creationId xmlns:a16="http://schemas.microsoft.com/office/drawing/2014/main" id="{0B3B5D85-0106-D947-B9AB-3DEF402B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" name="Group 53">
              <a:extLst>
                <a:ext uri="{FF2B5EF4-FFF2-40B4-BE49-F238E27FC236}">
                  <a16:creationId xmlns:a16="http://schemas.microsoft.com/office/drawing/2014/main" id="{21E327E2-0D3F-BB45-88FA-94BE82472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54">
                <a:extLst>
                  <a:ext uri="{FF2B5EF4-FFF2-40B4-BE49-F238E27FC236}">
                    <a16:creationId xmlns:a16="http://schemas.microsoft.com/office/drawing/2014/main" id="{A09779CB-5E1C-FF46-9276-B827DEE6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AutoShape 55">
                <a:extLst>
                  <a:ext uri="{FF2B5EF4-FFF2-40B4-BE49-F238E27FC236}">
                    <a16:creationId xmlns:a16="http://schemas.microsoft.com/office/drawing/2014/main" id="{67162A33-48AB-8447-8BA1-9899B1EFA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6" name="Rectangle 56">
              <a:extLst>
                <a:ext uri="{FF2B5EF4-FFF2-40B4-BE49-F238E27FC236}">
                  <a16:creationId xmlns:a16="http://schemas.microsoft.com/office/drawing/2014/main" id="{C0727CA6-9309-D04B-829F-614EF5BE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Rectangle 57">
              <a:extLst>
                <a:ext uri="{FF2B5EF4-FFF2-40B4-BE49-F238E27FC236}">
                  <a16:creationId xmlns:a16="http://schemas.microsoft.com/office/drawing/2014/main" id="{17B7496E-619F-B745-A3B6-4EDDE39B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" name="Group 58">
              <a:extLst>
                <a:ext uri="{FF2B5EF4-FFF2-40B4-BE49-F238E27FC236}">
                  <a16:creationId xmlns:a16="http://schemas.microsoft.com/office/drawing/2014/main" id="{B3F5CCBA-FB37-F741-A1BE-6A326312A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59">
                <a:extLst>
                  <a:ext uri="{FF2B5EF4-FFF2-40B4-BE49-F238E27FC236}">
                    <a16:creationId xmlns:a16="http://schemas.microsoft.com/office/drawing/2014/main" id="{DEAAF06F-764B-A04C-A4F4-4AF808C8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AutoShape 60">
                <a:extLst>
                  <a:ext uri="{FF2B5EF4-FFF2-40B4-BE49-F238E27FC236}">
                    <a16:creationId xmlns:a16="http://schemas.microsoft.com/office/drawing/2014/main" id="{73A61CB6-ED08-FD4B-8F83-3336B8F82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9" name="Freeform 61">
              <a:extLst>
                <a:ext uri="{FF2B5EF4-FFF2-40B4-BE49-F238E27FC236}">
                  <a16:creationId xmlns:a16="http://schemas.microsoft.com/office/drawing/2014/main" id="{1AB063BC-5497-FD41-9B58-4C27970B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0" name="Group 62">
              <a:extLst>
                <a:ext uri="{FF2B5EF4-FFF2-40B4-BE49-F238E27FC236}">
                  <a16:creationId xmlns:a16="http://schemas.microsoft.com/office/drawing/2014/main" id="{20634D40-DCFD-8449-B684-70B31A9B3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63">
                <a:extLst>
                  <a:ext uri="{FF2B5EF4-FFF2-40B4-BE49-F238E27FC236}">
                    <a16:creationId xmlns:a16="http://schemas.microsoft.com/office/drawing/2014/main" id="{F58EC583-5702-1E4B-A6F2-1309BD87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AutoShape 64">
                <a:extLst>
                  <a:ext uri="{FF2B5EF4-FFF2-40B4-BE49-F238E27FC236}">
                    <a16:creationId xmlns:a16="http://schemas.microsoft.com/office/drawing/2014/main" id="{DB3DA62B-8007-4E4C-93B9-0F102F104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1" name="Rectangle 65">
              <a:extLst>
                <a:ext uri="{FF2B5EF4-FFF2-40B4-BE49-F238E27FC236}">
                  <a16:creationId xmlns:a16="http://schemas.microsoft.com/office/drawing/2014/main" id="{C31A2516-63E0-E740-AE1D-B59F6C976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Freeform 66">
              <a:extLst>
                <a:ext uri="{FF2B5EF4-FFF2-40B4-BE49-F238E27FC236}">
                  <a16:creationId xmlns:a16="http://schemas.microsoft.com/office/drawing/2014/main" id="{B8246D8C-6855-C044-A8BA-8F170062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Freeform 67">
              <a:extLst>
                <a:ext uri="{FF2B5EF4-FFF2-40B4-BE49-F238E27FC236}">
                  <a16:creationId xmlns:a16="http://schemas.microsoft.com/office/drawing/2014/main" id="{924E847A-F4E0-DA4B-8D4E-A56FEAA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Oval 68">
              <a:extLst>
                <a:ext uri="{FF2B5EF4-FFF2-40B4-BE49-F238E27FC236}">
                  <a16:creationId xmlns:a16="http://schemas.microsoft.com/office/drawing/2014/main" id="{8CAE9087-3C8E-F24B-A512-CEB1940F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Freeform 69">
              <a:extLst>
                <a:ext uri="{FF2B5EF4-FFF2-40B4-BE49-F238E27FC236}">
                  <a16:creationId xmlns:a16="http://schemas.microsoft.com/office/drawing/2014/main" id="{2AB5FE84-419E-EB41-B46F-B90EA821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AutoShape 70">
              <a:extLst>
                <a:ext uri="{FF2B5EF4-FFF2-40B4-BE49-F238E27FC236}">
                  <a16:creationId xmlns:a16="http://schemas.microsoft.com/office/drawing/2014/main" id="{5044997C-6434-1F4E-951A-58848E528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AutoShape 71">
              <a:extLst>
                <a:ext uri="{FF2B5EF4-FFF2-40B4-BE49-F238E27FC236}">
                  <a16:creationId xmlns:a16="http://schemas.microsoft.com/office/drawing/2014/main" id="{E0E22BAF-7B23-B44C-827B-153E002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E772A220-7A72-DF4C-B4F3-72E6DDF1F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id="{E52F28FE-19A0-E943-AE0B-DEEA9222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id="{679A21A4-960E-C240-991F-7A91E9D33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Rectangle 75">
              <a:extLst>
                <a:ext uri="{FF2B5EF4-FFF2-40B4-BE49-F238E27FC236}">
                  <a16:creationId xmlns:a16="http://schemas.microsoft.com/office/drawing/2014/main" id="{5FE7BC29-1F3A-FC4D-B0A8-E7C985E21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76">
            <a:extLst>
              <a:ext uri="{FF2B5EF4-FFF2-40B4-BE49-F238E27FC236}">
                <a16:creationId xmlns:a16="http://schemas.microsoft.com/office/drawing/2014/main" id="{ACB35F9B-E584-6A4C-A928-821626F2884C}"/>
              </a:ext>
            </a:extLst>
          </p:cNvPr>
          <p:cNvGrpSpPr>
            <a:grpSpLocks/>
          </p:cNvGrpSpPr>
          <p:nvPr/>
        </p:nvGrpSpPr>
        <p:grpSpPr bwMode="auto"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121" name="Picture 77" descr="desktop_computer_stylized_medium">
              <a:extLst>
                <a:ext uri="{FF2B5EF4-FFF2-40B4-BE49-F238E27FC236}">
                  <a16:creationId xmlns:a16="http://schemas.microsoft.com/office/drawing/2014/main" id="{C2C6AD66-1148-CD4D-99F7-5C6A689E2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78">
              <a:extLst>
                <a:ext uri="{FF2B5EF4-FFF2-40B4-BE49-F238E27FC236}">
                  <a16:creationId xmlns:a16="http://schemas.microsoft.com/office/drawing/2014/main" id="{40C43405-EE8F-6348-9658-64CCF319F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Freeform 1">
            <a:extLst>
              <a:ext uri="{FF2B5EF4-FFF2-40B4-BE49-F238E27FC236}">
                <a16:creationId xmlns:a16="http://schemas.microsoft.com/office/drawing/2014/main" id="{2D3ED81E-7823-0B47-8E02-97411E72ACFD}"/>
              </a:ext>
            </a:extLst>
          </p:cNvPr>
          <p:cNvSpPr/>
          <p:nvPr/>
        </p:nvSpPr>
        <p:spPr>
          <a:xfrm>
            <a:off x="8188984" y="4246818"/>
            <a:ext cx="1700270" cy="558188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AutoShape 21">
            <a:extLst>
              <a:ext uri="{FF2B5EF4-FFF2-40B4-BE49-F238E27FC236}">
                <a16:creationId xmlns:a16="http://schemas.microsoft.com/office/drawing/2014/main" id="{B46E8531-A1AB-F94F-83A6-88018FC274AE}"/>
              </a:ext>
            </a:extLst>
          </p:cNvPr>
          <p:cNvSpPr>
            <a:spLocks/>
          </p:cNvSpPr>
          <p:nvPr/>
        </p:nvSpPr>
        <p:spPr bwMode="auto">
          <a:xfrm flipH="1" flipV="1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F7570-9992-2546-969B-3F60B086818E}"/>
              </a:ext>
            </a:extLst>
          </p:cNvPr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 response time =  2RTT+ file transmission 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Slide Number Placeholder 2">
            <a:extLst>
              <a:ext uri="{FF2B5EF4-FFF2-40B4-BE49-F238E27FC236}">
                <a16:creationId xmlns:a16="http://schemas.microsoft.com/office/drawing/2014/main" id="{7E482904-1521-274F-AE73-DF7E96ACE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71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Persistent HTTP </a:t>
            </a:r>
            <a:r>
              <a:rPr lang="en-US" altLang="en-US" sz="3200" dirty="0">
                <a:cs typeface="Calibri" panose="020F0502020204030204" pitchFamily="34" charset="0"/>
              </a:rPr>
              <a:t>(HTTP 1.1)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14C937-79C9-6642-8B0C-15F130B4AF9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01764"/>
            <a:ext cx="516554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Non-persistent HTTP issues: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2 RTTs per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overhead for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TCP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browsers often open multiple parallel TCP connections to fetch referenced objects in parallel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96C596E-CBDC-1641-AE54-06AC7ADF3759}"/>
              </a:ext>
            </a:extLst>
          </p:cNvPr>
          <p:cNvSpPr txBox="1">
            <a:spLocks noChangeArrowheads="1"/>
          </p:cNvSpPr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Persistent  HTTP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(HTTP1.1):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 leaves connection open after sending response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messages  between same client/server sent over open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sends requests as soon as it encounters a referenced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little as one RTT for all the referenced objects (cutting response time in half)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9DB959-15FC-7A47-B54E-965B407AA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5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request </a:t>
            </a:r>
            <a:r>
              <a:rPr lang="en-US" altLang="en-US" dirty="0">
                <a:cs typeface="Calibri" panose="020F0502020204030204" pitchFamily="34" charset="0"/>
              </a:rPr>
              <a:t>m</a:t>
            </a:r>
            <a:r>
              <a:rPr lang="en-US" altLang="en-US" sz="4400" dirty="0">
                <a:cs typeface="Calibri" panose="020F0502020204030204" pitchFamily="34" charset="0"/>
              </a:rPr>
              <a:t>essage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21ECE79-BBE4-B646-A84C-F451AD02B98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two types of HTTP messages: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message: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ASCII (human-readable format)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9D189007-4005-564E-B421-909E89E9E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FD47085-0DF5-F849-923F-6D72DB7E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GET 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index.html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HTTP/1.1\r\n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Host: www-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net.cs.umass.edu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User-Agent: Mozilla/5.0 (Macintosh; Intel Mac OS X 10.15; rv:80.0) Gecko/20100101 Firefox/80.0 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Accept: text/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html,application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xhtml+xml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Accept-Language: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en-us,en;q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=0.5\r\n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Accept-Encoding: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gzip,deflate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Connection: keep-alive\r\n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C8212B-5FF3-1B41-8A79-6C4F774EA6B6}"/>
              </a:ext>
            </a:extLst>
          </p:cNvPr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F48C300-763A-B54F-B0A7-01186DC9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4296" y="2841399"/>
              <a:ext cx="166688" cy="51435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AE4689D-D5B0-114C-898E-652FE114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 character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BF17A6F8-488B-914D-8FD5-D0101F59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line-feed character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36550CDC-D06A-104F-8EAA-1F14B32B7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5284" y="3150961"/>
              <a:ext cx="80962" cy="25241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1DA586-D2C5-594D-BC4F-D63F85BDFA27}"/>
              </a:ext>
            </a:extLst>
          </p:cNvPr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B6C3DB56-846D-8E43-9453-A014201EC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request line (GET, POST,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HEAD commands)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EF472D7-7102-3D4F-8FB9-8F68234EDD8D}"/>
                </a:ext>
              </a:extLst>
            </p:cNvPr>
            <p:cNvCxnSpPr>
              <a:cxnSpLocks/>
            </p:cNvCxnSpPr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ln w="1905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EE239-9E6A-4845-9F03-74B240F246F8}"/>
              </a:ext>
            </a:extLst>
          </p:cNvPr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6CA9B985-18B2-6347-8689-E6656C025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984" y="5710011"/>
              <a:ext cx="5111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DED6E2F1-61E7-E241-8E2D-ADEC5E8A8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return, line feed at start of line indicates end of header lines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EF5DEF07-DC95-F343-B9CA-F9BD4063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* Check out the online interactive exercises for more examples: h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ttp://</a:t>
              </a:r>
              <a:r>
                <a:rPr kumimoji="0" lang="en-US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gaia.cs.umass.edu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/</a:t>
              </a:r>
              <a:r>
                <a:rPr kumimoji="0" lang="en-US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kurose_ross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/interactive/</a:t>
              </a:r>
            </a:p>
          </p:txBody>
        </p:sp>
      </p:grpSp>
      <p:sp>
        <p:nvSpPr>
          <p:cNvPr id="5" name="Left Brace 4">
            <a:extLst>
              <a:ext uri="{FF2B5EF4-FFF2-40B4-BE49-F238E27FC236}">
                <a16:creationId xmlns:a16="http://schemas.microsoft.com/office/drawing/2014/main" id="{36B9FB67-1AD8-6146-8926-BFEB803718A3}"/>
              </a:ext>
            </a:extLst>
          </p:cNvPr>
          <p:cNvSpPr/>
          <p:nvPr/>
        </p:nvSpPr>
        <p:spPr>
          <a:xfrm>
            <a:off x="3812583" y="3704095"/>
            <a:ext cx="217442" cy="1797803"/>
          </a:xfrm>
          <a:prstGeom prst="leftBrace">
            <a:avLst/>
          </a:prstGeom>
          <a:ln w="19050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09E13-4068-2140-8EEF-80CD03B5F69C}"/>
              </a:ext>
            </a:extLst>
          </p:cNvPr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D7502B-9EA4-9D49-A251-DB91BDC6BB3C}"/>
              </a:ext>
            </a:extLst>
          </p:cNvPr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C3381709-4DCC-204B-A742-66F4884C7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8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request message: general format</a:t>
            </a:r>
            <a:endParaRPr lang="en-US" sz="4400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CAB95007-032C-1849-B460-3E4D6690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472" y="1752600"/>
            <a:ext cx="1030287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0CB38CB5-45F7-C847-AE71-4F4C5B6F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709" y="2768600"/>
            <a:ext cx="9747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lines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E645219C-0302-5E46-AE15-64BD6515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534" y="2338387"/>
            <a:ext cx="346075" cy="18192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AFB1EEC-4EBF-6E41-B9CB-E4B01F15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184" y="2287587"/>
            <a:ext cx="290513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09CBE09-CA75-A245-B675-9042959F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484" y="4394200"/>
            <a:ext cx="712788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548D8BC5-234B-1340-9AE4-2B7B4CCD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297" y="4959350"/>
            <a:ext cx="7350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8BE22D39-29E3-DB4E-8BB7-B366225B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934" y="1789112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E517253E-A702-9F4B-B692-C2D297AE8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80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9A3ED2FB-B252-C14F-B645-419D36E7F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5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B2B62443-11E1-2B43-9DCA-4AE37C7E4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6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04CD6AC7-3A8A-D448-ACDB-A1CAAAE4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6084" y="178593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116D6361-9C6F-384A-940A-DBEE668B1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8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66F44111-14E6-9047-91A5-35A207202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598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id="{101CD148-0CB6-B64C-B622-686BDB7E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method</a:t>
            </a: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id="{803519B0-4DBB-0446-BBAE-FAAA993C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2AE14B96-40BF-C44D-B226-47487039E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499F11E0-2AAF-FC46-939A-844BDA8F3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74D4C75B-57F6-FC40-A95F-1EA8971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lf</a:t>
            </a:r>
          </a:p>
        </p:txBody>
      </p:sp>
      <p:sp>
        <p:nvSpPr>
          <p:cNvPr id="40" name="Text Box 33">
            <a:extLst>
              <a:ext uri="{FF2B5EF4-FFF2-40B4-BE49-F238E27FC236}">
                <a16:creationId xmlns:a16="http://schemas.microsoft.com/office/drawing/2014/main" id="{D3CF33E6-800C-C34A-9A2F-34E6C60D7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version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id="{064EF9BF-C55B-3041-B970-830A3893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URL</a:t>
            </a:r>
          </a:p>
        </p:txBody>
      </p:sp>
      <p:grpSp>
        <p:nvGrpSpPr>
          <p:cNvPr id="42" name="Group 45">
            <a:extLst>
              <a:ext uri="{FF2B5EF4-FFF2-40B4-BE49-F238E27FC236}">
                <a16:creationId xmlns:a16="http://schemas.microsoft.com/office/drawing/2014/main" id="{BF6F8085-A891-0844-94E6-578F3AFB50F3}"/>
              </a:ext>
            </a:extLst>
          </p:cNvPr>
          <p:cNvGrpSpPr>
            <a:grpSpLocks/>
          </p:cNvGrpSpPr>
          <p:nvPr/>
        </p:nvGrpSpPr>
        <p:grpSpPr bwMode="auto"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37CAD855-2626-9B4A-87B5-BBFB2178C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3882514C-0ADC-584D-AAA4-E4882A2DE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688D6AB7-0894-2D4A-9EE3-CF8BFFA30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8B2EC183-EB51-C64D-B126-461EEABB1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id="{4DE50D57-00F5-134E-8F40-FDF964831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id="{54D07A27-F429-7046-9310-3A09B05F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C2EDB89B-2549-D34E-89E0-D083A1B0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50" name="Text Box 43">
              <a:extLst>
                <a:ext uri="{FF2B5EF4-FFF2-40B4-BE49-F238E27FC236}">
                  <a16:creationId xmlns:a16="http://schemas.microsoft.com/office/drawing/2014/main" id="{C7C20190-6015-D24C-8172-D12AE7AC2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51" name="Text Box 44">
              <a:extLst>
                <a:ext uri="{FF2B5EF4-FFF2-40B4-BE49-F238E27FC236}">
                  <a16:creationId xmlns:a16="http://schemas.microsoft.com/office/drawing/2014/main" id="{9D74CC94-6309-9D4E-AC17-7834303D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grpSp>
        <p:nvGrpSpPr>
          <p:cNvPr id="52" name="Group 46">
            <a:extLst>
              <a:ext uri="{FF2B5EF4-FFF2-40B4-BE49-F238E27FC236}">
                <a16:creationId xmlns:a16="http://schemas.microsoft.com/office/drawing/2014/main" id="{F763EEE1-8E7B-574B-9B12-C02141AD6CEE}"/>
              </a:ext>
            </a:extLst>
          </p:cNvPr>
          <p:cNvGrpSpPr>
            <a:grpSpLocks/>
          </p:cNvGrpSpPr>
          <p:nvPr/>
        </p:nvGrpSpPr>
        <p:grpSpPr bwMode="auto"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id="{03037660-A975-AC41-9666-AFCCB3A0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id="{7DAB01D5-4A4C-0848-8E97-EACA6A36C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id="{12F13F26-AF12-FB44-9B51-D0B6944C6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Line 50">
              <a:extLst>
                <a:ext uri="{FF2B5EF4-FFF2-40B4-BE49-F238E27FC236}">
                  <a16:creationId xmlns:a16="http://schemas.microsoft.com/office/drawing/2014/main" id="{781CA89B-E86B-F843-A1BF-431E56792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74911CA3-EBEB-B142-B4CE-F45E57712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D0CB791B-5400-C244-A515-F158CF9A2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59" name="Text Box 53">
              <a:extLst>
                <a:ext uri="{FF2B5EF4-FFF2-40B4-BE49-F238E27FC236}">
                  <a16:creationId xmlns:a16="http://schemas.microsoft.com/office/drawing/2014/main" id="{E5D6E821-F80C-7046-BF97-7FA229C97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60" name="Text Box 54">
              <a:extLst>
                <a:ext uri="{FF2B5EF4-FFF2-40B4-BE49-F238E27FC236}">
                  <a16:creationId xmlns:a16="http://schemas.microsoft.com/office/drawing/2014/main" id="{5F6B0327-AD11-4545-B4F6-735084B85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61" name="Text Box 55">
              <a:extLst>
                <a:ext uri="{FF2B5EF4-FFF2-40B4-BE49-F238E27FC236}">
                  <a16:creationId xmlns:a16="http://schemas.microsoft.com/office/drawing/2014/main" id="{95580CF6-5A42-2640-82F1-B4775A071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sp>
        <p:nvSpPr>
          <p:cNvPr id="62" name="Line 56">
            <a:extLst>
              <a:ext uri="{FF2B5EF4-FFF2-40B4-BE49-F238E27FC236}">
                <a16:creationId xmlns:a16="http://schemas.microsoft.com/office/drawing/2014/main" id="{923CEA11-D6DF-1C46-A3A4-FD9F81E7C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9934" y="26812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3" name="Group 61">
            <a:extLst>
              <a:ext uri="{FF2B5EF4-FFF2-40B4-BE49-F238E27FC236}">
                <a16:creationId xmlns:a16="http://schemas.microsoft.com/office/drawing/2014/main" id="{331FDA17-3586-0A4D-9D97-B7C360855EC7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C1850415-E4E6-744B-A59A-4CBBE0004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26A802CD-661F-6548-9B20-03447D673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id="{5857CADE-C5FA-4D45-86A4-A527BB099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67" name="Line 62">
            <a:extLst>
              <a:ext uri="{FF2B5EF4-FFF2-40B4-BE49-F238E27FC236}">
                <a16:creationId xmlns:a16="http://schemas.microsoft.com/office/drawing/2014/main" id="{4AD99966-51D9-144F-843E-CA57BB5A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3997" y="26685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8" name="Group 63">
            <a:extLst>
              <a:ext uri="{FF2B5EF4-FFF2-40B4-BE49-F238E27FC236}">
                <a16:creationId xmlns:a16="http://schemas.microsoft.com/office/drawing/2014/main" id="{21BE7B05-C0E3-2847-AA19-1D559561D8E0}"/>
              </a:ext>
            </a:extLst>
          </p:cNvPr>
          <p:cNvGrpSpPr>
            <a:grpSpLocks/>
          </p:cNvGrpSpPr>
          <p:nvPr/>
        </p:nvGrpSpPr>
        <p:grpSpPr bwMode="auto"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69" name="Rectangle 64">
              <a:extLst>
                <a:ext uri="{FF2B5EF4-FFF2-40B4-BE49-F238E27FC236}">
                  <a16:creationId xmlns:a16="http://schemas.microsoft.com/office/drawing/2014/main" id="{1068B7F8-AE57-0A4E-92E6-32182A78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 Box 65">
              <a:extLst>
                <a:ext uri="{FF2B5EF4-FFF2-40B4-BE49-F238E27FC236}">
                  <a16:creationId xmlns:a16="http://schemas.microsoft.com/office/drawing/2014/main" id="{304BAA75-EDF9-3049-8146-D4E3B77D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71" name="Text Box 66">
              <a:extLst>
                <a:ext uri="{FF2B5EF4-FFF2-40B4-BE49-F238E27FC236}">
                  <a16:creationId xmlns:a16="http://schemas.microsoft.com/office/drawing/2014/main" id="{7B98EC85-B737-7A4A-B367-0CDBC6B02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72" name="Group 77">
            <a:extLst>
              <a:ext uri="{FF2B5EF4-FFF2-40B4-BE49-F238E27FC236}">
                <a16:creationId xmlns:a16="http://schemas.microsoft.com/office/drawing/2014/main" id="{3F072947-4F12-CC4D-A114-F6AA680D477F}"/>
              </a:ext>
            </a:extLst>
          </p:cNvPr>
          <p:cNvGrpSpPr>
            <a:grpSpLocks/>
          </p:cNvGrpSpPr>
          <p:nvPr/>
        </p:nvGrpSpPr>
        <p:grpSpPr bwMode="auto"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id="{B30322FD-E3EE-8748-B949-5646BF3FD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48E1F9CF-9FEF-5347-B932-F18E52F7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3F1DCBAA-5080-0B49-ADD4-12FFFAF8A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30F8DE49-8702-8242-B74B-8F1C10B8D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</p:grpSp>
      <p:sp>
        <p:nvSpPr>
          <p:cNvPr id="77" name="Rectangle 78">
            <a:extLst>
              <a:ext uri="{FF2B5EF4-FFF2-40B4-BE49-F238E27FC236}">
                <a16:creationId xmlns:a16="http://schemas.microsoft.com/office/drawing/2014/main" id="{6229F0FB-98BB-B944-85C4-25A52FB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172" y="4603750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id="{15C2EA86-0F4F-3247-A569-CE038874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entity body</a:t>
            </a:r>
          </a:p>
        </p:txBody>
      </p:sp>
      <p:grpSp>
        <p:nvGrpSpPr>
          <p:cNvPr id="79" name="Group 81">
            <a:extLst>
              <a:ext uri="{FF2B5EF4-FFF2-40B4-BE49-F238E27FC236}">
                <a16:creationId xmlns:a16="http://schemas.microsoft.com/office/drawing/2014/main" id="{FBD71B37-ADDE-7A46-9420-5D7F558DE36A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80" name="Rectangle 82">
              <a:extLst>
                <a:ext uri="{FF2B5EF4-FFF2-40B4-BE49-F238E27FC236}">
                  <a16:creationId xmlns:a16="http://schemas.microsoft.com/office/drawing/2014/main" id="{EB685F5D-49A7-714D-B0CE-A681FE47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F39503FA-5AF7-1343-97ED-74063A1F1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2" name="Text Box 84">
              <a:extLst>
                <a:ext uri="{FF2B5EF4-FFF2-40B4-BE49-F238E27FC236}">
                  <a16:creationId xmlns:a16="http://schemas.microsoft.com/office/drawing/2014/main" id="{65445F71-0392-1545-8E73-EFFA475F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83" name="Group 85">
            <a:extLst>
              <a:ext uri="{FF2B5EF4-FFF2-40B4-BE49-F238E27FC236}">
                <a16:creationId xmlns:a16="http://schemas.microsoft.com/office/drawing/2014/main" id="{948FB213-CBD1-754F-9A31-92B73ABB091D}"/>
              </a:ext>
            </a:extLst>
          </p:cNvPr>
          <p:cNvGrpSpPr>
            <a:grpSpLocks/>
          </p:cNvGrpSpPr>
          <p:nvPr/>
        </p:nvGrpSpPr>
        <p:grpSpPr bwMode="auto"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84" name="Rectangle 86">
              <a:extLst>
                <a:ext uri="{FF2B5EF4-FFF2-40B4-BE49-F238E27FC236}">
                  <a16:creationId xmlns:a16="http://schemas.microsoft.com/office/drawing/2014/main" id="{2099BE28-2CBD-FA47-A576-86B1CF47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87">
              <a:extLst>
                <a:ext uri="{FF2B5EF4-FFF2-40B4-BE49-F238E27FC236}">
                  <a16:creationId xmlns:a16="http://schemas.microsoft.com/office/drawing/2014/main" id="{94AB5515-CA17-A64C-8C42-F07410243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6" name="Text Box 88">
              <a:extLst>
                <a:ext uri="{FF2B5EF4-FFF2-40B4-BE49-F238E27FC236}">
                  <a16:creationId xmlns:a16="http://schemas.microsoft.com/office/drawing/2014/main" id="{157CE15D-905D-5B44-91B2-249371FA4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87" name="Slide Number Placeholder 2">
            <a:extLst>
              <a:ext uri="{FF2B5EF4-FFF2-40B4-BE49-F238E27FC236}">
                <a16:creationId xmlns:a16="http://schemas.microsoft.com/office/drawing/2014/main" id="{09896B4E-767E-074F-8EDA-CDA62F29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36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page often includes form input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method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sending data to server):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www.somesite.com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animalsearch?monkeys&amp;banana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requests headers (only) that would be returned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uploads new file (object) to server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completely replaces file that exists at specified URL with content in entity body of POST HTTP request message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0C538BA-1C71-0F4D-B753-A7D597D9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24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</a:t>
            </a:r>
            <a:endParaRPr lang="en-US" sz="4400" dirty="0"/>
          </a:p>
        </p:txBody>
      </p:sp>
      <p:sp>
        <p:nvSpPr>
          <p:cNvPr id="87" name="Text Box 5">
            <a:extLst>
              <a:ext uri="{FF2B5EF4-FFF2-40B4-BE49-F238E27FC236}">
                <a16:creationId xmlns:a16="http://schemas.microsoft.com/office/drawing/2014/main" id="{A994AECC-DC16-7847-B8EE-F2F612ABB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line (protocol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status phrase)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" name="Text Box 8">
            <a:extLst>
              <a:ext uri="{FF2B5EF4-FFF2-40B4-BE49-F238E27FC236}">
                <a16:creationId xmlns:a16="http://schemas.microsoft.com/office/drawing/2014/main" id="{9695B2A1-768B-CE41-87A1-8D564F95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10">
            <a:extLst>
              <a:ext uri="{FF2B5EF4-FFF2-40B4-BE49-F238E27FC236}">
                <a16:creationId xmlns:a16="http://schemas.microsoft.com/office/drawing/2014/main" id="{71D3CD43-9088-2144-992C-3A77F783A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data, e.g.,  requested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HTML file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AE1D96B5-48F4-B842-9424-43BC570F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HTTP/1.1 200 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Date: Tue, 08 Sep 2020 00:53:20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Server: Apache/2.4.6 (CentOS) OpenSSL/1.0.2k-fips PHP/7.4.9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mod_perl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/2.0.11 Perl/v5.16.3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Last-Modified: Tue, 01 Mar 2016 18:57:50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ETag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 "a5b-52d015789ee9e"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Accept-Ranges: bytes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Content-Length: 2651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Content-Type: text/html; charset=UTF-8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data data data data data ...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1248C33-8978-FA4A-B68D-07F7345C9C4D}"/>
              </a:ext>
            </a:extLst>
          </p:cNvPr>
          <p:cNvCxnSpPr>
            <a:cxnSpLocks/>
          </p:cNvCxnSpPr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1C1D39C-E830-C840-962A-5EF5A5C89548}"/>
              </a:ext>
            </a:extLst>
          </p:cNvPr>
          <p:cNvCxnSpPr>
            <a:cxnSpLocks/>
          </p:cNvCxnSpPr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1">
            <a:extLst>
              <a:ext uri="{FF2B5EF4-FFF2-40B4-BE49-F238E27FC236}">
                <a16:creationId xmlns:a16="http://schemas.microsoft.com/office/drawing/2014/main" id="{2551C779-9290-AD4E-91BD-E60A7E92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kurose_ross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/interactive/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44120-8306-2742-A6C5-833CF39C2053}"/>
              </a:ext>
            </a:extLst>
          </p:cNvPr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B4A04F6-6325-3B46-B996-B1257F5CC1D8}"/>
              </a:ext>
            </a:extLst>
          </p:cNvPr>
          <p:cNvSpPr/>
          <p:nvPr/>
        </p:nvSpPr>
        <p:spPr>
          <a:xfrm>
            <a:off x="4963885" y="2057400"/>
            <a:ext cx="261258" cy="2694214"/>
          </a:xfrm>
          <a:prstGeom prst="leftBrace">
            <a:avLst/>
          </a:prstGeom>
          <a:ln w="22225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0BCB5-3B5E-AE49-AE9B-AE6FFB902BA8}"/>
              </a:ext>
            </a:extLst>
          </p:cNvPr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7232E2-6D04-AD43-8E7F-3073A3A01F08}"/>
              </a:ext>
            </a:extLst>
          </p:cNvPr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1A72BEEE-6164-8340-B1FC-05E6C79CF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89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tatus </a:t>
            </a:r>
            <a:r>
              <a:rPr lang="en-US" altLang="en-US" dirty="0">
                <a:ea typeface="ＭＳ Ｐゴシック" panose="020B0600070205080204" pitchFamily="34" charset="-128"/>
              </a:rPr>
              <a:t>c</a:t>
            </a:r>
            <a:r>
              <a:rPr lang="en-US" altLang="en-US" sz="4400" dirty="0">
                <a:ea typeface="ＭＳ Ｐゴシック" panose="020B0600070205080204" pitchFamily="34" charset="-128"/>
              </a:rPr>
              <a:t>odes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7D9FAF8-ACB6-2648-AF49-4F1CA2DD361E}"/>
              </a:ext>
            </a:extLst>
          </p:cNvPr>
          <p:cNvSpPr txBox="1">
            <a:spLocks noChangeArrowheads="1"/>
          </p:cNvSpPr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200 OK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succeeded, requested object later in this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301 Moved Permanently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requested object moved, new location specified later in this message (in Location: field)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400 Bad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msg not understood by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404 Not Found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requested document not found on this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505 HTTP Version Not Supported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C98F9E3-E57A-7844-89F3-A6331B04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0838" indent="-350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0838" marR="0" lvl="0" indent="-350838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appears in 1st line in server-to-client response message.</a:t>
            </a:r>
          </a:p>
          <a:p>
            <a:pPr marL="350838" marR="0" lvl="0" indent="-350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 sample codes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F3EBF3D-1991-B942-BC94-7A161F525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15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Trying out HTTP (client side) for yourself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162CB5-536A-4D40-94FC-6A99B52D37CF}"/>
              </a:ext>
            </a:extLst>
          </p:cNvPr>
          <p:cNvSpPr txBox="1">
            <a:spLocks noChangeArrowheads="1"/>
          </p:cNvSpPr>
          <p:nvPr/>
        </p:nvSpPr>
        <p:spPr>
          <a:xfrm>
            <a:off x="579438" y="1474924"/>
            <a:ext cx="8096250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1.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netcat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your favorite Web server: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D8FC5E-7EF6-5D4A-947A-76F9FAC50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629" y="1884363"/>
            <a:ext cx="62441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opens TCP connection to port 80 (default HTTP server port)  at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gaia.cs.umass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edu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anything typed in will be sent  to port 80 at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A05D1437-BBD8-714B-ADDF-C3F7DEF74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297" y="1998799"/>
            <a:ext cx="38843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%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-c -v gaia.cs.umass.edu 80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AAC288-3206-534D-929C-FFD2305EC27E}"/>
              </a:ext>
            </a:extLst>
          </p:cNvPr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6E2A86-603C-764E-9AF8-0B2F20CD2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3. look at response message sent by HTTP server!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3659547-E754-6B44-903F-76BD7A300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(or use Wireshark to look at captured HTTP request/response)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E12EFF-E52A-B84D-934A-7405FA201329}"/>
              </a:ext>
            </a:extLst>
          </p:cNvPr>
          <p:cNvGrpSpPr/>
          <p:nvPr/>
        </p:nvGrpSpPr>
        <p:grpSpPr>
          <a:xfrm>
            <a:off x="727530" y="3145663"/>
            <a:ext cx="11243449" cy="2045073"/>
            <a:chOff x="727530" y="3145663"/>
            <a:chExt cx="11243449" cy="2045073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F530C45-E591-C948-8561-E3D1A663C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2. type in a GET HTTP request:</a:t>
              </a:r>
            </a:p>
            <a:p>
              <a:pPr marL="1143000" marR="0" lvl="2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44F32261-DA96-6645-A103-A806625BC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GET /</a:t>
              </a:r>
              <a:r>
                <a:rPr kumimoji="0" lang="en-US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kurose_ross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/interactive/</a:t>
              </a:r>
              <a:r>
                <a:rPr kumimoji="0" lang="en-US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index.php</a:t>
              </a: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 HTTP/1.1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Host: </a:t>
              </a:r>
              <a:r>
                <a:rPr kumimoji="0" lang="en-US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gaia.cs.umass.edu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A5628D90-F44C-0944-B370-D9151887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6792" y="4175073"/>
              <a:ext cx="624418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by typing this in (hit carriage return twice), you send this minimal (but complete)  GET request to HTTP server</a:t>
              </a:r>
            </a:p>
          </p:txBody>
        </p: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C4905279-7B20-4F4C-AC34-18EB5C18F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2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35EFC9-A521-0240-B257-CD458B330808}"/>
              </a:ext>
            </a:extLst>
          </p:cNvPr>
          <p:cNvSpPr txBox="1">
            <a:spLocks noChangeArrowheads="1"/>
          </p:cNvSpPr>
          <p:nvPr/>
        </p:nvSpPr>
        <p:spPr>
          <a:xfrm>
            <a:off x="751523" y="1368109"/>
            <a:ext cx="5877880" cy="48367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Recall:  HTTP GET/response interaction is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stateless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notion of multi-step exchanges of HTTP messages to complete a Web “transaction”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track “state” of multi-step exchange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all HTTP requests are independent of each other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need for client/server to “recover” from a partially-completed-but-never-completely-completed transaction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1F961A-6387-0345-9591-6D8E9EDB9801}"/>
              </a:ext>
            </a:extLst>
          </p:cNvPr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stateful protocol: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makes two changes to X, or none at all</a:t>
            </a: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1896121-77D8-FD42-BC74-F51FD18D8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743" y="2818375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68C468-5627-F641-A1D5-CCCD71D4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2430" y="2812025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id="{4D29A06D-1A18-BA46-8999-A8C319B06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27466D26-729A-A04F-8FFC-34F73F8E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36" name="Group 43">
            <a:extLst>
              <a:ext uri="{FF2B5EF4-FFF2-40B4-BE49-F238E27FC236}">
                <a16:creationId xmlns:a16="http://schemas.microsoft.com/office/drawing/2014/main" id="{FAE9785A-4169-E940-B94F-671A4AB9F406}"/>
              </a:ext>
            </a:extLst>
          </p:cNvPr>
          <p:cNvGrpSpPr>
            <a:grpSpLocks/>
          </p:cNvGrpSpPr>
          <p:nvPr/>
        </p:nvGrpSpPr>
        <p:grpSpPr bwMode="auto"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6CED6B20-429D-A742-A5A8-C560D2273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3217673F-28F2-7F49-B23F-A3ED64A05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2C8F4947-7476-8140-9308-A091DA125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eform 47">
              <a:extLst>
                <a:ext uri="{FF2B5EF4-FFF2-40B4-BE49-F238E27FC236}">
                  <a16:creationId xmlns:a16="http://schemas.microsoft.com/office/drawing/2014/main" id="{C324215D-D2F8-D640-866A-AD06AEA3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8">
              <a:extLst>
                <a:ext uri="{FF2B5EF4-FFF2-40B4-BE49-F238E27FC236}">
                  <a16:creationId xmlns:a16="http://schemas.microsoft.com/office/drawing/2014/main" id="{AF16B93D-625D-BF47-B9C3-3122406F6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" name="Group 49">
              <a:extLst>
                <a:ext uri="{FF2B5EF4-FFF2-40B4-BE49-F238E27FC236}">
                  <a16:creationId xmlns:a16="http://schemas.microsoft.com/office/drawing/2014/main" id="{E5823F1D-E46B-E542-BA9A-BE7B2ADB2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7" name="AutoShape 50">
                <a:extLst>
                  <a:ext uri="{FF2B5EF4-FFF2-40B4-BE49-F238E27FC236}">
                    <a16:creationId xmlns:a16="http://schemas.microsoft.com/office/drawing/2014/main" id="{5EDFB4BA-9ECC-1D4B-9DE1-6892D81BD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8" name="AutoShape 51">
                <a:extLst>
                  <a:ext uri="{FF2B5EF4-FFF2-40B4-BE49-F238E27FC236}">
                    <a16:creationId xmlns:a16="http://schemas.microsoft.com/office/drawing/2014/main" id="{322B0365-5AB5-FB41-8CFB-D0A89CDC6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29C26A51-8119-1C45-B765-0A6FDC4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" name="Group 53">
              <a:extLst>
                <a:ext uri="{FF2B5EF4-FFF2-40B4-BE49-F238E27FC236}">
                  <a16:creationId xmlns:a16="http://schemas.microsoft.com/office/drawing/2014/main" id="{A0E07450-02B5-944A-993E-ED4E720D6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" name="AutoShape 54">
                <a:extLst>
                  <a:ext uri="{FF2B5EF4-FFF2-40B4-BE49-F238E27FC236}">
                    <a16:creationId xmlns:a16="http://schemas.microsoft.com/office/drawing/2014/main" id="{B895EECE-8814-364B-ABEF-BDFDB5B69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" name="AutoShape 55">
                <a:extLst>
                  <a:ext uri="{FF2B5EF4-FFF2-40B4-BE49-F238E27FC236}">
                    <a16:creationId xmlns:a16="http://schemas.microsoft.com/office/drawing/2014/main" id="{19862CEA-43CD-F949-9939-14C77DA0F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5" name="Rectangle 56">
              <a:extLst>
                <a:ext uri="{FF2B5EF4-FFF2-40B4-BE49-F238E27FC236}">
                  <a16:creationId xmlns:a16="http://schemas.microsoft.com/office/drawing/2014/main" id="{AF3B098B-3C77-8047-942A-938B768EC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Rectangle 57">
              <a:extLst>
                <a:ext uri="{FF2B5EF4-FFF2-40B4-BE49-F238E27FC236}">
                  <a16:creationId xmlns:a16="http://schemas.microsoft.com/office/drawing/2014/main" id="{B55EF1A5-9C91-874D-A21C-9283813B9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" name="Group 58">
              <a:extLst>
                <a:ext uri="{FF2B5EF4-FFF2-40B4-BE49-F238E27FC236}">
                  <a16:creationId xmlns:a16="http://schemas.microsoft.com/office/drawing/2014/main" id="{4BE447F1-4065-604D-9C52-935316AF9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3" name="AutoShape 59">
                <a:extLst>
                  <a:ext uri="{FF2B5EF4-FFF2-40B4-BE49-F238E27FC236}">
                    <a16:creationId xmlns:a16="http://schemas.microsoft.com/office/drawing/2014/main" id="{B6AF28E0-3DFD-B648-BA8B-C954368CE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4" name="AutoShape 60">
                <a:extLst>
                  <a:ext uri="{FF2B5EF4-FFF2-40B4-BE49-F238E27FC236}">
                    <a16:creationId xmlns:a16="http://schemas.microsoft.com/office/drawing/2014/main" id="{CD352178-7C9F-9247-ADEE-3A9C5EEDD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167E2C73-34F7-5443-B80D-3E31BC266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62">
              <a:extLst>
                <a:ext uri="{FF2B5EF4-FFF2-40B4-BE49-F238E27FC236}">
                  <a16:creationId xmlns:a16="http://schemas.microsoft.com/office/drawing/2014/main" id="{FD3C1C1A-4BE2-8A4D-B7D1-6FE82CCD5E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" name="AutoShape 63">
                <a:extLst>
                  <a:ext uri="{FF2B5EF4-FFF2-40B4-BE49-F238E27FC236}">
                    <a16:creationId xmlns:a16="http://schemas.microsoft.com/office/drawing/2014/main" id="{37F891D2-79F1-BA40-9E94-2CB7F92C3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AutoShape 64">
                <a:extLst>
                  <a:ext uri="{FF2B5EF4-FFF2-40B4-BE49-F238E27FC236}">
                    <a16:creationId xmlns:a16="http://schemas.microsoft.com/office/drawing/2014/main" id="{A6F14F93-50F0-1D44-A328-C58C4810E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" name="Rectangle 65">
              <a:extLst>
                <a:ext uri="{FF2B5EF4-FFF2-40B4-BE49-F238E27FC236}">
                  <a16:creationId xmlns:a16="http://schemas.microsoft.com/office/drawing/2014/main" id="{002C4B61-E0A4-9947-A2B8-C5E4A183D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66">
              <a:extLst>
                <a:ext uri="{FF2B5EF4-FFF2-40B4-BE49-F238E27FC236}">
                  <a16:creationId xmlns:a16="http://schemas.microsoft.com/office/drawing/2014/main" id="{03750C04-4651-264E-A820-846CC991E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67">
              <a:extLst>
                <a:ext uri="{FF2B5EF4-FFF2-40B4-BE49-F238E27FC236}">
                  <a16:creationId xmlns:a16="http://schemas.microsoft.com/office/drawing/2014/main" id="{8FAC3F30-F8EF-E042-AB16-84DEBD8CD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68">
              <a:extLst>
                <a:ext uri="{FF2B5EF4-FFF2-40B4-BE49-F238E27FC236}">
                  <a16:creationId xmlns:a16="http://schemas.microsoft.com/office/drawing/2014/main" id="{0AC7D83A-6568-AE4B-9387-52663F18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Freeform 69">
              <a:extLst>
                <a:ext uri="{FF2B5EF4-FFF2-40B4-BE49-F238E27FC236}">
                  <a16:creationId xmlns:a16="http://schemas.microsoft.com/office/drawing/2014/main" id="{1F36BF90-AD45-4E43-863B-F7093519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AutoShape 70">
              <a:extLst>
                <a:ext uri="{FF2B5EF4-FFF2-40B4-BE49-F238E27FC236}">
                  <a16:creationId xmlns:a16="http://schemas.microsoft.com/office/drawing/2014/main" id="{F5B54DD4-D0E2-AF41-9405-9DCDB2D7E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" name="AutoShape 71">
              <a:extLst>
                <a:ext uri="{FF2B5EF4-FFF2-40B4-BE49-F238E27FC236}">
                  <a16:creationId xmlns:a16="http://schemas.microsoft.com/office/drawing/2014/main" id="{23D73537-49F7-C342-B924-696A08B3B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" name="Oval 72">
              <a:extLst>
                <a:ext uri="{FF2B5EF4-FFF2-40B4-BE49-F238E27FC236}">
                  <a16:creationId xmlns:a16="http://schemas.microsoft.com/office/drawing/2014/main" id="{BC45042D-B8F2-A44D-9D8F-FC3BBA5D9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Oval 73">
              <a:extLst>
                <a:ext uri="{FF2B5EF4-FFF2-40B4-BE49-F238E27FC236}">
                  <a16:creationId xmlns:a16="http://schemas.microsoft.com/office/drawing/2014/main" id="{B9F22805-FC3E-6544-AABA-20E89AF95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9" name="Oval 74">
              <a:extLst>
                <a:ext uri="{FF2B5EF4-FFF2-40B4-BE49-F238E27FC236}">
                  <a16:creationId xmlns:a16="http://schemas.microsoft.com/office/drawing/2014/main" id="{EB68854B-BAC2-D941-B3A2-A5819DC3E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" name="Rectangle 75">
              <a:extLst>
                <a:ext uri="{FF2B5EF4-FFF2-40B4-BE49-F238E27FC236}">
                  <a16:creationId xmlns:a16="http://schemas.microsoft.com/office/drawing/2014/main" id="{D02DEB6D-1661-D243-AA4D-D82ACE64A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9" name="Group 76">
            <a:extLst>
              <a:ext uri="{FF2B5EF4-FFF2-40B4-BE49-F238E27FC236}">
                <a16:creationId xmlns:a16="http://schemas.microsoft.com/office/drawing/2014/main" id="{DCF55C78-47F8-BB4D-B7DC-932793317724}"/>
              </a:ext>
            </a:extLst>
          </p:cNvPr>
          <p:cNvGrpSpPr>
            <a:grpSpLocks/>
          </p:cNvGrpSpPr>
          <p:nvPr/>
        </p:nvGrpSpPr>
        <p:grpSpPr bwMode="auto"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id="70" name="Picture 77" descr="desktop_computer_stylized_medium">
              <a:extLst>
                <a:ext uri="{FF2B5EF4-FFF2-40B4-BE49-F238E27FC236}">
                  <a16:creationId xmlns:a16="http://schemas.microsoft.com/office/drawing/2014/main" id="{DA88C7F5-3379-274A-B44E-AF12E56C2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78">
              <a:extLst>
                <a:ext uri="{FF2B5EF4-FFF2-40B4-BE49-F238E27FC236}">
                  <a16:creationId xmlns:a16="http://schemas.microsoft.com/office/drawing/2014/main" id="{FAA003F1-DCEB-8040-A71C-4C8DD7155DD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2F7DE24-824D-8B4E-BB5F-5FEDF024EC8E}"/>
              </a:ext>
            </a:extLst>
          </p:cNvPr>
          <p:cNvGrpSpPr/>
          <p:nvPr/>
        </p:nvGrpSpPr>
        <p:grpSpPr>
          <a:xfrm>
            <a:off x="8211743" y="3942941"/>
            <a:ext cx="1673225" cy="337184"/>
            <a:chOff x="8211743" y="3942941"/>
            <a:chExt cx="1673225" cy="337184"/>
          </a:xfrm>
        </p:grpSpPr>
        <p:sp>
          <p:nvSpPr>
            <p:cNvPr id="77" name="Line 18">
              <a:extLst>
                <a:ext uri="{FF2B5EF4-FFF2-40B4-BE49-F238E27FC236}">
                  <a16:creationId xmlns:a16="http://schemas.microsoft.com/office/drawing/2014/main" id="{3D07B504-4294-484D-A15A-873F55BFA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942941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C44DF33-D418-CB41-BFC5-96705F979CCC}"/>
                </a:ext>
              </a:extLst>
            </p:cNvPr>
            <p:cNvSpPr txBox="1"/>
            <p:nvPr/>
          </p:nvSpPr>
          <p:spPr>
            <a:xfrm rot="21106037">
              <a:off x="9382305" y="3972348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C6582D8-E5C3-E94C-91FA-DD082657187F}"/>
              </a:ext>
            </a:extLst>
          </p:cNvPr>
          <p:cNvGrpSpPr/>
          <p:nvPr/>
        </p:nvGrpSpPr>
        <p:grpSpPr>
          <a:xfrm>
            <a:off x="8220565" y="4654247"/>
            <a:ext cx="1673225" cy="307777"/>
            <a:chOff x="8220565" y="4654247"/>
            <a:chExt cx="1673225" cy="307777"/>
          </a:xfrm>
        </p:grpSpPr>
        <p:sp>
          <p:nvSpPr>
            <p:cNvPr id="82" name="Line 18">
              <a:extLst>
                <a:ext uri="{FF2B5EF4-FFF2-40B4-BE49-F238E27FC236}">
                  <a16:creationId xmlns:a16="http://schemas.microsoft.com/office/drawing/2014/main" id="{4C9BF12C-724F-3C4B-9FC7-C0EB27409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0565" y="465532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F7DB85B-1569-344D-AC0D-B969F2CD0B87}"/>
                </a:ext>
              </a:extLst>
            </p:cNvPr>
            <p:cNvSpPr txBox="1"/>
            <p:nvPr/>
          </p:nvSpPr>
          <p:spPr>
            <a:xfrm rot="21106037">
              <a:off x="9360647" y="465424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AAF2513-9DD5-1A4B-B41D-1AFE8BDB247D}"/>
              </a:ext>
            </a:extLst>
          </p:cNvPr>
          <p:cNvGrpSpPr/>
          <p:nvPr/>
        </p:nvGrpSpPr>
        <p:grpSpPr>
          <a:xfrm>
            <a:off x="8226030" y="4881121"/>
            <a:ext cx="1684338" cy="344172"/>
            <a:chOff x="8226030" y="4881121"/>
            <a:chExt cx="1684338" cy="344172"/>
          </a:xfrm>
        </p:grpSpPr>
        <p:sp>
          <p:nvSpPr>
            <p:cNvPr id="86" name="Line 17">
              <a:extLst>
                <a:ext uri="{FF2B5EF4-FFF2-40B4-BE49-F238E27FC236}">
                  <a16:creationId xmlns:a16="http://schemas.microsoft.com/office/drawing/2014/main" id="{33143F67-A599-EE4C-988D-1E52584BC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499071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421034-4844-1843-9EDF-80D2D2191FFC}"/>
                </a:ext>
              </a:extLst>
            </p:cNvPr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unlock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2E6B42D-EC51-CD42-8E76-639F17FF9C82}"/>
              </a:ext>
            </a:extLst>
          </p:cNvPr>
          <p:cNvGrpSpPr/>
          <p:nvPr/>
        </p:nvGrpSpPr>
        <p:grpSpPr>
          <a:xfrm>
            <a:off x="8211743" y="5253900"/>
            <a:ext cx="1673225" cy="336684"/>
            <a:chOff x="8211743" y="5253900"/>
            <a:chExt cx="1673225" cy="336684"/>
          </a:xfrm>
        </p:grpSpPr>
        <p:sp>
          <p:nvSpPr>
            <p:cNvPr id="87" name="Line 18">
              <a:extLst>
                <a:ext uri="{FF2B5EF4-FFF2-40B4-BE49-F238E27FC236}">
                  <a16:creationId xmlns:a16="http://schemas.microsoft.com/office/drawing/2014/main" id="{981C6A97-493C-1541-8F46-FB6401EE6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525390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E6BC057-143C-EA4C-9758-617A540239BE}"/>
                </a:ext>
              </a:extLst>
            </p:cNvPr>
            <p:cNvSpPr txBox="1"/>
            <p:nvPr/>
          </p:nvSpPr>
          <p:spPr>
            <a:xfrm rot="21106037">
              <a:off x="9373746" y="5282807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12585BB-270F-6343-8338-140BA89C7E52}"/>
              </a:ext>
            </a:extLst>
          </p:cNvPr>
          <p:cNvGrpSpPr/>
          <p:nvPr/>
        </p:nvGrpSpPr>
        <p:grpSpPr>
          <a:xfrm>
            <a:off x="8226030" y="3575737"/>
            <a:ext cx="1696234" cy="338597"/>
            <a:chOff x="8226030" y="3575737"/>
            <a:chExt cx="1696234" cy="338597"/>
          </a:xfrm>
        </p:grpSpPr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6976B72-BDF3-7C48-82E3-924EF74F5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3679752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D38CDC-448B-6D46-8D67-92FCAC24452A}"/>
                </a:ext>
              </a:extLst>
            </p:cNvPr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96C1467-1B22-FD48-8EA3-AAA9DBA798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1367" y="3750644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BE549BD-AAEC-8444-851F-3374194952CD}"/>
              </a:ext>
            </a:extLst>
          </p:cNvPr>
          <p:cNvGrpSpPr/>
          <p:nvPr/>
        </p:nvGrpSpPr>
        <p:grpSpPr>
          <a:xfrm>
            <a:off x="8234852" y="4259764"/>
            <a:ext cx="1684338" cy="366949"/>
            <a:chOff x="8234852" y="4259764"/>
            <a:chExt cx="1684338" cy="366949"/>
          </a:xfrm>
        </p:grpSpPr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BD9CD2B5-5BAD-F64E-ABCA-CBF632B90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4852" y="439213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C94E783-4022-4840-9168-04845DD3C6E1}"/>
                </a:ext>
              </a:extLst>
            </p:cNvPr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update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      X’’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E91273DD-2DB7-7D46-A38E-BB2C165693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39955" y="4436145"/>
              <a:ext cx="221806" cy="28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7AF7376-17A3-D741-91E5-0D8534607D08}"/>
              </a:ext>
            </a:extLst>
          </p:cNvPr>
          <p:cNvGrpSpPr/>
          <p:nvPr/>
        </p:nvGrpSpPr>
        <p:grpSpPr>
          <a:xfrm>
            <a:off x="8226030" y="2820539"/>
            <a:ext cx="1684338" cy="362594"/>
            <a:chOff x="8226030" y="2820539"/>
            <a:chExt cx="1684338" cy="36259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770E437-30BF-E34D-A36A-B1465B8979C1}"/>
                </a:ext>
              </a:extLst>
            </p:cNvPr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lock data record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226EF0C1-2237-8E46-AB56-8D689EE5C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6030" y="2948551"/>
              <a:ext cx="1684338" cy="234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D140EC4-5DA8-F040-BC23-C3A90A90AE49}"/>
              </a:ext>
            </a:extLst>
          </p:cNvPr>
          <p:cNvGrpSpPr/>
          <p:nvPr/>
        </p:nvGrpSpPr>
        <p:grpSpPr>
          <a:xfrm>
            <a:off x="8211743" y="3211740"/>
            <a:ext cx="1673225" cy="326272"/>
            <a:chOff x="8211743" y="3211740"/>
            <a:chExt cx="1673225" cy="326272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C78912E7-84E1-824B-B855-60DAC36E5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11743" y="3211740"/>
              <a:ext cx="1673225" cy="2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9CDE70-7C81-BB40-B7E7-D376841A3505}"/>
                </a:ext>
              </a:extLst>
            </p:cNvPr>
            <p:cNvSpPr txBox="1"/>
            <p:nvPr/>
          </p:nvSpPr>
          <p:spPr>
            <a:xfrm rot="21106037">
              <a:off x="9368027" y="3230235"/>
              <a:ext cx="4620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OK</a:t>
              </a:r>
              <a:endPara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FE3FF41-4F60-4C4F-85AB-4CC4494FF63A}"/>
              </a:ext>
            </a:extLst>
          </p:cNvPr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91" name="AutoShape 327">
              <a:extLst>
                <a:ext uri="{FF2B5EF4-FFF2-40B4-BE49-F238E27FC236}">
                  <a16:creationId xmlns:a16="http://schemas.microsoft.com/office/drawing/2014/main" id="{819E3430-D00B-DE4A-BF76-DA4F707F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7AE3A8-B4B7-5D45-9040-2EECD223536E}"/>
                </a:ext>
              </a:extLst>
            </p:cNvPr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64171ED-8243-0748-A18D-E9E66AB8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sp>
        <p:nvSpPr>
          <p:cNvPr id="102" name="AutoShape 327">
            <a:extLst>
              <a:ext uri="{FF2B5EF4-FFF2-40B4-BE49-F238E27FC236}">
                <a16:creationId xmlns:a16="http://schemas.microsoft.com/office/drawing/2014/main" id="{94D2C5FA-36D2-234A-8CDE-D9DE43DC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378" y="2195369"/>
            <a:ext cx="510086" cy="40011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chemeClr val="accent5">
                  <a:lumMod val="75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E67923B-2554-D94F-98BF-5970F66E0A80}"/>
              </a:ext>
            </a:extLst>
          </p:cNvPr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5B74FE-39C8-5B43-9432-6DE5518154FD}"/>
              </a:ext>
            </a:extLst>
          </p:cNvPr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107" name="AutoShape 327">
              <a:extLst>
                <a:ext uri="{FF2B5EF4-FFF2-40B4-BE49-F238E27FC236}">
                  <a16:creationId xmlns:a16="http://schemas.microsoft.com/office/drawing/2014/main" id="{8B16F450-5DEA-8B45-B210-945CA6750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2167ECA-B9B2-4E40-82B0-9F43976F24FE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6DE726C-08C5-5346-B762-9B140BCB8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E55A0D6-71A5-1D45-8A52-331867F92A1A}"/>
              </a:ext>
            </a:extLst>
          </p:cNvPr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111" name="AutoShape 327">
              <a:extLst>
                <a:ext uri="{FF2B5EF4-FFF2-40B4-BE49-F238E27FC236}">
                  <a16:creationId xmlns:a16="http://schemas.microsoft.com/office/drawing/2014/main" id="{AD90F81E-B5AA-6341-8460-5E051080A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02956FF-BB8D-6149-9012-24692DD7049D}"/>
                </a:ext>
              </a:extLst>
            </p:cNvPr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E37BA2D-D932-D14B-9FD2-5FE1BA0B7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B7CAB0-F376-054D-A184-1987E69E5578}"/>
              </a:ext>
            </a:extLst>
          </p:cNvPr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115" name="AutoShape 327">
              <a:extLst>
                <a:ext uri="{FF2B5EF4-FFF2-40B4-BE49-F238E27FC236}">
                  <a16:creationId xmlns:a16="http://schemas.microsoft.com/office/drawing/2014/main" id="{0D7E10F2-D009-F14B-82D2-F08AB2218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8333" y="2957082"/>
              <a:ext cx="510086" cy="400110"/>
            </a:xfrm>
            <a:prstGeom prst="can">
              <a:avLst>
                <a:gd name="adj" fmla="val 31004"/>
              </a:avLst>
            </a:prstGeom>
            <a:gradFill rotWithShape="1">
              <a:gsLst>
                <a:gs pos="0">
                  <a:schemeClr val="accent5">
                    <a:lumMod val="75000"/>
                  </a:schemeClr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7935EAA-1BE1-5D4A-BB6F-A7C69F071ADD}"/>
                </a:ext>
              </a:extLst>
            </p:cNvPr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X’’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6F306746-EF4C-B446-9F1D-1D85D8A99FAC}"/>
              </a:ext>
            </a:extLst>
          </p:cNvPr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0C0AC55-7635-2346-85C0-10B75BF4C445}"/>
              </a:ext>
            </a:extLst>
          </p:cNvPr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happens if network connection or client crashes at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90" name="Slide Number Placeholder 2">
            <a:extLst>
              <a:ext uri="{FF2B5EF4-FFF2-40B4-BE49-F238E27FC236}">
                <a16:creationId xmlns:a16="http://schemas.microsoft.com/office/drawing/2014/main" id="{FF729FF4-43F7-A040-B78F-BE4EC8E98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9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044314F4-5E29-A342-9469-ED1D194C2BEE}"/>
              </a:ext>
            </a:extLst>
          </p:cNvPr>
          <p:cNvSpPr txBox="1">
            <a:spLocks noChangeArrowheads="1"/>
          </p:cNvSpPr>
          <p:nvPr/>
        </p:nvSpPr>
        <p:spPr>
          <a:xfrm>
            <a:off x="622608" y="1452389"/>
            <a:ext cx="6335547" cy="488791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sites and client browser  use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to maintain some state between transactions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four components: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1) cookie header line of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2) cookie header line in next HTTP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3) cookie file kept on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host, managed by user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 browser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4) back-end database at Web site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26408C84-4366-9C43-B55D-97AC8C9FA33A}"/>
              </a:ext>
            </a:extLst>
          </p:cNvPr>
          <p:cNvSpPr txBox="1">
            <a:spLocks noChangeArrowheads="1"/>
          </p:cNvSpPr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111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Susan uses browser on laptop, visits specific e-commerce site for first time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initial HTTP requests arrives at site, site creates: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unique ID (aka “cookie”)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entry in backend database for ID</a:t>
            </a:r>
          </a:p>
          <a:p>
            <a:pPr marL="3429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requests from Susan to this site will contain cookie ID value, allowing site to “identify” Susan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52BCA24-99F8-C342-B95E-EB6833D8C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Maintaining user/server state: cookies</a:t>
            </a:r>
            <a:endParaRPr lang="en-US" sz="4400" dirty="0"/>
          </a:p>
        </p:txBody>
      </p:sp>
      <p:sp>
        <p:nvSpPr>
          <p:cNvPr id="96" name="Text Box 5">
            <a:extLst>
              <a:ext uri="{FF2B5EF4-FFF2-40B4-BE49-F238E27FC236}">
                <a16:creationId xmlns:a16="http://schemas.microsoft.com/office/drawing/2014/main" id="{BDD58876-57D5-6242-A5A0-1F4F57BBD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97" name="Text Box 6">
            <a:extLst>
              <a:ext uri="{FF2B5EF4-FFF2-40B4-BE49-F238E27FC236}">
                <a16:creationId xmlns:a16="http://schemas.microsoft.com/office/drawing/2014/main" id="{2C7DB634-32FD-8242-867E-9B9E0867E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999" y="1555531"/>
            <a:ext cx="9669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</a:p>
        </p:txBody>
      </p:sp>
      <p:grpSp>
        <p:nvGrpSpPr>
          <p:cNvPr id="98" name="Group 90">
            <a:extLst>
              <a:ext uri="{FF2B5EF4-FFF2-40B4-BE49-F238E27FC236}">
                <a16:creationId xmlns:a16="http://schemas.microsoft.com/office/drawing/2014/main" id="{94011BFB-FD4F-E449-8218-8F0FBC795682}"/>
              </a:ext>
            </a:extLst>
          </p:cNvPr>
          <p:cNvGrpSpPr>
            <a:grpSpLocks/>
          </p:cNvGrpSpPr>
          <p:nvPr/>
        </p:nvGrpSpPr>
        <p:grpSpPr bwMode="auto">
          <a:xfrm>
            <a:off x="2996806" y="4057653"/>
            <a:ext cx="3873500" cy="458788"/>
            <a:chOff x="1414" y="2657"/>
            <a:chExt cx="2440" cy="289"/>
          </a:xfrm>
        </p:grpSpPr>
        <p:sp>
          <p:nvSpPr>
            <p:cNvPr id="99" name="Line 16">
              <a:extLst>
                <a:ext uri="{FF2B5EF4-FFF2-40B4-BE49-F238E27FC236}">
                  <a16:creationId xmlns:a16="http://schemas.microsoft.com/office/drawing/2014/main" id="{88BDB1BC-CF22-D740-8FD0-3286D32A2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4" y="2657"/>
              <a:ext cx="2440" cy="2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Group 17">
              <a:extLst>
                <a:ext uri="{FF2B5EF4-FFF2-40B4-BE49-F238E27FC236}">
                  <a16:creationId xmlns:a16="http://schemas.microsoft.com/office/drawing/2014/main" id="{1663D802-36E9-1C4C-BFE3-BD3D00335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101" name="Rectangle 18">
                <a:extLst>
                  <a:ext uri="{FF2B5EF4-FFF2-40B4-BE49-F238E27FC236}">
                    <a16:creationId xmlns:a16="http://schemas.microsoft.com/office/drawing/2014/main" id="{F3795387-184E-6040-B5E5-4A94444CF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Text Box 19">
                <a:extLst>
                  <a:ext uri="{FF2B5EF4-FFF2-40B4-BE49-F238E27FC236}">
                    <a16:creationId xmlns:a16="http://schemas.microsoft.com/office/drawing/2014/main" id="{1E8E6531-8FF1-1C40-8C70-630F4E147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usual HTTP response msg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" name="Group 94">
            <a:extLst>
              <a:ext uri="{FF2B5EF4-FFF2-40B4-BE49-F238E27FC236}">
                <a16:creationId xmlns:a16="http://schemas.microsoft.com/office/drawing/2014/main" id="{A02DFDF0-ACF5-0944-BB01-BEA857B2408F}"/>
              </a:ext>
            </a:extLst>
          </p:cNvPr>
          <p:cNvGrpSpPr>
            <a:grpSpLocks/>
          </p:cNvGrpSpPr>
          <p:nvPr/>
        </p:nvGrpSpPr>
        <p:grpSpPr bwMode="auto">
          <a:xfrm>
            <a:off x="3002432" y="5867498"/>
            <a:ext cx="3859213" cy="463549"/>
            <a:chOff x="1392" y="3579"/>
            <a:chExt cx="2431" cy="292"/>
          </a:xfrm>
        </p:grpSpPr>
        <p:sp>
          <p:nvSpPr>
            <p:cNvPr id="104" name="Line 24">
              <a:extLst>
                <a:ext uri="{FF2B5EF4-FFF2-40B4-BE49-F238E27FC236}">
                  <a16:creationId xmlns:a16="http://schemas.microsoft.com/office/drawing/2014/main" id="{EEB16C5E-89E3-9248-A0E9-068D3F51C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579"/>
              <a:ext cx="2431" cy="2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27">
              <a:extLst>
                <a:ext uri="{FF2B5EF4-FFF2-40B4-BE49-F238E27FC236}">
                  <a16:creationId xmlns:a16="http://schemas.microsoft.com/office/drawing/2014/main" id="{474B7C25-022E-B449-BFB7-79520686A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msg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8" name="Text Box 59">
            <a:extLst>
              <a:ext uri="{FF2B5EF4-FFF2-40B4-BE49-F238E27FC236}">
                <a16:creationId xmlns:a16="http://schemas.microsoft.com/office/drawing/2014/main" id="{8FCE1392-BEBB-7649-A72C-5DBA3176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 file</a:t>
            </a:r>
          </a:p>
        </p:txBody>
      </p:sp>
      <p:sp>
        <p:nvSpPr>
          <p:cNvPr id="109" name="Text Box 66">
            <a:extLst>
              <a:ext uri="{FF2B5EF4-FFF2-40B4-BE49-F238E27FC236}">
                <a16:creationId xmlns:a16="http://schemas.microsoft.com/office/drawing/2014/main" id="{0A6A1E02-F6BE-5D46-AD20-D1F7027FB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week later:</a:t>
            </a:r>
          </a:p>
        </p:txBody>
      </p:sp>
      <p:grpSp>
        <p:nvGrpSpPr>
          <p:cNvPr id="110" name="Group 89">
            <a:extLst>
              <a:ext uri="{FF2B5EF4-FFF2-40B4-BE49-F238E27FC236}">
                <a16:creationId xmlns:a16="http://schemas.microsoft.com/office/drawing/2014/main" id="{40D8E44C-8C6C-D542-9BE7-10406B51CDF5}"/>
              </a:ext>
            </a:extLst>
          </p:cNvPr>
          <p:cNvGrpSpPr>
            <a:grpSpLocks/>
          </p:cNvGrpSpPr>
          <p:nvPr/>
        </p:nvGrpSpPr>
        <p:grpSpPr bwMode="auto">
          <a:xfrm>
            <a:off x="2998327" y="3429000"/>
            <a:ext cx="6777024" cy="1128713"/>
            <a:chOff x="1411" y="2261"/>
            <a:chExt cx="3533" cy="711"/>
          </a:xfrm>
        </p:grpSpPr>
        <p:sp>
          <p:nvSpPr>
            <p:cNvPr id="111" name="Line 12">
              <a:extLst>
                <a:ext uri="{FF2B5EF4-FFF2-40B4-BE49-F238E27FC236}">
                  <a16:creationId xmlns:a16="http://schemas.microsoft.com/office/drawing/2014/main" id="{153DBCD9-AEFE-0D4C-84B4-A29E1AAA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2361"/>
              <a:ext cx="201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2" name="Text Box 15">
              <a:extLst>
                <a:ext uri="{FF2B5EF4-FFF2-40B4-BE49-F238E27FC236}">
                  <a16:creationId xmlns:a16="http://schemas.microsoft.com/office/drawing/2014/main" id="{B4EE3ACA-27BC-0046-99A0-E10CEAF86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13" name="Text Box 28">
              <a:extLst>
                <a:ext uri="{FF2B5EF4-FFF2-40B4-BE49-F238E27FC236}">
                  <a16:creationId xmlns:a16="http://schemas.microsoft.com/office/drawing/2014/main" id="{E0C8E058-016B-9643-8EC4-38404A2A2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14" name="Line 42">
              <a:extLst>
                <a:ext uri="{FF2B5EF4-FFF2-40B4-BE49-F238E27FC236}">
                  <a16:creationId xmlns:a16="http://schemas.microsoft.com/office/drawing/2014/main" id="{AEE1E959-6738-514B-BC11-A0C6268B0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2367"/>
              <a:ext cx="692" cy="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5" name="Group 83">
              <a:extLst>
                <a:ext uri="{FF2B5EF4-FFF2-40B4-BE49-F238E27FC236}">
                  <a16:creationId xmlns:a16="http://schemas.microsoft.com/office/drawing/2014/main" id="{B7857F88-08E3-E240-A20C-5162D2969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116" name="Rectangle 72">
                <a:extLst>
                  <a:ext uri="{FF2B5EF4-FFF2-40B4-BE49-F238E27FC236}">
                    <a16:creationId xmlns:a16="http://schemas.microsoft.com/office/drawing/2014/main" id="{597ACCEC-4FF2-6B40-8454-C2F1F6A7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Text Box 43">
                <a:extLst>
                  <a:ext uri="{FF2B5EF4-FFF2-40B4-BE49-F238E27FC236}">
                    <a16:creationId xmlns:a16="http://schemas.microsoft.com/office/drawing/2014/main" id="{361D7D30-A4D4-5C44-878A-9FE3CEA44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</p:txBody>
          </p:sp>
        </p:grpSp>
      </p:grpSp>
      <p:grpSp>
        <p:nvGrpSpPr>
          <p:cNvPr id="118" name="Group 81">
            <a:extLst>
              <a:ext uri="{FF2B5EF4-FFF2-40B4-BE49-F238E27FC236}">
                <a16:creationId xmlns:a16="http://schemas.microsoft.com/office/drawing/2014/main" id="{CCEC4E82-EFC9-4646-BCEE-C0B8C7E94B5A}"/>
              </a:ext>
            </a:extLst>
          </p:cNvPr>
          <p:cNvGrpSpPr>
            <a:grpSpLocks/>
          </p:cNvGrpSpPr>
          <p:nvPr/>
        </p:nvGrpSpPr>
        <p:grpSpPr bwMode="auto"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FF0F743-E4ED-2B41-96D3-06A33C24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047"/>
              <a:ext cx="855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0">
              <a:extLst>
                <a:ext uri="{FF2B5EF4-FFF2-40B4-BE49-F238E27FC236}">
                  <a16:creationId xmlns:a16="http://schemas.microsoft.com/office/drawing/2014/main" id="{6117DA15-C6DD-B847-B11A-0D6EFDBC1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</a:t>
              </a: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8734</a:t>
              </a:r>
            </a:p>
          </p:txBody>
        </p:sp>
      </p:grpSp>
      <p:grpSp>
        <p:nvGrpSpPr>
          <p:cNvPr id="121" name="Group 95">
            <a:extLst>
              <a:ext uri="{FF2B5EF4-FFF2-40B4-BE49-F238E27FC236}">
                <a16:creationId xmlns:a16="http://schemas.microsoft.com/office/drawing/2014/main" id="{6419469C-19C4-3947-B461-0398BDE5A56E}"/>
              </a:ext>
            </a:extLst>
          </p:cNvPr>
          <p:cNvGrpSpPr>
            <a:grpSpLocks/>
          </p:cNvGrpSpPr>
          <p:nvPr/>
        </p:nvGrpSpPr>
        <p:grpSpPr bwMode="auto">
          <a:xfrm>
            <a:off x="2952356" y="1946272"/>
            <a:ext cx="6972540" cy="1301749"/>
            <a:chOff x="1386" y="1327"/>
            <a:chExt cx="3730" cy="820"/>
          </a:xfrm>
        </p:grpSpPr>
        <p:sp>
          <p:nvSpPr>
            <p:cNvPr id="122" name="Line 4">
              <a:extLst>
                <a:ext uri="{FF2B5EF4-FFF2-40B4-BE49-F238E27FC236}">
                  <a16:creationId xmlns:a16="http://schemas.microsoft.com/office/drawing/2014/main" id="{53358BBA-04B8-9D40-89A7-C1749138D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6" y="1355"/>
              <a:ext cx="208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8">
              <a:extLst>
                <a:ext uri="{FF2B5EF4-FFF2-40B4-BE49-F238E27FC236}">
                  <a16:creationId xmlns:a16="http://schemas.microsoft.com/office/drawing/2014/main" id="{437463ED-2B74-A04D-85BF-36A6CD1AD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8689192D-F56C-1640-861C-3C443D419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server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creates ID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1678 for user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5" name="Group 82">
              <a:extLst>
                <a:ext uri="{FF2B5EF4-FFF2-40B4-BE49-F238E27FC236}">
                  <a16:creationId xmlns:a16="http://schemas.microsoft.com/office/drawing/2014/main" id="{03DF1B1A-A9A9-854D-8891-346BB0DBAA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7" y="1730"/>
              <a:ext cx="739" cy="417"/>
              <a:chOff x="4377" y="1640"/>
              <a:chExt cx="739" cy="417"/>
            </a:xfrm>
          </p:grpSpPr>
          <p:sp>
            <p:nvSpPr>
              <p:cNvPr id="126" name="Line 40">
                <a:extLst>
                  <a:ext uri="{FF2B5EF4-FFF2-40B4-BE49-F238E27FC236}">
                    <a16:creationId xmlns:a16="http://schemas.microsoft.com/office/drawing/2014/main" id="{52C051AD-65C2-504B-9A70-F8E72303C4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77" y="1640"/>
                <a:ext cx="659" cy="41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id="{7F34673E-5298-3241-9317-86EC3DD7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28" name="Text Box 41">
                <a:extLst>
                  <a:ext uri="{FF2B5EF4-FFF2-40B4-BE49-F238E27FC236}">
                    <a16:creationId xmlns:a16="http://schemas.microsoft.com/office/drawing/2014/main" id="{F17F9C36-958E-4C47-BE78-4A1A5F072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create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   entry</a:t>
                </a:r>
              </a:p>
            </p:txBody>
          </p:sp>
        </p:grpSp>
      </p:grpSp>
      <p:grpSp>
        <p:nvGrpSpPr>
          <p:cNvPr id="129" name="Group 88">
            <a:extLst>
              <a:ext uri="{FF2B5EF4-FFF2-40B4-BE49-F238E27FC236}">
                <a16:creationId xmlns:a16="http://schemas.microsoft.com/office/drawing/2014/main" id="{7A1CD3F5-FA12-5E48-9AC5-0FFB79FB2A15}"/>
              </a:ext>
            </a:extLst>
          </p:cNvPr>
          <p:cNvGrpSpPr>
            <a:grpSpLocks/>
          </p:cNvGrpSpPr>
          <p:nvPr/>
        </p:nvGrpSpPr>
        <p:grpSpPr bwMode="auto">
          <a:xfrm>
            <a:off x="1675603" y="2474086"/>
            <a:ext cx="5151555" cy="890270"/>
            <a:chOff x="462" y="1603"/>
            <a:chExt cx="3550" cy="719"/>
          </a:xfrm>
        </p:grpSpPr>
        <p:sp>
          <p:nvSpPr>
            <p:cNvPr id="130" name="Line 9">
              <a:extLst>
                <a:ext uri="{FF2B5EF4-FFF2-40B4-BE49-F238E27FC236}">
                  <a16:creationId xmlns:a16="http://schemas.microsoft.com/office/drawing/2014/main" id="{34D0E0B7-0FCE-BB41-80D4-74036A275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4" y="1603"/>
              <a:ext cx="2608" cy="2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1">
              <a:extLst>
                <a:ext uri="{FF2B5EF4-FFF2-40B4-BE49-F238E27FC236}">
                  <a16:creationId xmlns:a16="http://schemas.microsoft.com/office/drawing/2014/main" id="{C2A582BF-35AD-EC42-8C5E-BCF7C4420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response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set-cookie: 1678 </a:t>
              </a:r>
            </a:p>
          </p:txBody>
        </p:sp>
        <p:grpSp>
          <p:nvGrpSpPr>
            <p:cNvPr id="132" name="Group 76">
              <a:extLst>
                <a:ext uri="{FF2B5EF4-FFF2-40B4-BE49-F238E27FC236}">
                  <a16:creationId xmlns:a16="http://schemas.microsoft.com/office/drawing/2014/main" id="{9B50E41F-6BE8-5B41-B57A-83E988A059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133" name="AutoShape 74">
                <a:extLst>
                  <a:ext uri="{FF2B5EF4-FFF2-40B4-BE49-F238E27FC236}">
                    <a16:creationId xmlns:a16="http://schemas.microsoft.com/office/drawing/2014/main" id="{0B53BA64-2104-564F-AC68-42F70CD18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" y="1746"/>
                <a:ext cx="735" cy="486"/>
              </a:xfrm>
              <a:prstGeom prst="can">
                <a:avLst>
                  <a:gd name="adj" fmla="val 25000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4" name="Text Box 75">
                <a:extLst>
                  <a:ext uri="{FF2B5EF4-FFF2-40B4-BE49-F238E27FC236}">
                    <a16:creationId xmlns:a16="http://schemas.microsoft.com/office/drawing/2014/main" id="{40EF6721-60A7-E646-8306-ACE2C580A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ebay</a:t>
                </a: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 8734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amazon 1678</a:t>
                </a:r>
              </a:p>
            </p:txBody>
          </p:sp>
        </p:grpSp>
      </p:grpSp>
      <p:grpSp>
        <p:nvGrpSpPr>
          <p:cNvPr id="135" name="Group 93">
            <a:extLst>
              <a:ext uri="{FF2B5EF4-FFF2-40B4-BE49-F238E27FC236}">
                <a16:creationId xmlns:a16="http://schemas.microsoft.com/office/drawing/2014/main" id="{3301D1A0-4332-D44D-9339-6985DCD61D45}"/>
              </a:ext>
            </a:extLst>
          </p:cNvPr>
          <p:cNvGrpSpPr>
            <a:grpSpLocks/>
          </p:cNvGrpSpPr>
          <p:nvPr/>
        </p:nvGrpSpPr>
        <p:grpSpPr bwMode="auto">
          <a:xfrm>
            <a:off x="2994226" y="4365354"/>
            <a:ext cx="6781125" cy="2001838"/>
            <a:chOff x="1406" y="2641"/>
            <a:chExt cx="3562" cy="1261"/>
          </a:xfrm>
        </p:grpSpPr>
        <p:sp>
          <p:nvSpPr>
            <p:cNvPr id="136" name="Line 20">
              <a:extLst>
                <a:ext uri="{FF2B5EF4-FFF2-40B4-BE49-F238E27FC236}">
                  <a16:creationId xmlns:a16="http://schemas.microsoft.com/office/drawing/2014/main" id="{27A08B61-84D4-974B-B631-032C83422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3293"/>
              <a:ext cx="2032" cy="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23">
              <a:extLst>
                <a:ext uri="{FF2B5EF4-FFF2-40B4-BE49-F238E27FC236}">
                  <a16:creationId xmlns:a16="http://schemas.microsoft.com/office/drawing/2014/main" id="{C0FE6E20-0831-D147-9963-B3CABC0FF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usual HTTP request msg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cookie: 1678</a:t>
              </a:r>
            </a:p>
          </p:txBody>
        </p:sp>
        <p:sp>
          <p:nvSpPr>
            <p:cNvPr id="138" name="Text Box 29">
              <a:extLst>
                <a:ext uri="{FF2B5EF4-FFF2-40B4-BE49-F238E27FC236}">
                  <a16:creationId xmlns:a16="http://schemas.microsoft.com/office/drawing/2014/main" id="{8241B379-77A9-114B-8D91-05EAB5E6D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cookie-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specific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action</a:t>
              </a:r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E200A986-F657-7343-BB4C-41C023FA5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1" y="2641"/>
              <a:ext cx="787" cy="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Text Box 71">
              <a:extLst>
                <a:ext uri="{FF2B5EF4-FFF2-40B4-BE49-F238E27FC236}">
                  <a16:creationId xmlns:a16="http://schemas.microsoft.com/office/drawing/2014/main" id="{CCBDD99D-1C5A-2749-9C7B-9D0A6E0A3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access</a:t>
              </a:r>
            </a:p>
          </p:txBody>
        </p:sp>
      </p:grpSp>
      <p:grpSp>
        <p:nvGrpSpPr>
          <p:cNvPr id="141" name="Group 77">
            <a:extLst>
              <a:ext uri="{FF2B5EF4-FFF2-40B4-BE49-F238E27FC236}">
                <a16:creationId xmlns:a16="http://schemas.microsoft.com/office/drawing/2014/main" id="{147D74CA-2DA8-1241-A8E8-3EF2E932E88E}"/>
              </a:ext>
            </a:extLst>
          </p:cNvPr>
          <p:cNvGrpSpPr>
            <a:grpSpLocks/>
          </p:cNvGrpSpPr>
          <p:nvPr/>
        </p:nvGrpSpPr>
        <p:grpSpPr bwMode="auto"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142" name="AutoShape 78">
              <a:extLst>
                <a:ext uri="{FF2B5EF4-FFF2-40B4-BE49-F238E27FC236}">
                  <a16:creationId xmlns:a16="http://schemas.microsoft.com/office/drawing/2014/main" id="{19C72BA2-8506-044E-A290-911BA7AE5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1746"/>
              <a:ext cx="773" cy="486"/>
            </a:xfrm>
            <a:prstGeom prst="ca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Text Box 79">
              <a:extLst>
                <a:ext uri="{FF2B5EF4-FFF2-40B4-BE49-F238E27FC236}">
                  <a16:creationId xmlns:a16="http://schemas.microsoft.com/office/drawing/2014/main" id="{DF0A1B9A-EFCF-7042-A14D-D22FE4D3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ebay</a:t>
              </a: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 8734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amazon 1678</a:t>
              </a:r>
              <a:endPara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4" name="Text Box 80">
            <a:extLst>
              <a:ext uri="{FF2B5EF4-FFF2-40B4-BE49-F238E27FC236}">
                <a16:creationId xmlns:a16="http://schemas.microsoft.com/office/drawing/2014/main" id="{EC583638-A99A-9144-B11A-E459DCDD4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database</a:t>
            </a:r>
          </a:p>
        </p:txBody>
      </p:sp>
      <p:sp>
        <p:nvSpPr>
          <p:cNvPr id="145" name="AutoShape 327">
            <a:extLst>
              <a:ext uri="{FF2B5EF4-FFF2-40B4-BE49-F238E27FC236}">
                <a16:creationId xmlns:a16="http://schemas.microsoft.com/office/drawing/2014/main" id="{774E3BE6-BFC9-C849-B588-B56E574D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4838" y="3202824"/>
            <a:ext cx="592138" cy="908050"/>
          </a:xfrm>
          <a:prstGeom prst="can">
            <a:avLst>
              <a:gd name="adj" fmla="val 31004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46" name="Group 63">
            <a:extLst>
              <a:ext uri="{FF2B5EF4-FFF2-40B4-BE49-F238E27FC236}">
                <a16:creationId xmlns:a16="http://schemas.microsoft.com/office/drawing/2014/main" id="{1D650FE6-EFAF-DA42-B6C3-89E2D30D6710}"/>
              </a:ext>
            </a:extLst>
          </p:cNvPr>
          <p:cNvGrpSpPr>
            <a:grpSpLocks/>
          </p:cNvGrpSpPr>
          <p:nvPr/>
        </p:nvGrpSpPr>
        <p:grpSpPr bwMode="auto"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147" name="Freeform 64">
              <a:extLst>
                <a:ext uri="{FF2B5EF4-FFF2-40B4-BE49-F238E27FC236}">
                  <a16:creationId xmlns:a16="http://schemas.microsoft.com/office/drawing/2014/main" id="{23F46B7A-88B4-C64E-A298-064AE8ED2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Rectangle 65">
              <a:extLst>
                <a:ext uri="{FF2B5EF4-FFF2-40B4-BE49-F238E27FC236}">
                  <a16:creationId xmlns:a16="http://schemas.microsoft.com/office/drawing/2014/main" id="{932E7E2F-358A-204B-ACA1-ECA34C74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5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9" name="Freeform 66">
              <a:extLst>
                <a:ext uri="{FF2B5EF4-FFF2-40B4-BE49-F238E27FC236}">
                  <a16:creationId xmlns:a16="http://schemas.microsoft.com/office/drawing/2014/main" id="{5AD2CC4E-2BC1-3742-B273-CCF955749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Freeform 67">
              <a:extLst>
                <a:ext uri="{FF2B5EF4-FFF2-40B4-BE49-F238E27FC236}">
                  <a16:creationId xmlns:a16="http://schemas.microsoft.com/office/drawing/2014/main" id="{1DBFB074-4990-854E-B454-9FF52C6C4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Rectangle 68">
              <a:extLst>
                <a:ext uri="{FF2B5EF4-FFF2-40B4-BE49-F238E27FC236}">
                  <a16:creationId xmlns:a16="http://schemas.microsoft.com/office/drawing/2014/main" id="{BE0EBEA8-CD1D-5047-B6F1-2FAA1FF32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2" name="Group 69">
              <a:extLst>
                <a:ext uri="{FF2B5EF4-FFF2-40B4-BE49-F238E27FC236}">
                  <a16:creationId xmlns:a16="http://schemas.microsoft.com/office/drawing/2014/main" id="{FB3D83DD-33C0-D64F-AEA3-0EDE47897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77" name="AutoShape 70">
                <a:extLst>
                  <a:ext uri="{FF2B5EF4-FFF2-40B4-BE49-F238E27FC236}">
                    <a16:creationId xmlns:a16="http://schemas.microsoft.com/office/drawing/2014/main" id="{9F58D14A-E308-6E43-8765-29117CEB2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AutoShape 71">
                <a:extLst>
                  <a:ext uri="{FF2B5EF4-FFF2-40B4-BE49-F238E27FC236}">
                    <a16:creationId xmlns:a16="http://schemas.microsoft.com/office/drawing/2014/main" id="{990E0E9A-D7D4-F540-994A-F5A32D42A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0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3" name="Rectangle 72">
              <a:extLst>
                <a:ext uri="{FF2B5EF4-FFF2-40B4-BE49-F238E27FC236}">
                  <a16:creationId xmlns:a16="http://schemas.microsoft.com/office/drawing/2014/main" id="{914BF847-475C-7C47-96A4-CAFCCACE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4" name="Group 73">
              <a:extLst>
                <a:ext uri="{FF2B5EF4-FFF2-40B4-BE49-F238E27FC236}">
                  <a16:creationId xmlns:a16="http://schemas.microsoft.com/office/drawing/2014/main" id="{A276F146-AB6A-8C4E-BD8B-856A510CB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5" name="AutoShape 74">
                <a:extLst>
                  <a:ext uri="{FF2B5EF4-FFF2-40B4-BE49-F238E27FC236}">
                    <a16:creationId xmlns:a16="http://schemas.microsoft.com/office/drawing/2014/main" id="{FB783255-C8AF-CD4E-84DF-1573DF917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6" name="AutoShape 75">
                <a:extLst>
                  <a:ext uri="{FF2B5EF4-FFF2-40B4-BE49-F238E27FC236}">
                    <a16:creationId xmlns:a16="http://schemas.microsoft.com/office/drawing/2014/main" id="{46E81119-BF44-D945-96D2-7A6A2F19E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5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5" name="Rectangle 76">
              <a:extLst>
                <a:ext uri="{FF2B5EF4-FFF2-40B4-BE49-F238E27FC236}">
                  <a16:creationId xmlns:a16="http://schemas.microsoft.com/office/drawing/2014/main" id="{823BB60D-416A-0746-BBEF-9DC4528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Rectangle 77">
              <a:extLst>
                <a:ext uri="{FF2B5EF4-FFF2-40B4-BE49-F238E27FC236}">
                  <a16:creationId xmlns:a16="http://schemas.microsoft.com/office/drawing/2014/main" id="{500EA440-64F5-FE43-A9CD-EC38855A5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7" name="Group 78">
              <a:extLst>
                <a:ext uri="{FF2B5EF4-FFF2-40B4-BE49-F238E27FC236}">
                  <a16:creationId xmlns:a16="http://schemas.microsoft.com/office/drawing/2014/main" id="{014CE493-B3CF-454F-97A3-BF80992E3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3" name="AutoShape 79">
                <a:extLst>
                  <a:ext uri="{FF2B5EF4-FFF2-40B4-BE49-F238E27FC236}">
                    <a16:creationId xmlns:a16="http://schemas.microsoft.com/office/drawing/2014/main" id="{40259673-2628-3C41-9A32-A9512F4B2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7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AutoShape 80">
                <a:extLst>
                  <a:ext uri="{FF2B5EF4-FFF2-40B4-BE49-F238E27FC236}">
                    <a16:creationId xmlns:a16="http://schemas.microsoft.com/office/drawing/2014/main" id="{F5B75204-14D3-4949-85E6-E03DC063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58" name="Freeform 81">
              <a:extLst>
                <a:ext uri="{FF2B5EF4-FFF2-40B4-BE49-F238E27FC236}">
                  <a16:creationId xmlns:a16="http://schemas.microsoft.com/office/drawing/2014/main" id="{C088528D-4021-6642-8A80-03351DCF2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9" name="Group 82">
              <a:extLst>
                <a:ext uri="{FF2B5EF4-FFF2-40B4-BE49-F238E27FC236}">
                  <a16:creationId xmlns:a16="http://schemas.microsoft.com/office/drawing/2014/main" id="{1859255F-C0C6-124B-9F92-5E236F8BD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1" name="AutoShape 83">
                <a:extLst>
                  <a:ext uri="{FF2B5EF4-FFF2-40B4-BE49-F238E27FC236}">
                    <a16:creationId xmlns:a16="http://schemas.microsoft.com/office/drawing/2014/main" id="{C035ED52-DDB2-C843-9FFF-5BC45A6C0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AutoShape 84">
                <a:extLst>
                  <a:ext uri="{FF2B5EF4-FFF2-40B4-BE49-F238E27FC236}">
                    <a16:creationId xmlns:a16="http://schemas.microsoft.com/office/drawing/2014/main" id="{E3C20259-037C-3641-A789-24D0DCCDC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Rectangle 85">
              <a:extLst>
                <a:ext uri="{FF2B5EF4-FFF2-40B4-BE49-F238E27FC236}">
                  <a16:creationId xmlns:a16="http://schemas.microsoft.com/office/drawing/2014/main" id="{AAA45EA2-DB28-264A-8894-70368F48D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Freeform 86">
              <a:extLst>
                <a:ext uri="{FF2B5EF4-FFF2-40B4-BE49-F238E27FC236}">
                  <a16:creationId xmlns:a16="http://schemas.microsoft.com/office/drawing/2014/main" id="{056A9634-8A28-174F-BB52-3C9B4E96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Freeform 87">
              <a:extLst>
                <a:ext uri="{FF2B5EF4-FFF2-40B4-BE49-F238E27FC236}">
                  <a16:creationId xmlns:a16="http://schemas.microsoft.com/office/drawing/2014/main" id="{28B4EE70-3F36-D84A-BBF7-26FCDCAB2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Oval 88">
              <a:extLst>
                <a:ext uri="{FF2B5EF4-FFF2-40B4-BE49-F238E27FC236}">
                  <a16:creationId xmlns:a16="http://schemas.microsoft.com/office/drawing/2014/main" id="{AFA23CDD-2C19-364F-8CB6-E34A3A50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4" name="Freeform 89">
              <a:extLst>
                <a:ext uri="{FF2B5EF4-FFF2-40B4-BE49-F238E27FC236}">
                  <a16:creationId xmlns:a16="http://schemas.microsoft.com/office/drawing/2014/main" id="{C80FF08C-B05A-5742-B82B-9D6BFBFA2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5" name="AutoShape 90">
              <a:extLst>
                <a:ext uri="{FF2B5EF4-FFF2-40B4-BE49-F238E27FC236}">
                  <a16:creationId xmlns:a16="http://schemas.microsoft.com/office/drawing/2014/main" id="{D46EF758-7531-924C-8A33-5AC571E0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AutoShape 91">
              <a:extLst>
                <a:ext uri="{FF2B5EF4-FFF2-40B4-BE49-F238E27FC236}">
                  <a16:creationId xmlns:a16="http://schemas.microsoft.com/office/drawing/2014/main" id="{E252E208-3522-884B-9DE7-7EB157685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67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Oval 92">
              <a:extLst>
                <a:ext uri="{FF2B5EF4-FFF2-40B4-BE49-F238E27FC236}">
                  <a16:creationId xmlns:a16="http://schemas.microsoft.com/office/drawing/2014/main" id="{957DD520-6280-3E4E-BAD7-651F51413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8" name="Oval 93">
              <a:extLst>
                <a:ext uri="{FF2B5EF4-FFF2-40B4-BE49-F238E27FC236}">
                  <a16:creationId xmlns:a16="http://schemas.microsoft.com/office/drawing/2014/main" id="{ECF80637-5F56-1F4E-A6A8-ED0FA8AC5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69" name="Oval 94">
              <a:extLst>
                <a:ext uri="{FF2B5EF4-FFF2-40B4-BE49-F238E27FC236}">
                  <a16:creationId xmlns:a16="http://schemas.microsoft.com/office/drawing/2014/main" id="{FFEB5237-B81D-9B45-A444-21BB49902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95">
              <a:extLst>
                <a:ext uri="{FF2B5EF4-FFF2-40B4-BE49-F238E27FC236}">
                  <a16:creationId xmlns:a16="http://schemas.microsoft.com/office/drawing/2014/main" id="{8C2A523A-6ED6-094A-8260-B51956D79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9" name="Group 96">
            <a:extLst>
              <a:ext uri="{FF2B5EF4-FFF2-40B4-BE49-F238E27FC236}">
                <a16:creationId xmlns:a16="http://schemas.microsoft.com/office/drawing/2014/main" id="{079DFC6E-4E8A-7B4D-8113-190A0989D0FB}"/>
              </a:ext>
            </a:extLst>
          </p:cNvPr>
          <p:cNvGrpSpPr>
            <a:grpSpLocks/>
          </p:cNvGrpSpPr>
          <p:nvPr/>
        </p:nvGrpSpPr>
        <p:grpSpPr bwMode="auto"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id="180" name="Picture 97" descr="desktop_computer_stylized_medium">
              <a:extLst>
                <a:ext uri="{FF2B5EF4-FFF2-40B4-BE49-F238E27FC236}">
                  <a16:creationId xmlns:a16="http://schemas.microsoft.com/office/drawing/2014/main" id="{FB14A9C2-A921-3747-8B81-81EE51820A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98">
              <a:extLst>
                <a:ext uri="{FF2B5EF4-FFF2-40B4-BE49-F238E27FC236}">
                  <a16:creationId xmlns:a16="http://schemas.microsoft.com/office/drawing/2014/main" id="{9C2960BD-B3C9-AE44-9E68-217EF326B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8" name="Line 15">
            <a:extLst>
              <a:ext uri="{FF2B5EF4-FFF2-40B4-BE49-F238E27FC236}">
                <a16:creationId xmlns:a16="http://schemas.microsoft.com/office/drawing/2014/main" id="{9030FA43-2615-A74C-949D-871EDD5258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99897" y="1993139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Text Box 37">
            <a:extLst>
              <a:ext uri="{FF2B5EF4-FFF2-40B4-BE49-F238E27FC236}">
                <a16:creationId xmlns:a16="http://schemas.microsoft.com/office/drawing/2014/main" id="{7717F97B-37DE-2442-8F9E-81FB9F33A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0" name="Line 15">
            <a:extLst>
              <a:ext uri="{FF2B5EF4-FFF2-40B4-BE49-F238E27FC236}">
                <a16:creationId xmlns:a16="http://schemas.microsoft.com/office/drawing/2014/main" id="{6E5A588C-0539-7140-B8E3-80735DCD2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352" y="2001551"/>
            <a:ext cx="510" cy="446580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Box 37">
            <a:extLst>
              <a:ext uri="{FF2B5EF4-FFF2-40B4-BE49-F238E27FC236}">
                <a16:creationId xmlns:a16="http://schemas.microsoft.com/office/drawing/2014/main" id="{716E4165-7532-204E-993F-D649CD871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92" name="Slide Number Placeholder 2">
            <a:extLst>
              <a:ext uri="{FF2B5EF4-FFF2-40B4-BE49-F238E27FC236}">
                <a16:creationId xmlns:a16="http://schemas.microsoft.com/office/drawing/2014/main" id="{5F971824-E93B-A24D-9AB3-D5859F34E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3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 cookies: comments</a:t>
            </a:r>
            <a:endParaRPr lang="en-US" sz="440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CD5F1C3-47BC-1645-A288-078B99127C22}"/>
              </a:ext>
            </a:extLst>
          </p:cNvPr>
          <p:cNvSpPr txBox="1">
            <a:spLocks noChangeArrowheads="1"/>
          </p:cNvSpPr>
          <p:nvPr/>
        </p:nvSpPr>
        <p:spPr>
          <a:xfrm>
            <a:off x="648049" y="1556443"/>
            <a:ext cx="6034668" cy="2641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What cookies can be used for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authorization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shopping carts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recommendations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session state (Web e-mail)</a:t>
            </a:r>
          </a:p>
        </p:txBody>
      </p:sp>
      <p:sp>
        <p:nvSpPr>
          <p:cNvPr id="89" name="Rectangle 13">
            <a:extLst>
              <a:ext uri="{FF2B5EF4-FFF2-40B4-BE49-F238E27FC236}">
                <a16:creationId xmlns:a16="http://schemas.microsoft.com/office/drawing/2014/main" id="{BC2253F6-EA38-7C47-9CAD-4C2EC6BB2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291" y="1568189"/>
            <a:ext cx="3810000" cy="3553646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and privacy: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permit sites to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learn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a lot about you on their site.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third party persistent cookies (tracking cookies) allow common identity (cookie value) to be tracked across multiple web sites</a:t>
            </a:r>
          </a:p>
        </p:txBody>
      </p:sp>
      <p:sp>
        <p:nvSpPr>
          <p:cNvPr id="90" name="Text Box 14">
            <a:extLst>
              <a:ext uri="{FF2B5EF4-FFF2-40B4-BE49-F238E27FC236}">
                <a16:creationId xmlns:a16="http://schemas.microsoft.com/office/drawing/2014/main" id="{D023EC46-D7D8-D04C-9048-D7EFE18FF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9568" y="1325611"/>
            <a:ext cx="838691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aside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C2FE22D-B17F-7C44-AE2F-824976586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Challenge: How to keep 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state?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protocol endpoints: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maintain state at sender/receiver over multiple transactions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 messages: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cookies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inHTTP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messages carry state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CE1477A-D004-E440-8562-59DA6EAD8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9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4967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1920</Words>
  <Application>Microsoft Office PowerPoint</Application>
  <PresentationFormat>Widescreen</PresentationFormat>
  <Paragraphs>337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ＭＳ Ｐゴシック</vt:lpstr>
      <vt:lpstr>Arial</vt:lpstr>
      <vt:lpstr>Calibri</vt:lpstr>
      <vt:lpstr>Calibri Light</vt:lpstr>
      <vt:lpstr>Comic Sans MS</vt:lpstr>
      <vt:lpstr>Courier</vt:lpstr>
      <vt:lpstr>Courier New</vt:lpstr>
      <vt:lpstr>Times New Roman</vt:lpstr>
      <vt:lpstr>Wingdings</vt:lpstr>
      <vt:lpstr>ZapfDingbats</vt:lpstr>
      <vt:lpstr>Office Theme</vt:lpstr>
      <vt:lpstr>Web and HTTP</vt:lpstr>
      <vt:lpstr>Application layer: overview</vt:lpstr>
      <vt:lpstr>Web and HTTP</vt:lpstr>
      <vt:lpstr>HTTP overview</vt:lpstr>
      <vt:lpstr>HTTP overview (continued)</vt:lpstr>
      <vt:lpstr>HTTP connections: two types</vt:lpstr>
      <vt:lpstr>Non-persistent HTTP: example</vt:lpstr>
      <vt:lpstr>Non-persistent HTTP: example (cont.)</vt:lpstr>
      <vt:lpstr>Non-persistent HTTP: response time</vt:lpstr>
      <vt:lpstr>Persistent HTTP (HTTP 1.1)</vt:lpstr>
      <vt:lpstr>HTTP request message</vt:lpstr>
      <vt:lpstr>HTTP request message: general format</vt:lpstr>
      <vt:lpstr>Other HTTP request messages</vt:lpstr>
      <vt:lpstr>HTTP response message</vt:lpstr>
      <vt:lpstr>HTTP response status codes</vt:lpstr>
      <vt:lpstr>Trying out HTTP (client side) for yourself</vt:lpstr>
      <vt:lpstr>Maintaining user/server state: cookies</vt:lpstr>
      <vt:lpstr>Maintaining user/server state: cookies</vt:lpstr>
      <vt:lpstr>Maintaining user/server state: cookies</vt:lpstr>
      <vt:lpstr>HTTP cookies: comments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sana razzaq</cp:lastModifiedBy>
  <cp:revision>1</cp:revision>
  <dcterms:created xsi:type="dcterms:W3CDTF">2024-08-13T05:51:35Z</dcterms:created>
  <dcterms:modified xsi:type="dcterms:W3CDTF">2024-08-13T05:53:22Z</dcterms:modified>
</cp:coreProperties>
</file>