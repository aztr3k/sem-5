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214" r:id="rId2"/>
    <p:sldId id="1215" r:id="rId3"/>
    <p:sldId id="1216" r:id="rId4"/>
    <p:sldId id="1217" r:id="rId5"/>
    <p:sldId id="1218" r:id="rId6"/>
    <p:sldId id="1219" r:id="rId7"/>
    <p:sldId id="1220" r:id="rId8"/>
    <p:sldId id="1221" r:id="rId9"/>
    <p:sldId id="1222" r:id="rId10"/>
    <p:sldId id="1223" r:id="rId11"/>
    <p:sldId id="1224" r:id="rId12"/>
    <p:sldId id="1225" r:id="rId13"/>
    <p:sldId id="1226" r:id="rId14"/>
    <p:sldId id="1227" r:id="rId15"/>
    <p:sldId id="1228" r:id="rId16"/>
    <p:sldId id="1229" r:id="rId17"/>
    <p:sldId id="1230" r:id="rId18"/>
    <p:sldId id="1231" r:id="rId19"/>
    <p:sldId id="1232" r:id="rId20"/>
    <p:sldId id="1233" r:id="rId21"/>
    <p:sldId id="1234" r:id="rId22"/>
    <p:sldId id="1235" r:id="rId23"/>
    <p:sldId id="1236" r:id="rId24"/>
    <p:sldId id="1237" r:id="rId25"/>
    <p:sldId id="1238" r:id="rId26"/>
    <p:sldId id="123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1530F-3480-4444-B353-8093A94DA7DF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45C01-7CDB-43F1-BEBF-49FCD0885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9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23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248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543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00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164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331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395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6CCEB4-C9A2-42AB-A4B3-9FF9C37D729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56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1B7ECF-B1E4-49A6-BE43-B898AC3858C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254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14A48B-FCC5-4649-A73E-AE1785BF4B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82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A2EFAD-19F3-4286-9044-1FA786F349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824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BF8996-EBB6-4D01-AFB3-1E27E2892C0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02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F7047C-5237-4D3F-8E68-AE1FEFFB3F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96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8E61D2-4AAD-4113-8FB1-5E12B7A0CB5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58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396D88-C77D-48AF-90FE-55CAB57A16B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452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DA1C53-B2CA-4568-8907-4912A0BA176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27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248170-1DE1-4EFB-A7A4-520537E0D0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14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93BD68-5CEF-431E-A12A-585B6997294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92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EEC4FE-53E5-4C19-8100-49BD7591C76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78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CCBB9D-C2FB-46FF-946F-9B8A1FE8C50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65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FFD028-F788-4093-A81D-6082B645949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85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35B1-BDFD-023F-C224-C7D07D9C8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358C5-65A2-2439-D26F-2240FADDA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E0A40-7812-B223-0DC6-18C60863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2724B-83CE-A089-D22D-E882C555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06E1-CDCD-8159-4A8B-4F443E7B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2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8FB1-60E5-92DD-3D71-FC30F1C2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BE6E-94FF-F27A-0972-61FA6C822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B0B1-E142-CCD7-76A5-A4EBD8C9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D168-557D-3668-ADCE-97682E70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33EF8-B06C-A3F9-F486-8E116CA4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5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B9EA-C452-93FB-00FF-8F286B55F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E8F9E-CD48-840D-40AD-D96803343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9B06-6DC6-59EE-DDB3-4763441EF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F76F-E75F-8F3D-5DAA-F0DB0C18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CBE8-4EBB-105E-66DB-C055252C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3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E340-D07A-620D-18A4-DE2508FF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4E2B4-BF51-B8F6-B96F-499962DAD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CC350-0C4F-2C3B-3D14-17CD57EAD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D469B-1838-4C2A-E4CD-97DAF074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370D8-855E-0248-17E2-F0ADEED8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B0467-7D52-443B-73BA-4697FC55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6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FE7D-8457-9BEA-170F-0966B6FC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6FD6E-53E9-C46B-61E6-C02C5E123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97607-69B3-1EA7-40FA-B16231EA5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1A683-6B59-7F72-6187-E099426E5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95877-D28F-23B0-F792-0F94FE955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10C7F-8F8E-E9FC-4726-881E20A9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22DFD-543B-44F3-29C7-F1CD5A3C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24C23E-571A-1E09-EB5D-7D571D47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1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6E8A-1809-5170-CD89-237366B9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323B7-771F-AA40-E4E8-3B2FC7D0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44587-F869-487D-B9AC-0B449046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0FC6E-7FEF-7743-F7E4-4921D1C0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07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EA011-EE0C-EE4E-55A5-E33B0720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BA23E-D3BB-1B58-CE63-A886F974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9B52D-2293-A217-8044-7679971B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8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9485-2C3D-ACF2-5558-75C8E821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8609E-B863-A169-A67C-3DC8B56CD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70C9C-611F-2A76-EA42-6E9710591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E5E00-F65A-3E33-0475-D7DF0D3C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6F7B4-D0AF-5758-86C8-E2E141E6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45E29-098F-BF2C-A414-D63EE87A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63C8-84F4-0D80-C6EE-CD5ED374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8AD73-1428-CF85-36BA-5253B44B8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9FD2-0839-EEA8-65F2-F56868ED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8F70A-DAED-5694-2D02-A838A107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A4B64-4870-7BA5-23CD-4546438E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A502D-1E30-B276-39BA-C2BBE2A2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7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7858-203B-2E94-5367-1456563D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44EAD-A136-8B82-151E-459522BE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534EC-3E0A-8E14-111C-BC1DE046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2324-3E82-DF03-B771-6460D890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11294-D707-FEC1-92C0-64DA0836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3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936B4-C279-BA32-322D-AECE41A7C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9E75B-E644-70F0-544F-F4354B310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773FD-0E0F-6DD2-E42B-3956A652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73DA3-6EAB-7378-881A-E7A77F8D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E754-0F89-2F0A-8004-DB7CC2C4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9D8D2-BA49-86D1-628C-FB016734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94786-1393-94CA-EEF4-4A2042605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906DF-7594-07C1-18E7-CAA14DCF9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E5387-7CB6-4307-AD05-2EAAE4F14B2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C8A9-3995-8168-4930-BF8977D1C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194B-500E-DF76-A08A-48D6DC798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C7516-2D10-4A9C-AA43-77F5A019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Web and HTTP - II</a:t>
            </a:r>
          </a:p>
        </p:txBody>
      </p:sp>
    </p:spTree>
    <p:extLst>
      <p:ext uri="{BB962C8B-B14F-4D97-AF65-F5344CB8AC3E}">
        <p14:creationId xmlns:p14="http://schemas.microsoft.com/office/powerpoint/2010/main" val="41974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</a:t>
            </a:r>
            <a:endParaRPr lang="en-US" sz="4400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794606" y="2233994"/>
            <a:ext cx="4908362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configures browser to point to a (local)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browser sends all HTTP requests to cache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object in cache: cache returns object to client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else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satisfy client requests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68D9C3-D40D-D946-AB3E-DA830336DA5D}"/>
              </a:ext>
            </a:extLst>
          </p:cNvPr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5" name="Group 138">
              <a:extLst>
                <a:ext uri="{FF2B5EF4-FFF2-40B4-BE49-F238E27FC236}">
                  <a16:creationId xmlns:a16="http://schemas.microsoft.com/office/drawing/2014/main" id="{BCAE7764-70F3-6C4D-BAB2-DE0B7C89D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F1B2DFA0-F79D-7B41-AEB4-30CE9076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Rectangle 140">
                <a:extLst>
                  <a:ext uri="{FF2B5EF4-FFF2-40B4-BE49-F238E27FC236}">
                    <a16:creationId xmlns:a16="http://schemas.microsoft.com/office/drawing/2014/main" id="{C5E2EFBB-BBC5-9A42-BB0E-E6D6D2C2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55529617-AF40-4A4A-B8BE-0A1D9AFF9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CD96A818-3AB4-9749-B364-C94B61E3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43">
                <a:extLst>
                  <a:ext uri="{FF2B5EF4-FFF2-40B4-BE49-F238E27FC236}">
                    <a16:creationId xmlns:a16="http://schemas.microsoft.com/office/drawing/2014/main" id="{6CB7A8CB-28B7-454A-B6FA-0B497C6EA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" name="Group 144">
                <a:extLst>
                  <a:ext uri="{FF2B5EF4-FFF2-40B4-BE49-F238E27FC236}">
                    <a16:creationId xmlns:a16="http://schemas.microsoft.com/office/drawing/2014/main" id="{B151228D-C4D6-FC47-B4C4-E4FEAAC8E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" name="AutoShape 145">
                  <a:extLst>
                    <a:ext uri="{FF2B5EF4-FFF2-40B4-BE49-F238E27FC236}">
                      <a16:creationId xmlns:a16="http://schemas.microsoft.com/office/drawing/2014/main" id="{581E8E47-6DB1-F54B-9476-01B6F2E30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AutoShape 146">
                  <a:extLst>
                    <a:ext uri="{FF2B5EF4-FFF2-40B4-BE49-F238E27FC236}">
                      <a16:creationId xmlns:a16="http://schemas.microsoft.com/office/drawing/2014/main" id="{7F2D9B2C-626D-344A-83E2-C990F841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2" name="Rectangle 147">
                <a:extLst>
                  <a:ext uri="{FF2B5EF4-FFF2-40B4-BE49-F238E27FC236}">
                    <a16:creationId xmlns:a16="http://schemas.microsoft.com/office/drawing/2014/main" id="{06A6E158-AA9B-7643-9927-3F063660D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48">
                <a:extLst>
                  <a:ext uri="{FF2B5EF4-FFF2-40B4-BE49-F238E27FC236}">
                    <a16:creationId xmlns:a16="http://schemas.microsoft.com/office/drawing/2014/main" id="{24564C8A-097F-5447-B760-9CD6285FD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" name="AutoShape 149">
                  <a:extLst>
                    <a:ext uri="{FF2B5EF4-FFF2-40B4-BE49-F238E27FC236}">
                      <a16:creationId xmlns:a16="http://schemas.microsoft.com/office/drawing/2014/main" id="{04C4FA5A-4748-2D42-BA0D-06AFE4DAE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utoShape 150">
                  <a:extLst>
                    <a:ext uri="{FF2B5EF4-FFF2-40B4-BE49-F238E27FC236}">
                      <a16:creationId xmlns:a16="http://schemas.microsoft.com/office/drawing/2014/main" id="{84E1D8C6-7DEE-484B-99EE-B608D1A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Rectangle 151">
                <a:extLst>
                  <a:ext uri="{FF2B5EF4-FFF2-40B4-BE49-F238E27FC236}">
                    <a16:creationId xmlns:a16="http://schemas.microsoft.com/office/drawing/2014/main" id="{454AD9D8-054B-E244-8A65-C00DC300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152">
                <a:extLst>
                  <a:ext uri="{FF2B5EF4-FFF2-40B4-BE49-F238E27FC236}">
                    <a16:creationId xmlns:a16="http://schemas.microsoft.com/office/drawing/2014/main" id="{40C54BAB-9592-ED4B-80E1-874156D7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" name="Group 153">
                <a:extLst>
                  <a:ext uri="{FF2B5EF4-FFF2-40B4-BE49-F238E27FC236}">
                    <a16:creationId xmlns:a16="http://schemas.microsoft.com/office/drawing/2014/main" id="{64CB2613-6494-6C4A-AC96-EDE054898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" name="AutoShape 154">
                  <a:extLst>
                    <a:ext uri="{FF2B5EF4-FFF2-40B4-BE49-F238E27FC236}">
                      <a16:creationId xmlns:a16="http://schemas.microsoft.com/office/drawing/2014/main" id="{A27D1399-0ADF-5D43-8B09-BCD5BD0CD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" name="AutoShape 155">
                  <a:extLst>
                    <a:ext uri="{FF2B5EF4-FFF2-40B4-BE49-F238E27FC236}">
                      <a16:creationId xmlns:a16="http://schemas.microsoft.com/office/drawing/2014/main" id="{20A4C850-89B5-6B44-820C-B66073B75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69CA70FC-8D55-3C40-9230-BB1B319F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" name="Group 157">
                <a:extLst>
                  <a:ext uri="{FF2B5EF4-FFF2-40B4-BE49-F238E27FC236}">
                    <a16:creationId xmlns:a16="http://schemas.microsoft.com/office/drawing/2014/main" id="{592B4F87-8FD7-004F-9CBD-2E07936D7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" name="AutoShape 158">
                  <a:extLst>
                    <a:ext uri="{FF2B5EF4-FFF2-40B4-BE49-F238E27FC236}">
                      <a16:creationId xmlns:a16="http://schemas.microsoft.com/office/drawing/2014/main" id="{52452D42-BA3E-B548-9F26-4F10DEBFF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1" name="AutoShape 159">
                  <a:extLst>
                    <a:ext uri="{FF2B5EF4-FFF2-40B4-BE49-F238E27FC236}">
                      <a16:creationId xmlns:a16="http://schemas.microsoft.com/office/drawing/2014/main" id="{2E496C07-9C8C-B34F-8201-DBF2AB09E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" name="Rectangle 160">
                <a:extLst>
                  <a:ext uri="{FF2B5EF4-FFF2-40B4-BE49-F238E27FC236}">
                    <a16:creationId xmlns:a16="http://schemas.microsoft.com/office/drawing/2014/main" id="{507783BC-460D-F943-9047-6C6F897FE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61">
                <a:extLst>
                  <a:ext uri="{FF2B5EF4-FFF2-40B4-BE49-F238E27FC236}">
                    <a16:creationId xmlns:a16="http://schemas.microsoft.com/office/drawing/2014/main" id="{88257E4A-4830-E644-BAF7-847C2053B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162">
                <a:extLst>
                  <a:ext uri="{FF2B5EF4-FFF2-40B4-BE49-F238E27FC236}">
                    <a16:creationId xmlns:a16="http://schemas.microsoft.com/office/drawing/2014/main" id="{24A3F621-17CD-4645-A51D-7042FE22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Oval 163">
                <a:extLst>
                  <a:ext uri="{FF2B5EF4-FFF2-40B4-BE49-F238E27FC236}">
                    <a16:creationId xmlns:a16="http://schemas.microsoft.com/office/drawing/2014/main" id="{EA7A271B-C672-7748-BB6C-4320F9AE9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Freeform 164">
                <a:extLst>
                  <a:ext uri="{FF2B5EF4-FFF2-40B4-BE49-F238E27FC236}">
                    <a16:creationId xmlns:a16="http://schemas.microsoft.com/office/drawing/2014/main" id="{BF246A84-BFE7-3049-922B-DD8B6EA2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AutoShape 165">
                <a:extLst>
                  <a:ext uri="{FF2B5EF4-FFF2-40B4-BE49-F238E27FC236}">
                    <a16:creationId xmlns:a16="http://schemas.microsoft.com/office/drawing/2014/main" id="{A85BFA7C-936F-3A41-9B80-F269D0D81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utoShape 166">
                <a:extLst>
                  <a:ext uri="{FF2B5EF4-FFF2-40B4-BE49-F238E27FC236}">
                    <a16:creationId xmlns:a16="http://schemas.microsoft.com/office/drawing/2014/main" id="{143F5A2C-3FCC-214E-B1DD-37354850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Oval 167">
                <a:extLst>
                  <a:ext uri="{FF2B5EF4-FFF2-40B4-BE49-F238E27FC236}">
                    <a16:creationId xmlns:a16="http://schemas.microsoft.com/office/drawing/2014/main" id="{9F154E92-095E-194F-B02E-9A00467A0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Oval 168">
                <a:extLst>
                  <a:ext uri="{FF2B5EF4-FFF2-40B4-BE49-F238E27FC236}">
                    <a16:creationId xmlns:a16="http://schemas.microsoft.com/office/drawing/2014/main" id="{9D1FEADC-3D9C-A84B-8B87-2D971178E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169">
                <a:extLst>
                  <a:ext uri="{FF2B5EF4-FFF2-40B4-BE49-F238E27FC236}">
                    <a16:creationId xmlns:a16="http://schemas.microsoft.com/office/drawing/2014/main" id="{4E9E3512-C0DF-9C4B-84D2-8F5465E6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170">
                <a:extLst>
                  <a:ext uri="{FF2B5EF4-FFF2-40B4-BE49-F238E27FC236}">
                    <a16:creationId xmlns:a16="http://schemas.microsoft.com/office/drawing/2014/main" id="{4D132F38-B955-6A4E-A501-5DB6D9BF9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4" name="Text Box 8">
              <a:extLst>
                <a:ext uri="{FF2B5EF4-FFF2-40B4-BE49-F238E27FC236}">
                  <a16:creationId xmlns:a16="http://schemas.microsoft.com/office/drawing/2014/main" id="{5DE1E660-E2FD-8848-B0BB-84A037DC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Web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cache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5" name="Text Box 21">
            <a:extLst>
              <a:ext uri="{FF2B5EF4-FFF2-40B4-BE49-F238E27FC236}">
                <a16:creationId xmlns:a16="http://schemas.microsoft.com/office/drawing/2014/main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1" name="Text Box 48">
            <a:extLst>
              <a:ext uri="{FF2B5EF4-FFF2-40B4-BE49-F238E27FC236}">
                <a16:creationId xmlns:a16="http://schemas.microsoft.com/office/drawing/2014/main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origin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AEEF6BD-F1CB-4A4C-82D3-5C6EE9E6D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(aka proxy servers)</a:t>
            </a:r>
            <a:endParaRPr lang="en-US" sz="4400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21349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 acts as both client and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for original requesting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 to origin server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caching?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response time for client request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cache is closer to client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traffic on an institution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’s access link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Internet is dense with caches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enables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poor” content providers to more effectively deliver content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8A0BA-EA92-E84B-9D25-74AB5B584F39}"/>
              </a:ext>
            </a:extLst>
          </p:cNvPr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367C1AB-A47E-5446-99C0-0905B5F05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CF5707-C36A-2B44-B3DE-6F31EEC7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E701FCD-5285-BE4B-BD4D-92A5F9D53E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7988" marR="0" lvl="0" indent="-2778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tells cache about object’s allowable caching in response header: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93899FF-7A74-EF40-AE83-53C006278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3598333"/>
            <a:ext cx="1255183" cy="1030679"/>
          </a:xfrm>
          <a:prstGeom prst="rect">
            <a:avLst/>
          </a:prstGeom>
        </p:spPr>
      </p:pic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A7EAAD91-B13A-FE4B-8E84-68108CE6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717" y="4370340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usecs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sp>
        <p:nvSpPr>
          <p:cNvPr id="214" name="Oval 137">
            <a:extLst>
              <a:ext uri="{FF2B5EF4-FFF2-40B4-BE49-F238E27FC236}">
                <a16:creationId xmlns:a16="http://schemas.microsoft.com/office/drawing/2014/main" id="{23716FFF-6EE9-1D40-8627-3412B2DC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250" y="5809673"/>
            <a:ext cx="1119350" cy="591127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3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14" grpId="0" animBg="1"/>
      <p:bldP spid="2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4">
            <a:extLst>
              <a:ext uri="{FF2B5EF4-FFF2-40B4-BE49-F238E27FC236}">
                <a16:creationId xmlns:a16="http://schemas.microsoft.com/office/drawing/2014/main" id="{98A75405-209A-CD48-8E25-225D6418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usecs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1: buy a faster access link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3AF6D-4CBE-BE4A-AF26-B6F34DC9EF33}"/>
              </a:ext>
            </a:extLst>
          </p:cNvPr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9AFA7B76-427C-134D-90BC-D4693AEF2136}"/>
                </a:ext>
              </a:extLst>
            </p:cNvPr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15" name="Text Box 52">
                <a:extLst>
                  <a:ext uri="{FF2B5EF4-FFF2-40B4-BE49-F238E27FC236}">
                    <a16:creationId xmlns:a16="http://schemas.microsoft.com/office/drawing/2014/main" id="{D9BA6C4C-0CF0-8742-ACB2-58411438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154 Mbps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FA396C6-E0DB-E54B-9564-C46EF025F0E3}"/>
                  </a:ext>
                </a:extLst>
              </p:cNvPr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7" name="Line 51">
                <a:extLst>
                  <a:ext uri="{FF2B5EF4-FFF2-40B4-BE49-F238E27FC236}">
                    <a16:creationId xmlns:a16="http://schemas.microsoft.com/office/drawing/2014/main" id="{5DC119B0-D3C1-9741-8399-6E949D961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478" y="4140660"/>
                <a:ext cx="680225" cy="42304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EB18F1-EB9B-AB4E-9315-D47FB051A2D9}"/>
                </a:ext>
              </a:extLst>
            </p:cNvPr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19" name="Text Box 52">
                <a:extLst>
                  <a:ext uri="{FF2B5EF4-FFF2-40B4-BE49-F238E27FC236}">
                    <a16:creationId xmlns:a16="http://schemas.microsoft.com/office/drawing/2014/main" id="{414BD24A-A827-744B-8CF6-F9EAA2D9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154 Mbps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3E3E743-58A9-D543-ABF2-E8D950F0D5C4}"/>
                  </a:ext>
                </a:extLst>
              </p:cNvPr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1" name="Line 51">
                <a:extLst>
                  <a:ext uri="{FF2B5EF4-FFF2-40B4-BE49-F238E27FC236}">
                    <a16:creationId xmlns:a16="http://schemas.microsoft.com/office/drawing/2014/main" id="{C012F3C8-BFC0-0C46-8D2D-992B1C38C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9229" y="3805441"/>
                <a:ext cx="554004" cy="23711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73CBB2E-654A-474B-8238-296B81F89068}"/>
              </a:ext>
            </a:extLst>
          </p:cNvPr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23" name="Text Box 52">
              <a:extLst>
                <a:ext uri="{FF2B5EF4-FFF2-40B4-BE49-F238E27FC236}">
                  <a16:creationId xmlns:a16="http://schemas.microsoft.com/office/drawing/2014/main" id="{FA193B58-E942-8A47-9F5D-3A2B58608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.0097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682AEF-F684-9F45-A3DA-FEDE9ED18429}"/>
                </a:ext>
              </a:extLst>
            </p:cNvPr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Line 51">
              <a:extLst>
                <a:ext uri="{FF2B5EF4-FFF2-40B4-BE49-F238E27FC236}">
                  <a16:creationId xmlns:a16="http://schemas.microsoft.com/office/drawing/2014/main" id="{8F3A165F-08A0-9D4B-B82D-B603502A1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70" y="4117024"/>
              <a:ext cx="936703" cy="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98125F6-3C0E-B64C-9CC2-9EFB4DA6980E}"/>
              </a:ext>
            </a:extLst>
          </p:cNvPr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27" name="Text Box 52">
              <a:extLst>
                <a:ext uri="{FF2B5EF4-FFF2-40B4-BE49-F238E27FC236}">
                  <a16:creationId xmlns:a16="http://schemas.microsoft.com/office/drawing/2014/main" id="{5B815C0E-E9AF-964A-AB0C-F8220D77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msecs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EE7EB05-EB77-DA46-8D82-2C1B89B59FCD}"/>
                </a:ext>
              </a:extLst>
            </p:cNvPr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Line 51">
              <a:extLst>
                <a:ext uri="{FF2B5EF4-FFF2-40B4-BE49-F238E27FC236}">
                  <a16:creationId xmlns:a16="http://schemas.microsoft.com/office/drawing/2014/main" id="{45B58613-BF72-9847-A603-92F5F10A9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316" y="3504654"/>
              <a:ext cx="1983056" cy="4616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0" name="Text Box 83">
            <a:extLst>
              <a:ext uri="{FF2B5EF4-FFF2-40B4-BE49-F238E27FC236}">
                <a16:creationId xmlns:a16="http://schemas.microsoft.com/office/drawing/2014/main" id="{3A71517F-2630-E14F-B4A5-B7AD1A33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faster access link (expensive!)</a:t>
            </a:r>
          </a:p>
        </p:txBody>
      </p:sp>
      <p:sp>
        <p:nvSpPr>
          <p:cNvPr id="231" name="Slide Number Placeholder 2">
            <a:extLst>
              <a:ext uri="{FF2B5EF4-FFF2-40B4-BE49-F238E27FC236}">
                <a16:creationId xmlns:a16="http://schemas.microsoft.com/office/drawing/2014/main" id="{FF0ECF32-52FF-7941-8B38-AE471D68A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7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end-end delay 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2: install a web cache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3006" y="4514213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81" name="Text Box 76">
            <a:extLst>
              <a:ext uri="{FF2B5EF4-FFF2-40B4-BE49-F238E27FC236}">
                <a16:creationId xmlns:a16="http://schemas.microsoft.com/office/drawing/2014/main" id="{3175A1F8-F48E-9749-AA0C-8A115012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How to compute link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utilization, delay?</a:t>
            </a:r>
          </a:p>
        </p:txBody>
      </p:sp>
      <p:sp>
        <p:nvSpPr>
          <p:cNvPr id="282" name="Text Box 83">
            <a:extLst>
              <a:ext uri="{FF2B5EF4-FFF2-40B4-BE49-F238E27FC236}">
                <a16:creationId xmlns:a16="http://schemas.microsoft.com/office/drawing/2014/main" id="{445BA7C8-9DBB-B245-98C3-EA83E67E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web cache (cheap!)</a:t>
            </a:r>
          </a:p>
        </p:txBody>
      </p: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Slide Number Placeholder 2">
            <a:extLst>
              <a:ext uri="{FF2B5EF4-FFF2-40B4-BE49-F238E27FC236}">
                <a16:creationId xmlns:a16="http://schemas.microsoft.com/office/drawing/2014/main" id="{CD12BA19-40D2-F44B-8E23-E4E6B15A6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5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" grpId="0"/>
      <p:bldP spid="282" grpId="0"/>
      <p:bldP spid="2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Calculating access link utilization, end-end delay with cache: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48492" y="4470671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5292EFEC-88AD-0B46-B2E3-643489D30B9D}"/>
              </a:ext>
            </a:extLst>
          </p:cNvPr>
          <p:cNvSpPr txBox="1">
            <a:spLocks noChangeArrowheads="1"/>
          </p:cNvSpPr>
          <p:nvPr/>
        </p:nvSpPr>
        <p:spPr>
          <a:xfrm>
            <a:off x="889002" y="1405471"/>
            <a:ext cx="6166171" cy="1744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3975" algn="l"/>
                <a:tab pos="576263" algn="l"/>
              </a:tabLst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suppose cache hit rate is 0.4:  </a:t>
            </a:r>
          </a:p>
          <a:p>
            <a:pPr marL="352425" marR="0" lvl="0" indent="-231775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3975" algn="l"/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40% requests served by cache, with low (msec) delay 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0C139AEE-1F5A-A64B-9C16-223417C8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60% requests satisfied at origin </a:t>
            </a:r>
          </a:p>
          <a:p>
            <a:pPr marL="406400" marR="0" lvl="1" indent="-1698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rate to browsers over access link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ZapfDingbat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= 0.6 * 1.50 Mbps  =  .9 Mbps </a:t>
            </a:r>
          </a:p>
          <a:p>
            <a:pPr marL="4730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 panose="020B0604020202020204" pitchFamily="34" charset="0"/>
              <a:buChar char="•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access link utilization = 0.9/1.54 = .58 means low (msec) queueing delay at access link</a:t>
            </a:r>
          </a:p>
        </p:txBody>
      </p:sp>
      <p:sp>
        <p:nvSpPr>
          <p:cNvPr id="271" name="Rectangle 4">
            <a:extLst>
              <a:ext uri="{FF2B5EF4-FFF2-40B4-BE49-F238E27FC236}">
                <a16:creationId xmlns:a16="http://schemas.microsoft.com/office/drawing/2014/main" id="{D2059C01-2D9C-6C48-A831-71AE55D0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marR="0" lvl="0" indent="-220663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average end-end delay: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0.6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from origin servers)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    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when satisfied at cache)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 0.6 (2.01) + 0.4 (~msecs) = ~ 1.2 secs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E105-9733-D741-944B-F6DC771B29F2}"/>
              </a:ext>
            </a:extLst>
          </p:cNvPr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lower average end-end delay than with 154 Mbps link (and cheaper too!)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2" name="Slide Number Placeholder 2">
            <a:extLst>
              <a:ext uri="{FF2B5EF4-FFF2-40B4-BE49-F238E27FC236}">
                <a16:creationId xmlns:a16="http://schemas.microsoft.com/office/drawing/2014/main" id="{14DEAC98-1261-9342-BC5F-A639A069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2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71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Conditional GET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14337" y="1626575"/>
            <a:ext cx="5597253" cy="51323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 send object if cache has up-to-date cached version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object transmission delay (or use of network resources)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specify date of cached copy in HTTP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contains no object if cached copy is up-to-date: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HTTP/1.0 304 Not Modified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Line 4">
            <a:extLst>
              <a:ext uri="{FF2B5EF4-FFF2-40B4-BE49-F238E27FC236}">
                <a16:creationId xmlns:a16="http://schemas.microsoft.com/office/drawing/2014/main" id="{F2F5CF00-0B08-CD49-8216-B019F02D6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490" y="2068251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4" name="Text Box 8">
            <a:extLst>
              <a:ext uri="{FF2B5EF4-FFF2-40B4-BE49-F238E27FC236}">
                <a16:creationId xmlns:a16="http://schemas.microsoft.com/office/drawing/2014/main" id="{906861D1-0EDE-1E49-A686-C17A989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78" y="1952364"/>
            <a:ext cx="2681287" cy="620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Line 9">
            <a:extLst>
              <a:ext uri="{FF2B5EF4-FFF2-40B4-BE49-F238E27FC236}">
                <a16:creationId xmlns:a16="http://schemas.microsoft.com/office/drawing/2014/main" id="{ED4D0E55-FFE9-4141-9763-499742C88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4540" y="281437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6" name="Group 30">
            <a:extLst>
              <a:ext uri="{FF2B5EF4-FFF2-40B4-BE49-F238E27FC236}">
                <a16:creationId xmlns:a16="http://schemas.microsoft.com/office/drawing/2014/main" id="{F2D4CC5D-48B8-6642-A163-00E2785A7CB2}"/>
              </a:ext>
            </a:extLst>
          </p:cNvPr>
          <p:cNvGrpSpPr>
            <a:grpSpLocks/>
          </p:cNvGrpSpPr>
          <p:nvPr/>
        </p:nvGrpSpPr>
        <p:grpSpPr bwMode="auto"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277" name="Rectangle 10">
              <a:extLst>
                <a:ext uri="{FF2B5EF4-FFF2-40B4-BE49-F238E27FC236}">
                  <a16:creationId xmlns:a16="http://schemas.microsoft.com/office/drawing/2014/main" id="{B8FAE946-FF4C-5F4E-8634-A0F622E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D0F47DD5-D98D-8947-AE9C-C9BE5971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HTTP/1.0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304 Not Modified</a:t>
              </a: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9" name="Text Box 28">
            <a:extLst>
              <a:ext uri="{FF2B5EF4-FFF2-40B4-BE49-F238E27FC236}">
                <a16:creationId xmlns:a16="http://schemas.microsoft.com/office/drawing/2014/main" id="{FD73E46B-3F04-E648-BC54-671B5D57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sp>
        <p:nvSpPr>
          <p:cNvPr id="280" name="Line 31">
            <a:extLst>
              <a:ext uri="{FF2B5EF4-FFF2-40B4-BE49-F238E27FC236}">
                <a16:creationId xmlns:a16="http://schemas.microsoft.com/office/drawing/2014/main" id="{C63FE7CD-8932-5842-A550-AB95E976B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603" y="4033576"/>
            <a:ext cx="390525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Line 32">
            <a:extLst>
              <a:ext uri="{FF2B5EF4-FFF2-40B4-BE49-F238E27FC236}">
                <a16:creationId xmlns:a16="http://schemas.microsoft.com/office/drawing/2014/main" id="{FB4BB9E8-5BA3-1A4B-A22B-B43D8797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165" y="4632064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Text Box 34">
            <a:extLst>
              <a:ext uri="{FF2B5EF4-FFF2-40B4-BE49-F238E27FC236}">
                <a16:creationId xmlns:a16="http://schemas.microsoft.com/office/drawing/2014/main" id="{EEDA71D6-F453-1A4D-98C9-B23EA89D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40" y="4516176"/>
            <a:ext cx="2681288" cy="620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3" name="Line 35">
            <a:extLst>
              <a:ext uri="{FF2B5EF4-FFF2-40B4-BE49-F238E27FC236}">
                <a16:creationId xmlns:a16="http://schemas.microsoft.com/office/drawing/2014/main" id="{8CE24BAA-3E73-704D-A359-BE2DD4792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215" y="541152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Text Box 38">
            <a:extLst>
              <a:ext uri="{FF2B5EF4-FFF2-40B4-BE49-F238E27FC236}">
                <a16:creationId xmlns:a16="http://schemas.microsoft.com/office/drawing/2014/main" id="{6B6CFEBF-546C-2C4A-A9DA-A2BC6976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690" y="5355964"/>
            <a:ext cx="2643188" cy="12311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HTTP/1.0 200 OK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&lt;data&gt;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" name="Text Box 39">
            <a:extLst>
              <a:ext uri="{FF2B5EF4-FFF2-40B4-BE49-F238E27FC236}">
                <a16:creationId xmlns:a16="http://schemas.microsoft.com/office/drawing/2014/main" id="{F31EAC50-5999-F949-836E-741F2643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after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0E8B-38E2-9342-A1EB-20A2D702A664}"/>
              </a:ext>
            </a:extLst>
          </p:cNvPr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286" name="Text Box 5">
              <a:extLst>
                <a:ext uri="{FF2B5EF4-FFF2-40B4-BE49-F238E27FC236}">
                  <a16:creationId xmlns:a16="http://schemas.microsoft.com/office/drawing/2014/main" id="{E637D672-7B6C-1647-8EEE-A788FA28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client</a:t>
              </a:r>
            </a:p>
          </p:txBody>
        </p:sp>
        <p:sp>
          <p:nvSpPr>
            <p:cNvPr id="287" name="Text Box 6">
              <a:extLst>
                <a:ext uri="{FF2B5EF4-FFF2-40B4-BE49-F238E27FC236}">
                  <a16:creationId xmlns:a16="http://schemas.microsoft.com/office/drawing/2014/main" id="{5AC69B11-5115-184E-9F7C-26E36EF6D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</a:p>
          </p:txBody>
        </p:sp>
        <p:grpSp>
          <p:nvGrpSpPr>
            <p:cNvPr id="288" name="Group 34">
              <a:extLst>
                <a:ext uri="{FF2B5EF4-FFF2-40B4-BE49-F238E27FC236}">
                  <a16:creationId xmlns:a16="http://schemas.microsoft.com/office/drawing/2014/main" id="{966CD3F7-7AB2-924F-823A-58555F321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8CE7E2BE-E936-F147-8C06-143889566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0" name="Rectangle 36">
                <a:extLst>
                  <a:ext uri="{FF2B5EF4-FFF2-40B4-BE49-F238E27FC236}">
                    <a16:creationId xmlns:a16="http://schemas.microsoft.com/office/drawing/2014/main" id="{A6315B9D-328B-4B4A-938A-EEDFB67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0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D6D629FF-99A4-C445-814B-73349ADDC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Freeform 38">
                <a:extLst>
                  <a:ext uri="{FF2B5EF4-FFF2-40B4-BE49-F238E27FC236}">
                    <a16:creationId xmlns:a16="http://schemas.microsoft.com/office/drawing/2014/main" id="{99A64A90-EA88-094D-B5BA-9DEE55C33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0" name="Rectangle 39">
                <a:extLst>
                  <a:ext uri="{FF2B5EF4-FFF2-40B4-BE49-F238E27FC236}">
                    <a16:creationId xmlns:a16="http://schemas.microsoft.com/office/drawing/2014/main" id="{4F858703-B37B-004C-96CE-22FC3EB7F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1" name="Group 40">
                <a:extLst>
                  <a:ext uri="{FF2B5EF4-FFF2-40B4-BE49-F238E27FC236}">
                    <a16:creationId xmlns:a16="http://schemas.microsoft.com/office/drawing/2014/main" id="{94FE2F64-7E16-FF44-B770-1FF34858D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42" name="AutoShape 41">
                  <a:extLst>
                    <a:ext uri="{FF2B5EF4-FFF2-40B4-BE49-F238E27FC236}">
                      <a16:creationId xmlns:a16="http://schemas.microsoft.com/office/drawing/2014/main" id="{FFB919DB-3DB6-2E47-9682-893EFF450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AutoShape 42">
                  <a:extLst>
                    <a:ext uri="{FF2B5EF4-FFF2-40B4-BE49-F238E27FC236}">
                      <a16:creationId xmlns:a16="http://schemas.microsoft.com/office/drawing/2014/main" id="{4E207D69-67B1-E24E-86A3-1CFB9A8ED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3" name="Rectangle 43">
                <a:extLst>
                  <a:ext uri="{FF2B5EF4-FFF2-40B4-BE49-F238E27FC236}">
                    <a16:creationId xmlns:a16="http://schemas.microsoft.com/office/drawing/2014/main" id="{B50DC330-10D1-2A4E-ACAC-FF9B40FF0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4" name="Group 44">
                <a:extLst>
                  <a:ext uri="{FF2B5EF4-FFF2-40B4-BE49-F238E27FC236}">
                    <a16:creationId xmlns:a16="http://schemas.microsoft.com/office/drawing/2014/main" id="{2E12D255-3950-B547-9406-602D45CB3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40" name="AutoShape 45">
                  <a:extLst>
                    <a:ext uri="{FF2B5EF4-FFF2-40B4-BE49-F238E27FC236}">
                      <a16:creationId xmlns:a16="http://schemas.microsoft.com/office/drawing/2014/main" id="{BE313EB5-0E75-D64F-9B58-846AEC112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AutoShape 46">
                  <a:extLst>
                    <a:ext uri="{FF2B5EF4-FFF2-40B4-BE49-F238E27FC236}">
                      <a16:creationId xmlns:a16="http://schemas.microsoft.com/office/drawing/2014/main" id="{7CDD2F87-9EE6-9841-BDE1-56E95B3F0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5" name="Rectangle 47">
                <a:extLst>
                  <a:ext uri="{FF2B5EF4-FFF2-40B4-BE49-F238E27FC236}">
                    <a16:creationId xmlns:a16="http://schemas.microsoft.com/office/drawing/2014/main" id="{A3C6AC3E-B182-224E-ABE3-984D17D8A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6" name="Rectangle 48">
                <a:extLst>
                  <a:ext uri="{FF2B5EF4-FFF2-40B4-BE49-F238E27FC236}">
                    <a16:creationId xmlns:a16="http://schemas.microsoft.com/office/drawing/2014/main" id="{D49F39F4-203C-5E48-875C-EE137013C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7" name="Group 49">
                <a:extLst>
                  <a:ext uri="{FF2B5EF4-FFF2-40B4-BE49-F238E27FC236}">
                    <a16:creationId xmlns:a16="http://schemas.microsoft.com/office/drawing/2014/main" id="{CBB7495C-CDDF-B74E-AC55-41F4E153E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8" name="AutoShape 50">
                  <a:extLst>
                    <a:ext uri="{FF2B5EF4-FFF2-40B4-BE49-F238E27FC236}">
                      <a16:creationId xmlns:a16="http://schemas.microsoft.com/office/drawing/2014/main" id="{DBD04B1C-004E-494D-9602-0F1310B0C3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7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AutoShape 51">
                  <a:extLst>
                    <a:ext uri="{FF2B5EF4-FFF2-40B4-BE49-F238E27FC236}">
                      <a16:creationId xmlns:a16="http://schemas.microsoft.com/office/drawing/2014/main" id="{3D0C8D43-BC47-E747-9FD0-5C502E897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8" name="Freeform 52">
                <a:extLst>
                  <a:ext uri="{FF2B5EF4-FFF2-40B4-BE49-F238E27FC236}">
                    <a16:creationId xmlns:a16="http://schemas.microsoft.com/office/drawing/2014/main" id="{00C2FD89-F255-5B44-B5A0-4E02CB37B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09" name="Group 53">
                <a:extLst>
                  <a:ext uri="{FF2B5EF4-FFF2-40B4-BE49-F238E27FC236}">
                    <a16:creationId xmlns:a16="http://schemas.microsoft.com/office/drawing/2014/main" id="{C35E79E1-71FE-4E4A-83A2-F8C06439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36" name="AutoShape 54">
                  <a:extLst>
                    <a:ext uri="{FF2B5EF4-FFF2-40B4-BE49-F238E27FC236}">
                      <a16:creationId xmlns:a16="http://schemas.microsoft.com/office/drawing/2014/main" id="{95A667E4-D78B-7A4C-A440-4917259D7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AutoShape 55">
                  <a:extLst>
                    <a:ext uri="{FF2B5EF4-FFF2-40B4-BE49-F238E27FC236}">
                      <a16:creationId xmlns:a16="http://schemas.microsoft.com/office/drawing/2014/main" id="{ED50BD44-2B1A-A041-ACD3-EEFDC8341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0" name="Rectangle 56">
                <a:extLst>
                  <a:ext uri="{FF2B5EF4-FFF2-40B4-BE49-F238E27FC236}">
                    <a16:creationId xmlns:a16="http://schemas.microsoft.com/office/drawing/2014/main" id="{5DA6EF43-A6D1-5A48-BBCA-48444D1A9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0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8" name="Freeform 57">
                <a:extLst>
                  <a:ext uri="{FF2B5EF4-FFF2-40B4-BE49-F238E27FC236}">
                    <a16:creationId xmlns:a16="http://schemas.microsoft.com/office/drawing/2014/main" id="{3C6C8679-5D2D-A24A-B371-C4C1F50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9" name="Freeform 58">
                <a:extLst>
                  <a:ext uri="{FF2B5EF4-FFF2-40B4-BE49-F238E27FC236}">
                    <a16:creationId xmlns:a16="http://schemas.microsoft.com/office/drawing/2014/main" id="{84C1EB21-DBAC-5D42-A7C0-5F245901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0" name="Oval 59">
                <a:extLst>
                  <a:ext uri="{FF2B5EF4-FFF2-40B4-BE49-F238E27FC236}">
                    <a16:creationId xmlns:a16="http://schemas.microsoft.com/office/drawing/2014/main" id="{D88785FB-A16E-B34D-8961-EB75C81E8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Freeform 60">
                <a:extLst>
                  <a:ext uri="{FF2B5EF4-FFF2-40B4-BE49-F238E27FC236}">
                    <a16:creationId xmlns:a16="http://schemas.microsoft.com/office/drawing/2014/main" id="{137D376C-6C12-0648-BCAA-30DCACD9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0" name="AutoShape 61">
                <a:extLst>
                  <a:ext uri="{FF2B5EF4-FFF2-40B4-BE49-F238E27FC236}">
                    <a16:creationId xmlns:a16="http://schemas.microsoft.com/office/drawing/2014/main" id="{3524D490-AC16-CF4B-AAFE-EF4C666B3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1" name="AutoShape 62">
                <a:extLst>
                  <a:ext uri="{FF2B5EF4-FFF2-40B4-BE49-F238E27FC236}">
                    <a16:creationId xmlns:a16="http://schemas.microsoft.com/office/drawing/2014/main" id="{B279651A-6EBD-F542-B219-9B4C83AF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2" name="Oval 63">
                <a:extLst>
                  <a:ext uri="{FF2B5EF4-FFF2-40B4-BE49-F238E27FC236}">
                    <a16:creationId xmlns:a16="http://schemas.microsoft.com/office/drawing/2014/main" id="{15D5DA26-8982-F44B-A3F7-03FEC745A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3" name="Oval 64">
                <a:extLst>
                  <a:ext uri="{FF2B5EF4-FFF2-40B4-BE49-F238E27FC236}">
                    <a16:creationId xmlns:a16="http://schemas.microsoft.com/office/drawing/2014/main" id="{25B61B78-2AA0-A245-9C22-EC0A10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34" name="Oval 65">
                <a:extLst>
                  <a:ext uri="{FF2B5EF4-FFF2-40B4-BE49-F238E27FC236}">
                    <a16:creationId xmlns:a16="http://schemas.microsoft.com/office/drawing/2014/main" id="{78934A6A-6F9D-5541-8897-F81821D1A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Rectangle 66">
                <a:extLst>
                  <a:ext uri="{FF2B5EF4-FFF2-40B4-BE49-F238E27FC236}">
                    <a16:creationId xmlns:a16="http://schemas.microsoft.com/office/drawing/2014/main" id="{4994117A-432E-094B-BF94-5385D43F9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44" name="Group 67">
              <a:extLst>
                <a:ext uri="{FF2B5EF4-FFF2-40B4-BE49-F238E27FC236}">
                  <a16:creationId xmlns:a16="http://schemas.microsoft.com/office/drawing/2014/main" id="{A6DA78F5-835E-D242-9B19-A42AE8C14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id="545" name="Picture 68" descr="desktop_computer_stylized_medium">
                <a:extLst>
                  <a:ext uri="{FF2B5EF4-FFF2-40B4-BE49-F238E27FC236}">
                    <a16:creationId xmlns:a16="http://schemas.microsoft.com/office/drawing/2014/main" id="{AF3FF2A0-2B19-2846-B88C-3A51C71882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6" name="Freeform 69">
                <a:extLst>
                  <a:ext uri="{FF2B5EF4-FFF2-40B4-BE49-F238E27FC236}">
                    <a16:creationId xmlns:a16="http://schemas.microsoft.com/office/drawing/2014/main" id="{77A4C668-554A-6C44-A4D3-0F6A27C1F4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8064881B-A35A-8B40-BFE6-0E4FAAB8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5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  <p:bldP spid="279" grpId="0"/>
      <p:bldP spid="282" grpId="0" animBg="1"/>
      <p:bldP spid="284" grpId="0" animBg="1"/>
      <p:bldP spid="2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31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4C67AF2F-CC5B-4B11-BBDA-E5C69D82B24F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9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3316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8" y="83502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Freeform 46"/>
          <p:cNvSpPr>
            <a:spLocks/>
          </p:cNvSpPr>
          <p:nvPr/>
        </p:nvSpPr>
        <p:spPr bwMode="auto">
          <a:xfrm>
            <a:off x="7685089" y="2220914"/>
            <a:ext cx="1100137" cy="282575"/>
          </a:xfrm>
          <a:custGeom>
            <a:avLst/>
            <a:gdLst>
              <a:gd name="T0" fmla="*/ 0 w 693"/>
              <a:gd name="T1" fmla="*/ 2147483646 h 178"/>
              <a:gd name="T2" fmla="*/ 2147483646 w 693"/>
              <a:gd name="T3" fmla="*/ 0 h 178"/>
              <a:gd name="T4" fmla="*/ 2147483646 w 693"/>
              <a:gd name="T5" fmla="*/ 0 h 178"/>
              <a:gd name="T6" fmla="*/ 2147483646 w 693"/>
              <a:gd name="T7" fmla="*/ 2147483646 h 178"/>
              <a:gd name="T8" fmla="*/ 0 w 693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3"/>
              <a:gd name="T16" fmla="*/ 0 h 178"/>
              <a:gd name="T17" fmla="*/ 693 w 693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3" h="178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18" name="Freeform 43"/>
          <p:cNvSpPr>
            <a:spLocks/>
          </p:cNvSpPr>
          <p:nvPr/>
        </p:nvSpPr>
        <p:spPr bwMode="auto">
          <a:xfrm>
            <a:off x="4125913" y="2220914"/>
            <a:ext cx="1784350" cy="282575"/>
          </a:xfrm>
          <a:custGeom>
            <a:avLst/>
            <a:gdLst>
              <a:gd name="T0" fmla="*/ 0 w 1124"/>
              <a:gd name="T1" fmla="*/ 2147483646 h 178"/>
              <a:gd name="T2" fmla="*/ 2147483646 w 1124"/>
              <a:gd name="T3" fmla="*/ 2147483646 h 178"/>
              <a:gd name="T4" fmla="*/ 2147483646 w 1124"/>
              <a:gd name="T5" fmla="*/ 0 h 178"/>
              <a:gd name="T6" fmla="*/ 2147483646 w 1124"/>
              <a:gd name="T7" fmla="*/ 2147483646 h 178"/>
              <a:gd name="T8" fmla="*/ 0 w 1124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4"/>
              <a:gd name="T16" fmla="*/ 0 h 178"/>
              <a:gd name="T17" fmla="*/ 1124 w 1124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4" h="178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06376"/>
            <a:ext cx="7772400" cy="860425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FTP: the file transfer protocol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3320" name="Text Box 16"/>
          <p:cNvSpPr txBox="1">
            <a:spLocks noChangeArrowheads="1"/>
          </p:cNvSpPr>
          <p:nvPr/>
        </p:nvSpPr>
        <p:spPr bwMode="auto">
          <a:xfrm>
            <a:off x="6169026" y="1255714"/>
            <a:ext cx="17129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CC0000"/>
                </a:solidFill>
                <a:cs typeface="Arial" panose="020B0604020202020204" pitchFamily="34" charset="0"/>
              </a:rPr>
              <a:t>file transfer</a:t>
            </a:r>
          </a:p>
        </p:txBody>
      </p:sp>
      <p:grpSp>
        <p:nvGrpSpPr>
          <p:cNvPr id="13321" name="Group 17"/>
          <p:cNvGrpSpPr>
            <a:grpSpLocks/>
          </p:cNvGrpSpPr>
          <p:nvPr/>
        </p:nvGrpSpPr>
        <p:grpSpPr bwMode="auto">
          <a:xfrm>
            <a:off x="8086725" y="1411289"/>
            <a:ext cx="704850" cy="828675"/>
            <a:chOff x="3930" y="1386"/>
            <a:chExt cx="444" cy="522"/>
          </a:xfrm>
        </p:grpSpPr>
        <p:sp>
          <p:nvSpPr>
            <p:cNvPr id="13375" name="Rectangle 1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6" name="Text Box 19"/>
            <p:cNvSpPr txBox="1">
              <a:spLocks noChangeArrowheads="1"/>
            </p:cNvSpPr>
            <p:nvPr/>
          </p:nvSpPr>
          <p:spPr bwMode="auto">
            <a:xfrm>
              <a:off x="3934" y="1463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322" name="Group 20"/>
          <p:cNvGrpSpPr>
            <a:grpSpLocks/>
          </p:cNvGrpSpPr>
          <p:nvPr/>
        </p:nvGrpSpPr>
        <p:grpSpPr bwMode="auto">
          <a:xfrm>
            <a:off x="4106863" y="1401763"/>
            <a:ext cx="1789112" cy="838200"/>
            <a:chOff x="1645" y="1326"/>
            <a:chExt cx="1127" cy="528"/>
          </a:xfrm>
        </p:grpSpPr>
        <p:sp>
          <p:nvSpPr>
            <p:cNvPr id="13371" name="Rectangle 2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2" name="Rectangle 2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3" name="Text Box 23"/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74" name="Text Box 24"/>
            <p:cNvSpPr txBox="1">
              <a:spLocks noChangeArrowheads="1"/>
            </p:cNvSpPr>
            <p:nvPr/>
          </p:nvSpPr>
          <p:spPr bwMode="auto">
            <a:xfrm>
              <a:off x="2357" y="1403"/>
              <a:ext cx="3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323" name="Text Box 32"/>
          <p:cNvSpPr txBox="1">
            <a:spLocks noChangeArrowheads="1"/>
          </p:cNvSpPr>
          <p:nvPr/>
        </p:nvSpPr>
        <p:spPr bwMode="auto">
          <a:xfrm>
            <a:off x="5405439" y="2522539"/>
            <a:ext cx="1076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local file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system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24" name="Line 33"/>
          <p:cNvSpPr>
            <a:spLocks noChangeShapeType="1"/>
          </p:cNvSpPr>
          <p:nvPr/>
        </p:nvSpPr>
        <p:spPr bwMode="auto">
          <a:xfrm>
            <a:off x="4743450" y="2239963"/>
            <a:ext cx="3238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25" name="Line 34"/>
          <p:cNvSpPr>
            <a:spLocks noChangeShapeType="1"/>
          </p:cNvSpPr>
          <p:nvPr/>
        </p:nvSpPr>
        <p:spPr bwMode="auto">
          <a:xfrm flipH="1">
            <a:off x="5238751" y="2230438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26" name="Text Box 41"/>
          <p:cNvSpPr txBox="1">
            <a:spLocks noChangeArrowheads="1"/>
          </p:cNvSpPr>
          <p:nvPr/>
        </p:nvSpPr>
        <p:spPr bwMode="auto">
          <a:xfrm>
            <a:off x="8685214" y="2333626"/>
            <a:ext cx="1457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remote file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system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27" name="Line 42"/>
          <p:cNvSpPr>
            <a:spLocks noChangeShapeType="1"/>
          </p:cNvSpPr>
          <p:nvPr/>
        </p:nvSpPr>
        <p:spPr bwMode="auto">
          <a:xfrm>
            <a:off x="8439150" y="2239964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3328" name="Picture 43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1454150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9" name="Text Box 44"/>
          <p:cNvSpPr txBox="1">
            <a:spLocks noChangeArrowheads="1"/>
          </p:cNvSpPr>
          <p:nvPr/>
        </p:nvSpPr>
        <p:spPr bwMode="auto">
          <a:xfrm>
            <a:off x="2903538" y="2162176"/>
            <a:ext cx="971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user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at host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30" name="Line 45"/>
          <p:cNvSpPr>
            <a:spLocks noChangeShapeType="1"/>
          </p:cNvSpPr>
          <p:nvPr/>
        </p:nvSpPr>
        <p:spPr bwMode="auto">
          <a:xfrm>
            <a:off x="3552826" y="1849438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31" name="AutoShape 327"/>
          <p:cNvSpPr>
            <a:spLocks noChangeArrowheads="1"/>
          </p:cNvSpPr>
          <p:nvPr/>
        </p:nvSpPr>
        <p:spPr bwMode="auto">
          <a:xfrm>
            <a:off x="4857751" y="2673351"/>
            <a:ext cx="569913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32" name="AutoShape 327"/>
          <p:cNvSpPr>
            <a:spLocks noChangeArrowheads="1"/>
          </p:cNvSpPr>
          <p:nvPr/>
        </p:nvSpPr>
        <p:spPr bwMode="auto">
          <a:xfrm>
            <a:off x="8189913" y="2628901"/>
            <a:ext cx="569912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33" name="Rectangle 3"/>
          <p:cNvSpPr>
            <a:spLocks noChangeArrowheads="1"/>
          </p:cNvSpPr>
          <p:nvPr/>
        </p:nvSpPr>
        <p:spPr bwMode="auto">
          <a:xfrm>
            <a:off x="2268538" y="3751264"/>
            <a:ext cx="80137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transfer file to/from remote host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client/server model</a:t>
            </a:r>
          </a:p>
          <a:p>
            <a:pPr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client:</a:t>
            </a: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 side that initiates transfer (either to/from remote)</a:t>
            </a:r>
          </a:p>
          <a:p>
            <a:pPr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server:</a:t>
            </a: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 remote host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ftp: RFC 959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 server: port 21</a:t>
            </a:r>
          </a:p>
        </p:txBody>
      </p:sp>
      <p:sp>
        <p:nvSpPr>
          <p:cNvPr id="13334" name="Line 49"/>
          <p:cNvSpPr>
            <a:spLocks noChangeShapeType="1"/>
          </p:cNvSpPr>
          <p:nvPr/>
        </p:nvSpPr>
        <p:spPr bwMode="auto">
          <a:xfrm>
            <a:off x="5889626" y="1714500"/>
            <a:ext cx="21875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3335" name="Group 51"/>
          <p:cNvGrpSpPr>
            <a:grpSpLocks/>
          </p:cNvGrpSpPr>
          <p:nvPr/>
        </p:nvGrpSpPr>
        <p:grpSpPr bwMode="auto">
          <a:xfrm>
            <a:off x="7532688" y="2327275"/>
            <a:ext cx="476250" cy="749300"/>
            <a:chOff x="4140" y="429"/>
            <a:chExt cx="1425" cy="2396"/>
          </a:xfrm>
        </p:grpSpPr>
        <p:sp>
          <p:nvSpPr>
            <p:cNvPr id="13339" name="Freeform 5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0" name="Rectangle 53"/>
            <p:cNvSpPr>
              <a:spLocks noChangeArrowheads="1"/>
            </p:cNvSpPr>
            <p:nvPr/>
          </p:nvSpPr>
          <p:spPr bwMode="auto">
            <a:xfrm>
              <a:off x="4207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41" name="Freeform 5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2" name="Freeform 5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3" name="Rectangle 56"/>
            <p:cNvSpPr>
              <a:spLocks noChangeArrowheads="1"/>
            </p:cNvSpPr>
            <p:nvPr/>
          </p:nvSpPr>
          <p:spPr bwMode="auto">
            <a:xfrm>
              <a:off x="4211" y="693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4" name="Group 5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369" name="AutoShape 5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4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70" name="AutoShape 5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45" name="Rectangle 60"/>
            <p:cNvSpPr>
              <a:spLocks noChangeArrowheads="1"/>
            </p:cNvSpPr>
            <p:nvPr/>
          </p:nvSpPr>
          <p:spPr bwMode="auto">
            <a:xfrm>
              <a:off x="4226" y="101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6" name="Group 6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367" name="AutoShape 6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8" name="AutoShape 6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88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47" name="Rectangle 64"/>
            <p:cNvSpPr>
              <a:spLocks noChangeArrowheads="1"/>
            </p:cNvSpPr>
            <p:nvPr/>
          </p:nvSpPr>
          <p:spPr bwMode="auto">
            <a:xfrm>
              <a:off x="4216" y="1358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48" name="Rectangle 65"/>
            <p:cNvSpPr>
              <a:spLocks noChangeArrowheads="1"/>
            </p:cNvSpPr>
            <p:nvPr/>
          </p:nvSpPr>
          <p:spPr bwMode="auto">
            <a:xfrm>
              <a:off x="4230" y="1657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9" name="Group 6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365" name="AutoShape 6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6" name="AutoShape 68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50" name="Freeform 6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3351" name="Group 7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363" name="AutoShape 71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4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52" name="Rectangle 73"/>
            <p:cNvSpPr>
              <a:spLocks noChangeArrowheads="1"/>
            </p:cNvSpPr>
            <p:nvPr/>
          </p:nvSpPr>
          <p:spPr bwMode="auto">
            <a:xfrm>
              <a:off x="5252" y="429"/>
              <a:ext cx="67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3" name="Freeform 7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4" name="Freeform 7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5" name="Oval 76"/>
            <p:cNvSpPr>
              <a:spLocks noChangeArrowheads="1"/>
            </p:cNvSpPr>
            <p:nvPr/>
          </p:nvSpPr>
          <p:spPr bwMode="auto"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6" name="Freeform 7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7" name="AutoShape 78"/>
            <p:cNvSpPr>
              <a:spLocks noChangeArrowheads="1"/>
            </p:cNvSpPr>
            <p:nvPr/>
          </p:nvSpPr>
          <p:spPr bwMode="auto">
            <a:xfrm>
              <a:off x="4140" y="2678"/>
              <a:ext cx="1197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8" name="AutoShape 79"/>
            <p:cNvSpPr>
              <a:spLocks noChangeArrowheads="1"/>
            </p:cNvSpPr>
            <p:nvPr/>
          </p:nvSpPr>
          <p:spPr bwMode="auto">
            <a:xfrm>
              <a:off x="4207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9" name="Oval 80"/>
            <p:cNvSpPr>
              <a:spLocks noChangeArrowheads="1"/>
            </p:cNvSpPr>
            <p:nvPr/>
          </p:nvSpPr>
          <p:spPr bwMode="auto"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0" name="Oval 81"/>
            <p:cNvSpPr>
              <a:spLocks noChangeArrowheads="1"/>
            </p:cNvSpPr>
            <p:nvPr/>
          </p:nvSpPr>
          <p:spPr bwMode="auto"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1" name="Oval 82"/>
            <p:cNvSpPr>
              <a:spLocks noChangeArrowheads="1"/>
            </p:cNvSpPr>
            <p:nvPr/>
          </p:nvSpPr>
          <p:spPr bwMode="auto"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2" name="Rectangle 83"/>
            <p:cNvSpPr>
              <a:spLocks noChangeArrowheads="1"/>
            </p:cNvSpPr>
            <p:nvPr/>
          </p:nvSpPr>
          <p:spPr bwMode="auto"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336" name="Group 84"/>
          <p:cNvGrpSpPr>
            <a:grpSpLocks/>
          </p:cNvGrpSpPr>
          <p:nvPr/>
        </p:nvGrpSpPr>
        <p:grpSpPr bwMode="auto">
          <a:xfrm>
            <a:off x="3744913" y="2352676"/>
            <a:ext cx="830262" cy="849313"/>
            <a:chOff x="-44" y="1473"/>
            <a:chExt cx="981" cy="1105"/>
          </a:xfrm>
        </p:grpSpPr>
        <p:pic>
          <p:nvPicPr>
            <p:cNvPr id="13337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8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937 h 368"/>
                <a:gd name="T4" fmla="*/ 3093555 w 356"/>
                <a:gd name="T5" fmla="*/ 5706969 h 368"/>
                <a:gd name="T6" fmla="*/ 681775 w 356"/>
                <a:gd name="T7" fmla="*/ 71373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28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168900" y="6248400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36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0B10268F-A35C-4403-8E5F-6E7E69F77C52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0550" y="163513"/>
            <a:ext cx="7772400" cy="925512"/>
          </a:xfrm>
        </p:spPr>
        <p:txBody>
          <a:bodyPr/>
          <a:lstStyle/>
          <a:p>
            <a:r>
              <a:rPr lang="en-US" altLang="en-US" sz="2800">
                <a:latin typeface="Gill Sans MT" panose="020B0502020104020203" pitchFamily="34" charset="0"/>
              </a:rPr>
              <a:t>FTP: separate control, data connections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143001"/>
            <a:ext cx="4318000" cy="4964113"/>
          </a:xfrm>
        </p:spPr>
        <p:txBody>
          <a:bodyPr>
            <a:normAutofit lnSpcReduction="10000"/>
          </a:bodyPr>
          <a:lstStyle/>
          <a:p>
            <a:r>
              <a:rPr lang="en-US" altLang="en-US" sz="2000">
                <a:latin typeface="Gill Sans MT" panose="020B0502020104020203" pitchFamily="34" charset="0"/>
              </a:rPr>
              <a:t>FTP client contacts FTP server at port 21, using TCP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authorized over control connection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browses remote directory, sends commands over control connection (</a:t>
            </a:r>
            <a:r>
              <a:rPr lang="en-US" altLang="en-US" sz="2000" b="1">
                <a:latin typeface="Gill Sans MT" panose="020B0502020104020203" pitchFamily="34" charset="0"/>
              </a:rPr>
              <a:t>username and password,</a:t>
            </a:r>
            <a:r>
              <a:rPr lang="en-GB" altLang="en-US" sz="2000" b="1">
                <a:latin typeface="Gill Sans MT" panose="020B0502020104020203" pitchFamily="34" charset="0"/>
              </a:rPr>
              <a:t> commands to</a:t>
            </a:r>
          </a:p>
          <a:p>
            <a:r>
              <a:rPr lang="en-GB" altLang="en-US" sz="2000" b="1">
                <a:latin typeface="Gill Sans MT" panose="020B0502020104020203" pitchFamily="34" charset="0"/>
              </a:rPr>
              <a:t>change remote directory, and commands to “put” and “get” files</a:t>
            </a:r>
            <a:r>
              <a:rPr lang="en-GB" altLang="en-US" sz="2000">
                <a:latin typeface="Gill Sans MT" panose="020B0502020104020203" pitchFamily="34" charset="0"/>
              </a:rPr>
              <a:t>)</a:t>
            </a:r>
            <a:endParaRPr lang="en-US" altLang="en-US" sz="2000"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when server receives file transfer command, </a:t>
            </a: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</a:rPr>
              <a:t>server</a:t>
            </a:r>
            <a:r>
              <a:rPr lang="en-US" altLang="en-US" sz="2000">
                <a:latin typeface="Gill Sans MT" panose="020B0502020104020203" pitchFamily="34" charset="0"/>
              </a:rPr>
              <a:t> opens </a:t>
            </a:r>
            <a:r>
              <a:rPr lang="en-US" altLang="en-US" sz="2000" i="1">
                <a:latin typeface="Gill Sans MT" panose="020B0502020104020203" pitchFamily="34" charset="0"/>
              </a:rPr>
              <a:t>2</a:t>
            </a:r>
            <a:r>
              <a:rPr lang="en-US" altLang="en-US" sz="2000" i="1" baseline="30000">
                <a:latin typeface="Gill Sans MT" panose="020B0502020104020203" pitchFamily="34" charset="0"/>
              </a:rPr>
              <a:t>nd</a:t>
            </a:r>
            <a:r>
              <a:rPr lang="en-US" altLang="en-US" sz="2000" i="1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TCP data connection (for file) </a:t>
            </a:r>
            <a:r>
              <a:rPr lang="en-US" altLang="en-US" sz="2000" i="1">
                <a:latin typeface="Gill Sans MT" panose="020B0502020104020203" pitchFamily="34" charset="0"/>
              </a:rPr>
              <a:t>to </a:t>
            </a:r>
            <a:r>
              <a:rPr lang="en-US" altLang="en-US" sz="2000">
                <a:latin typeface="Gill Sans MT" panose="020B0502020104020203" pitchFamily="34" charset="0"/>
              </a:rPr>
              <a:t>client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after transferring one file, server closes data connection</a:t>
            </a:r>
          </a:p>
        </p:txBody>
      </p:sp>
      <p:sp>
        <p:nvSpPr>
          <p:cNvPr id="15366" name="Text Box 15"/>
          <p:cNvSpPr txBox="1">
            <a:spLocks noChangeArrowheads="1"/>
          </p:cNvSpPr>
          <p:nvPr/>
        </p:nvSpPr>
        <p:spPr bwMode="auto">
          <a:xfrm>
            <a:off x="6389689" y="2533650"/>
            <a:ext cx="6635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FTP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5367" name="Text Box 16"/>
          <p:cNvSpPr txBox="1">
            <a:spLocks noChangeArrowheads="1"/>
          </p:cNvSpPr>
          <p:nvPr/>
        </p:nvSpPr>
        <p:spPr bwMode="auto">
          <a:xfrm>
            <a:off x="9412288" y="2543175"/>
            <a:ext cx="7556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FTP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server</a:t>
            </a:r>
          </a:p>
        </p:txBody>
      </p:sp>
      <p:sp>
        <p:nvSpPr>
          <p:cNvPr id="15368" name="Line 17"/>
          <p:cNvSpPr>
            <a:spLocks noChangeShapeType="1"/>
          </p:cNvSpPr>
          <p:nvPr/>
        </p:nvSpPr>
        <p:spPr bwMode="auto">
          <a:xfrm>
            <a:off x="7032626" y="2011363"/>
            <a:ext cx="2562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69" name="Line 18"/>
          <p:cNvSpPr>
            <a:spLocks noChangeShapeType="1"/>
          </p:cNvSpPr>
          <p:nvPr/>
        </p:nvSpPr>
        <p:spPr bwMode="auto">
          <a:xfrm flipV="1">
            <a:off x="7051676" y="2325689"/>
            <a:ext cx="2562225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70" name="Text Box 19"/>
          <p:cNvSpPr txBox="1">
            <a:spLocks noChangeArrowheads="1"/>
          </p:cNvSpPr>
          <p:nvPr/>
        </p:nvSpPr>
        <p:spPr bwMode="auto">
          <a:xfrm>
            <a:off x="7104064" y="1473200"/>
            <a:ext cx="2409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TCP control connection,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server port 21</a:t>
            </a:r>
            <a:endParaRPr lang="en-US" altLang="en-US" sz="2000" i="1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15371" name="Text Box 20"/>
          <p:cNvSpPr txBox="1">
            <a:spLocks noChangeArrowheads="1"/>
          </p:cNvSpPr>
          <p:nvPr/>
        </p:nvSpPr>
        <p:spPr bwMode="auto">
          <a:xfrm>
            <a:off x="7078664" y="2400300"/>
            <a:ext cx="2409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TCP data connection,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server port 20</a:t>
            </a:r>
            <a:endParaRPr lang="en-US" altLang="en-US" sz="2000" i="1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214037" name="Rectangle 21"/>
          <p:cNvSpPr>
            <a:spLocks noChangeArrowheads="1"/>
          </p:cNvSpPr>
          <p:nvPr/>
        </p:nvSpPr>
        <p:spPr bwMode="auto">
          <a:xfrm>
            <a:off x="6227764" y="3425826"/>
            <a:ext cx="4440237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server opens another TCP data connection to transfer another file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control connection: </a:t>
            </a:r>
            <a:r>
              <a:rPr lang="ja-JP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</a:t>
            </a:r>
            <a:r>
              <a:rPr lang="en-US" altLang="ja-JP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out of band</a:t>
            </a:r>
            <a:r>
              <a:rPr lang="ja-JP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”</a:t>
            </a:r>
            <a:endParaRPr lang="en-US" altLang="ja-JP" sz="2000" i="1">
              <a:solidFill>
                <a:srgbClr val="CC0000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 server maintains </a:t>
            </a:r>
            <a:r>
              <a:rPr lang="ja-JP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</a:t>
            </a:r>
            <a:r>
              <a:rPr lang="en-US" altLang="ja-JP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state</a:t>
            </a:r>
            <a:r>
              <a:rPr lang="ja-JP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: current directory, earlier authentication</a:t>
            </a:r>
            <a:endParaRPr lang="en-US" altLang="ja-JP" sz="2000">
              <a:solidFill>
                <a:srgbClr val="FF0000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FF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HTTP </a:t>
            </a: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“in-band” sends request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and response header lines into the same TCP connection that carries the transferred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file itself</a:t>
            </a:r>
          </a:p>
        </p:txBody>
      </p:sp>
      <p:pic>
        <p:nvPicPr>
          <p:cNvPr id="15373" name="Picture 2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4" y="868364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4" name="Line 23"/>
          <p:cNvSpPr>
            <a:spLocks noChangeShapeType="1"/>
          </p:cNvSpPr>
          <p:nvPr/>
        </p:nvSpPr>
        <p:spPr bwMode="auto">
          <a:xfrm>
            <a:off x="7250114" y="2697164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5375" name="Group 32"/>
          <p:cNvGrpSpPr>
            <a:grpSpLocks/>
          </p:cNvGrpSpPr>
          <p:nvPr/>
        </p:nvGrpSpPr>
        <p:grpSpPr bwMode="auto">
          <a:xfrm>
            <a:off x="9653588" y="1674813"/>
            <a:ext cx="444500" cy="728662"/>
            <a:chOff x="4140" y="429"/>
            <a:chExt cx="1425" cy="2396"/>
          </a:xfrm>
        </p:grpSpPr>
        <p:sp>
          <p:nvSpPr>
            <p:cNvPr id="15379" name="Freeform 3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0" name="Rectangle 34"/>
            <p:cNvSpPr>
              <a:spLocks noChangeArrowheads="1"/>
            </p:cNvSpPr>
            <p:nvPr/>
          </p:nvSpPr>
          <p:spPr bwMode="auto">
            <a:xfrm>
              <a:off x="4206" y="429"/>
              <a:ext cx="1048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81" name="Freeform 3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2" name="Freeform 3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3" name="Rectangle 37"/>
            <p:cNvSpPr>
              <a:spLocks noChangeArrowheads="1"/>
            </p:cNvSpPr>
            <p:nvPr/>
          </p:nvSpPr>
          <p:spPr bwMode="auto">
            <a:xfrm>
              <a:off x="4211" y="695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4" name="Group 3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409" name="AutoShape 39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10" name="AutoShape 40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6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85" name="Rectangle 41"/>
            <p:cNvSpPr>
              <a:spLocks noChangeArrowheads="1"/>
            </p:cNvSpPr>
            <p:nvPr/>
          </p:nvSpPr>
          <p:spPr bwMode="auto">
            <a:xfrm>
              <a:off x="4227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6" name="Group 4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407" name="AutoShape 43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8" name="AutoShape 44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87" name="Rectangle 45"/>
            <p:cNvSpPr>
              <a:spLocks noChangeArrowheads="1"/>
            </p:cNvSpPr>
            <p:nvPr/>
          </p:nvSpPr>
          <p:spPr bwMode="auto">
            <a:xfrm>
              <a:off x="4216" y="1358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88" name="Rectangle 46"/>
            <p:cNvSpPr>
              <a:spLocks noChangeArrowheads="1"/>
            </p:cNvSpPr>
            <p:nvPr/>
          </p:nvSpPr>
          <p:spPr bwMode="auto">
            <a:xfrm>
              <a:off x="4227" y="1656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9" name="Group 4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405" name="AutoShape 48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3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6" name="AutoShape 4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90" name="Freeform 5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5391" name="Group 5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403" name="AutoShape 5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4" name="AutoShape 53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92" name="Rectangle 54"/>
            <p:cNvSpPr>
              <a:spLocks noChangeArrowheads="1"/>
            </p:cNvSpPr>
            <p:nvPr/>
          </p:nvSpPr>
          <p:spPr bwMode="auto">
            <a:xfrm>
              <a:off x="5249" y="429"/>
              <a:ext cx="66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3" name="Freeform 5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4" name="Freeform 5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5" name="Oval 57"/>
            <p:cNvSpPr>
              <a:spLocks noChangeArrowheads="1"/>
            </p:cNvSpPr>
            <p:nvPr/>
          </p:nvSpPr>
          <p:spPr bwMode="auto">
            <a:xfrm>
              <a:off x="5519" y="2611"/>
              <a:ext cx="46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6" name="Freeform 5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7" name="AutoShape 59"/>
            <p:cNvSpPr>
              <a:spLocks noChangeArrowheads="1"/>
            </p:cNvSpPr>
            <p:nvPr/>
          </p:nvSpPr>
          <p:spPr bwMode="auto">
            <a:xfrm>
              <a:off x="4140" y="2679"/>
              <a:ext cx="1201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8" name="AutoShape 60"/>
            <p:cNvSpPr>
              <a:spLocks noChangeArrowheads="1"/>
            </p:cNvSpPr>
            <p:nvPr/>
          </p:nvSpPr>
          <p:spPr bwMode="auto">
            <a:xfrm>
              <a:off x="4206" y="2710"/>
              <a:ext cx="1069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9" name="Oval 61"/>
            <p:cNvSpPr>
              <a:spLocks noChangeArrowheads="1"/>
            </p:cNvSpPr>
            <p:nvPr/>
          </p:nvSpPr>
          <p:spPr bwMode="auto">
            <a:xfrm>
              <a:off x="4308" y="2381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0" name="Oval 62"/>
            <p:cNvSpPr>
              <a:spLocks noChangeArrowheads="1"/>
            </p:cNvSpPr>
            <p:nvPr/>
          </p:nvSpPr>
          <p:spPr bwMode="auto">
            <a:xfrm>
              <a:off x="4486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1" name="Oval 63"/>
            <p:cNvSpPr>
              <a:spLocks noChangeArrowheads="1"/>
            </p:cNvSpPr>
            <p:nvPr/>
          </p:nvSpPr>
          <p:spPr bwMode="auto">
            <a:xfrm>
              <a:off x="4664" y="2381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2" name="Rectangle 64"/>
            <p:cNvSpPr>
              <a:spLocks noChangeArrowheads="1"/>
            </p:cNvSpPr>
            <p:nvPr/>
          </p:nvSpPr>
          <p:spPr bwMode="auto">
            <a:xfrm>
              <a:off x="5061" y="1833"/>
              <a:ext cx="87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5376" name="Group 65"/>
          <p:cNvGrpSpPr>
            <a:grpSpLocks/>
          </p:cNvGrpSpPr>
          <p:nvPr/>
        </p:nvGrpSpPr>
        <p:grpSpPr bwMode="auto">
          <a:xfrm>
            <a:off x="6180139" y="1665288"/>
            <a:ext cx="873125" cy="893762"/>
            <a:chOff x="-44" y="1473"/>
            <a:chExt cx="981" cy="1105"/>
          </a:xfrm>
        </p:grpSpPr>
        <p:pic>
          <p:nvPicPr>
            <p:cNvPr id="15377" name="Picture 6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8" name="Freeform 6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937 h 368"/>
                <a:gd name="T4" fmla="*/ 3093555 w 356"/>
                <a:gd name="T5" fmla="*/ 5706969 h 368"/>
                <a:gd name="T6" fmla="*/ 681775 w 356"/>
                <a:gd name="T7" fmla="*/ 71373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48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41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E22B6E01-9BEB-4E2C-A54E-57B5855C0D51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11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741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89217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0550" y="271463"/>
            <a:ext cx="7772400" cy="817562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FTP commands, responses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sample commands:</a:t>
            </a:r>
            <a:endParaRPr lang="en-US" altLang="en-US" sz="2000" i="1">
              <a:solidFill>
                <a:srgbClr val="CC0000"/>
              </a:solidFill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sent as ASCII text over control channel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USER </a:t>
            </a:r>
            <a:r>
              <a:rPr lang="en-US" altLang="en-US" sz="2000" b="1" i="1">
                <a:latin typeface="Courier New" panose="02070309020205020404" pitchFamily="49" charset="0"/>
              </a:rPr>
              <a:t>username</a:t>
            </a:r>
            <a:endParaRPr lang="en-US" altLang="en-US" sz="2400" i="1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PASS </a:t>
            </a:r>
            <a:r>
              <a:rPr lang="en-US" altLang="en-US" sz="2000" b="1" i="1">
                <a:latin typeface="Courier New" panose="02070309020205020404" pitchFamily="49" charset="0"/>
              </a:rPr>
              <a:t>password</a:t>
            </a:r>
            <a:endParaRPr lang="en-US" altLang="en-US" sz="2400" i="1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LIST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return list of file in current directory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RETR filename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retrieves (gets) file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STOR filename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stores (puts) file onto remote host</a:t>
            </a:r>
          </a:p>
        </p:txBody>
      </p:sp>
      <p:sp>
        <p:nvSpPr>
          <p:cNvPr id="174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375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sample return codes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status code and phrase (as in HTTP)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331 Username OK, password required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125 data connection already open; transfer starting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425 Can</a:t>
            </a:r>
            <a:r>
              <a:rPr lang="ja-JP" altLang="en-US" sz="2000" b="1">
                <a:latin typeface="Courier New" panose="02070309020205020404" pitchFamily="49" charset="0"/>
              </a:rPr>
              <a:t>’</a:t>
            </a:r>
            <a:r>
              <a:rPr lang="en-US" altLang="ja-JP" sz="2000" b="1">
                <a:latin typeface="Courier New" panose="02070309020205020404" pitchFamily="49" charset="0"/>
              </a:rPr>
              <a:t>t open data connection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452 Error writing file</a:t>
            </a:r>
            <a:endParaRPr lang="en-US" altLang="en-US" sz="24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74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45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84E8F68F-24F7-4D0E-AFE5-0D549DEC26C3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12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301625"/>
            <a:ext cx="7772400" cy="86995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Electronic mail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8514" y="1366838"/>
            <a:ext cx="3933825" cy="4876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Three major components:</a:t>
            </a:r>
            <a:r>
              <a:rPr lang="en-US" altLang="en-US" sz="2400">
                <a:solidFill>
                  <a:srgbClr val="CC0000"/>
                </a:solidFill>
                <a:latin typeface="Gill Sans MT" panose="020B0502020104020203" pitchFamily="34" charset="0"/>
              </a:rPr>
              <a:t>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user agents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mail servers </a:t>
            </a:r>
          </a:p>
          <a:p>
            <a:pPr>
              <a:spcAft>
                <a:spcPct val="75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simple mail transfer protocol: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User Agent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a.k.a.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mail reader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endParaRPr lang="en-US" altLang="ja-JP" sz="2000"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composing, editing, reading mail messages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e.g., Outlook, Thunderbird, iPhone mail client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outgoing, incoming messages stored on server</a:t>
            </a:r>
          </a:p>
        </p:txBody>
      </p:sp>
      <p:sp>
        <p:nvSpPr>
          <p:cNvPr id="19462" name="Rectangle 280"/>
          <p:cNvSpPr>
            <a:spLocks noChangeArrowheads="1"/>
          </p:cNvSpPr>
          <p:nvPr/>
        </p:nvSpPr>
        <p:spPr bwMode="auto">
          <a:xfrm>
            <a:off x="8486775" y="628651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19463" name="Group 279"/>
          <p:cNvGrpSpPr>
            <a:grpSpLocks/>
          </p:cNvGrpSpPr>
          <p:nvPr/>
        </p:nvGrpSpPr>
        <p:grpSpPr bwMode="auto">
          <a:xfrm>
            <a:off x="8583614" y="576263"/>
            <a:ext cx="1736725" cy="927100"/>
            <a:chOff x="4458" y="3335"/>
            <a:chExt cx="1094" cy="584"/>
          </a:xfrm>
        </p:grpSpPr>
        <p:sp>
          <p:nvSpPr>
            <p:cNvPr id="19661" name="Text Box 263"/>
            <p:cNvSpPr txBox="1">
              <a:spLocks noChangeArrowheads="1"/>
            </p:cNvSpPr>
            <p:nvPr/>
          </p:nvSpPr>
          <p:spPr bwMode="auto">
            <a:xfrm>
              <a:off x="4722" y="3725"/>
              <a:ext cx="75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 mailbox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9662" name="Group 278"/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9665" name="Rectangle 264"/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66" name="Line 265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7" name="Line 266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8" name="Line 267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9" name="Line 268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0" name="Line 269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1" name="Line 270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2" name="Line 271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663" name="Rectangle 272"/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664" name="Text Box 277"/>
            <p:cNvSpPr txBox="1">
              <a:spLocks noChangeArrowheads="1"/>
            </p:cNvSpPr>
            <p:nvPr/>
          </p:nvSpPr>
          <p:spPr bwMode="auto">
            <a:xfrm>
              <a:off x="4630" y="3335"/>
              <a:ext cx="9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outgoing </a:t>
              </a:r>
            </a:p>
            <a:p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message queue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19464" name="Picture 23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947738"/>
            <a:ext cx="3194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5" name="Group 454"/>
          <p:cNvGrpSpPr>
            <a:grpSpLocks/>
          </p:cNvGrpSpPr>
          <p:nvPr/>
        </p:nvGrpSpPr>
        <p:grpSpPr bwMode="auto">
          <a:xfrm>
            <a:off x="6221414" y="1346201"/>
            <a:ext cx="4283075" cy="5178425"/>
            <a:chOff x="2983" y="886"/>
            <a:chExt cx="2674" cy="3224"/>
          </a:xfrm>
        </p:grpSpPr>
        <p:grpSp>
          <p:nvGrpSpPr>
            <p:cNvPr id="19466" name="Group 389"/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9629" name="Freeform 39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0" name="Rectangle 39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31" name="Freeform 39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2" name="Freeform 39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3" name="Rectangle 394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4" name="Group 39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659" name="AutoShape 39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60" name="AutoShape 397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35" name="Rectangle 398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6" name="Group 39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657" name="AutoShape 40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8" name="AutoShape 401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37" name="Rectangle 402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38" name="Rectangle 403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9" name="Group 40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655" name="AutoShape 405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6" name="AutoShape 406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40" name="Freeform 40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641" name="Group 40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53" name="AutoShape 409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4" name="AutoShape 410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42" name="Rectangle 41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3" name="Freeform 41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4" name="Freeform 41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5" name="Oval 41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6" name="Freeform 41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7" name="AutoShape 41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8" name="AutoShape 41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9" name="Oval 418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0" name="Oval 419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1" name="Oval 420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2" name="Rectangle 421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67" name="Group 356"/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9597" name="Freeform 35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98" name="Rectangle 358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99" name="Freeform 35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00" name="Freeform 36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01" name="Rectangle 361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2" name="Group 36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627" name="AutoShape 363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8" name="AutoShape 364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3" name="Rectangle 365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4" name="Group 36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625" name="AutoShape 36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6" name="AutoShape 368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5" name="Rectangle 369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06" name="Rectangle 370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7" name="Group 37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623" name="AutoShape 372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4" name="AutoShape 373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8" name="Freeform 37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609" name="Group 37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21" name="AutoShape 376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2" name="AutoShape 377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10" name="Rectangle 378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1" name="Freeform 37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2" name="Freeform 38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3" name="Oval 381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4" name="Freeform 38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5" name="AutoShape 383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6" name="AutoShape 384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7" name="Oval 385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8" name="Oval 386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9" name="Oval 387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20" name="Rectangle 388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68" name="Group 320"/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9565" name="Freeform 32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6" name="Rectangle 322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7" name="Freeform 32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8" name="Freeform 32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9" name="Rectangle 325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0" name="Group 32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595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6" name="AutoShape 328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1" name="Rectangle 329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2" name="Group 33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593" name="AutoShape 33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4" name="AutoShape 332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3" name="Rectangle 333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74" name="Rectangle 334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5" name="Group 33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591" name="AutoShape 336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2" name="AutoShape 337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6" name="Freeform 33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577" name="Group 33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589" name="AutoShape 340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0" name="AutoShape 341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8" name="Rectangle 342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79" name="Freeform 34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0" name="Freeform 34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1" name="Oval 345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2" name="Freeform 34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3" name="AutoShape 347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4" name="AutoShape 348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5" name="Oval 349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6" name="Oval 350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7" name="Oval 351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8" name="Rectangle 352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469" name="Line 9"/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9470" name="Group 19"/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9550" name="Rectangle 2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1" name="Text Box 21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2" name="Rectangle 2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3" name="Line 2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4" name="Line 2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5" name="Line 2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6" name="Line 2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7" name="Line 2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8" name="Line 2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9" name="Line 2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0" name="Rectangle 3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1" name="Rectangle 3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2" name="Rectangle 3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3" name="Rectangle 3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4" name="Rectangle 3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1" name="Group 60"/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9535" name="Rectangle 61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6" name="Text Box 62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7" name="Rectangle 63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8" name="Line 64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39" name="Line 65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0" name="Line 66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1" name="Line 67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2" name="Line 68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3" name="Line 69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4" name="Line 70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5" name="Rectangle 71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6" name="Rectangle 72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7" name="Rectangle 73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8" name="Rectangle 74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9" name="Rectangle 75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2" name="Group 96"/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9520" name="Rectangle 97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1" name="Text Box 98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2" name="Rectangle 99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3" name="Line 100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4" name="Line 101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5" name="Line 102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6" name="Line 103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7" name="Line 104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8" name="Line 105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9" name="Line 106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30" name="Rectangle 107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1" name="Rectangle 108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2" name="Rectangle 109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3" name="Rectangle 110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4" name="Rectangle 111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473" name="Line 117"/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9474" name="Line 118"/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9475" name="Group 119"/>
            <p:cNvGrpSpPr>
              <a:grpSpLocks/>
            </p:cNvGrpSpPr>
            <p:nvPr/>
          </p:nvGrpSpPr>
          <p:grpSpPr bwMode="auto">
            <a:xfrm>
              <a:off x="3841" y="2535"/>
              <a:ext cx="557" cy="249"/>
              <a:chOff x="3791" y="2537"/>
              <a:chExt cx="557" cy="249"/>
            </a:xfrm>
          </p:grpSpPr>
          <p:sp>
            <p:nvSpPr>
              <p:cNvPr id="19518" name="Rectangle 12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9" name="Text Box 121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6" name="Group 122"/>
            <p:cNvGrpSpPr>
              <a:grpSpLocks/>
            </p:cNvGrpSpPr>
            <p:nvPr/>
          </p:nvGrpSpPr>
          <p:grpSpPr bwMode="auto">
            <a:xfrm>
              <a:off x="3817" y="1743"/>
              <a:ext cx="557" cy="249"/>
              <a:chOff x="3791" y="2537"/>
              <a:chExt cx="557" cy="249"/>
            </a:xfrm>
          </p:grpSpPr>
          <p:sp>
            <p:nvSpPr>
              <p:cNvPr id="19516" name="Rectangle 12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7" name="Text Box 124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7" name="Group 125"/>
            <p:cNvGrpSpPr>
              <a:grpSpLocks/>
            </p:cNvGrpSpPr>
            <p:nvPr/>
          </p:nvGrpSpPr>
          <p:grpSpPr bwMode="auto">
            <a:xfrm>
              <a:off x="2983" y="2193"/>
              <a:ext cx="557" cy="249"/>
              <a:chOff x="3791" y="2537"/>
              <a:chExt cx="557" cy="249"/>
            </a:xfrm>
          </p:grpSpPr>
          <p:sp>
            <p:nvSpPr>
              <p:cNvPr id="19514" name="Rectangle 12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5" name="Text Box 127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8" name="Group 423"/>
            <p:cNvGrpSpPr>
              <a:grpSpLocks/>
            </p:cNvGrpSpPr>
            <p:nvPr/>
          </p:nvGrpSpPr>
          <p:grpSpPr bwMode="auto">
            <a:xfrm>
              <a:off x="3601" y="886"/>
              <a:ext cx="561" cy="664"/>
              <a:chOff x="3588" y="550"/>
              <a:chExt cx="561" cy="664"/>
            </a:xfrm>
          </p:grpSpPr>
          <p:grpSp>
            <p:nvGrpSpPr>
              <p:cNvPr id="19509" name="Group 35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12" name="Picture 35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13" name="Freeform 35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1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9" name="Group 424"/>
            <p:cNvGrpSpPr>
              <a:grpSpLocks/>
            </p:cNvGrpSpPr>
            <p:nvPr/>
          </p:nvGrpSpPr>
          <p:grpSpPr bwMode="auto">
            <a:xfrm>
              <a:off x="4884" y="1400"/>
              <a:ext cx="561" cy="664"/>
              <a:chOff x="3588" y="550"/>
              <a:chExt cx="561" cy="664"/>
            </a:xfrm>
          </p:grpSpPr>
          <p:grpSp>
            <p:nvGrpSpPr>
              <p:cNvPr id="19504" name="Group 425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07" name="Picture 42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08" name="Freeform 427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0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0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0" name="Group 430"/>
            <p:cNvGrpSpPr>
              <a:grpSpLocks/>
            </p:cNvGrpSpPr>
            <p:nvPr/>
          </p:nvGrpSpPr>
          <p:grpSpPr bwMode="auto">
            <a:xfrm>
              <a:off x="5096" y="1880"/>
              <a:ext cx="561" cy="664"/>
              <a:chOff x="3588" y="550"/>
              <a:chExt cx="561" cy="664"/>
            </a:xfrm>
          </p:grpSpPr>
          <p:grpSp>
            <p:nvGrpSpPr>
              <p:cNvPr id="19499" name="Group 431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02" name="Picture 43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03" name="Freeform 433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0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0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1" name="Group 436"/>
            <p:cNvGrpSpPr>
              <a:grpSpLocks/>
            </p:cNvGrpSpPr>
            <p:nvPr/>
          </p:nvGrpSpPr>
          <p:grpSpPr bwMode="auto">
            <a:xfrm>
              <a:off x="5013" y="2540"/>
              <a:ext cx="561" cy="664"/>
              <a:chOff x="3588" y="550"/>
              <a:chExt cx="561" cy="664"/>
            </a:xfrm>
          </p:grpSpPr>
          <p:grpSp>
            <p:nvGrpSpPr>
              <p:cNvPr id="19494" name="Group 437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97" name="Picture 43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98" name="Freeform 439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9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9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2" name="Group 442"/>
            <p:cNvGrpSpPr>
              <a:grpSpLocks/>
            </p:cNvGrpSpPr>
            <p:nvPr/>
          </p:nvGrpSpPr>
          <p:grpSpPr bwMode="auto">
            <a:xfrm>
              <a:off x="3368" y="3446"/>
              <a:ext cx="561" cy="664"/>
              <a:chOff x="3588" y="550"/>
              <a:chExt cx="561" cy="664"/>
            </a:xfrm>
          </p:grpSpPr>
          <p:grpSp>
            <p:nvGrpSpPr>
              <p:cNvPr id="19489" name="Group 44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92" name="Picture 44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93" name="Freeform 44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9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9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3" name="Group 448"/>
            <p:cNvGrpSpPr>
              <a:grpSpLocks/>
            </p:cNvGrpSpPr>
            <p:nvPr/>
          </p:nvGrpSpPr>
          <p:grpSpPr bwMode="auto">
            <a:xfrm>
              <a:off x="3827" y="3056"/>
              <a:ext cx="561" cy="664"/>
              <a:chOff x="3588" y="550"/>
              <a:chExt cx="561" cy="664"/>
            </a:xfrm>
          </p:grpSpPr>
          <p:grpSp>
            <p:nvGrpSpPr>
              <p:cNvPr id="19484" name="Group 449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87" name="Picture 4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88" name="Freeform 4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8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8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011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50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2E4BF657-E986-416F-AF2D-8196585D0B86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13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238" y="222250"/>
            <a:ext cx="7772400" cy="882650"/>
          </a:xfrm>
        </p:spPr>
        <p:txBody>
          <a:bodyPr/>
          <a:lstStyle/>
          <a:p>
            <a:r>
              <a:rPr lang="en-US" altLang="en-US" sz="4000">
                <a:latin typeface="Gill Sans MT" panose="020B0502020104020203" pitchFamily="34" charset="0"/>
              </a:rPr>
              <a:t>Electronic mail: mail servers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398588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anose="020B0502020104020203" pitchFamily="34" charset="0"/>
              </a:rPr>
              <a:t>mail servers: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mailbox</a:t>
            </a:r>
            <a:r>
              <a:rPr lang="en-US" altLang="en-US" sz="2400">
                <a:latin typeface="Gill Sans MT" panose="020B0502020104020203" pitchFamily="34" charset="0"/>
              </a:rPr>
              <a:t> contains incoming messages for user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message queue</a:t>
            </a:r>
            <a:r>
              <a:rPr lang="en-US" altLang="en-US" sz="2400">
                <a:latin typeface="Gill Sans MT" panose="020B0502020104020203" pitchFamily="34" charset="0"/>
              </a:rPr>
              <a:t> of outgoing (to be sent) mail messages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SMTP protocol</a:t>
            </a:r>
            <a:r>
              <a:rPr lang="en-US" altLang="en-US" sz="2400">
                <a:latin typeface="Gill Sans MT" panose="020B0502020104020203" pitchFamily="34" charset="0"/>
              </a:rPr>
              <a:t> between mail servers to send email messages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client: sending mail server</a:t>
            </a:r>
          </a:p>
          <a:p>
            <a:pPr lvl="1"/>
            <a:r>
              <a:rPr lang="ja-JP" altLang="en-US">
                <a:latin typeface="Gill Sans MT" panose="020B0502020104020203" pitchFamily="34" charset="0"/>
              </a:rPr>
              <a:t>“</a:t>
            </a:r>
            <a:r>
              <a:rPr lang="en-US" altLang="ja-JP">
                <a:latin typeface="Gill Sans MT" panose="020B0502020104020203" pitchFamily="34" charset="0"/>
              </a:rPr>
              <a:t>server</a:t>
            </a:r>
            <a:r>
              <a:rPr lang="ja-JP" altLang="en-US">
                <a:latin typeface="Gill Sans MT" panose="020B0502020104020203" pitchFamily="34" charset="0"/>
              </a:rPr>
              <a:t>”</a:t>
            </a:r>
            <a:r>
              <a:rPr lang="en-US" altLang="ja-JP">
                <a:latin typeface="Gill Sans MT" panose="020B0502020104020203" pitchFamily="34" charset="0"/>
              </a:rPr>
              <a:t>: receiving mail server</a:t>
            </a:r>
            <a:endParaRPr lang="en-US" altLang="en-US">
              <a:latin typeface="Gill Sans MT" panose="020B0502020104020203" pitchFamily="34" charset="0"/>
            </a:endParaRPr>
          </a:p>
        </p:txBody>
      </p:sp>
      <p:pic>
        <p:nvPicPr>
          <p:cNvPr id="21510" name="Picture 15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8826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1" name="Group 271"/>
          <p:cNvGrpSpPr>
            <a:grpSpLocks/>
          </p:cNvGrpSpPr>
          <p:nvPr/>
        </p:nvGrpSpPr>
        <p:grpSpPr bwMode="auto">
          <a:xfrm>
            <a:off x="8423275" y="2787651"/>
            <a:ext cx="477838" cy="715963"/>
            <a:chOff x="4140" y="429"/>
            <a:chExt cx="1425" cy="2396"/>
          </a:xfrm>
        </p:grpSpPr>
        <p:sp>
          <p:nvSpPr>
            <p:cNvPr id="21674" name="Freeform 2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5" name="Rectangle 273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76" name="Freeform 2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7" name="Freeform 2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8" name="Rectangle 276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79" name="Group 2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704" name="AutoShape 27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5" name="AutoShape 279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0" name="Rectangle 280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81" name="Group 2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702" name="AutoShape 28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3" name="AutoShape 283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2" name="Rectangle 284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83" name="Rectangle 285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84" name="Group 2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700" name="AutoShape 28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1" name="AutoShape 288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5" name="Freeform 2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86" name="Group 2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98" name="AutoShape 291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99" name="AutoShape 292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7" name="Rectangle 293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88" name="Freeform 2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89" name="Freeform 2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90" name="Oval 296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1" name="Freeform 2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92" name="AutoShape 298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3" name="AutoShape 299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4" name="Oval 300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5" name="Oval 301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6" name="Oval 302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7" name="Rectangle 303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2" name="Group 304"/>
          <p:cNvGrpSpPr>
            <a:grpSpLocks/>
          </p:cNvGrpSpPr>
          <p:nvPr/>
        </p:nvGrpSpPr>
        <p:grpSpPr bwMode="auto">
          <a:xfrm>
            <a:off x="6430964" y="4181476"/>
            <a:ext cx="477837" cy="715963"/>
            <a:chOff x="4140" y="429"/>
            <a:chExt cx="1425" cy="2396"/>
          </a:xfrm>
        </p:grpSpPr>
        <p:sp>
          <p:nvSpPr>
            <p:cNvPr id="21642" name="Freeform 30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3" name="Rectangle 306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44" name="Freeform 30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5" name="Freeform 30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6" name="Rectangle 309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47" name="Group 31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72" name="AutoShape 31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73" name="AutoShape 312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48" name="Rectangle 313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49" name="Group 31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70" name="AutoShape 31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71" name="AutoShape 31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0" name="Rectangle 317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1" name="Rectangle 318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52" name="Group 31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68" name="AutoShape 32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69" name="AutoShape 321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3" name="Freeform 32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54" name="Group 32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66" name="AutoShape 324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67" name="AutoShape 325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5" name="Rectangle 326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6" name="Freeform 32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57" name="Freeform 32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58" name="Oval 329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9" name="Freeform 33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60" name="AutoShape 331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1" name="AutoShape 332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2" name="Oval 333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3" name="Oval 334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4" name="Oval 335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5" name="Rectangle 336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3" name="Group 337"/>
          <p:cNvGrpSpPr>
            <a:grpSpLocks/>
          </p:cNvGrpSpPr>
          <p:nvPr/>
        </p:nvGrpSpPr>
        <p:grpSpPr bwMode="auto">
          <a:xfrm>
            <a:off x="6453189" y="1839913"/>
            <a:ext cx="477837" cy="715962"/>
            <a:chOff x="4140" y="429"/>
            <a:chExt cx="1425" cy="2396"/>
          </a:xfrm>
        </p:grpSpPr>
        <p:sp>
          <p:nvSpPr>
            <p:cNvPr id="21610" name="Freeform 33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1" name="Rectangle 339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12" name="Freeform 34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3" name="Freeform 34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4" name="Rectangle 342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15" name="Group 34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40" name="AutoShape 34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41" name="AutoShape 345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16" name="Rectangle 346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17" name="Group 34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38" name="AutoShape 34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9" name="AutoShape 349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18" name="Rectangle 350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19" name="Rectangle 351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20" name="Group 35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36" name="AutoShape 353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7" name="AutoShape 354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21" name="Freeform 35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22" name="Group 35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34" name="AutoShape 357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5" name="AutoShape 358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23" name="Rectangle 359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4" name="Freeform 36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5" name="Freeform 36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6" name="Oval 362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7" name="Freeform 36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8" name="AutoShape 364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9" name="AutoShape 365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0" name="Oval 366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1" name="Oval 367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2" name="Oval 368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3" name="Rectangle 369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1514" name="Line 9"/>
          <p:cNvSpPr>
            <a:spLocks noChangeShapeType="1"/>
          </p:cNvSpPr>
          <p:nvPr/>
        </p:nvSpPr>
        <p:spPr bwMode="auto">
          <a:xfrm>
            <a:off x="7451725" y="2606676"/>
            <a:ext cx="1123950" cy="7905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1515" name="Group 19"/>
          <p:cNvGrpSpPr>
            <a:grpSpLocks/>
          </p:cNvGrpSpPr>
          <p:nvPr/>
        </p:nvGrpSpPr>
        <p:grpSpPr bwMode="auto">
          <a:xfrm>
            <a:off x="8613776" y="2986089"/>
            <a:ext cx="809625" cy="1049337"/>
            <a:chOff x="4296" y="2627"/>
            <a:chExt cx="510" cy="661"/>
          </a:xfrm>
        </p:grpSpPr>
        <p:sp>
          <p:nvSpPr>
            <p:cNvPr id="21595" name="Rectangle 20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6" name="Text Box 21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7" name="Rectangle 22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8" name="Line 23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99" name="Line 24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0" name="Line 25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1" name="Line 26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2" name="Line 27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3" name="Line 28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4" name="Line 29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5" name="Rectangle 30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6" name="Rectangle 31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7" name="Rectangle 32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8" name="Rectangle 33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9" name="Rectangle 34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6" name="Group 60"/>
          <p:cNvGrpSpPr>
            <a:grpSpLocks/>
          </p:cNvGrpSpPr>
          <p:nvPr/>
        </p:nvGrpSpPr>
        <p:grpSpPr bwMode="auto">
          <a:xfrm>
            <a:off x="6613526" y="4386264"/>
            <a:ext cx="809625" cy="1049337"/>
            <a:chOff x="4296" y="2627"/>
            <a:chExt cx="510" cy="661"/>
          </a:xfrm>
        </p:grpSpPr>
        <p:sp>
          <p:nvSpPr>
            <p:cNvPr id="21580" name="Rectangle 6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1" name="Text Box 6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2" name="Rectangle 6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3" name="Line 6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4" name="Line 6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5" name="Line 6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6" name="Line 6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7" name="Line 6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8" name="Line 6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9" name="Line 7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90" name="Rectangle 7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1" name="Rectangle 7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2" name="Rectangle 7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3" name="Rectangle 7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4" name="Rectangle 7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7" name="Group 96"/>
          <p:cNvGrpSpPr>
            <a:grpSpLocks/>
          </p:cNvGrpSpPr>
          <p:nvPr/>
        </p:nvGrpSpPr>
        <p:grpSpPr bwMode="auto">
          <a:xfrm>
            <a:off x="6613526" y="2138364"/>
            <a:ext cx="809625" cy="1049337"/>
            <a:chOff x="4296" y="2627"/>
            <a:chExt cx="510" cy="661"/>
          </a:xfrm>
        </p:grpSpPr>
        <p:sp>
          <p:nvSpPr>
            <p:cNvPr id="21565" name="Rectangle 97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6" name="Text Box 98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7" name="Rectangle 99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8" name="Line 100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69" name="Line 101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0" name="Line 102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1" name="Line 103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2" name="Line 104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3" name="Line 105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4" name="Line 106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5" name="Rectangle 107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6" name="Rectangle 108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7" name="Rectangle 109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8" name="Rectangle 110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9" name="Rectangle 111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1518" name="Line 117"/>
          <p:cNvSpPr>
            <a:spLocks noChangeShapeType="1"/>
          </p:cNvSpPr>
          <p:nvPr/>
        </p:nvSpPr>
        <p:spPr bwMode="auto">
          <a:xfrm flipV="1">
            <a:off x="7451725" y="3730625"/>
            <a:ext cx="1123950" cy="1085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19" name="Line 118"/>
          <p:cNvSpPr>
            <a:spLocks noChangeShapeType="1"/>
          </p:cNvSpPr>
          <p:nvPr/>
        </p:nvSpPr>
        <p:spPr bwMode="auto">
          <a:xfrm flipH="1" flipV="1">
            <a:off x="6708775" y="3206751"/>
            <a:ext cx="0" cy="1247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1520" name="Group 119"/>
          <p:cNvGrpSpPr>
            <a:grpSpLocks/>
          </p:cNvGrpSpPr>
          <p:nvPr/>
        </p:nvGrpSpPr>
        <p:grpSpPr bwMode="auto">
          <a:xfrm>
            <a:off x="7548564" y="4024313"/>
            <a:ext cx="1031875" cy="457200"/>
            <a:chOff x="3745" y="2537"/>
            <a:chExt cx="650" cy="288"/>
          </a:xfrm>
        </p:grpSpPr>
        <p:sp>
          <p:nvSpPr>
            <p:cNvPr id="21563" name="Rectangle 120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4" name="Text Box 121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1" name="Group 122"/>
          <p:cNvGrpSpPr>
            <a:grpSpLocks/>
          </p:cNvGrpSpPr>
          <p:nvPr/>
        </p:nvGrpSpPr>
        <p:grpSpPr bwMode="auto">
          <a:xfrm>
            <a:off x="7510464" y="2767013"/>
            <a:ext cx="1031875" cy="457200"/>
            <a:chOff x="3745" y="2537"/>
            <a:chExt cx="650" cy="288"/>
          </a:xfrm>
        </p:grpSpPr>
        <p:sp>
          <p:nvSpPr>
            <p:cNvPr id="21561" name="Rectangle 123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2" name="Text Box 124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2" name="Group 125"/>
          <p:cNvGrpSpPr>
            <a:grpSpLocks/>
          </p:cNvGrpSpPr>
          <p:nvPr/>
        </p:nvGrpSpPr>
        <p:grpSpPr bwMode="auto">
          <a:xfrm>
            <a:off x="6186489" y="3481388"/>
            <a:ext cx="1031875" cy="457200"/>
            <a:chOff x="3745" y="2537"/>
            <a:chExt cx="650" cy="288"/>
          </a:xfrm>
        </p:grpSpPr>
        <p:sp>
          <p:nvSpPr>
            <p:cNvPr id="21559" name="Rectangle 126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0" name="Text Box 127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3" name="Group 430"/>
          <p:cNvGrpSpPr>
            <a:grpSpLocks/>
          </p:cNvGrpSpPr>
          <p:nvPr/>
        </p:nvGrpSpPr>
        <p:grpSpPr bwMode="auto">
          <a:xfrm>
            <a:off x="7218363" y="1406525"/>
            <a:ext cx="912812" cy="1054100"/>
            <a:chOff x="3574" y="550"/>
            <a:chExt cx="575" cy="664"/>
          </a:xfrm>
        </p:grpSpPr>
        <p:grpSp>
          <p:nvGrpSpPr>
            <p:cNvPr id="21554" name="Group 43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57" name="Picture 43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58" name="Freeform 43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5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5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4" name="Group 436"/>
          <p:cNvGrpSpPr>
            <a:grpSpLocks/>
          </p:cNvGrpSpPr>
          <p:nvPr/>
        </p:nvGrpSpPr>
        <p:grpSpPr bwMode="auto">
          <a:xfrm>
            <a:off x="9255126" y="2222500"/>
            <a:ext cx="912813" cy="1054100"/>
            <a:chOff x="3574" y="550"/>
            <a:chExt cx="575" cy="664"/>
          </a:xfrm>
        </p:grpSpPr>
        <p:grpSp>
          <p:nvGrpSpPr>
            <p:cNvPr id="21549" name="Group 43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52" name="Picture 4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53" name="Freeform 4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5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5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5" name="Group 442"/>
          <p:cNvGrpSpPr>
            <a:grpSpLocks/>
          </p:cNvGrpSpPr>
          <p:nvPr/>
        </p:nvGrpSpPr>
        <p:grpSpPr bwMode="auto">
          <a:xfrm>
            <a:off x="9591676" y="2984500"/>
            <a:ext cx="912813" cy="1054100"/>
            <a:chOff x="3574" y="550"/>
            <a:chExt cx="575" cy="664"/>
          </a:xfrm>
        </p:grpSpPr>
        <p:grpSp>
          <p:nvGrpSpPr>
            <p:cNvPr id="21544" name="Group 44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47" name="Picture 4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48" name="Freeform 44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4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4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6" name="Group 448"/>
          <p:cNvGrpSpPr>
            <a:grpSpLocks/>
          </p:cNvGrpSpPr>
          <p:nvPr/>
        </p:nvGrpSpPr>
        <p:grpSpPr bwMode="auto">
          <a:xfrm>
            <a:off x="9459913" y="4032250"/>
            <a:ext cx="912812" cy="1054100"/>
            <a:chOff x="3574" y="550"/>
            <a:chExt cx="575" cy="664"/>
          </a:xfrm>
        </p:grpSpPr>
        <p:grpSp>
          <p:nvGrpSpPr>
            <p:cNvPr id="21539" name="Group 449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42" name="Picture 4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43" name="Freeform 4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4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4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7" name="Group 454"/>
          <p:cNvGrpSpPr>
            <a:grpSpLocks/>
          </p:cNvGrpSpPr>
          <p:nvPr/>
        </p:nvGrpSpPr>
        <p:grpSpPr bwMode="auto">
          <a:xfrm>
            <a:off x="6848476" y="5470525"/>
            <a:ext cx="912813" cy="1054100"/>
            <a:chOff x="3574" y="550"/>
            <a:chExt cx="575" cy="664"/>
          </a:xfrm>
        </p:grpSpPr>
        <p:grpSp>
          <p:nvGrpSpPr>
            <p:cNvPr id="21534" name="Group 455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37" name="Picture 45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38" name="Freeform 45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3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3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8" name="Group 460"/>
          <p:cNvGrpSpPr>
            <a:grpSpLocks/>
          </p:cNvGrpSpPr>
          <p:nvPr/>
        </p:nvGrpSpPr>
        <p:grpSpPr bwMode="auto">
          <a:xfrm>
            <a:off x="7577138" y="4851400"/>
            <a:ext cx="912812" cy="1054100"/>
            <a:chOff x="3574" y="550"/>
            <a:chExt cx="575" cy="664"/>
          </a:xfrm>
        </p:grpSpPr>
        <p:grpSp>
          <p:nvGrpSpPr>
            <p:cNvPr id="21529" name="Group 46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32" name="Picture 46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33" name="Freeform 46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3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3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7259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55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1DA31766-459C-4C13-96E7-F6B8AEE7EBE4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14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3556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6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234950"/>
            <a:ext cx="7772400" cy="95885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Electronic Mail: SMTP </a:t>
            </a:r>
            <a:r>
              <a:rPr lang="en-US" altLang="en-US" sz="3200">
                <a:latin typeface="Gill Sans MT" panose="020B0502020104020203" pitchFamily="34" charset="0"/>
              </a:rPr>
              <a:t>[RFC 2821]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12964" y="1422400"/>
            <a:ext cx="7629525" cy="4648200"/>
          </a:xfrm>
        </p:spPr>
        <p:txBody>
          <a:bodyPr/>
          <a:lstStyle/>
          <a:p>
            <a:r>
              <a:rPr lang="en-US" altLang="en-US" sz="2400">
                <a:latin typeface="Gill Sans MT" panose="020B0502020104020203" pitchFamily="34" charset="0"/>
              </a:rPr>
              <a:t>uses TCP to reliably transfer email message from client to server, port 25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direct transfer: sending server to receiving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three phases of transfer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handshaking (greeting)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transfer of messages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closure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command/response interaction (like </a:t>
            </a:r>
            <a:r>
              <a:rPr lang="en-US" altLang="en-US" sz="2000">
                <a:latin typeface="Gill Sans MT" panose="020B0502020104020203" pitchFamily="34" charset="0"/>
              </a:rPr>
              <a:t>HTTP, FTP</a:t>
            </a:r>
            <a:r>
              <a:rPr lang="en-US" altLang="en-US" sz="2400">
                <a:latin typeface="Gill Sans MT" panose="020B0502020104020203" pitchFamily="34" charset="0"/>
              </a:rPr>
              <a:t>)</a:t>
            </a:r>
            <a:endParaRPr lang="en-US" altLang="en-US" sz="2400">
              <a:solidFill>
                <a:schemeClr val="accent2"/>
              </a:solidFill>
              <a:latin typeface="Gill Sans MT" panose="020B0502020104020203" pitchFamily="34" charset="0"/>
            </a:endParaRPr>
          </a:p>
          <a:p>
            <a:pPr lvl="1"/>
            <a:r>
              <a:rPr lang="en-US" altLang="en-US" sz="2000">
                <a:solidFill>
                  <a:srgbClr val="000099"/>
                </a:solidFill>
                <a:latin typeface="Gill Sans MT" panose="020B0502020104020203" pitchFamily="34" charset="0"/>
              </a:rPr>
              <a:t>commands:</a:t>
            </a:r>
            <a:r>
              <a:rPr lang="en-US" altLang="en-US" sz="2000">
                <a:latin typeface="Gill Sans MT" panose="020B0502020104020203" pitchFamily="34" charset="0"/>
              </a:rPr>
              <a:t> ASCII text</a:t>
            </a:r>
          </a:p>
          <a:p>
            <a:pPr lvl="1"/>
            <a:r>
              <a:rPr lang="en-US" altLang="en-US" sz="2000">
                <a:solidFill>
                  <a:srgbClr val="000099"/>
                </a:solidFill>
                <a:latin typeface="Gill Sans MT" panose="020B0502020104020203" pitchFamily="34" charset="0"/>
              </a:rPr>
              <a:t>response:</a:t>
            </a:r>
            <a:r>
              <a:rPr lang="en-US" altLang="en-US" sz="2000">
                <a:latin typeface="Gill Sans MT" panose="020B0502020104020203" pitchFamily="34" charset="0"/>
              </a:rPr>
              <a:t> status code and phrase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messages must be in 7-bit ASCI</a:t>
            </a:r>
            <a:endParaRPr lang="en-US" altLang="en-US">
              <a:latin typeface="Gill Sans MT" panose="020B0502020104020203" pitchFamily="34" charset="0"/>
            </a:endParaRPr>
          </a:p>
          <a:p>
            <a:pPr lvl="1"/>
            <a:endParaRPr lang="en-US" altLang="en-US" sz="18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1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7B774A2E-C435-4A10-9065-38F71AFA51CD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5604" name="Group 163"/>
          <p:cNvGrpSpPr>
            <a:grpSpLocks/>
          </p:cNvGrpSpPr>
          <p:nvPr/>
        </p:nvGrpSpPr>
        <p:grpSpPr bwMode="auto">
          <a:xfrm>
            <a:off x="2689225" y="4881563"/>
            <a:ext cx="890588" cy="1054100"/>
            <a:chOff x="3588" y="550"/>
            <a:chExt cx="561" cy="664"/>
          </a:xfrm>
        </p:grpSpPr>
        <p:grpSp>
          <p:nvGrpSpPr>
            <p:cNvPr id="25726" name="Group 164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729" name="Picture 16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30" name="Freeform 16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572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28" name="Text Box 116"/>
            <p:cNvSpPr txBox="1">
              <a:spLocks noChangeArrowheads="1"/>
            </p:cNvSpPr>
            <p:nvPr/>
          </p:nvSpPr>
          <p:spPr bwMode="auto">
            <a:xfrm>
              <a:off x="3592" y="550"/>
              <a:ext cx="3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5605" name="Group 130"/>
          <p:cNvGrpSpPr>
            <a:grpSpLocks/>
          </p:cNvGrpSpPr>
          <p:nvPr/>
        </p:nvGrpSpPr>
        <p:grpSpPr bwMode="auto">
          <a:xfrm>
            <a:off x="6376989" y="4613275"/>
            <a:ext cx="511175" cy="693738"/>
            <a:chOff x="4140" y="429"/>
            <a:chExt cx="1425" cy="2396"/>
          </a:xfrm>
        </p:grpSpPr>
        <p:sp>
          <p:nvSpPr>
            <p:cNvPr id="25694" name="Freeform 1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5" name="Rectangle 13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96" name="Freeform 1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7" name="Freeform 1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8" name="Rectangle 13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99" name="Group 1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724" name="AutoShape 13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5" name="AutoShape 13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0" name="Rectangle 13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701" name="Group 1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722" name="AutoShape 14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3" name="AutoShape 14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2" name="Rectangle 14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03" name="Rectangle 14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704" name="Group 1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720" name="AutoShape 14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1" name="AutoShape 14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5" name="Freeform 1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5706" name="Group 1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18" name="AutoShape 15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19" name="AutoShape 15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7" name="Rectangle 15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08" name="Freeform 1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09" name="Freeform 1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10" name="Oval 15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1" name="Freeform 1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12" name="AutoShape 15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3" name="AutoShape 15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4" name="Oval 15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5" name="Oval 16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6" name="Oval 16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7" name="Rectangle 16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5606" name="Group 97"/>
          <p:cNvGrpSpPr>
            <a:grpSpLocks/>
          </p:cNvGrpSpPr>
          <p:nvPr/>
        </p:nvGrpSpPr>
        <p:grpSpPr bwMode="auto">
          <a:xfrm>
            <a:off x="4198939" y="4668839"/>
            <a:ext cx="511175" cy="693737"/>
            <a:chOff x="4140" y="429"/>
            <a:chExt cx="1425" cy="2396"/>
          </a:xfrm>
        </p:grpSpPr>
        <p:sp>
          <p:nvSpPr>
            <p:cNvPr id="25662" name="Freeform 9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3" name="Rectangle 99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4" name="Freeform 10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5" name="Freeform 10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6" name="Rectangle 102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67" name="Group 10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92" name="AutoShape 10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93" name="AutoShape 105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68" name="Rectangle 106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69" name="Group 10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90" name="AutoShape 10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91" name="AutoShape 10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0" name="Rectangle 110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1" name="Rectangle 111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72" name="Group 11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88" name="AutoShape 113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89" name="AutoShape 11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3" name="Freeform 11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5674" name="Group 11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86" name="AutoShape 11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87" name="AutoShape 118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5" name="Rectangle 119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6" name="Freeform 12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77" name="Freeform 12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78" name="Oval 122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9" name="Freeform 12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80" name="AutoShape 12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1" name="AutoShape 125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2" name="Oval 126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3" name="Oval 127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4" name="Oval 128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5" name="Rectangle 129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25607" name="Picture 8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1" y="801689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22225"/>
            <a:ext cx="8235950" cy="11430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Gill Sans MT" panose="020B0502020104020203" pitchFamily="34" charset="0"/>
              </a:rPr>
              <a:t>Scenario: Alice sends message to Bob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256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71600"/>
            <a:ext cx="3810000" cy="3219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1) Alice uses UA to compose message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to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r>
              <a:rPr lang="en-US" altLang="ja-JP" sz="2000">
                <a:latin typeface="Gill Sans MT" panose="020B0502020104020203" pitchFamily="34" charset="0"/>
              </a:rPr>
              <a:t> </a:t>
            </a:r>
            <a:r>
              <a:rPr lang="en-US" altLang="ja-JP" sz="2000">
                <a:latin typeface="Courier New" panose="02070309020205020404" pitchFamily="49" charset="0"/>
              </a:rPr>
              <a:t>bob@someschool.edu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2) Alice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UA sends message to her mail server; message placed in message queue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3) client side of SMTP opens TCP connection with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 server</a:t>
            </a:r>
            <a:endParaRPr lang="en-US" altLang="en-US" sz="2000">
              <a:latin typeface="Gill Sans MT" panose="020B0502020104020203" pitchFamily="34" charset="0"/>
            </a:endParaRPr>
          </a:p>
        </p:txBody>
      </p:sp>
      <p:sp>
        <p:nvSpPr>
          <p:cNvPr id="2561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32500" y="1335088"/>
            <a:ext cx="3810000" cy="3268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4) SMTP client sends Alice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message over the TCP connection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5)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 server places the message in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mailbox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6) Bob invokes his user agent to read message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>
              <a:latin typeface="Gill Sans MT" panose="020B0502020104020203" pitchFamily="34" charset="0"/>
            </a:endParaRPr>
          </a:p>
        </p:txBody>
      </p:sp>
      <p:grpSp>
        <p:nvGrpSpPr>
          <p:cNvPr id="25611" name="Group 20"/>
          <p:cNvGrpSpPr>
            <a:grpSpLocks/>
          </p:cNvGrpSpPr>
          <p:nvPr/>
        </p:nvGrpSpPr>
        <p:grpSpPr bwMode="auto">
          <a:xfrm>
            <a:off x="4332289" y="4956175"/>
            <a:ext cx="809625" cy="1049338"/>
            <a:chOff x="4296" y="2627"/>
            <a:chExt cx="510" cy="661"/>
          </a:xfrm>
        </p:grpSpPr>
        <p:sp>
          <p:nvSpPr>
            <p:cNvPr id="25647" name="Rectangle 2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8" name="Text Box 22"/>
            <p:cNvSpPr txBox="1">
              <a:spLocks noChangeArrowheads="1"/>
            </p:cNvSpPr>
            <p:nvPr/>
          </p:nvSpPr>
          <p:spPr bwMode="auto">
            <a:xfrm>
              <a:off x="4324" y="2627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9" name="Rectangle 2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0" name="Line 2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1" name="Line 2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2" name="Line 2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3" name="Line 2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4" name="Line 2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5" name="Line 2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6" name="Line 3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7" name="Rectangle 3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8" name="Rectangle 3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9" name="Rectangle 3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0" name="Rectangle 3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1" name="Rectangle 3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25612" name="Picture 36" descr="Ali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6" y="512127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37" descr="Bo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039" y="50260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14" name="Group 48"/>
          <p:cNvGrpSpPr>
            <a:grpSpLocks/>
          </p:cNvGrpSpPr>
          <p:nvPr/>
        </p:nvGrpSpPr>
        <p:grpSpPr bwMode="auto">
          <a:xfrm>
            <a:off x="6523039" y="4902200"/>
            <a:ext cx="809625" cy="1049338"/>
            <a:chOff x="4296" y="2627"/>
            <a:chExt cx="510" cy="661"/>
          </a:xfrm>
        </p:grpSpPr>
        <p:sp>
          <p:nvSpPr>
            <p:cNvPr id="25632" name="Rectangle 49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3" name="Text Box 50"/>
            <p:cNvSpPr txBox="1">
              <a:spLocks noChangeArrowheads="1"/>
            </p:cNvSpPr>
            <p:nvPr/>
          </p:nvSpPr>
          <p:spPr bwMode="auto">
            <a:xfrm>
              <a:off x="4324" y="2627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4" name="Rectangle 51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5" name="Line 52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6" name="Line 53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7" name="Line 54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8" name="Line 55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9" name="Line 56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0" name="Line 57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1" name="Line 58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2" name="Rectangle 59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3" name="Rectangle 60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4" name="Rectangle 61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5" name="Rectangle 62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6" name="Rectangle 63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5615" name="Line 69"/>
          <p:cNvSpPr>
            <a:spLocks noChangeShapeType="1"/>
          </p:cNvSpPr>
          <p:nvPr/>
        </p:nvSpPr>
        <p:spPr bwMode="auto">
          <a:xfrm>
            <a:off x="3452814" y="5494338"/>
            <a:ext cx="892175" cy="14605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6" name="Line 70"/>
          <p:cNvSpPr>
            <a:spLocks noChangeShapeType="1"/>
          </p:cNvSpPr>
          <p:nvPr/>
        </p:nvSpPr>
        <p:spPr bwMode="auto">
          <a:xfrm>
            <a:off x="5138739" y="5629276"/>
            <a:ext cx="1379537" cy="2190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7" name="Line 71"/>
          <p:cNvSpPr>
            <a:spLocks noChangeShapeType="1"/>
          </p:cNvSpPr>
          <p:nvPr/>
        </p:nvSpPr>
        <p:spPr bwMode="auto">
          <a:xfrm flipV="1">
            <a:off x="7369176" y="5408614"/>
            <a:ext cx="1027113" cy="42703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8" name="Oval 72"/>
          <p:cNvSpPr>
            <a:spLocks noChangeArrowheads="1"/>
          </p:cNvSpPr>
          <p:nvPr/>
        </p:nvSpPr>
        <p:spPr bwMode="auto">
          <a:xfrm>
            <a:off x="2582863" y="49434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19" name="Oval 74"/>
          <p:cNvSpPr>
            <a:spLocks noChangeArrowheads="1"/>
          </p:cNvSpPr>
          <p:nvPr/>
        </p:nvSpPr>
        <p:spPr bwMode="auto">
          <a:xfrm>
            <a:off x="3692525" y="54387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0" name="Oval 75"/>
          <p:cNvSpPr>
            <a:spLocks noChangeArrowheads="1"/>
          </p:cNvSpPr>
          <p:nvPr/>
        </p:nvSpPr>
        <p:spPr bwMode="auto">
          <a:xfrm>
            <a:off x="4564063" y="55181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1" name="Oval 76"/>
          <p:cNvSpPr>
            <a:spLocks noChangeArrowheads="1"/>
          </p:cNvSpPr>
          <p:nvPr/>
        </p:nvSpPr>
        <p:spPr bwMode="auto">
          <a:xfrm>
            <a:off x="5675313" y="56038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2" name="Oval 77"/>
          <p:cNvSpPr>
            <a:spLocks noChangeArrowheads="1"/>
          </p:cNvSpPr>
          <p:nvPr/>
        </p:nvSpPr>
        <p:spPr bwMode="auto">
          <a:xfrm>
            <a:off x="6780213" y="5935664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3" name="Oval 78"/>
          <p:cNvSpPr>
            <a:spLocks noChangeArrowheads="1"/>
          </p:cNvSpPr>
          <p:nvPr/>
        </p:nvSpPr>
        <p:spPr bwMode="auto">
          <a:xfrm>
            <a:off x="7702550" y="55054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4" name="Text Box 95"/>
          <p:cNvSpPr txBox="1">
            <a:spLocks noChangeArrowheads="1"/>
          </p:cNvSpPr>
          <p:nvPr/>
        </p:nvSpPr>
        <p:spPr bwMode="auto">
          <a:xfrm>
            <a:off x="3848100" y="6069014"/>
            <a:ext cx="1684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Alice</a:t>
            </a:r>
            <a:r>
              <a:rPr lang="ja-JP" altLang="en-US" sz="14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400">
                <a:solidFill>
                  <a:srgbClr val="000000"/>
                </a:solidFill>
                <a:cs typeface="Arial" panose="020B0604020202020204" pitchFamily="34" charset="0"/>
              </a:rPr>
              <a:t>s mail server</a:t>
            </a:r>
            <a:endParaRPr lang="en-US" altLang="en-US" sz="1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5" name="Text Box 96"/>
          <p:cNvSpPr txBox="1">
            <a:spLocks noChangeArrowheads="1"/>
          </p:cNvSpPr>
          <p:nvPr/>
        </p:nvSpPr>
        <p:spPr bwMode="auto">
          <a:xfrm>
            <a:off x="6122989" y="6132514"/>
            <a:ext cx="1620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Bob</a:t>
            </a:r>
            <a:r>
              <a:rPr lang="ja-JP" altLang="en-US" sz="14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400">
                <a:solidFill>
                  <a:srgbClr val="000000"/>
                </a:solidFill>
                <a:cs typeface="Arial" panose="020B0604020202020204" pitchFamily="34" charset="0"/>
              </a:rPr>
              <a:t>s mail server</a:t>
            </a:r>
            <a:endParaRPr lang="en-US" altLang="en-US" sz="1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25626" name="Group 169"/>
          <p:cNvGrpSpPr>
            <a:grpSpLocks/>
          </p:cNvGrpSpPr>
          <p:nvPr/>
        </p:nvGrpSpPr>
        <p:grpSpPr bwMode="auto">
          <a:xfrm>
            <a:off x="8218489" y="4808538"/>
            <a:ext cx="890587" cy="1054100"/>
            <a:chOff x="3588" y="550"/>
            <a:chExt cx="561" cy="664"/>
          </a:xfrm>
        </p:grpSpPr>
        <p:grpSp>
          <p:nvGrpSpPr>
            <p:cNvPr id="25627" name="Group 170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630" name="Picture 1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1" name="Freeform 17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5628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29" name="Text Box 116"/>
            <p:cNvSpPr txBox="1">
              <a:spLocks noChangeArrowheads="1"/>
            </p:cNvSpPr>
            <p:nvPr/>
          </p:nvSpPr>
          <p:spPr bwMode="auto">
            <a:xfrm>
              <a:off x="3592" y="550"/>
              <a:ext cx="3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39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46482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fld id="{92EC36A3-D704-4DE6-9848-1E087279943A}" type="slidenum">
              <a:rPr lang="en-US" altLang="en-US" sz="1400">
                <a:solidFill>
                  <a:srgbClr val="000000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pic>
        <p:nvPicPr>
          <p:cNvPr id="2765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133600"/>
            <a:ext cx="86899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890838"/>
            <a:ext cx="1471613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3581401"/>
            <a:ext cx="37465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3581401"/>
            <a:ext cx="2093913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581401"/>
            <a:ext cx="3746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1" y="2833688"/>
            <a:ext cx="159067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1724025" y="381000"/>
            <a:ext cx="823595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en-US" kern="0">
                <a:solidFill>
                  <a:srgbClr val="000000"/>
                </a:solidFill>
                <a:latin typeface="Gill Sans MT" pitchFamily="34" charset="0"/>
                <a:ea typeface="ＭＳ Ｐゴシック"/>
              </a:rPr>
              <a:t>Scenario: Alice sends message to Bob</a:t>
            </a:r>
            <a:endParaRPr lang="en-US" altLang="en-US" sz="3200" kern="0" dirty="0">
              <a:solidFill>
                <a:srgbClr val="000000"/>
              </a:solidFill>
              <a:latin typeface="Gill Sans MT" pitchFamily="34" charset="0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5121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>
                <a:solidFill>
                  <a:srgbClr val="000000"/>
                </a:solidFill>
                <a:latin typeface="Tahoma" charset="0"/>
              </a:rPr>
              <a:t>Application Layer</a:t>
            </a:r>
          </a:p>
        </p:txBody>
      </p:sp>
      <p:sp>
        <p:nvSpPr>
          <p:cNvPr id="2867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85BD2A60-49EE-431A-8F3C-AD280E8DD2C1}" type="slidenum">
              <a:rPr lang="en-US" altLang="en-US" sz="10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17</a:t>
            </a:fld>
            <a:endParaRPr lang="en-US" altLang="en-US" sz="1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8676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8540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01614"/>
            <a:ext cx="7772400" cy="903287"/>
          </a:xfrm>
        </p:spPr>
        <p:txBody>
          <a:bodyPr/>
          <a:lstStyle/>
          <a:p>
            <a:r>
              <a:rPr lang="en-US" altLang="en-US" sz="3200">
                <a:latin typeface="Gill Sans MT" panose="020B0502020104020203" pitchFamily="34" charset="0"/>
              </a:rPr>
              <a:t>Sample SMTP interaction</a:t>
            </a:r>
            <a:endParaRPr lang="en-US" altLang="en-US" sz="2800">
              <a:latin typeface="Gill Sans MT" panose="020B0502020104020203" pitchFamily="34" charset="0"/>
            </a:endParaRPr>
          </a:p>
        </p:txBody>
      </p:sp>
      <p:sp>
        <p:nvSpPr>
          <p:cNvPr id="28678" name="Rectangle 3"/>
          <p:cNvSpPr>
            <a:spLocks noChangeArrowheads="1"/>
          </p:cNvSpPr>
          <p:nvPr/>
        </p:nvSpPr>
        <p:spPr bwMode="auto">
          <a:xfrm>
            <a:off x="1524000" y="1273176"/>
            <a:ext cx="8956298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220 hamburger.edu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HELO crepes.fr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 Hello crepes.fr, pleased to meet you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MAIL FROM: &lt;alice@crepes.fr&gt;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alice@crepes.fr... Sender 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RCPT TO: &lt;bob@hamburger.edu&gt;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bob@hamburger.edu ... Recipient 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DATA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354 Enter mail, end with "." on a line by itself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Do you like ketchup?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How about pickles?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Message accepted for delivery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QUIT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221 hamburger.edu closing connection</a:t>
            </a:r>
            <a:endParaRPr lang="en-US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95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www.tcpipguide.com/free/diagrams/smtpma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762000"/>
            <a:ext cx="6162675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3424238" y="6172200"/>
            <a:ext cx="4953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solidFill>
                  <a:srgbClr val="000000"/>
                </a:solidFill>
              </a:rPr>
              <a:t>http://www.tcpipguide.com/free/t_SMTPMailTransactionProcess-3.htm</a:t>
            </a:r>
          </a:p>
        </p:txBody>
      </p:sp>
    </p:spTree>
    <p:extLst>
      <p:ext uri="{BB962C8B-B14F-4D97-AF65-F5344CB8AC3E}">
        <p14:creationId xmlns:p14="http://schemas.microsoft.com/office/powerpoint/2010/main" val="1168195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174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BFBCA993-1EB3-44EA-9042-C22BB8A35B20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19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31748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1" y="1030289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7063" y="414339"/>
            <a:ext cx="7772400" cy="884237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Gill Sans MT" panose="020B0502020104020203" pitchFamily="34" charset="0"/>
              </a:rPr>
              <a:t>Try SMTP interaction for yourself: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2488" y="1579563"/>
            <a:ext cx="7772400" cy="4648200"/>
          </a:xfrm>
        </p:spPr>
        <p:txBody>
          <a:bodyPr/>
          <a:lstStyle/>
          <a:p>
            <a:r>
              <a:rPr lang="en-US" altLang="en-US" sz="2400" b="1">
                <a:latin typeface="Courier New" panose="02070309020205020404" pitchFamily="49" charset="0"/>
              </a:rPr>
              <a:t>telnet servername 25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400">
                <a:latin typeface="Gill Sans MT" panose="020B0502020104020203" pitchFamily="34" charset="0"/>
              </a:rPr>
              <a:t>see 220 reply from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enter HELO, MAIL FROM, RCPT TO, DATA, QUIT commands</a:t>
            </a:r>
            <a:r>
              <a:rPr lang="en-US" altLang="en-US">
                <a:latin typeface="Gill Sans MT" panose="020B0502020104020203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Gill Sans MT" panose="020B0502020104020203" pitchFamily="34" charset="0"/>
              </a:rPr>
              <a:t>above lets you send email without using email client (reader)</a:t>
            </a:r>
            <a:endParaRPr lang="en-US" altLang="en-US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623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379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B1424FDD-CC4F-426C-9C34-C21C72CCE2F8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61925"/>
            <a:ext cx="7772400" cy="1143000"/>
          </a:xfrm>
        </p:spPr>
        <p:txBody>
          <a:bodyPr/>
          <a:lstStyle/>
          <a:p>
            <a:r>
              <a:rPr lang="en-US" altLang="en-US" sz="3200">
                <a:latin typeface="Gill Sans MT" panose="020B0502020104020203" pitchFamily="34" charset="0"/>
              </a:rPr>
              <a:t>SMTP: final words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25650" y="1555750"/>
            <a:ext cx="3810000" cy="4648200"/>
          </a:xfrm>
        </p:spPr>
        <p:txBody>
          <a:bodyPr/>
          <a:lstStyle/>
          <a:p>
            <a:r>
              <a:rPr lang="en-US" altLang="en-US" sz="2000">
                <a:latin typeface="Gill Sans MT" panose="020B0502020104020203" pitchFamily="34" charset="0"/>
              </a:rPr>
              <a:t>SMTP uses persistent connections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SMTP requires message (header &amp; body) to be in 7-bit ASCII</a:t>
            </a:r>
          </a:p>
        </p:txBody>
      </p:sp>
      <p:sp>
        <p:nvSpPr>
          <p:cNvPr id="3379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5113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comparison with HTTP: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latin typeface="Gill Sans MT" panose="020B0502020104020203" pitchFamily="34" charset="0"/>
              </a:rPr>
              <a:t>HTTP: pull</a:t>
            </a:r>
          </a:p>
          <a:p>
            <a:pPr>
              <a:spcAft>
                <a:spcPct val="50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SMTP: push</a:t>
            </a:r>
          </a:p>
          <a:p>
            <a:pPr>
              <a:spcAft>
                <a:spcPct val="50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both have ASCII command/response interaction, status codes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HTTP: each object encapsulated in its own response msg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SMTP: multiple objects sent in multipart msg</a:t>
            </a:r>
          </a:p>
        </p:txBody>
      </p:sp>
      <p:pic>
        <p:nvPicPr>
          <p:cNvPr id="33799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1" y="9683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514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FEA97EDF-85D5-42EE-B34B-EDFD88F91E05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21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17475"/>
            <a:ext cx="7772400" cy="114300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Mail message format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SMTP: protocol for exchanging email msgs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RFC 822: standard for text message format: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header lines, e.g.,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To: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From: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Subject: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Body: the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message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r>
              <a:rPr lang="en-US" altLang="ja-JP" sz="2000">
                <a:latin typeface="Gill Sans MT" panose="020B0502020104020203" pitchFamily="34" charset="0"/>
              </a:rPr>
              <a:t> 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ASCII characters only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header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body</a:t>
            </a:r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6299200" y="1778000"/>
            <a:ext cx="3238500" cy="307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5849" name="Line 10"/>
          <p:cNvSpPr>
            <a:spLocks noChangeShapeType="1"/>
          </p:cNvSpPr>
          <p:nvPr/>
        </p:nvSpPr>
        <p:spPr bwMode="auto">
          <a:xfrm flipV="1">
            <a:off x="4686300" y="2159000"/>
            <a:ext cx="1765300" cy="1016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850" name="Line 11"/>
          <p:cNvSpPr>
            <a:spLocks noChangeShapeType="1"/>
          </p:cNvSpPr>
          <p:nvPr/>
        </p:nvSpPr>
        <p:spPr bwMode="auto">
          <a:xfrm flipV="1">
            <a:off x="4533900" y="3327400"/>
            <a:ext cx="1905000" cy="187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851" name="Text Box 13"/>
          <p:cNvSpPr txBox="1">
            <a:spLocks noChangeArrowheads="1"/>
          </p:cNvSpPr>
          <p:nvPr/>
        </p:nvSpPr>
        <p:spPr bwMode="auto">
          <a:xfrm>
            <a:off x="9691688" y="2112963"/>
            <a:ext cx="735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blank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line</a:t>
            </a:r>
          </a:p>
        </p:txBody>
      </p:sp>
      <p:sp>
        <p:nvSpPr>
          <p:cNvPr id="35852" name="Line 14"/>
          <p:cNvSpPr>
            <a:spLocks noChangeShapeType="1"/>
          </p:cNvSpPr>
          <p:nvPr/>
        </p:nvSpPr>
        <p:spPr bwMode="auto">
          <a:xfrm flipH="1">
            <a:off x="8775700" y="2552700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5853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1" y="912814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325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789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3C195045-2ED7-4A68-907F-BE9A96C2B200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22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7892" name="Group 133"/>
          <p:cNvGrpSpPr>
            <a:grpSpLocks/>
          </p:cNvGrpSpPr>
          <p:nvPr/>
        </p:nvGrpSpPr>
        <p:grpSpPr bwMode="auto">
          <a:xfrm>
            <a:off x="4486276" y="1577975"/>
            <a:ext cx="511175" cy="693738"/>
            <a:chOff x="4140" y="429"/>
            <a:chExt cx="1425" cy="2396"/>
          </a:xfrm>
        </p:grpSpPr>
        <p:sp>
          <p:nvSpPr>
            <p:cNvPr id="37984" name="Freeform 13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5" name="Rectangle 135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86" name="Freeform 13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7" name="Freeform 13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8" name="Rectangle 138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89" name="Group 13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014" name="AutoShape 14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5" name="AutoShape 141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0" name="Rectangle 142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91" name="Group 14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8012" name="AutoShape 144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3" name="AutoShape 145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2" name="Rectangle 146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93" name="Rectangle 147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94" name="Group 14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010" name="AutoShape 149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1" name="AutoShape 150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5" name="Freeform 15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7996" name="Group 15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008" name="AutoShape 153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09" name="AutoShape 154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7" name="Rectangle 155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98" name="Freeform 15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99" name="Freeform 15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000" name="Oval 158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1" name="Freeform 15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002" name="AutoShape 16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3" name="AutoShape 161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4" name="Oval 162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5" name="Oval 163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6" name="Oval 164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7" name="Rectangle 165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7893" name="Group 100"/>
          <p:cNvGrpSpPr>
            <a:grpSpLocks/>
          </p:cNvGrpSpPr>
          <p:nvPr/>
        </p:nvGrpSpPr>
        <p:grpSpPr bwMode="auto">
          <a:xfrm>
            <a:off x="6172201" y="1587500"/>
            <a:ext cx="511175" cy="693738"/>
            <a:chOff x="4140" y="429"/>
            <a:chExt cx="1425" cy="2396"/>
          </a:xfrm>
        </p:grpSpPr>
        <p:sp>
          <p:nvSpPr>
            <p:cNvPr id="37952" name="Freeform 10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3" name="Rectangle 10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54" name="Freeform 10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5" name="Freeform 10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6" name="Rectangle 10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57" name="Group 10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982" name="AutoShape 10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83" name="AutoShape 10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58" name="Rectangle 10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59" name="Group 11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80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81" name="AutoShape 11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0" name="Rectangle 11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1" name="Rectangle 11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62" name="Group 11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978" name="AutoShape 11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79" name="AutoShape 11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3" name="Freeform 11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7964" name="Group 11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976" name="AutoShape 12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77" name="AutoShape 12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5" name="Rectangle 12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6" name="Freeform 12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67" name="Freeform 12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68" name="Oval 12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9" name="Freeform 12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70" name="AutoShape 12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1" name="AutoShape 12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2" name="Oval 12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3" name="Oval 13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4" name="Oval 13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5" name="Rectangle 13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37894" name="Picture 9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6" y="963614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63" y="255588"/>
            <a:ext cx="7772400" cy="893762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Mail access protocols</a:t>
            </a:r>
          </a:p>
        </p:txBody>
      </p:sp>
      <p:sp>
        <p:nvSpPr>
          <p:cNvPr id="378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5026" y="3230563"/>
            <a:ext cx="7381875" cy="2209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>
                <a:solidFill>
                  <a:srgbClr val="CC0000"/>
                </a:solidFill>
                <a:latin typeface="Gill Sans MT" panose="020B0502020104020203" pitchFamily="34" charset="0"/>
              </a:rPr>
              <a:t>SMTP:</a:t>
            </a:r>
            <a:r>
              <a:rPr lang="en-US" altLang="en-US" sz="2400">
                <a:latin typeface="Gill Sans MT" panose="020B0502020104020203" pitchFamily="34" charset="0"/>
              </a:rPr>
              <a:t> delivery/storage to receiver</a:t>
            </a:r>
            <a:r>
              <a:rPr lang="ja-JP" altLang="en-US" sz="2400">
                <a:latin typeface="Gill Sans MT" panose="020B0502020104020203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s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mail access protocol: retrieval from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POP:</a:t>
            </a:r>
            <a:r>
              <a:rPr lang="en-US" altLang="en-US" sz="2200">
                <a:latin typeface="Gill Sans MT" panose="020B0502020104020203" pitchFamily="34" charset="0"/>
              </a:rPr>
              <a:t> Post Office Protocol [RFC 1939]: authorization, download 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IMAP:</a:t>
            </a:r>
            <a:r>
              <a:rPr lang="en-US" altLang="en-US" sz="2200">
                <a:latin typeface="Gill Sans MT" panose="020B0502020104020203" pitchFamily="34" charset="0"/>
              </a:rPr>
              <a:t> Internet Mail Access Protocol [RFC 1730]: more features, including manipulation of stored msgs on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HTTP:</a:t>
            </a:r>
            <a:r>
              <a:rPr lang="en-US" altLang="en-US" sz="2200">
                <a:latin typeface="Gill Sans MT" panose="020B0502020104020203" pitchFamily="34" charset="0"/>
              </a:rPr>
              <a:t> gmail, Hotmail, Yahoo! Mail, etc.</a:t>
            </a:r>
          </a:p>
          <a:p>
            <a:pPr lvl="1"/>
            <a:endParaRPr lang="en-US" altLang="en-US" sz="2200">
              <a:latin typeface="Gill Sans MT" panose="020B0502020104020203" pitchFamily="34" charset="0"/>
            </a:endParaRPr>
          </a:p>
        </p:txBody>
      </p:sp>
      <p:grpSp>
        <p:nvGrpSpPr>
          <p:cNvPr id="37897" name="Group 158"/>
          <p:cNvGrpSpPr>
            <a:grpSpLocks/>
          </p:cNvGrpSpPr>
          <p:nvPr/>
        </p:nvGrpSpPr>
        <p:grpSpPr bwMode="auto">
          <a:xfrm>
            <a:off x="4286250" y="1987551"/>
            <a:ext cx="1506538" cy="1133476"/>
            <a:chOff x="1774" y="1206"/>
            <a:chExt cx="949" cy="714"/>
          </a:xfrm>
        </p:grpSpPr>
        <p:sp>
          <p:nvSpPr>
            <p:cNvPr id="37936" name="Text Box 95"/>
            <p:cNvSpPr txBox="1">
              <a:spLocks noChangeArrowheads="1"/>
            </p:cNvSpPr>
            <p:nvPr/>
          </p:nvSpPr>
          <p:spPr bwMode="auto">
            <a:xfrm>
              <a:off x="1774" y="1583"/>
              <a:ext cx="94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sender</a:t>
              </a:r>
              <a:r>
                <a:rPr lang="ja-JP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’</a:t>
              </a:r>
              <a:r>
                <a:rPr lang="en-US" altLang="ja-JP" sz="1600">
                  <a:solidFill>
                    <a:srgbClr val="000000"/>
                  </a:solidFill>
                  <a:cs typeface="Arial" panose="020B0604020202020204" pitchFamily="34" charset="0"/>
                </a:rPr>
                <a:t>s mail </a:t>
              </a:r>
            </a:p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37" name="Group 157"/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37938" name="Rectangle 94"/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39" name="Rectangle 96"/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0" name="Line 97"/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1" name="Line 98"/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2" name="Line 99"/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3" name="Line 100"/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4" name="Line 101"/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5" name="Line 102"/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6" name="Line 103"/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7" name="Rectangle 104"/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8" name="Rectangle 105"/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9" name="Rectangle 106"/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50" name="Rectangle 107"/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51" name="Rectangle 108"/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898" name="Text Box 121"/>
          <p:cNvSpPr txBox="1">
            <a:spLocks noChangeArrowheads="1"/>
          </p:cNvSpPr>
          <p:nvPr/>
        </p:nvSpPr>
        <p:spPr bwMode="auto">
          <a:xfrm>
            <a:off x="3544889" y="1466851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CC0000"/>
                </a:solidFill>
                <a:cs typeface="Arial" panose="020B0604020202020204" pitchFamily="34" charset="0"/>
              </a:rPr>
              <a:t>SMTP</a:t>
            </a:r>
          </a:p>
        </p:txBody>
      </p:sp>
      <p:sp>
        <p:nvSpPr>
          <p:cNvPr id="37899" name="Rectangle 153"/>
          <p:cNvSpPr>
            <a:spLocks noChangeArrowheads="1"/>
          </p:cNvSpPr>
          <p:nvPr/>
        </p:nvSpPr>
        <p:spPr bwMode="auto">
          <a:xfrm>
            <a:off x="5305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400">
              <a:solidFill>
                <a:srgbClr val="00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7900" name="Text Box 154"/>
          <p:cNvSpPr txBox="1">
            <a:spLocks noChangeArrowheads="1"/>
          </p:cNvSpPr>
          <p:nvPr/>
        </p:nvSpPr>
        <p:spPr bwMode="auto">
          <a:xfrm>
            <a:off x="5146675" y="1477964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CC0000"/>
                </a:solidFill>
                <a:cs typeface="Arial" panose="020B0604020202020204" pitchFamily="34" charset="0"/>
              </a:rPr>
              <a:t>SMTP</a:t>
            </a:r>
          </a:p>
        </p:txBody>
      </p:sp>
      <p:sp>
        <p:nvSpPr>
          <p:cNvPr id="37901" name="Text Box 156"/>
          <p:cNvSpPr txBox="1">
            <a:spLocks noChangeArrowheads="1"/>
          </p:cNvSpPr>
          <p:nvPr/>
        </p:nvSpPr>
        <p:spPr bwMode="auto">
          <a:xfrm>
            <a:off x="7008813" y="1308100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>
                <a:solidFill>
                  <a:srgbClr val="CC0000"/>
                </a:solidFill>
                <a:cs typeface="Arial" panose="020B0604020202020204" pitchFamily="34" charset="0"/>
              </a:rPr>
              <a:t>mail access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>
                <a:solidFill>
                  <a:srgbClr val="CC0000"/>
                </a:solidFill>
                <a:cs typeface="Arial" panose="020B0604020202020204" pitchFamily="34" charset="0"/>
              </a:rPr>
              <a:t>protocol</a:t>
            </a:r>
            <a:endParaRPr lang="en-US" altLang="en-US" sz="1800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37902" name="Text Box 160"/>
          <p:cNvSpPr txBox="1">
            <a:spLocks noChangeArrowheads="1"/>
          </p:cNvSpPr>
          <p:nvPr/>
        </p:nvSpPr>
        <p:spPr bwMode="auto">
          <a:xfrm>
            <a:off x="5860251" y="2598739"/>
            <a:ext cx="160973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receiver</a:t>
            </a:r>
            <a:r>
              <a:rPr lang="ja-JP" altLang="en-US" sz="16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600">
                <a:solidFill>
                  <a:srgbClr val="000000"/>
                </a:solidFill>
                <a:cs typeface="Arial" panose="020B0604020202020204" pitchFamily="34" charset="0"/>
              </a:rPr>
              <a:t>s mail 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server</a:t>
            </a:r>
            <a:endParaRPr lang="en-US" altLang="en-US" sz="2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37903" name="Group 161"/>
          <p:cNvGrpSpPr>
            <a:grpSpLocks/>
          </p:cNvGrpSpPr>
          <p:nvPr/>
        </p:nvGrpSpPr>
        <p:grpSpPr bwMode="auto">
          <a:xfrm>
            <a:off x="6324601" y="2000251"/>
            <a:ext cx="809625" cy="561975"/>
            <a:chOff x="2070" y="2004"/>
            <a:chExt cx="510" cy="354"/>
          </a:xfrm>
        </p:grpSpPr>
        <p:sp>
          <p:nvSpPr>
            <p:cNvPr id="37922" name="Rectangle 162"/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23" name="Rectangle 163"/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24" name="Line 164"/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5" name="Line 165"/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6" name="Line 166"/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7" name="Line 167"/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8" name="Line 168"/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9" name="Line 169"/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30" name="Line 170"/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31" name="Rectangle 171"/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2" name="Rectangle 172"/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3" name="Rectangle 173"/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4" name="Rectangle 174"/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5" name="Rectangle 175"/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pic>
        <p:nvPicPr>
          <p:cNvPr id="37904" name="Picture 176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1" y="155733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5" name="Picture 179" descr="Bo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1" y="15716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6" name="Line 94"/>
          <p:cNvSpPr>
            <a:spLocks noChangeShapeType="1"/>
          </p:cNvSpPr>
          <p:nvPr/>
        </p:nvSpPr>
        <p:spPr bwMode="auto">
          <a:xfrm>
            <a:off x="3527425" y="190500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7" name="Line 95"/>
          <p:cNvSpPr>
            <a:spLocks noChangeShapeType="1"/>
          </p:cNvSpPr>
          <p:nvPr/>
        </p:nvSpPr>
        <p:spPr bwMode="auto">
          <a:xfrm>
            <a:off x="5157789" y="190182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8" name="Line 96"/>
          <p:cNvSpPr>
            <a:spLocks noChangeShapeType="1"/>
          </p:cNvSpPr>
          <p:nvPr/>
        </p:nvSpPr>
        <p:spPr bwMode="auto">
          <a:xfrm>
            <a:off x="6777039" y="189865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9" name="Text Box 156"/>
          <p:cNvSpPr txBox="1">
            <a:spLocks noChangeArrowheads="1"/>
          </p:cNvSpPr>
          <p:nvPr/>
        </p:nvSpPr>
        <p:spPr bwMode="auto">
          <a:xfrm>
            <a:off x="7234239" y="1927225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>
                <a:solidFill>
                  <a:srgbClr val="CC0000"/>
                </a:solidFill>
                <a:cs typeface="Arial" panose="020B0604020202020204" pitchFamily="34" charset="0"/>
              </a:rPr>
              <a:t>(e.g., </a:t>
            </a:r>
            <a:r>
              <a:rPr lang="en-US" altLang="en-US" sz="1600" i="1">
                <a:solidFill>
                  <a:srgbClr val="CC0000"/>
                </a:solidFill>
                <a:cs typeface="Arial" panose="020B0604020202020204" pitchFamily="34" charset="0"/>
              </a:rPr>
              <a:t>POP, 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>
                <a:solidFill>
                  <a:srgbClr val="CC0000"/>
                </a:solidFill>
                <a:cs typeface="Arial" panose="020B0604020202020204" pitchFamily="34" charset="0"/>
              </a:rPr>
              <a:t>         IMAP</a:t>
            </a:r>
            <a:r>
              <a:rPr lang="en-US" altLang="en-US" sz="1800" i="1">
                <a:solidFill>
                  <a:srgbClr val="CC0000"/>
                </a:solidFill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37910" name="Group 166"/>
          <p:cNvGrpSpPr>
            <a:grpSpLocks/>
          </p:cNvGrpSpPr>
          <p:nvPr/>
        </p:nvGrpSpPr>
        <p:grpSpPr bwMode="auto">
          <a:xfrm>
            <a:off x="2590801" y="1419225"/>
            <a:ext cx="912813" cy="1054100"/>
            <a:chOff x="3574" y="550"/>
            <a:chExt cx="575" cy="664"/>
          </a:xfrm>
        </p:grpSpPr>
        <p:grpSp>
          <p:nvGrpSpPr>
            <p:cNvPr id="37917" name="Group 16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920" name="Picture 1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21" name="Freeform 16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37918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9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7911" name="Group 172"/>
          <p:cNvGrpSpPr>
            <a:grpSpLocks/>
          </p:cNvGrpSpPr>
          <p:nvPr/>
        </p:nvGrpSpPr>
        <p:grpSpPr bwMode="auto">
          <a:xfrm>
            <a:off x="8491538" y="1422400"/>
            <a:ext cx="912812" cy="1054100"/>
            <a:chOff x="3574" y="550"/>
            <a:chExt cx="575" cy="664"/>
          </a:xfrm>
        </p:grpSpPr>
        <p:grpSp>
          <p:nvGrpSpPr>
            <p:cNvPr id="37912" name="Group 17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915" name="Picture 1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16" name="Freeform 17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37913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4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818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993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488D1FE2-F7F5-481C-8CE3-B7A47CA6FB55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39940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858838"/>
            <a:ext cx="3317875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225" y="131764"/>
            <a:ext cx="7772400" cy="968375"/>
          </a:xfrm>
        </p:spPr>
        <p:txBody>
          <a:bodyPr/>
          <a:lstStyle/>
          <a:p>
            <a:r>
              <a:rPr lang="en-US" altLang="en-US" sz="4000">
                <a:latin typeface="Gill Sans MT" panose="020B0502020104020203" pitchFamily="34" charset="0"/>
              </a:rPr>
              <a:t>POP3 protocol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1" y="1438275"/>
            <a:ext cx="3971925" cy="4648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authorization phase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commands: 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user:</a:t>
            </a:r>
            <a:r>
              <a:rPr lang="en-US" altLang="en-US" sz="2000">
                <a:latin typeface="Gill Sans MT" panose="020B0502020104020203" pitchFamily="34" charset="0"/>
              </a:rPr>
              <a:t> declare username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pass:</a:t>
            </a:r>
            <a:r>
              <a:rPr lang="en-US" altLang="en-US" sz="2000">
                <a:latin typeface="Gill Sans MT" panose="020B0502020104020203" pitchFamily="34" charset="0"/>
              </a:rPr>
              <a:t> password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server responses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+OK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-ERR</a:t>
            </a:r>
            <a:endParaRPr lang="en-US" altLang="en-US" sz="180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transaction phase,</a:t>
            </a:r>
            <a:r>
              <a:rPr lang="en-US" alt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Gill Sans MT" panose="020B0502020104020203" pitchFamily="34" charset="0"/>
              </a:rPr>
              <a:t>client: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list:</a:t>
            </a:r>
            <a:r>
              <a:rPr lang="en-US" altLang="en-US" sz="2000">
                <a:latin typeface="Gill Sans MT" panose="020B0502020104020203" pitchFamily="34" charset="0"/>
              </a:rPr>
              <a:t> list message numbers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retr:</a:t>
            </a:r>
            <a:r>
              <a:rPr lang="en-US" altLang="en-US" sz="2000">
                <a:latin typeface="Gill Sans MT" panose="020B0502020104020203" pitchFamily="34" charset="0"/>
              </a:rPr>
              <a:t> retrieve message by number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dele:</a:t>
            </a:r>
            <a:r>
              <a:rPr lang="en-US" altLang="en-US" sz="2000">
                <a:latin typeface="Gill Sans MT" panose="020B0502020104020203" pitchFamily="34" charset="0"/>
              </a:rPr>
              <a:t> delete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quit</a:t>
            </a:r>
            <a:endParaRPr lang="en-US" altLang="en-US" sz="2000">
              <a:latin typeface="Gill Sans MT" panose="020B0502020104020203" pitchFamily="34" charset="0"/>
            </a:endParaRP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5864225" y="2309814"/>
            <a:ext cx="4268788" cy="402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list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1 498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2 912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retr 1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&lt;message 1 contents&gt;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dele 1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retr 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&lt;message 1 contents&gt;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dele 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quit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+OK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POP3 server signing off</a:t>
            </a: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39944" name="Text Box 10"/>
          <p:cNvSpPr txBox="1">
            <a:spLocks noChangeArrowheads="1"/>
          </p:cNvSpPr>
          <p:nvPr/>
        </p:nvSpPr>
        <p:spPr bwMode="auto">
          <a:xfrm>
            <a:off x="6513513" y="590550"/>
            <a:ext cx="3981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 POP3 server ready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user bob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pass hungry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user successfully logged on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945" name="Freeform 11"/>
          <p:cNvSpPr>
            <a:spLocks/>
          </p:cNvSpPr>
          <p:nvPr/>
        </p:nvSpPr>
        <p:spPr bwMode="auto">
          <a:xfrm>
            <a:off x="6496051" y="847726"/>
            <a:ext cx="371475" cy="14573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6" name="Line 13"/>
          <p:cNvSpPr>
            <a:spLocks noChangeShapeType="1"/>
          </p:cNvSpPr>
          <p:nvPr/>
        </p:nvSpPr>
        <p:spPr bwMode="auto">
          <a:xfrm flipV="1">
            <a:off x="5010151" y="1449389"/>
            <a:ext cx="1400175" cy="2381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7" name="Freeform 14"/>
          <p:cNvSpPr>
            <a:spLocks/>
          </p:cNvSpPr>
          <p:nvPr/>
        </p:nvSpPr>
        <p:spPr bwMode="auto">
          <a:xfrm>
            <a:off x="6497639" y="2428876"/>
            <a:ext cx="371475" cy="38957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8" name="Line 15"/>
          <p:cNvSpPr>
            <a:spLocks noChangeShapeType="1"/>
          </p:cNvSpPr>
          <p:nvPr/>
        </p:nvSpPr>
        <p:spPr bwMode="auto">
          <a:xfrm flipV="1">
            <a:off x="4676775" y="3941763"/>
            <a:ext cx="1733550" cy="3238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1316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://www.tcpipguide.com/free/diagrams/poptra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33400"/>
            <a:ext cx="5276850" cy="576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445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4301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67CDBDE1-F3B1-4FC8-85B1-EBAA8FD572CE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4301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6" y="957264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93689"/>
            <a:ext cx="7772400" cy="795337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POP3 (more) and IMAP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44700" y="13430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more about POP3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previous example uses POP3 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download and delete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 mode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Bob cannot re-read e-mail if he changes client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POP3 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download-and-keep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: copies of messages on different clients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POP3 is stateless across sessions</a:t>
            </a:r>
          </a:p>
        </p:txBody>
      </p:sp>
      <p:sp>
        <p:nvSpPr>
          <p:cNvPr id="430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07100" y="13811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IMAP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keeps all messages in one place: at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allows user to organize messages in folders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keeps user state across sessions: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names of folders and mappings between message IDs and folder name</a:t>
            </a:r>
          </a:p>
        </p:txBody>
      </p:sp>
    </p:spTree>
    <p:extLst>
      <p:ext uri="{BB962C8B-B14F-4D97-AF65-F5344CB8AC3E}">
        <p14:creationId xmlns:p14="http://schemas.microsoft.com/office/powerpoint/2010/main" val="889545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6324E8-804D-814E-80CA-306D385C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ea typeface="ＭＳ Ｐゴシック" panose="020B0600070205080204" pitchFamily="34" charset="-128"/>
              </a:rPr>
              <a:t>Questions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7390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2116</Words>
  <Application>Microsoft Office PowerPoint</Application>
  <PresentationFormat>Widescreen</PresentationFormat>
  <Paragraphs>500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ＭＳ Ｐゴシック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Web and HTTP - II</vt:lpstr>
      <vt:lpstr>Web caches</vt:lpstr>
      <vt:lpstr>Web caches (aka proxy servers)</vt:lpstr>
      <vt:lpstr>Caching example</vt:lpstr>
      <vt:lpstr>Option 1: buy a faster access link</vt:lpstr>
      <vt:lpstr>Option 2: install a web cache</vt:lpstr>
      <vt:lpstr>Calculating access link utilization, end-end delay with cache:</vt:lpstr>
      <vt:lpstr>Conditional GET</vt:lpstr>
      <vt:lpstr>FTP: the file transfer protocol</vt:lpstr>
      <vt:lpstr>FTP: separate control, data connections</vt:lpstr>
      <vt:lpstr>FTP commands, responses</vt:lpstr>
      <vt:lpstr>Electronic mail</vt:lpstr>
      <vt:lpstr>Electronic mail: mail servers</vt:lpstr>
      <vt:lpstr>Electronic Mail: SMTP [RFC 2821]</vt:lpstr>
      <vt:lpstr>Scenario: Alice sends message to Bob</vt:lpstr>
      <vt:lpstr>PowerPoint Presentation</vt:lpstr>
      <vt:lpstr>Sample SMTP interaction</vt:lpstr>
      <vt:lpstr>PowerPoint Presentation</vt:lpstr>
      <vt:lpstr>Try SMTP interaction for yourself:</vt:lpstr>
      <vt:lpstr>SMTP: final words</vt:lpstr>
      <vt:lpstr>Mail message format</vt:lpstr>
      <vt:lpstr>Mail access protocols</vt:lpstr>
      <vt:lpstr>POP3 protocol</vt:lpstr>
      <vt:lpstr>PowerPoint Presentation</vt:lpstr>
      <vt:lpstr>POP3 (more) and IMAP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sana razzaq</cp:lastModifiedBy>
  <cp:revision>1</cp:revision>
  <dcterms:created xsi:type="dcterms:W3CDTF">2024-08-13T05:54:33Z</dcterms:created>
  <dcterms:modified xsi:type="dcterms:W3CDTF">2024-08-13T05:59:41Z</dcterms:modified>
</cp:coreProperties>
</file>