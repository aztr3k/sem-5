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4" roundtripDataSignature="AMtx7mhLYO4S7dMigAf6cTBYzai2ixw0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en.wikipedia.org/wiki/Onomatopoeia" TargetMode="External"/><Relationship Id="rId3" Type="http://schemas.openxmlformats.org/officeDocument/2006/relationships/hyperlink" Target="http://en.wikipedia.org/wiki/James_Joyce" TargetMode="External"/><Relationship Id="rId4" Type="http://schemas.openxmlformats.org/officeDocument/2006/relationships/hyperlink" Target="http://en.wikipedia.org/wiki/Ulysses_(novel)" TargetMode="External"/><Relationship Id="rId5" Type="http://schemas.openxmlformats.org/officeDocument/2006/relationships/hyperlink" Target="http://www.palindromelist.net/Aibohphobia-fear-of-palindromes/" TargetMode="External"/><Relationship Id="rId6" Type="http://schemas.openxmlformats.org/officeDocument/2006/relationships/hyperlink" Target="http://www.palindromelist.net/Are-we-not-drawn-onward-to-new-era/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Even numbers can be negative</a:t>
            </a:r>
            <a:endParaRPr/>
          </a:p>
        </p:txBody>
      </p:sp>
      <p:sp>
        <p:nvSpPr>
          <p:cNvPr id="123" name="Google Shape;123;p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i="1" lang="en-US">
                <a:solidFill>
                  <a:srgbClr val="FF0000"/>
                </a:solidFill>
              </a:rPr>
              <a:t>Λis a palindrome since its reverse is the same as itself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The longest palindromic word in the Oxford English Dictionary is the </a:t>
            </a:r>
            <a:r>
              <a:rPr lang="en-US" u="sng">
                <a:solidFill>
                  <a:srgbClr val="000000"/>
                </a:solid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onomatopoeic</a:t>
            </a:r>
            <a:r>
              <a:rPr lang="en-US"/>
              <a:t> </a:t>
            </a:r>
            <a:r>
              <a:rPr i="1" lang="en-US"/>
              <a:t>tattarrattat</a:t>
            </a:r>
            <a:r>
              <a:rPr lang="en-US"/>
              <a:t>, coined by </a:t>
            </a:r>
            <a:r>
              <a:rPr lang="en-US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James Joyce</a:t>
            </a:r>
            <a:r>
              <a:rPr lang="en-US"/>
              <a:t> in </a:t>
            </a:r>
            <a:r>
              <a:rPr i="1" lang="en-US" u="sng">
                <a:solidFill>
                  <a:srgbClr val="000000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Ulysses</a:t>
            </a:r>
            <a:r>
              <a:rPr lang="en-US"/>
              <a:t> (1922) for a knock on the door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Aibohphobia (fear of palindromes)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u="sng">
                <a:solidFill>
                  <a:srgbClr val="000000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Are we not drawn onward to new era?</a:t>
            </a:r>
            <a:endParaRPr/>
          </a:p>
        </p:txBody>
      </p:sp>
      <p:sp>
        <p:nvSpPr>
          <p:cNvPr id="132" name="Google Shape;132;p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7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Not all languages can be defined by the recursive definitions: a</a:t>
            </a:r>
            <a:r>
              <a:rPr baseline="30000" lang="en-US"/>
              <a:t>n</a:t>
            </a:r>
            <a:r>
              <a:rPr lang="en-US"/>
              <a:t>b</a:t>
            </a:r>
            <a:r>
              <a:rPr baseline="30000" lang="en-US"/>
              <a:t>n</a:t>
            </a:r>
            <a:r>
              <a:rPr lang="en-US"/>
              <a:t>c</a:t>
            </a:r>
            <a:r>
              <a:rPr baseline="30000" lang="en-US"/>
              <a:t>n</a:t>
            </a:r>
            <a:endParaRPr/>
          </a:p>
        </p:txBody>
      </p:sp>
      <p:sp>
        <p:nvSpPr>
          <p:cNvPr id="149" name="Google Shape;149;p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" name="Google Shape;15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1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" name="Google Shape;17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p1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1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5" name="Google Shape;19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1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p1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" name="Google Shape;21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p1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p1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7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4" name="Google Shape;23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17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4" name="Google Shape;24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p1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3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7" name="Google Shape;4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3" name="Google Shape;53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4" name="Google Shape;54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p2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6" name="Google Shape;66;p2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7" name="Google Shape;67;p2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8" name="Google Shape;68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4" name="Google Shape;74;p2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5" name="Google Shape;75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1" name="Google Shape;8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Theory of Automata</a:t>
            </a:r>
            <a:b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Recursive Definitions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9"/>
              </a:buClr>
              <a:buSzPts val="2500"/>
              <a:buNone/>
            </a:pPr>
            <a:r>
              <a:rPr b="0" i="0" lang="en-US" sz="25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Week 1</a:t>
            </a:r>
            <a:endParaRPr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Contents</a:t>
            </a:r>
            <a:endParaRPr/>
          </a:p>
        </p:txBody>
      </p:sp>
      <p:sp>
        <p:nvSpPr>
          <p:cNvPr id="96" name="Google Shape;96;p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Recursive Definition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Arithmetic Expression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Recursive Definition of AE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Theorems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Propositional Calculus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Well Formed Formula</a:t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 txBox="1"/>
          <p:nvPr>
            <p:ph idx="4294967295" type="title"/>
          </p:nvPr>
        </p:nvSpPr>
        <p:spPr>
          <a:xfrm>
            <a:off x="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Recursive definition of languages</a:t>
            </a:r>
            <a:endParaRPr/>
          </a:p>
        </p:txBody>
      </p:sp>
      <p:sp>
        <p:nvSpPr>
          <p:cNvPr id="107" name="Google Shape;107;p3"/>
          <p:cNvSpPr txBox="1"/>
          <p:nvPr>
            <p:ph idx="4294967295" type="body"/>
          </p:nvPr>
        </p:nvSpPr>
        <p:spPr>
          <a:xfrm>
            <a:off x="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33400" lvl="0" marL="5334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following three steps are used in recursive definition</a:t>
            </a:r>
            <a:endParaRPr/>
          </a:p>
          <a:p>
            <a:pPr indent="-533400" lvl="0" marL="533400" marR="0" rtl="0" algn="just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AutoNum type="arabicPeriod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 basic words are specified in the language.</a:t>
            </a:r>
            <a:endParaRPr/>
          </a:p>
          <a:p>
            <a:pPr indent="-533400" lvl="0" marL="533400" marR="0" rtl="0" algn="just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AutoNum type="arabicPeriod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Rules for constructing more words are defined in the language.</a:t>
            </a:r>
            <a:endParaRPr/>
          </a:p>
          <a:p>
            <a:pPr indent="-533400" lvl="0" marL="533400" marR="0" rtl="0" algn="just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AutoNum type="arabicPeriod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strings except those constructed in above, are allowed to be in the language.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 txBox="1"/>
          <p:nvPr>
            <p:ph idx="4294967295" type="title"/>
          </p:nvPr>
        </p:nvSpPr>
        <p:spPr>
          <a:xfrm>
            <a:off x="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/>
          </a:p>
        </p:txBody>
      </p:sp>
      <p:sp>
        <p:nvSpPr>
          <p:cNvPr id="117" name="Google Shape;117;p4"/>
          <p:cNvSpPr txBox="1"/>
          <p:nvPr>
            <p:ph idx="4294967295" type="body"/>
          </p:nvPr>
        </p:nvSpPr>
        <p:spPr>
          <a:xfrm>
            <a:off x="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Defining language of EVEN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1: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2 is in </a:t>
            </a: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2:</a:t>
            </a:r>
            <a:endParaRPr/>
          </a:p>
          <a:p>
            <a:pPr indent="-514350" lvl="1" marL="914400" marR="0" rtl="0" algn="just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AutoNum type="alphaLcPeriod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x is in </a:t>
            </a: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then x+2 and x-2 are also in </a:t>
            </a: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/>
          </a:p>
          <a:p>
            <a:pPr indent="-514350" lvl="1" marL="914400" marR="0" rtl="0" algn="just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AutoNum type="alphaLcPeriod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x and y are in </a:t>
            </a: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then so are x+y, x-y and x*y.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3: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No strings except those constructed in above, are allowed to be in </a:t>
            </a: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1778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6553200" y="63246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"/>
          <p:cNvSpPr txBox="1"/>
          <p:nvPr>
            <p:ph idx="4294967295" type="body"/>
          </p:nvPr>
        </p:nvSpPr>
        <p:spPr>
          <a:xfrm>
            <a:off x="609600" y="1752600"/>
            <a:ext cx="7696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Defining the language PALINDROME, defined over 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Σ = {a,b} </a:t>
            </a:r>
            <a:endParaRPr b="1" i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1: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0" i="1" lang="en-US" sz="24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λ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1" lang="en-US" sz="24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1" lang="en-US" sz="24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in </a:t>
            </a:r>
            <a:r>
              <a:rPr b="1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PALINDROME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2: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if x is palindrome then axa, bxb, xx are also be palindrome,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3: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	No strings except those constructed in above, are allowed to be in palindrome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"/>
          <p:cNvSpPr txBox="1"/>
          <p:nvPr>
            <p:ph idx="4294967295" type="body"/>
          </p:nvPr>
        </p:nvSpPr>
        <p:spPr>
          <a:xfrm>
            <a:off x="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Defining the language {a</a:t>
            </a:r>
            <a:r>
              <a:rPr b="1" baseline="3000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1" baseline="3000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}, n=1,2,3,… , of strings defined over Σ={a,b}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1: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ab is in {</a:t>
            </a: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baseline="3000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1" baseline="3000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r>
              <a:rPr b="1" baseline="3000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6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2: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if </a:t>
            </a:r>
            <a:r>
              <a:rPr b="0" i="0" lang="en-US" sz="26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in {</a:t>
            </a: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baseline="3000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1" baseline="3000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}, then a</a:t>
            </a:r>
            <a:r>
              <a:rPr b="0" i="0" lang="en-US" sz="26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is in {</a:t>
            </a: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baseline="3000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1" baseline="3000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 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3: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	No strings except those constructed in above, are allowed to be in {</a:t>
            </a: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baseline="3000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1" baseline="3000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7"/>
          <p:cNvSpPr txBox="1"/>
          <p:nvPr>
            <p:ph idx="4294967295" type="body"/>
          </p:nvPr>
        </p:nvSpPr>
        <p:spPr>
          <a:xfrm>
            <a:off x="381000" y="14938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Defining the language L, of strings ending in a , defined over  Σ={a,b}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1: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0" i="0" lang="en-US" sz="26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in L</a:t>
            </a:r>
            <a:r>
              <a:rPr b="1" baseline="3000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6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2: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0" i="0" lang="en-US" sz="26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s(x)a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also in </a:t>
            </a: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L, 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</a:t>
            </a:r>
            <a:r>
              <a:rPr b="0" i="0" lang="en-US" sz="26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belongs to </a:t>
            </a:r>
            <a:r>
              <a:rPr b="0" i="0" lang="en-US" sz="26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Σ</a:t>
            </a:r>
            <a:r>
              <a:rPr b="0" baseline="30000" i="0" lang="en-US" sz="26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b="1" i="0" sz="2600" u="non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3: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	No strings except those constructed in above, are allowed to be in </a:t>
            </a: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8"/>
          <p:cNvSpPr txBox="1"/>
          <p:nvPr>
            <p:ph idx="4294967295" type="body"/>
          </p:nvPr>
        </p:nvSpPr>
        <p:spPr>
          <a:xfrm>
            <a:off x="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Defining the language L, of strings beginning and ending in same letters , defined over  Σ={a, b}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1: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0" i="0" lang="en-US" sz="26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0" lang="en-US" sz="26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b 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 in L</a:t>
            </a:r>
            <a:r>
              <a:rPr b="1" baseline="3000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6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2: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0" i="0" lang="en-US" sz="26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(a)s(a) 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0" i="0" lang="en-US" sz="26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(b)s(b) 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 also in </a:t>
            </a: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L, 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</a:t>
            </a:r>
            <a:r>
              <a:rPr b="0" i="0" lang="en-US" sz="26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 belongs to Σ</a:t>
            </a:r>
            <a:r>
              <a:rPr b="0" baseline="30000" i="0" lang="en-US" sz="26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b="1" i="0" sz="2600" u="non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3: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	No strings except those constructed in above, are allowed to be in </a:t>
            </a: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/>
          </a:p>
          <a:p>
            <a:pPr indent="-1778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1" i="0" sz="26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9"/>
          <p:cNvSpPr txBox="1"/>
          <p:nvPr>
            <p:ph idx="4294967295" type="title"/>
          </p:nvPr>
        </p:nvSpPr>
        <p:spPr>
          <a:xfrm>
            <a:off x="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Arithmetic Expressions</a:t>
            </a:r>
            <a:endParaRPr/>
          </a:p>
        </p:txBody>
      </p:sp>
      <p:sp>
        <p:nvSpPr>
          <p:cNvPr id="162" name="Google Shape;162;p9"/>
          <p:cNvSpPr txBox="1"/>
          <p:nvPr>
            <p:ph idx="4294967295" type="body"/>
          </p:nvPr>
        </p:nvSpPr>
        <p:spPr>
          <a:xfrm>
            <a:off x="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 we ask ourselves what constitutes a valid arithmetic expression, or AE for short.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alphabet for this language is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Σ = {0, 1, 2, 3, 4, 5, 6, 7, 8, 9, +, -, *, /, (, )}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0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0"/>
          <p:cNvSpPr txBox="1"/>
          <p:nvPr>
            <p:ph idx="4294967295" type="title"/>
          </p:nvPr>
        </p:nvSpPr>
        <p:spPr>
          <a:xfrm>
            <a:off x="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Arithmetic Expression AE</a:t>
            </a:r>
            <a:endParaRPr/>
          </a:p>
        </p:txBody>
      </p:sp>
      <p:sp>
        <p:nvSpPr>
          <p:cNvPr id="172" name="Google Shape;172;p10"/>
          <p:cNvSpPr txBox="1"/>
          <p:nvPr>
            <p:ph idx="4294967295" type="body"/>
          </p:nvPr>
        </p:nvSpPr>
        <p:spPr>
          <a:xfrm>
            <a:off x="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Obviously, the following expressions are not valid: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FF0000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    (3 + 5) + 6)       2(/8 + 9)        (3 + (4-)8)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first contains unbalanced parentheses; the second contains the forbidden substring (/; the third contains the forbidden substring -).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there more rules? The substrings </a:t>
            </a:r>
            <a:r>
              <a:rPr b="0" i="0" lang="en-US" sz="22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// </a:t>
            </a: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0" i="0" lang="en-US" sz="22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*/</a:t>
            </a: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also forbidden.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 there still more?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most natural way of defining a valid AE is by using a </a:t>
            </a:r>
            <a:r>
              <a:rPr b="1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recursive definition</a:t>
            </a: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rather than a long list of forbidden substrings.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1"/>
          <p:cNvSpPr txBox="1"/>
          <p:nvPr>
            <p:ph idx="4294967295" type="title"/>
          </p:nvPr>
        </p:nvSpPr>
        <p:spPr>
          <a:xfrm>
            <a:off x="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Recursive Definition of AE</a:t>
            </a:r>
            <a:endParaRPr/>
          </a:p>
        </p:txBody>
      </p:sp>
      <p:sp>
        <p:nvSpPr>
          <p:cNvPr id="182" name="Google Shape;182;p11"/>
          <p:cNvSpPr txBox="1"/>
          <p:nvPr>
            <p:ph idx="4294967295" type="body"/>
          </p:nvPr>
        </p:nvSpPr>
        <p:spPr>
          <a:xfrm>
            <a:off x="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Rule 1: </a:t>
            </a: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number (positive, negative, or zero) is in AE.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Rule 2: </a:t>
            </a: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x is in AE, then so are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(i)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(x)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(ii) -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(provided that x does not already start with a minus sign)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Rule 3: </a:t>
            </a: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x and y are in AE, then so are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(i)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+ y (if the first symbol in y is not + or -)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(ii)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- y (if the first symbol in y is not + or -)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(iii)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* y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(iv)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/ y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(v)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** y (our notation for exponentiation)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2"/>
          <p:cNvSpPr txBox="1"/>
          <p:nvPr>
            <p:ph idx="4294967295" type="body"/>
          </p:nvPr>
        </p:nvSpPr>
        <p:spPr>
          <a:xfrm>
            <a:off x="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above definition is the most natural, because it is the method we use to recognize valid arithmetic expressions in real life.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instance, we wish to determine if the following expression is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valid: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(2 + 4) * (7 * (9 - 3)/4)/4 * (2 + 8) - 1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We do not really scan over the string, looking for forbidden  substrings or count the parentheses.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We actually imagine the expression in our mind broken down into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components: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(2 + 4) OK? Yes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(9 - 3) OK? Yes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7 * (9 - 3)/4 OK? Yes, and so on.</a:t>
            </a:r>
            <a:endParaRPr/>
          </a:p>
          <a:p>
            <a:pPr indent="-215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3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3"/>
          <p:cNvSpPr txBox="1"/>
          <p:nvPr>
            <p:ph idx="4294967295" type="body"/>
          </p:nvPr>
        </p:nvSpPr>
        <p:spPr>
          <a:xfrm>
            <a:off x="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 that the recursive definition of the set AE gives us the possibility of writing 8/4/2, which is ambiguous, because it could mean 8/(4/2) = 4 or (8/4)/2 = 1.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However, the ambiguity of 8/4/2 is a problem of </a:t>
            </a:r>
            <a:r>
              <a:rPr b="0" i="1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meaning</a:t>
            </a: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There is no doubt that this string is a word in AE, only doubt about what it means.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By applying Rule 2, we could always put enough parentheses to avoid such a confusion.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recursive definition of the set AE is useful for proving many theorems about arithmetic expressions, as we shall see in the next few slides.</a:t>
            </a:r>
            <a:endParaRPr/>
          </a:p>
          <a:p>
            <a:pPr indent="-2032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4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4"/>
          <p:cNvSpPr txBox="1"/>
          <p:nvPr>
            <p:ph idx="4294967295" type="title"/>
          </p:nvPr>
        </p:nvSpPr>
        <p:spPr>
          <a:xfrm>
            <a:off x="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Theorem</a:t>
            </a:r>
            <a:endParaRPr/>
          </a:p>
        </p:txBody>
      </p:sp>
      <p:sp>
        <p:nvSpPr>
          <p:cNvPr id="210" name="Google Shape;210;p14"/>
          <p:cNvSpPr txBox="1"/>
          <p:nvPr>
            <p:ph idx="4294967295" type="body"/>
          </p:nvPr>
        </p:nvSpPr>
        <p:spPr>
          <a:xfrm>
            <a:off x="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arithmetic expression cannot contain the character $.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1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Proof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character is not part of any number, so it cannot be introduced into an AE </a:t>
            </a:r>
            <a:r>
              <a:rPr b="0" i="1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Rule 1</a:t>
            </a: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character string x does not contain the character $, then neither do the string (x) and -x. So, the character $ cannot be introduced into an AE </a:t>
            </a:r>
            <a:r>
              <a:rPr b="0" i="1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Rule 2</a:t>
            </a: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neither x nor y contains the character $, then neither do any of the expressions defined in </a:t>
            </a:r>
            <a:r>
              <a:rPr b="0" i="1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Rule 3.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Therefore, the character $ can never get into an AE.</a:t>
            </a:r>
            <a:endParaRPr/>
          </a:p>
          <a:p>
            <a:pPr indent="-2032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5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5"/>
          <p:cNvSpPr txBox="1"/>
          <p:nvPr>
            <p:ph idx="4294967295" type="title"/>
          </p:nvPr>
        </p:nvSpPr>
        <p:spPr>
          <a:xfrm>
            <a:off x="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Theorem 3 &amp; 4</a:t>
            </a:r>
            <a:endParaRPr/>
          </a:p>
        </p:txBody>
      </p:sp>
      <p:sp>
        <p:nvSpPr>
          <p:cNvPr id="220" name="Google Shape;220;p15"/>
          <p:cNvSpPr txBox="1"/>
          <p:nvPr>
            <p:ph idx="4294967295" type="body"/>
          </p:nvPr>
        </p:nvSpPr>
        <p:spPr>
          <a:xfrm>
            <a:off x="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arithmetic expression can begin or end with the symbol /.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Proof?</a:t>
            </a:r>
            <a:endParaRPr/>
          </a:p>
          <a:p>
            <a:pPr indent="-2032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1" i="0" sz="2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arithmetic expression can contain the substring //.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Proof?</a:t>
            </a:r>
            <a:endParaRPr/>
          </a:p>
          <a:p>
            <a:pPr indent="-2032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6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6"/>
          <p:cNvSpPr txBox="1"/>
          <p:nvPr>
            <p:ph idx="4294967295" type="title"/>
          </p:nvPr>
        </p:nvSpPr>
        <p:spPr>
          <a:xfrm>
            <a:off x="-1524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Propositional Calculus</a:t>
            </a:r>
            <a:endParaRPr/>
          </a:p>
        </p:txBody>
      </p:sp>
      <p:sp>
        <p:nvSpPr>
          <p:cNvPr id="230" name="Google Shape;230;p16"/>
          <p:cNvSpPr txBox="1"/>
          <p:nvPr>
            <p:ph idx="4294967295" type="body"/>
          </p:nvPr>
        </p:nvSpPr>
        <p:spPr>
          <a:xfrm>
            <a:off x="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Propositional calculus (or sentential calculus) is a branch of symbolic logic that we shall be interested in.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version we define here uses only negation (¬) and implication (→), together with the phrase variables.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alphabet for this language is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Σ = {¬, →, (, ), a, b, c, d, …}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valid expression in this language is called WFF (</a:t>
            </a: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well-form formula).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7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7"/>
          <p:cNvSpPr txBox="1"/>
          <p:nvPr>
            <p:ph idx="4294967295" type="title"/>
          </p:nvPr>
        </p:nvSpPr>
        <p:spPr>
          <a:xfrm>
            <a:off x="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Propositional Calculus</a:t>
            </a:r>
            <a:endParaRPr/>
          </a:p>
        </p:txBody>
      </p:sp>
      <p:sp>
        <p:nvSpPr>
          <p:cNvPr id="240" name="Google Shape;240;p17"/>
          <p:cNvSpPr txBox="1"/>
          <p:nvPr>
            <p:ph idx="4294967295" type="body"/>
          </p:nvPr>
        </p:nvSpPr>
        <p:spPr>
          <a:xfrm>
            <a:off x="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rules for forming WFFs are: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Rule 1: </a:t>
            </a: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single Latin letter is a WFF, for instance a, b, c, ...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Rule 2: </a:t>
            </a: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p is a WFF, then so are (p) and ¬p.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Rule 3: </a:t>
            </a: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p and q are WFFs, then so is p → q.</a:t>
            </a:r>
            <a:endParaRPr/>
          </a:p>
          <a:p>
            <a:pPr indent="-2032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you show that p → ((p → p) → q) is a WFF?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you show that the following are NOT WFFs?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 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p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p) → p(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8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Theory of Automata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9" name="Google Shape;24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2700350"/>
            <a:ext cx="8610601" cy="21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