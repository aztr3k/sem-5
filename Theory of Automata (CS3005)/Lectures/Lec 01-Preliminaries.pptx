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grsvPMHG8JAEp7MMtLUY4mQchL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5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4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4" name="Google Shape;5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5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5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5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4" name="Google Shape;74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Theory of Automata</a:t>
            </a:r>
            <a:b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Preliminaries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98989"/>
              </a:buClr>
              <a:buSzPts val="2400"/>
              <a:buNone/>
            </a:pPr>
            <a:r>
              <a:rPr b="0" i="0" lang="en-US" sz="24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Definitions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Languages, String, Words, Concatenation, Length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Palindrome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Closure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Lexicographic order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Closure of null set &amp; set with only null word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Closure of different sets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Kleene Closure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S**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>
            <p:ph idx="4294967295" type="title"/>
          </p:nvPr>
        </p:nvSpPr>
        <p:spPr>
          <a:xfrm>
            <a:off x="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Languages</a:t>
            </a:r>
            <a:endParaRPr/>
          </a:p>
        </p:txBody>
      </p:sp>
      <p:sp>
        <p:nvSpPr>
          <p:cNvPr id="106" name="Google Shape;106;p3"/>
          <p:cNvSpPr txBox="1"/>
          <p:nvPr>
            <p:ph idx="4294967295" type="body"/>
          </p:nvPr>
        </p:nvSpPr>
        <p:spPr>
          <a:xfrm>
            <a:off x="0" y="14478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English, we distinguish 3 different entities: letters, words, and sentences.</a:t>
            </a:r>
            <a:endParaRPr/>
          </a:p>
          <a:p>
            <a:pPr indent="-285750" lvl="1" marL="74295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Groups of letters make up words and groups of words make up sentences.</a:t>
            </a:r>
            <a:endParaRPr/>
          </a:p>
          <a:p>
            <a:pPr indent="-285750" lvl="1" marL="74295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not all collections of letters form valid words, and not all collections of words form valid sentences.</a:t>
            </a:r>
            <a:endParaRPr/>
          </a:p>
          <a:p>
            <a:pPr indent="-133350" lvl="1" marL="74295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situation also exists with computer languages.</a:t>
            </a:r>
            <a:endParaRPr/>
          </a:p>
          <a:p>
            <a:pPr indent="-285750" lvl="1" marL="74295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Certain (but not all) strings of characters are recognizable words (e.g., IF, ELSE, FOR, WHILE …); and certain (but not all) strings of words are recognizable commands.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>
            <p:ph idx="4294967295" type="body"/>
          </p:nvPr>
        </p:nvSpPr>
        <p:spPr>
          <a:xfrm>
            <a:off x="0" y="15240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construct a general theory of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 languages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we need to have a definition of a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 structure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 which the decision of whether a given string of units constitutes a valid larger unit is not a matter of guesswork, but is based on explicitly stated rules.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model, language will be considered as symbols with formal rules, and not as expressions of ideas in the minds of humans.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term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“formal”</a:t>
            </a: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emphasizes that it is the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</a:t>
            </a: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string of symbols that we are interested in, not the meaning.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>
            <p:ph idx="4294967295" type="body"/>
          </p:nvPr>
        </p:nvSpPr>
        <p:spPr>
          <a:xfrm>
            <a:off x="0" y="129540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🞂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finite non-empty set of symbols (letters), is called an alphabet. It is denoted by Σ ( Greek letter sigma).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Σ={a,b}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Σ={0,1} //important as this is the language 		      //which the computer understands.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Σ={i,j,k}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2667000" y="381000"/>
            <a:ext cx="3810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Basic Definitions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>
            <p:ph idx="4294967295" type="title"/>
          </p:nvPr>
        </p:nvSpPr>
        <p:spPr>
          <a:xfrm>
            <a:off x="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</a:t>
            </a:r>
            <a:endParaRPr/>
          </a:p>
        </p:txBody>
      </p:sp>
      <p:sp>
        <p:nvSpPr>
          <p:cNvPr id="129" name="Google Shape;129;p6"/>
          <p:cNvSpPr txBox="1"/>
          <p:nvPr>
            <p:ph idx="4294967295" type="body"/>
          </p:nvPr>
        </p:nvSpPr>
        <p:spPr>
          <a:xfrm>
            <a:off x="838200" y="1143000"/>
            <a:ext cx="8305800" cy="455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String?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Concatenation of finite symbols from the alphabet is called a string. </a:t>
            </a:r>
            <a:endParaRPr/>
          </a:p>
          <a:p>
            <a:pPr indent="-158750" lvl="0" marL="342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Σ= {a,b} then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a, abab, aaabb, ababababababababab</a:t>
            </a:r>
            <a:endParaRPr/>
          </a:p>
          <a:p>
            <a:pPr indent="-158750" lvl="0" marL="342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b="0" i="0" sz="29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 txBox="1"/>
          <p:nvPr>
            <p:ph idx="4294967295" type="title"/>
          </p:nvPr>
        </p:nvSpPr>
        <p:spPr>
          <a:xfrm>
            <a:off x="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Words</a:t>
            </a:r>
            <a:endParaRPr/>
          </a:p>
        </p:txBody>
      </p:sp>
      <p:sp>
        <p:nvSpPr>
          <p:cNvPr id="137" name="Google Shape;137;p7"/>
          <p:cNvSpPr txBox="1"/>
          <p:nvPr>
            <p:ph idx="4294967295" type="body"/>
          </p:nvPr>
        </p:nvSpPr>
        <p:spPr>
          <a:xfrm>
            <a:off x="0" y="1219200"/>
            <a:ext cx="8178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🞂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‘word’?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🞂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Words are strings belonging to some language.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If Σ= {x} then a language L can be defined as 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L={x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n=1,2,3,…..} or L={x,xx,xxx,….}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Here x,xx,… are the words of L</a:t>
            </a:r>
            <a:endParaRPr/>
          </a:p>
          <a:p>
            <a:pPr indent="-90486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486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Char char="🞂"/>
            </a:pPr>
            <a:r>
              <a:rPr b="0" i="0" lang="en-US" sz="26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 words are strings, but not all strings are words.</a:t>
            </a:r>
            <a:endParaRPr/>
          </a:p>
          <a:p>
            <a:pPr indent="-1778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>
            <p:ph idx="4294967295" type="body"/>
          </p:nvPr>
        </p:nvSpPr>
        <p:spPr>
          <a:xfrm>
            <a:off x="0" y="13716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shall allow a string to have no letters. We call this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empty string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string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denote it by the symbol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 languages, the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word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if it is a word in the language, is the word that has no letters. We also denote the null word by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words are considered the same if all their letters are the same and in the same order.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1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clarity, we usually do not allow the symbol </a:t>
            </a:r>
            <a:r>
              <a:rPr b="1" i="1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 </a:t>
            </a:r>
            <a:r>
              <a:rPr b="0" i="1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part of the alphabet of any language.</a:t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609600" y="381000"/>
            <a:ext cx="7467600" cy="555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EMPTY STRING or NULL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>
            <p:ph idx="4294967295" type="body"/>
          </p:nvPr>
        </p:nvSpPr>
        <p:spPr>
          <a:xfrm>
            <a:off x="0" y="14478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language that has no words is denoted by the standard symbol for null set, ø.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not true that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word in the language ø since this language has no words at all.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certain language L does not contain the word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we wish to add it to L, we use the operation “+” to form L + {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}. This language is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same as L.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the language L + ø is the same as L since no new words have been added.</a:t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2057400" y="493712"/>
            <a:ext cx="5334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Discussion of null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 txBox="1"/>
          <p:nvPr>
            <p:ph idx="4294967295" type="title"/>
          </p:nvPr>
        </p:nvSpPr>
        <p:spPr>
          <a:xfrm>
            <a:off x="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Defining Languages</a:t>
            </a:r>
            <a:endParaRPr/>
          </a:p>
        </p:txBody>
      </p:sp>
      <p:sp>
        <p:nvSpPr>
          <p:cNvPr id="161" name="Google Shape;161;p10"/>
          <p:cNvSpPr txBox="1"/>
          <p:nvPr>
            <p:ph idx="4294967295" type="body"/>
          </p:nvPr>
        </p:nvSpPr>
        <p:spPr>
          <a:xfrm>
            <a:off x="0" y="1812925"/>
            <a:ext cx="8229600" cy="410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rules for defining a language can be of two kinds: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can tell us how to test if a string of alphabet letters is a valid word, or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can tell us how to construct all the words in the language by some clear procedures.</a:t>
            </a:r>
            <a:endParaRPr/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 txBox="1"/>
          <p:nvPr>
            <p:ph idx="4294967295" type="title"/>
          </p:nvPr>
        </p:nvSpPr>
        <p:spPr>
          <a:xfrm>
            <a:off x="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Languages</a:t>
            </a:r>
            <a:endParaRPr/>
          </a:p>
        </p:txBody>
      </p:sp>
      <p:sp>
        <p:nvSpPr>
          <p:cNvPr id="169" name="Google Shape;169;p11"/>
          <p:cNvSpPr txBox="1"/>
          <p:nvPr>
            <p:ph idx="4294967295" type="body"/>
          </p:nvPr>
        </p:nvSpPr>
        <p:spPr>
          <a:xfrm>
            <a:off x="0" y="1882775"/>
            <a:ext cx="822960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Consider this alphabet with only one letter</a:t>
            </a:r>
            <a:endParaRPr/>
          </a:p>
          <a:p>
            <a:pPr indent="-342900" lvl="0" marL="342900" marR="0" rt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∑ = { x 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define a language by saying that any nonempty string of alphabet letters is a word</a:t>
            </a:r>
            <a:endParaRPr/>
          </a:p>
          <a:p>
            <a:pPr indent="-342900" lvl="0" marL="342900" marR="0" rt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</a:t>
            </a:r>
            <a:r>
              <a:rPr b="0" baseline="-25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{ x, xx, xxx, xxxx, … } or</a:t>
            </a:r>
            <a:endParaRPr/>
          </a:p>
          <a:p>
            <a:pPr indent="-342900" lvl="0" marL="342900" marR="0" rt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</a:t>
            </a:r>
            <a:r>
              <a:rPr b="0" baseline="-25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{ x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n = 1, 2, 3, … 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because of the way we have defined it, the language L</a:t>
            </a:r>
            <a:r>
              <a:rPr b="0" baseline="-25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 not include the null word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78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 txBox="1"/>
          <p:nvPr>
            <p:ph idx="4294967295" type="title"/>
          </p:nvPr>
        </p:nvSpPr>
        <p:spPr>
          <a:xfrm>
            <a:off x="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sp>
        <p:nvSpPr>
          <p:cNvPr id="177" name="Google Shape;177;p12"/>
          <p:cNvSpPr txBox="1"/>
          <p:nvPr>
            <p:ph idx="4294967295" type="body"/>
          </p:nvPr>
        </p:nvSpPr>
        <p:spPr>
          <a:xfrm>
            <a:off x="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language  L of strings of odd length, defined over Σ={a}, can be written as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L={a, aaa, aaaaa,…..}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 language L of strings that does not start with a, defined over Σ={a,b,c}, can be written as	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L={b, c, ba, bb, bc, ca, cb,  cc, …}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 txBox="1"/>
          <p:nvPr>
            <p:ph idx="4294967295" type="title"/>
          </p:nvPr>
        </p:nvSpPr>
        <p:spPr>
          <a:xfrm>
            <a:off x="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sp>
        <p:nvSpPr>
          <p:cNvPr id="185" name="Google Shape;185;p13"/>
          <p:cNvSpPr txBox="1"/>
          <p:nvPr>
            <p:ph idx="4294967295" type="body"/>
          </p:nvPr>
        </p:nvSpPr>
        <p:spPr>
          <a:xfrm>
            <a:off x="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 language L of strings of length 2, defined over Σ={0,1,2}, can be written as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L={00, 01, 02,10, 11,12,20,21,22}</a:t>
            </a:r>
            <a:endParaRPr/>
          </a:p>
          <a:p>
            <a:pPr indent="-1651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 language L of strings ending in 0, defined over  Σ ={0,1}, can be written as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L={0,00,10,000,010,100,110,…}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4"/>
          <p:cNvSpPr txBox="1"/>
          <p:nvPr>
            <p:ph idx="4294967295" type="title"/>
          </p:nvPr>
        </p:nvSpPr>
        <p:spPr>
          <a:xfrm>
            <a:off x="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sp>
        <p:nvSpPr>
          <p:cNvPr id="193" name="Google Shape;193;p14"/>
          <p:cNvSpPr txBox="1"/>
          <p:nvPr>
            <p:ph idx="4294967295" type="body"/>
          </p:nvPr>
        </p:nvSpPr>
        <p:spPr>
          <a:xfrm>
            <a:off x="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language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of strings with number of a’s equal to number of b’s, defined over Σ={a,b}, can be written as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,ab,aabb,abab,baba,abba,…}</a:t>
            </a:r>
            <a:endParaRPr/>
          </a:p>
          <a:p>
            <a:pPr indent="-1778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language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EVEN-EVEN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of strings with even number of a’s and even number of b’s, defined over Σ={a,b}, can be written as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{Λ, aa, bb, aaaa,aabb,abab, abba, baab, baba, bbaa, bbbb,…}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5"/>
          <p:cNvSpPr txBox="1"/>
          <p:nvPr>
            <p:ph idx="4294967295" type="title"/>
          </p:nvPr>
        </p:nvSpPr>
        <p:spPr>
          <a:xfrm>
            <a:off x="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endParaRPr/>
          </a:p>
        </p:txBody>
      </p:sp>
      <p:sp>
        <p:nvSpPr>
          <p:cNvPr id="201" name="Google Shape;201;p15"/>
          <p:cNvSpPr txBox="1"/>
          <p:nvPr>
            <p:ph idx="4294967295" type="body"/>
          </p:nvPr>
        </p:nvSpPr>
        <p:spPr>
          <a:xfrm>
            <a:off x="838200" y="1219200"/>
            <a:ext cx="8305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us define an operation, </a:t>
            </a: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 which two strings are written down side by side to form a new longer string.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xxx concatenated with xx is the word xxxxx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x</a:t>
            </a:r>
            <a:r>
              <a:rPr b="0" baseline="30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concatenated with x</a:t>
            </a:r>
            <a:r>
              <a:rPr b="0" baseline="30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word x</a:t>
            </a:r>
            <a:r>
              <a:rPr b="0" baseline="30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n+m</a:t>
            </a:r>
            <a:endParaRPr/>
          </a:p>
          <a:p>
            <a:pPr indent="-20955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convenience, we may label a word in a given language by a new symbol. For example,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xxx is called a, and xx is called b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to denote the word formed by concatenating a and b, we can write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ab = xxxxx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not true that when two words are concatenated, they produce another word. For example, if the language is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{x, xxx, xxxxx, …} = {x</a:t>
            </a:r>
            <a:r>
              <a:rPr b="0" baseline="30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2n+1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n = 0, 1, 2, …}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then a = xxx and b = xxxxx are both words in L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their concatenation ab = xxxxxxxx is not in L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 txBox="1"/>
          <p:nvPr>
            <p:ph idx="4294967295" type="title"/>
          </p:nvPr>
        </p:nvSpPr>
        <p:spPr>
          <a:xfrm>
            <a:off x="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Concatenation makes new Words?</a:t>
            </a:r>
            <a:endParaRPr/>
          </a:p>
        </p:txBody>
      </p:sp>
      <p:sp>
        <p:nvSpPr>
          <p:cNvPr id="209" name="Google Shape;209;p16"/>
          <p:cNvSpPr txBox="1"/>
          <p:nvPr>
            <p:ph idx="4294967295" type="body"/>
          </p:nvPr>
        </p:nvSpPr>
        <p:spPr>
          <a:xfrm>
            <a:off x="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in this simple example, we have: 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ab = ba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But in general, this relationship does NOT hold for all languages (e.g.,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houseboat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boathouse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two different words in English).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Consider another language by beginning with the alphabet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∑ = { 0, 1, 2, 3, 4, 5, 6, 7, 8, 9 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Define the language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{ any finite string of alphabet letters that does not start with the letter zero }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7"/>
          <p:cNvSpPr txBox="1"/>
          <p:nvPr>
            <p:ph idx="4294967295" type="body"/>
          </p:nvPr>
        </p:nvSpPr>
        <p:spPr>
          <a:xfrm>
            <a:off x="0" y="16002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language L</a:t>
            </a:r>
            <a:r>
              <a:rPr b="0" baseline="-25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looks like the set of positive integers: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</a:t>
            </a:r>
            <a:r>
              <a:rPr b="0" baseline="-25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{ 1, 2, 3, 4, 5, 6, 7, 8, 9, 10, 11, 12, … 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want to define L3 so that it includes the string (word) 0, we could say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</a:t>
            </a:r>
            <a:r>
              <a:rPr b="0" baseline="-25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{ any finite string of alphabet letters that, if it starts with a 0, has no more letters after the first}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 txBox="1"/>
          <p:nvPr>
            <p:ph idx="4294967295" type="title"/>
          </p:nvPr>
        </p:nvSpPr>
        <p:spPr>
          <a:xfrm>
            <a:off x="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 Length</a:t>
            </a:r>
            <a:endParaRPr/>
          </a:p>
        </p:txBody>
      </p:sp>
      <p:sp>
        <p:nvSpPr>
          <p:cNvPr id="224" name="Google Shape;224;p18"/>
          <p:cNvSpPr txBox="1"/>
          <p:nvPr>
            <p:ph idx="4294967295" type="body"/>
          </p:nvPr>
        </p:nvSpPr>
        <p:spPr>
          <a:xfrm>
            <a:off x="0" y="1741487"/>
            <a:ext cx="8229600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define the function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 string to be the number of letters in the string.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= xxxx in the language L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length(a) = 4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c = 428 in the language L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length(c) = 3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d = 0 in the language L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length(d)  = 1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any language that includes the null word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length(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0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any word w in any language, if length(w) = 0 then w =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 txBox="1"/>
          <p:nvPr>
            <p:ph idx="4294967295" type="body"/>
          </p:nvPr>
        </p:nvSpPr>
        <p:spPr>
          <a:xfrm>
            <a:off x="0" y="533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that the language L</a:t>
            </a:r>
            <a:r>
              <a:rPr b="0" baseline="-25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 not contain the null string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Let us define a language like L</a:t>
            </a:r>
            <a:r>
              <a:rPr b="0" baseline="-25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but that does contain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</a:t>
            </a:r>
            <a:r>
              <a:rPr b="0" baseline="-25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{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x, xx, xxx, xxxx, … } 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= { x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n = 0, 1, 2, 3, … 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we have defined that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x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(NOT x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 as in algebra)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way, x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always means the string of n alphabet letters x’s.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1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that even </a:t>
            </a:r>
            <a:r>
              <a:rPr b="1" i="1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1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word in the language, it is not a letter in the alphabet.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0"/>
          <p:cNvSpPr txBox="1"/>
          <p:nvPr>
            <p:ph idx="4294967295" type="title"/>
          </p:nvPr>
        </p:nvSpPr>
        <p:spPr>
          <a:xfrm>
            <a:off x="0" y="381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 Reverse</a:t>
            </a:r>
            <a:endParaRPr/>
          </a:p>
        </p:txBody>
      </p:sp>
      <p:sp>
        <p:nvSpPr>
          <p:cNvPr id="239" name="Google Shape;239;p20"/>
          <p:cNvSpPr txBox="1"/>
          <p:nvPr>
            <p:ph idx="4294967295" type="body"/>
          </p:nvPr>
        </p:nvSpPr>
        <p:spPr>
          <a:xfrm>
            <a:off x="0" y="1828800"/>
            <a:ext cx="8229600" cy="360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is a word in some language L, then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reverse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is the same string of letters spelled backward, even if this backward string is not a word in L.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reverse(xxx) = xxx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reverse(145) = 541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140 is a word in L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reverse(140) = 041 is NOT a word in L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baseline="-2500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1"/>
          <p:cNvSpPr txBox="1"/>
          <p:nvPr>
            <p:ph idx="4294967295" type="title"/>
          </p:nvPr>
        </p:nvSpPr>
        <p:spPr>
          <a:xfrm>
            <a:off x="0" y="277812"/>
            <a:ext cx="8229600" cy="99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 Palindrome</a:t>
            </a:r>
            <a:endParaRPr/>
          </a:p>
        </p:txBody>
      </p:sp>
      <p:sp>
        <p:nvSpPr>
          <p:cNvPr id="247" name="Google Shape;247;p21"/>
          <p:cNvSpPr txBox="1"/>
          <p:nvPr>
            <p:ph idx="4294967295" type="body"/>
          </p:nvPr>
        </p:nvSpPr>
        <p:spPr>
          <a:xfrm>
            <a:off x="0" y="1741487"/>
            <a:ext cx="822960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us define a new language called Palindrome over the alphabet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∑ = { a, b }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PALINDROME = {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all strings x such that     reverse(x) = x 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want to list the elements in PALINDROME, we find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PALINDROME = {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a, b, aa, bb, aaa, aba, bab, bbb, aaaa, abba, … 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2"/>
          <p:cNvSpPr txBox="1"/>
          <p:nvPr>
            <p:ph idx="4294967295" type="title"/>
          </p:nvPr>
        </p:nvSpPr>
        <p:spPr>
          <a:xfrm>
            <a:off x="0" y="277812"/>
            <a:ext cx="8229600" cy="99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Palindrome</a:t>
            </a:r>
            <a:endParaRPr/>
          </a:p>
        </p:txBody>
      </p:sp>
      <p:sp>
        <p:nvSpPr>
          <p:cNvPr id="255" name="Google Shape;255;p22"/>
          <p:cNvSpPr txBox="1"/>
          <p:nvPr>
            <p:ph idx="4294967295" type="body"/>
          </p:nvPr>
        </p:nvSpPr>
        <p:spPr>
          <a:xfrm>
            <a:off x="0" y="1371600"/>
            <a:ext cx="8229600" cy="403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🞂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Sometimes two words in PALINDROME when concatenated will produce a word in PALINDROME</a:t>
            </a:r>
            <a:endParaRPr/>
          </a:p>
          <a:p>
            <a:pPr indent="-285749" lvl="1" marL="6207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Char char="◦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abba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concatenated with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abbaabba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gives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abbaabbaabba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 PALINDROME)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🞂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more often, the concatenation is not a word in PALINDROME</a:t>
            </a:r>
            <a:endParaRPr/>
          </a:p>
          <a:p>
            <a:pPr indent="-285749" lvl="1" marL="6207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Char char="◦"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concatenated with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aba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gives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aaaba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(NOT in PALINDROME)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🞂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language PALINDROME has interesting properties that we shall examine later.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 txBox="1"/>
          <p:nvPr>
            <p:ph idx="4294967295" type="title"/>
          </p:nvPr>
        </p:nvSpPr>
        <p:spPr>
          <a:xfrm>
            <a:off x="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/>
          </a:p>
        </p:txBody>
      </p:sp>
      <p:sp>
        <p:nvSpPr>
          <p:cNvPr id="263" name="Google Shape;263;p23"/>
          <p:cNvSpPr txBox="1"/>
          <p:nvPr>
            <p:ph idx="4294967295" type="body"/>
          </p:nvPr>
        </p:nvSpPr>
        <p:spPr>
          <a:xfrm>
            <a:off x="0" y="2236787"/>
            <a:ext cx="8178800" cy="2335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 that there are as many palindromes of length 2n, defined over  Σ = {a,b,c}, as there are of length 2n-1, n = 1,2,3… . Determine the number of palindromes of length 2n defined over the same alphabet as well.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 txBox="1"/>
          <p:nvPr>
            <p:ph idx="4294967295" type="title"/>
          </p:nvPr>
        </p:nvSpPr>
        <p:spPr>
          <a:xfrm>
            <a:off x="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sp>
        <p:nvSpPr>
          <p:cNvPr id="271" name="Google Shape;271;p24"/>
          <p:cNvSpPr txBox="1"/>
          <p:nvPr>
            <p:ph idx="4294967295" type="body"/>
          </p:nvPr>
        </p:nvSpPr>
        <p:spPr>
          <a:xfrm>
            <a:off x="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calculate the number of palindromes of  length(2n), consider the following diagram, 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895600"/>
            <a:ext cx="7467600" cy="3186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5"/>
          <p:cNvSpPr txBox="1"/>
          <p:nvPr>
            <p:ph idx="4294967295" type="body"/>
          </p:nvPr>
        </p:nvSpPr>
        <p:spPr>
          <a:xfrm>
            <a:off x="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shows that there are as many palindromes of length 2n as there are the strings of length n </a:t>
            </a:r>
            <a:r>
              <a:rPr b="0" i="1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required number of palindromes are 3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(as there are three letters in the given alphabet, so the number of strings of length n will be 3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6"/>
          <p:cNvSpPr txBox="1"/>
          <p:nvPr>
            <p:ph idx="4294967295" type="body"/>
          </p:nvPr>
        </p:nvSpPr>
        <p:spPr>
          <a:xfrm>
            <a:off x="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calculate the number of palindromes of length (2n-1) with a as the middle letter, consider the following diagram,</a:t>
            </a:r>
            <a:endParaRPr/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baseline="3000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baseline="3000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810000"/>
            <a:ext cx="78486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>
            <p:ph idx="4294967295" type="body"/>
          </p:nvPr>
        </p:nvSpPr>
        <p:spPr>
          <a:xfrm>
            <a:off x="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which shows that there are as many palindromes of length 2n-1, with a as middle letter, as there are the strings of length n-1, </a:t>
            </a:r>
            <a:r>
              <a:rPr b="0" i="1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required number of palindromes are 3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Similarly the number of palindromes of length 2n-1, with  b  or c  as middle letter, will be 3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well. Hence the total number of palindromes of length 2n-1 will be                                    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+ 3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+ 3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=   3 (3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= 3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78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8"/>
          <p:cNvSpPr txBox="1"/>
          <p:nvPr>
            <p:ph idx="4294967295" type="title"/>
          </p:nvPr>
        </p:nvSpPr>
        <p:spPr>
          <a:xfrm>
            <a:off x="0" y="277812"/>
            <a:ext cx="81534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Closure</a:t>
            </a:r>
            <a:endParaRPr/>
          </a:p>
        </p:txBody>
      </p:sp>
      <p:sp>
        <p:nvSpPr>
          <p:cNvPr id="304" name="Google Shape;304;p28"/>
          <p:cNvSpPr txBox="1"/>
          <p:nvPr>
            <p:ph idx="4294967295" type="body"/>
          </p:nvPr>
        </p:nvSpPr>
        <p:spPr>
          <a:xfrm>
            <a:off x="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Given an alphabet ∑, we define a </a:t>
            </a: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which any string of letters from ∑ is a word, even the null string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We call this </a:t>
            </a: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closure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alphabet ∑, and denote this language by ∑*.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∑ = { x } then ∑* = {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x, xx, xxx, … }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∑ = { 0, 1 } then ∑* = {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0, 1, 00, 01, 10, 11, 				      000, 001, … }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∑ = { a, b, c } then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∑* = { </a:t>
            </a:r>
            <a:r>
              <a:rPr b="1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a, b, c, aa, ab, ac, ba, bb, bc, ca, cb, cc, aaa, … }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9"/>
          <p:cNvSpPr txBox="1"/>
          <p:nvPr>
            <p:ph idx="4294967295" type="title"/>
          </p:nvPr>
        </p:nvSpPr>
        <p:spPr>
          <a:xfrm>
            <a:off x="0" y="277812"/>
            <a:ext cx="81534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Lexicographic order</a:t>
            </a:r>
            <a:endParaRPr/>
          </a:p>
        </p:txBody>
      </p:sp>
      <p:sp>
        <p:nvSpPr>
          <p:cNvPr id="312" name="Google Shape;312;p29"/>
          <p:cNvSpPr txBox="1"/>
          <p:nvPr>
            <p:ph idx="4294967295" type="body"/>
          </p:nvPr>
        </p:nvSpPr>
        <p:spPr>
          <a:xfrm>
            <a:off x="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Notice that we listed the words in a language in size order (i.e., words of shortest length first), and then listed all the words of the same length alphabetically.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ordering is called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lexicographic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order, which we will usually follow.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star in the closure notation is known as the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star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think of the Kleene star as an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makes, out of an alphabet, an </a:t>
            </a: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infinite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language (i.e., </a:t>
            </a: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infinitely many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words, each of </a:t>
            </a: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finite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length).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"/>
          <p:cNvSpPr txBox="1"/>
          <p:nvPr>
            <p:ph idx="4294967295" type="title"/>
          </p:nvPr>
        </p:nvSpPr>
        <p:spPr>
          <a:xfrm>
            <a:off x="0" y="277812"/>
            <a:ext cx="81534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Closure</a:t>
            </a:r>
            <a:endParaRPr/>
          </a:p>
        </p:txBody>
      </p:sp>
      <p:sp>
        <p:nvSpPr>
          <p:cNvPr id="320" name="Google Shape;320;p30"/>
          <p:cNvSpPr txBox="1"/>
          <p:nvPr>
            <p:ph idx="4294967295" type="body"/>
          </p:nvPr>
        </p:nvSpPr>
        <p:spPr>
          <a:xfrm>
            <a:off x="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us now generalize the use of the Kleene star operator to sets of words, not just sets of alphabet letters.</a:t>
            </a:r>
            <a:endParaRPr/>
          </a:p>
          <a:p>
            <a:pPr indent="-1778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S is a set of words, then S* is the set of all finite strings formed by concatenating words from S, where any word may be used as often as we like, and where the null string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also included.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Closure</a:t>
            </a:r>
            <a:endParaRPr/>
          </a:p>
        </p:txBody>
      </p:sp>
      <p:sp>
        <p:nvSpPr>
          <p:cNvPr id="326" name="Google Shape;326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If S = { aa, b } </a:t>
            </a:r>
            <a:endParaRPr/>
          </a:p>
        </p:txBody>
      </p:sp>
      <p:sp>
        <p:nvSpPr>
          <p:cNvPr id="327" name="Google Shape;327;p3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2"/>
          <p:cNvSpPr txBox="1"/>
          <p:nvPr>
            <p:ph idx="4294967295" type="title"/>
          </p:nvPr>
        </p:nvSpPr>
        <p:spPr>
          <a:xfrm>
            <a:off x="0" y="277812"/>
            <a:ext cx="81534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Closure</a:t>
            </a:r>
            <a:endParaRPr/>
          </a:p>
        </p:txBody>
      </p:sp>
      <p:sp>
        <p:nvSpPr>
          <p:cNvPr id="336" name="Google Shape;336;p32"/>
          <p:cNvSpPr txBox="1"/>
          <p:nvPr>
            <p:ph idx="4294967295" type="body"/>
          </p:nvPr>
        </p:nvSpPr>
        <p:spPr>
          <a:xfrm>
            <a:off x="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If S = { aa, b } then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S* = {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any word composed of factors of aa and b }, or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S* = { Λ plus any strings of a’s and b’s in which the a’s occur in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clumps }, or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S* = { Λ, b, aa, bb, aab, baa, bbb, aaaa, aabb, baab, bbaa, bbbb, aaaab, aabaa, aabbb, baaaa, baabb, bbaab, bbbaa, bbbbb, … 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the string aabaaab is not in S* because it has a clump of a’s of length 3.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Closure</a:t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Let 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 = { a, ab }</a:t>
            </a:r>
            <a:endParaRPr/>
          </a:p>
        </p:txBody>
      </p:sp>
      <p:sp>
        <p:nvSpPr>
          <p:cNvPr id="343" name="Google Shape;343;p3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4"/>
          <p:cNvSpPr txBox="1"/>
          <p:nvPr>
            <p:ph idx="4294967295" type="title"/>
          </p:nvPr>
        </p:nvSpPr>
        <p:spPr>
          <a:xfrm>
            <a:off x="0" y="277812"/>
            <a:ext cx="81534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Closure</a:t>
            </a:r>
            <a:endParaRPr/>
          </a:p>
        </p:txBody>
      </p:sp>
      <p:sp>
        <p:nvSpPr>
          <p:cNvPr id="352" name="Google Shape;352;p34"/>
          <p:cNvSpPr txBox="1"/>
          <p:nvPr>
            <p:ph idx="4294967295" type="body"/>
          </p:nvPr>
        </p:nvSpPr>
        <p:spPr>
          <a:xfrm>
            <a:off x="457200" y="1524000"/>
            <a:ext cx="868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Let 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 = { a, ab }. 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S* = {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any word composed of factors of a and ab },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S* = {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all strings of a’s and b’s except those that start with b and those that contain a double b },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S* = {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a, aa, ab, aaa, aab, aba, aaaa, aaab, abaa, abab, aaaaa, aaaab, aaaba, aabaa, aabab, abaaa, abaab, ababa, … 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for each word in S*, every b must have an </a:t>
            </a:r>
            <a:r>
              <a:rPr b="0" i="1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immediately to its left, so the double b, that is bb, is not possible; neither any string starting with b.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5"/>
          <p:cNvSpPr txBox="1"/>
          <p:nvPr>
            <p:ph idx="4294967295" type="body"/>
          </p:nvPr>
        </p:nvSpPr>
        <p:spPr>
          <a:xfrm>
            <a:off x="0" y="17526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must show how it can be written as a concatenation of words from the base set S.</a:t>
            </a:r>
            <a:endParaRPr/>
          </a:p>
          <a:p>
            <a:pPr indent="-2032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previous example, to show that abaab is in S*, we can factor it as follows: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abaab = (ab)(a)(ab)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three factors are all in the set S, therefore their concatenation is in S*.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the parentheses, ( ), are used for the sole purpose of demarcating the ends of factors.</a:t>
            </a:r>
            <a:endParaRPr/>
          </a:p>
        </p:txBody>
      </p:sp>
      <p:sp>
        <p:nvSpPr>
          <p:cNvPr id="360" name="Google Shape;360;p35"/>
          <p:cNvSpPr txBox="1"/>
          <p:nvPr/>
        </p:nvSpPr>
        <p:spPr>
          <a:xfrm>
            <a:off x="685800" y="457200"/>
            <a:ext cx="7239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How to prove a certain word is in the closure language S*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6"/>
          <p:cNvSpPr txBox="1"/>
          <p:nvPr>
            <p:ph idx="4294967295" type="body"/>
          </p:nvPr>
        </p:nvSpPr>
        <p:spPr>
          <a:xfrm>
            <a:off x="0" y="1600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that if the alphabet has no letters, then its closure is the language with the null string as its only word; that is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∑ = ø (the empty set), then ∑* = { </a:t>
            </a:r>
            <a:r>
              <a:rPr b="1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}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Also, observe that if the set S has the null string as its only word, then the closure language S* also has the null string as its only word; that is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S = { </a:t>
            </a:r>
            <a:r>
              <a:rPr b="1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}, then S* = { </a:t>
            </a:r>
            <a:r>
              <a:rPr b="1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}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because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ΛΛ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2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Char char="•"/>
            </a:pPr>
            <a:r>
              <a:rPr b="0" i="1" lang="en-US" sz="22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Hence, the Kleene closure always produces an infinite language unless the underlying set is one of the two cases above.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7"/>
          <p:cNvSpPr txBox="1"/>
          <p:nvPr>
            <p:ph idx="4294967295" type="title"/>
          </p:nvPr>
        </p:nvSpPr>
        <p:spPr>
          <a:xfrm>
            <a:off x="0" y="38100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Kleene Closure of different sets</a:t>
            </a:r>
            <a:endParaRPr/>
          </a:p>
        </p:txBody>
      </p:sp>
      <p:sp>
        <p:nvSpPr>
          <p:cNvPr id="375" name="Google Shape;375;p37"/>
          <p:cNvSpPr txBox="1"/>
          <p:nvPr>
            <p:ph idx="4294967295" type="body"/>
          </p:nvPr>
        </p:nvSpPr>
        <p:spPr>
          <a:xfrm>
            <a:off x="0" y="1954212"/>
            <a:ext cx="8229600" cy="396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Kleene closure of two different sets can end up being the same language.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Consider two sets of words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 = { a , b, ab } and T = { a, b, bb 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Then, both S* and T* are languages of all strings of a’s and b’s since any string of a’s and b’s can be factored into syllables of (a) or (b), both of which are in S and T.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8"/>
          <p:cNvSpPr txBox="1"/>
          <p:nvPr>
            <p:ph idx="4294967295" type="title"/>
          </p:nvPr>
        </p:nvSpPr>
        <p:spPr>
          <a:xfrm>
            <a:off x="0" y="38100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Closure</a:t>
            </a:r>
            <a:endParaRPr/>
          </a:p>
        </p:txBody>
      </p:sp>
      <p:sp>
        <p:nvSpPr>
          <p:cNvPr id="383" name="Google Shape;383;p38"/>
          <p:cNvSpPr txBox="1"/>
          <p:nvPr>
            <p:ph idx="4294967295" type="body"/>
          </p:nvPr>
        </p:nvSpPr>
        <p:spPr>
          <a:xfrm>
            <a:off x="0" y="12954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wish to modify the concept of closure to refer only the concatenation of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zero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strings from a set S, we use the notation + instead of *.</a:t>
            </a:r>
            <a:endParaRPr/>
          </a:p>
          <a:p>
            <a:pPr indent="-533400" lvl="0" marL="533400" marR="0" rtl="0" algn="just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“plus operation” is called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closure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533400" lvl="0" marL="533400" marR="0" rtl="0" algn="just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if ∑ = { x } then ∑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{ x, xx, xxx, … } </a:t>
            </a:r>
            <a:endParaRPr/>
          </a:p>
          <a:p>
            <a:pPr indent="-533400" lvl="0" marL="533400" marR="0" rtl="0" algn="just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that:</a:t>
            </a:r>
            <a:endParaRPr/>
          </a:p>
          <a:p>
            <a:pPr indent="-533400" lvl="0" marL="533400" marR="0" rtl="0" algn="just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 is a language that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contain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S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language S* without the null word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533400" lvl="0" marL="533400" marR="0" rtl="0" algn="just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AutoNum type="arabicPeriod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 is a language that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contain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S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S*</a:t>
            </a:r>
            <a:endParaRPr/>
          </a:p>
          <a:p>
            <a:pPr indent="-533400" lvl="0" marL="533400" marR="0" rtl="0" algn="just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AutoNum type="arabicPeriod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Likewise, if ∑ is an alphabet, then ∑</a:t>
            </a:r>
            <a:r>
              <a:rPr b="0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∑* without the word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9"/>
          <p:cNvSpPr txBox="1"/>
          <p:nvPr>
            <p:ph idx="4294967295" type="body"/>
          </p:nvPr>
        </p:nvSpPr>
        <p:spPr>
          <a:xfrm>
            <a:off x="0" y="1524000"/>
            <a:ext cx="8153400" cy="410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if we apply the closure operator twice?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start with a set of words S and form its closure S*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then start with the set S* and try to form its closure, which we denote as (S*)* or S**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Theorem 1: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For any set S of strings, we have S* = S**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we prove the theorem, recall from Set Theory that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B if A is a subset of B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 is a subset of A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is a subset of B if for all x in A, x is also in B</a:t>
            </a:r>
            <a:endParaRPr/>
          </a:p>
        </p:txBody>
      </p:sp>
      <p:sp>
        <p:nvSpPr>
          <p:cNvPr id="391" name="Google Shape;391;p39"/>
          <p:cNvSpPr txBox="1"/>
          <p:nvPr/>
        </p:nvSpPr>
        <p:spPr>
          <a:xfrm>
            <a:off x="685800" y="457200"/>
            <a:ext cx="7315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S**?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0"/>
          <p:cNvSpPr txBox="1"/>
          <p:nvPr>
            <p:ph idx="4294967295" type="title"/>
          </p:nvPr>
        </p:nvSpPr>
        <p:spPr>
          <a:xfrm>
            <a:off x="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 of Theorem 1:</a:t>
            </a:r>
            <a:endParaRPr/>
          </a:p>
        </p:txBody>
      </p:sp>
      <p:sp>
        <p:nvSpPr>
          <p:cNvPr id="399" name="Google Shape;399;p40"/>
          <p:cNvSpPr txBox="1"/>
          <p:nvPr>
            <p:ph idx="4294967295" type="body"/>
          </p:nvPr>
        </p:nvSpPr>
        <p:spPr>
          <a:xfrm>
            <a:off x="161900" y="1158875"/>
            <a:ext cx="8305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us first prove that S** is a subset of S*: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Every word in S** is made up of factors from S*. Every factor from S* is made up of factors from S. Hence, every word from S** is made up of factors from S. Therefore, every word in S** is also a word in S*. This implies that S** is a subset of S*.</a:t>
            </a:r>
            <a:endParaRPr/>
          </a:p>
          <a:p>
            <a:pPr indent="-2032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us now prove that S* is a subset of S**: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general, it is true that for any set A, we have a subset A*, because in A* we can choose as a word any factor from A. So if we consider A to be our set S* then S* is a subset of S**</a:t>
            </a:r>
            <a:endParaRPr/>
          </a:p>
          <a:p>
            <a:pPr indent="-2032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Together, these two inclusions prove that S* = S**.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