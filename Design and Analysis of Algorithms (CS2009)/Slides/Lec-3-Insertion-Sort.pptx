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418" r:id="rId2"/>
    <p:sldId id="399" r:id="rId3"/>
    <p:sldId id="400" r:id="rId4"/>
    <p:sldId id="401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7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ADACCDD-DCAB-4ED0-919A-E792EDBF58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41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9FF1B23F-E2A3-457D-8F92-CED1B26949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40500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22BFDEC-FCBB-49DE-A0FA-3B361D499D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53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A5F62-41D1-4BDE-98B4-A345B81631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F1523-B76B-4533-9863-DBCD825F67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43A71-5665-4D7E-B1B1-7349F3148D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D0F2A-B67E-4CD9-836B-51B3ACC352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156DC-1DD0-4528-AD00-89059DA56D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B799F-B540-4526-A3BF-E55FC907A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7BF1A-AB91-4068-9EFD-A173C3631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14394-D50C-474D-87AA-05A1CF1F1A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83A2-C87C-4DA5-8F0A-2CD70C00AB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AA5BB-444E-4FD8-B693-B4B1529C1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83B55C8-E815-450D-B67D-C0E2B20366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C09D661D-BFBD-4441-8755-4DB5B172C7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smtClean="0"/>
              <a:t>   Design and 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en-US" sz="2000" dirty="0" smtClean="0"/>
          </a:p>
          <a:p>
            <a:pPr algn="ctr">
              <a:lnSpc>
                <a:spcPct val="80000"/>
              </a:lnSpc>
            </a:pPr>
            <a:endParaRPr lang="en-US" sz="1000" dirty="0" smtClean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/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139825"/>
          </a:xfrm>
        </p:spPr>
        <p:txBody>
          <a:bodyPr>
            <a:normAutofit/>
          </a:bodyPr>
          <a:lstStyle/>
          <a:p>
            <a:r>
              <a:rPr lang="en-US" dirty="0" smtClean="0"/>
              <a:t>Example Sorting </a:t>
            </a:r>
            <a:r>
              <a:rPr lang="en-US" sz="3600" dirty="0" smtClean="0"/>
              <a:t>(Insertion Sort)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6188"/>
            <a:ext cx="8229600" cy="3733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Insertion-Sort(</a:t>
            </a:r>
            <a:r>
              <a:rPr lang="en-US" dirty="0" err="1" smtClean="0"/>
              <a:t>A,n</a:t>
            </a:r>
            <a:r>
              <a:rPr lang="en-US" dirty="0" smtClean="0"/>
              <a:t>)    </a:t>
            </a:r>
            <a:r>
              <a:rPr lang="en-US" dirty="0" smtClean="0">
                <a:sym typeface="Wingdings"/>
              </a:rPr>
              <a:t> A[1 … n]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	for j = 2 to n</a:t>
            </a:r>
          </a:p>
          <a:p>
            <a:pPr marL="914400" lvl="2" indent="0">
              <a:buNone/>
            </a:pPr>
            <a:r>
              <a:rPr lang="en-US" dirty="0" smtClean="0">
                <a:sym typeface="Wingdings"/>
              </a:rPr>
              <a:t>      key = A[j]</a:t>
            </a:r>
          </a:p>
          <a:p>
            <a:pPr marL="1371600" lvl="3" indent="0">
              <a:buNone/>
            </a:pP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 = j-1</a:t>
            </a:r>
          </a:p>
          <a:p>
            <a:pPr marL="1371600" lvl="3" indent="0">
              <a:buNone/>
            </a:pPr>
            <a:r>
              <a:rPr lang="en-US" dirty="0" smtClean="0">
                <a:sym typeface="Wingdings"/>
              </a:rPr>
              <a:t>while 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 &gt; 0 and A[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] &gt; key</a:t>
            </a:r>
          </a:p>
          <a:p>
            <a:pPr marL="1371600" lvl="3" indent="0">
              <a:buNone/>
            </a:pPr>
            <a:r>
              <a:rPr lang="en-US" dirty="0" smtClean="0">
                <a:sym typeface="Wingdings"/>
              </a:rPr>
              <a:t>	A[i+1] = A[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]</a:t>
            </a:r>
          </a:p>
          <a:p>
            <a:pPr marL="1371600" lvl="3" indent="0">
              <a:buNone/>
            </a:pPr>
            <a:r>
              <a:rPr lang="en-US" dirty="0" smtClean="0">
                <a:sym typeface="Wingdings"/>
              </a:rPr>
              <a:t>	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 = </a:t>
            </a:r>
            <a:r>
              <a:rPr lang="en-US" dirty="0" err="1" smtClean="0">
                <a:sym typeface="Wingdings"/>
              </a:rPr>
              <a:t>i</a:t>
            </a:r>
            <a:r>
              <a:rPr lang="en-US" dirty="0" smtClean="0">
                <a:sym typeface="Wingdings"/>
              </a:rPr>
              <a:t> -1</a:t>
            </a:r>
          </a:p>
          <a:p>
            <a:pPr marL="1371600" lvl="3" indent="0">
              <a:buNone/>
            </a:pPr>
            <a:r>
              <a:rPr lang="en-US" dirty="0" smtClean="0">
                <a:sym typeface="Wingdings"/>
              </a:rPr>
              <a:t>A[i+1] = key</a:t>
            </a:r>
          </a:p>
          <a:p>
            <a:pPr lvl="3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5284787"/>
            <a:ext cx="67056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491545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9140" y="4903787"/>
            <a:ext cx="23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4906" y="4903787"/>
            <a:ext cx="23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740" y="4915455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0" y="5665787"/>
            <a:ext cx="50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5894387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sorted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066800" y="5818187"/>
            <a:ext cx="2667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5146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290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0000" y="5284787"/>
            <a:ext cx="381000" cy="381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457200"/>
          </a:xfrm>
        </p:spPr>
        <p:txBody>
          <a:bodyPr/>
          <a:lstStyle/>
          <a:p>
            <a:fld id="{02B868CC-9122-4483-912C-CFA4B98AF74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41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time of Insertion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running time depends on the input: an  already sorted sequence is easier to sort.</a:t>
            </a:r>
          </a:p>
          <a:p>
            <a:r>
              <a:rPr lang="en-US" dirty="0" smtClean="0"/>
              <a:t>Parameterize the running time by the size of  the input, </a:t>
            </a:r>
          </a:p>
          <a:p>
            <a:pPr lvl="1"/>
            <a:r>
              <a:rPr lang="en-US" dirty="0" smtClean="0"/>
              <a:t>short sequences are easier to sort than long ones.</a:t>
            </a:r>
          </a:p>
          <a:p>
            <a:r>
              <a:rPr lang="en-US" dirty="0" smtClean="0"/>
              <a:t>Generally, we seek upper bounds on the running time, because everybody likes a  guarantee.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68CC-9122-4483-912C-CFA4B98AF7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Kinds of Analyses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Worst-case: (Usually) </a:t>
            </a:r>
          </a:p>
          <a:p>
            <a:pPr lvl="1"/>
            <a:r>
              <a:rPr lang="en-US" dirty="0" smtClean="0"/>
              <a:t>T(n) = (maximum time of algorithm) on any input of size n.</a:t>
            </a:r>
          </a:p>
          <a:p>
            <a:r>
              <a:rPr lang="en-US" dirty="0" smtClean="0"/>
              <a:t>Average-case (Sometimes):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T(n) = (expected time of algorithm) over all inputs of size n.</a:t>
            </a:r>
          </a:p>
          <a:p>
            <a:pPr lvl="1"/>
            <a:r>
              <a:rPr lang="en-US" dirty="0" smtClean="0"/>
              <a:t>Need assumption of statistical distribution of inputs</a:t>
            </a:r>
          </a:p>
          <a:p>
            <a:r>
              <a:rPr lang="en-US" dirty="0" smtClean="0"/>
              <a:t>Best-case: (bogus)</a:t>
            </a:r>
          </a:p>
          <a:p>
            <a:pPr lvl="1"/>
            <a:r>
              <a:rPr lang="en-US" dirty="0" smtClean="0"/>
              <a:t>Cheat with a slow algorithm that works fast on some input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68CC-9122-4483-912C-CFA4B98AF74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0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Analysis of Insertion Sort</a:t>
            </a:r>
          </a:p>
        </p:txBody>
      </p:sp>
      <p:sp>
        <p:nvSpPr>
          <p:cNvPr id="1030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Time to compute the </a:t>
            </a:r>
            <a:r>
              <a:rPr lang="en-US" b="1" dirty="0" smtClean="0"/>
              <a:t>running time</a:t>
            </a:r>
            <a:r>
              <a:rPr lang="en-US" dirty="0" smtClean="0"/>
              <a:t> as a function of the </a:t>
            </a:r>
            <a:r>
              <a:rPr lang="en-US" b="1" dirty="0" smtClean="0"/>
              <a:t>input size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B87E5B-EE03-476C-A935-44DE0582F333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032" name="Rectangle 3"/>
          <p:cNvSpPr>
            <a:spLocks noChangeArrowheads="1"/>
          </p:cNvSpPr>
          <p:nvPr/>
        </p:nvSpPr>
        <p:spPr bwMode="auto">
          <a:xfrm>
            <a:off x="914400" y="3048000"/>
            <a:ext cx="41910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49" charset="0"/>
              </a:rPr>
              <a:t/>
            </a:r>
            <a:br>
              <a:rPr lang="en-US" sz="1800" b="1" dirty="0">
                <a:latin typeface="Courier New" pitchFamily="49" charset="0"/>
              </a:rPr>
            </a:br>
            <a:r>
              <a:rPr lang="en-US" sz="1800" b="1" dirty="0">
                <a:latin typeface="Courier New" pitchFamily="49" charset="0"/>
              </a:rPr>
              <a:t>1.f</a:t>
            </a:r>
            <a:r>
              <a:rPr lang="en-GB" sz="1800" b="1" dirty="0">
                <a:latin typeface="Courier New" pitchFamily="49" charset="0"/>
              </a:rPr>
              <a:t>or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GB" sz="1800" dirty="0">
                <a:latin typeface="Courier New" pitchFamily="49" charset="0"/>
              </a:rPr>
              <a:t>j=2 </a:t>
            </a:r>
            <a:r>
              <a:rPr lang="en-GB" sz="1800" b="1" dirty="0">
                <a:latin typeface="Courier New" pitchFamily="49" charset="0"/>
              </a:rPr>
              <a:t>to </a:t>
            </a:r>
            <a:r>
              <a:rPr lang="en-GB" sz="1800" i="1" dirty="0" err="1">
                <a:latin typeface="Courier New" pitchFamily="49" charset="0"/>
              </a:rPr>
              <a:t>len</a:t>
            </a:r>
            <a:r>
              <a:rPr lang="en-US" sz="1800" i="1" dirty="0" err="1">
                <a:latin typeface="Courier New" pitchFamily="49" charset="0"/>
              </a:rPr>
              <a:t>gth</a:t>
            </a:r>
            <a:r>
              <a:rPr lang="en-GB" sz="1800" dirty="0">
                <a:latin typeface="Courier New" pitchFamily="49" charset="0"/>
              </a:rPr>
              <a:t>(A)</a:t>
            </a: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2.   </a:t>
            </a:r>
            <a:r>
              <a:rPr lang="en-GB" sz="1800" b="1" dirty="0">
                <a:latin typeface="Courier New" pitchFamily="49" charset="0"/>
              </a:rPr>
              <a:t>do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GB" sz="1800" dirty="0">
                <a:latin typeface="Courier New" pitchFamily="49" charset="0"/>
              </a:rPr>
              <a:t>key=A[j]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3.</a:t>
            </a:r>
            <a:r>
              <a:rPr lang="en-US" sz="1800" dirty="0">
                <a:latin typeface="Courier New" pitchFamily="49" charset="0"/>
              </a:rPr>
              <a:t>“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insert 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A[j]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 into the</a:t>
            </a:r>
            <a:br>
              <a:rPr lang="en-US" sz="1800" dirty="0">
                <a:solidFill>
                  <a:srgbClr val="3333CC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   sorted sequence 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A[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1..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j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-1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]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”</a:t>
            </a:r>
            <a:endParaRPr lang="en-GB" sz="1800" dirty="0">
              <a:solidFill>
                <a:srgbClr val="3333CC"/>
              </a:solidFill>
              <a:latin typeface="Courier New" pitchFamily="49" charset="0"/>
            </a:endParaRP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4.    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=j-1</a:t>
            </a:r>
            <a:endParaRPr lang="en-GB" sz="1800" dirty="0">
              <a:latin typeface="Courier New" pitchFamily="49" charset="0"/>
            </a:endParaRP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5.     </a:t>
            </a:r>
            <a:r>
              <a:rPr lang="en-GB" sz="1800" b="1" dirty="0">
                <a:latin typeface="Courier New" pitchFamily="49" charset="0"/>
              </a:rPr>
              <a:t>while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&gt;0 </a:t>
            </a:r>
            <a:r>
              <a:rPr lang="en-GB" sz="1800" b="1" dirty="0">
                <a:latin typeface="Courier New" pitchFamily="49" charset="0"/>
              </a:rPr>
              <a:t>and </a:t>
            </a:r>
            <a:r>
              <a:rPr lang="en-GB" sz="1800" dirty="0">
                <a:latin typeface="Courier New" pitchFamily="49" charset="0"/>
              </a:rPr>
              <a:t>A[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]&gt;key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6.     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GB" sz="1800" b="1" dirty="0">
                <a:latin typeface="Courier New" pitchFamily="49" charset="0"/>
              </a:rPr>
              <a:t>do </a:t>
            </a:r>
            <a:r>
              <a:rPr lang="en-GB" sz="1800" dirty="0">
                <a:latin typeface="Courier New" pitchFamily="49" charset="0"/>
              </a:rPr>
              <a:t>A[i+1]=A[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]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7.        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--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8.     A[i+1</a:t>
            </a:r>
            <a:r>
              <a:rPr lang="en-GB" sz="1800" dirty="0" smtClean="0">
                <a:latin typeface="Courier New" pitchFamily="49" charset="0"/>
              </a:rPr>
              <a:t>]=</a:t>
            </a:r>
            <a:r>
              <a:rPr lang="en-GB" sz="1800" dirty="0">
                <a:latin typeface="Courier New" pitchFamily="49" charset="0"/>
              </a:rPr>
              <a:t>key</a:t>
            </a:r>
            <a:endParaRPr lang="en-GB" sz="2000" dirty="0">
              <a:latin typeface="Courier New" pitchFamily="49" charset="0"/>
            </a:endParaRPr>
          </a:p>
        </p:txBody>
      </p:sp>
      <p:sp>
        <p:nvSpPr>
          <p:cNvPr id="1033" name="Rectangle 4"/>
          <p:cNvSpPr>
            <a:spLocks noChangeArrowheads="1"/>
          </p:cNvSpPr>
          <p:nvPr/>
        </p:nvSpPr>
        <p:spPr bwMode="auto">
          <a:xfrm>
            <a:off x="5105400" y="3048000"/>
            <a:ext cx="14478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800" b="1" dirty="0">
                <a:latin typeface="Courier New" pitchFamily="49" charset="0"/>
              </a:rPr>
              <a:t>cost</a:t>
            </a:r>
            <a:br>
              <a:rPr lang="en-US" sz="1800" b="1" dirty="0">
                <a:latin typeface="Courier New" pitchFamily="49" charset="0"/>
              </a:rPr>
            </a:br>
            <a:r>
              <a:rPr lang="en-US" sz="1800" dirty="0">
                <a:latin typeface="Courier New" pitchFamily="49" charset="0"/>
              </a:rPr>
              <a:t>c</a:t>
            </a:r>
            <a:r>
              <a:rPr lang="en-US" sz="1800" baseline="-25000" dirty="0">
                <a:latin typeface="Courier New" pitchFamily="49" charset="0"/>
              </a:rPr>
              <a:t>1</a:t>
            </a: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sz="1800" baseline="-25000" dirty="0">
                <a:latin typeface="Courier New" pitchFamily="49" charset="0"/>
              </a:rPr>
              <a:t>2</a:t>
            </a: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0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 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 smtClean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4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 smtClean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5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 smtClean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6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 smtClean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7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 smtClean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8</a:t>
            </a:r>
            <a:endParaRPr lang="en-GB" sz="1800" b="1" dirty="0">
              <a:latin typeface="Courier New" pitchFamily="49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3048000"/>
            <a:ext cx="1447800" cy="2851150"/>
            <a:chOff x="4128" y="1968"/>
            <a:chExt cx="912" cy="1796"/>
          </a:xfrm>
        </p:grpSpPr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4128" y="1968"/>
              <a:ext cx="912" cy="17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b="1" dirty="0">
                  <a:latin typeface="Courier New" pitchFamily="49" charset="0"/>
                </a:rPr>
                <a:t>times</a:t>
              </a:r>
              <a:br>
                <a:rPr lang="en-US" sz="1800" b="1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/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/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/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/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endParaRPr lang="en-GB" sz="1800" b="1" dirty="0">
                <a:latin typeface="Courier New" pitchFamily="49" charset="0"/>
              </a:endParaRP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128" y="2928"/>
              <a:ext cx="760" cy="677"/>
              <a:chOff x="4128" y="2928"/>
              <a:chExt cx="760" cy="677"/>
            </a:xfrm>
          </p:grpSpPr>
          <p:graphicFrame>
            <p:nvGraphicFramePr>
              <p:cNvPr id="1026" name="Object 8"/>
              <p:cNvGraphicFramePr>
                <a:graphicFrameLocks noChangeAspect="1"/>
              </p:cNvGraphicFramePr>
              <p:nvPr/>
            </p:nvGraphicFramePr>
            <p:xfrm>
              <a:off x="4128" y="2928"/>
              <a:ext cx="48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697" name="Equation" r:id="rId3" imgW="457200" imgH="279360" progId="">
                      <p:embed/>
                    </p:oleObj>
                  </mc:Choice>
                  <mc:Fallback>
                    <p:oleObj name="Equation" r:id="rId3" imgW="457200" imgH="279360" progId="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928"/>
                            <a:ext cx="48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" name="Object 9"/>
              <p:cNvGraphicFramePr>
                <a:graphicFrameLocks noChangeAspect="1"/>
              </p:cNvGraphicFramePr>
              <p:nvPr/>
            </p:nvGraphicFramePr>
            <p:xfrm>
              <a:off x="4128" y="3120"/>
              <a:ext cx="76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698" name="Equation" r:id="rId5" imgW="723600" imgH="279360" progId="">
                      <p:embed/>
                    </p:oleObj>
                  </mc:Choice>
                  <mc:Fallback>
                    <p:oleObj name="Equation" r:id="rId5" imgW="723600" imgH="279360" progId="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3120"/>
                            <a:ext cx="76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8" name="Object 10"/>
              <p:cNvGraphicFramePr>
                <a:graphicFrameLocks noChangeAspect="1"/>
              </p:cNvGraphicFramePr>
              <p:nvPr/>
            </p:nvGraphicFramePr>
            <p:xfrm>
              <a:off x="4128" y="3312"/>
              <a:ext cx="76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699" name="Equation" r:id="rId7" imgW="723600" imgH="279360" progId="">
                      <p:embed/>
                    </p:oleObj>
                  </mc:Choice>
                  <mc:Fallback>
                    <p:oleObj name="Equation" r:id="rId7" imgW="723600" imgH="279360" progId="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3312"/>
                            <a:ext cx="76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609600" y="342900"/>
            <a:ext cx="7924800" cy="9525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Insertion-Sort Running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1A1994-859C-481B-B2B7-74B5BE50EECE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838200" y="2411413"/>
            <a:ext cx="7924800" cy="302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T(n) = c</a:t>
            </a:r>
            <a:r>
              <a:rPr lang="en-US" sz="3200" baseline="-25000" dirty="0">
                <a:latin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3200" dirty="0">
                <a:latin typeface="Times New Roman" pitchFamily="18" charset="0"/>
              </a:rPr>
              <a:t>c</a:t>
            </a:r>
            <a:r>
              <a:rPr lang="en-US" sz="3200" baseline="-25000" dirty="0">
                <a:latin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+ </a:t>
            </a:r>
            <a:r>
              <a:rPr lang="en-US" sz="3200" dirty="0">
                <a:solidFill>
                  <a:srgbClr val="3333FF"/>
                </a:solidFill>
                <a:latin typeface="Times New Roman" pitchFamily="18" charset="0"/>
              </a:rPr>
              <a:t>c</a:t>
            </a:r>
            <a:r>
              <a:rPr lang="en-US" sz="3200" baseline="-25000" dirty="0">
                <a:solidFill>
                  <a:srgbClr val="3333FF"/>
                </a:solidFill>
                <a:latin typeface="Times New Roman" pitchFamily="18" charset="0"/>
              </a:rPr>
              <a:t>3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+ 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dirty="0" smtClean="0">
                <a:latin typeface="Times New Roman" pitchFamily="18" charset="0"/>
              </a:rPr>
              <a:t>c</a:t>
            </a:r>
            <a:r>
              <a:rPr lang="en-US" sz="3200" baseline="-25000" dirty="0" smtClean="0">
                <a:latin typeface="Times New Roman" pitchFamily="18" charset="0"/>
              </a:rPr>
              <a:t>4</a:t>
            </a:r>
            <a:r>
              <a:rPr lang="en-US" sz="3200" dirty="0" smtClean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n-1) + c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dirty="0">
                <a:latin typeface="Times New Roman" pitchFamily="18" charset="0"/>
              </a:rPr>
              <a:t>) + 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           c</a:t>
            </a:r>
            <a:r>
              <a:rPr lang="en-US" sz="3200" baseline="-25000" dirty="0">
                <a:latin typeface="Times New Roman" pitchFamily="18" charset="0"/>
              </a:rPr>
              <a:t>6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 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>
                <a:latin typeface="Times New Roman" pitchFamily="18" charset="0"/>
              </a:rPr>
              <a:t>-1) ) + c</a:t>
            </a:r>
            <a:r>
              <a:rPr lang="en-US" sz="3200" baseline="-25000" dirty="0">
                <a:latin typeface="Times New Roman" pitchFamily="18" charset="0"/>
              </a:rPr>
              <a:t>7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 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>
                <a:latin typeface="Times New Roman" pitchFamily="18" charset="0"/>
              </a:rPr>
              <a:t>-1) )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	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3200" dirty="0">
                <a:latin typeface="Times New Roman" pitchFamily="18" charset="0"/>
              </a:rPr>
              <a:t>c</a:t>
            </a:r>
            <a:r>
              <a:rPr lang="en-US" sz="3200" baseline="-25000" dirty="0">
                <a:latin typeface="Times New Roman" pitchFamily="18" charset="0"/>
              </a:rPr>
              <a:t>8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</a:t>
            </a:r>
          </a:p>
          <a:p>
            <a:pPr algn="ctr">
              <a:spcBef>
                <a:spcPct val="20000"/>
              </a:spcBef>
            </a:pPr>
            <a:endParaRPr lang="en-US" i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0, of course, since it’s the comment</a:t>
            </a:r>
            <a:endParaRPr lang="en-US" sz="1800" i="1" dirty="0">
              <a:solidFill>
                <a:srgbClr val="3333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Best/Worst/Average Case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Best case</a:t>
            </a:r>
            <a:r>
              <a:rPr lang="en-US" sz="2800" dirty="0" smtClean="0"/>
              <a:t>: elements already sorted, </a:t>
            </a:r>
            <a:r>
              <a:rPr lang="en-US" sz="2800" i="1" dirty="0" err="1" smtClean="0"/>
              <a:t>t</a:t>
            </a:r>
            <a:r>
              <a:rPr lang="en-US" sz="2800" i="1" baseline="-25000" dirty="0" err="1" smtClean="0"/>
              <a:t>j</a:t>
            </a:r>
            <a:r>
              <a:rPr lang="en-US" sz="2800" i="1" dirty="0" smtClean="0"/>
              <a:t>=1, </a:t>
            </a:r>
            <a:r>
              <a:rPr lang="en-US" sz="2800" dirty="0" smtClean="0"/>
              <a:t>running time = </a:t>
            </a:r>
            <a:r>
              <a:rPr lang="en-US" sz="2800" i="1" dirty="0" smtClean="0"/>
              <a:t>f(n), </a:t>
            </a:r>
            <a:r>
              <a:rPr lang="en-US" sz="2800" dirty="0" smtClean="0"/>
              <a:t>i.e., </a:t>
            </a:r>
            <a:r>
              <a:rPr lang="en-US" sz="2800" i="1" dirty="0" smtClean="0"/>
              <a:t>linear</a:t>
            </a:r>
            <a:r>
              <a:rPr lang="en-US" sz="2800" dirty="0" smtClean="0"/>
              <a:t> time. </a:t>
            </a:r>
          </a:p>
          <a:p>
            <a:pPr eaLnBrk="1" hangingPunct="1">
              <a:lnSpc>
                <a:spcPct val="90000"/>
              </a:lnSpc>
            </a:pPr>
            <a:endParaRPr lang="en-US" sz="2800" i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Worst case</a:t>
            </a:r>
            <a:r>
              <a:rPr lang="en-US" sz="2800" dirty="0" smtClean="0"/>
              <a:t>: elements are sorted in reverse order, </a:t>
            </a:r>
            <a:r>
              <a:rPr lang="en-US" sz="2800" i="1" dirty="0" err="1" smtClean="0"/>
              <a:t>t</a:t>
            </a:r>
            <a:r>
              <a:rPr lang="en-US" sz="2800" i="1" baseline="-25000" dirty="0" err="1" smtClean="0"/>
              <a:t>j</a:t>
            </a:r>
            <a:r>
              <a:rPr lang="en-US" sz="2800" i="1" dirty="0" smtClean="0"/>
              <a:t>=j</a:t>
            </a:r>
            <a:r>
              <a:rPr lang="en-US" sz="2800" dirty="0" smtClean="0"/>
              <a:t>, running time = </a:t>
            </a:r>
            <a:r>
              <a:rPr lang="en-US" sz="2800" i="1" dirty="0" smtClean="0"/>
              <a:t>f(n</a:t>
            </a:r>
            <a:r>
              <a:rPr lang="en-US" sz="2800" i="1" baseline="30000" dirty="0" smtClean="0"/>
              <a:t>2</a:t>
            </a:r>
            <a:r>
              <a:rPr lang="en-US" sz="2800" i="1" dirty="0" smtClean="0"/>
              <a:t>), </a:t>
            </a:r>
            <a:r>
              <a:rPr lang="en-US" sz="2800" dirty="0" smtClean="0"/>
              <a:t>i.e.,</a:t>
            </a:r>
            <a:r>
              <a:rPr lang="en-US" sz="2800" i="1" dirty="0" smtClean="0"/>
              <a:t> quadratic</a:t>
            </a:r>
            <a:r>
              <a:rPr lang="en-US" sz="2800" dirty="0" smtClean="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Average case</a:t>
            </a:r>
            <a:r>
              <a:rPr lang="en-US" sz="2800" dirty="0" smtClean="0"/>
              <a:t>: </a:t>
            </a:r>
            <a:r>
              <a:rPr lang="en-US" sz="2800" i="1" dirty="0" err="1" smtClean="0"/>
              <a:t>t</a:t>
            </a:r>
            <a:r>
              <a:rPr lang="en-US" sz="2800" i="1" baseline="-25000" dirty="0" err="1" smtClean="0"/>
              <a:t>j</a:t>
            </a:r>
            <a:r>
              <a:rPr lang="en-US" sz="2800" i="1" dirty="0" smtClean="0"/>
              <a:t>=j/2, </a:t>
            </a:r>
            <a:r>
              <a:rPr lang="en-US" sz="2800" dirty="0" smtClean="0"/>
              <a:t>running time = </a:t>
            </a:r>
            <a:r>
              <a:rPr lang="en-US" sz="2800" i="1" dirty="0" smtClean="0"/>
              <a:t>f(n</a:t>
            </a:r>
            <a:r>
              <a:rPr lang="en-US" sz="2800" i="1" baseline="30000" dirty="0" smtClean="0"/>
              <a:t>2</a:t>
            </a:r>
            <a:r>
              <a:rPr lang="en-US" sz="2800" i="1" dirty="0" smtClean="0"/>
              <a:t>), </a:t>
            </a:r>
            <a:r>
              <a:rPr lang="en-US" sz="2800" dirty="0" smtClean="0"/>
              <a:t>i.e.,</a:t>
            </a:r>
            <a:r>
              <a:rPr lang="en-US" sz="2800" i="1" dirty="0" smtClean="0"/>
              <a:t> quadratic</a:t>
            </a:r>
            <a:r>
              <a:rPr lang="en-US" sz="2800" dirty="0" smtClean="0"/>
              <a:t>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747D17-3D63-43F9-9E37-45A6CC2736FE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Best Case Result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077200" cy="3581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Occurs when array is already sorted.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For each j = 2, 3,…..n we find that A[</a:t>
            </a:r>
            <a:r>
              <a:rPr lang="en-US" sz="2800" dirty="0" err="1" smtClean="0"/>
              <a:t>i</a:t>
            </a:r>
            <a:r>
              <a:rPr lang="en-US" sz="2800" dirty="0" smtClean="0"/>
              <a:t>]&lt;=key in line 5 when </a:t>
            </a:r>
            <a:r>
              <a:rPr lang="en-US" sz="2800" dirty="0" err="1" smtClean="0"/>
              <a:t>i</a:t>
            </a:r>
            <a:r>
              <a:rPr lang="en-US" sz="2800" dirty="0" smtClean="0"/>
              <a:t> has its initial value of j-1.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T(n) = c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</a:t>
            </a:r>
            <a:r>
              <a:rPr lang="en-US" sz="2800" dirty="0" smtClean="0">
                <a:cs typeface="Times New Roman" pitchFamily="18" charset="0"/>
              </a:rPr>
              <a:t>• n + (</a:t>
            </a:r>
            <a:r>
              <a:rPr lang="en-US" sz="2800" dirty="0" smtClean="0"/>
              <a:t>c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+ c</a:t>
            </a:r>
            <a:r>
              <a:rPr lang="en-US" sz="2800" baseline="-25000" dirty="0" smtClean="0"/>
              <a:t>4</a:t>
            </a:r>
            <a:r>
              <a:rPr lang="en-US" sz="2800" dirty="0" smtClean="0"/>
              <a:t>) </a:t>
            </a:r>
            <a:r>
              <a:rPr lang="en-US" sz="2800" dirty="0" smtClean="0">
                <a:cs typeface="Times New Roman" pitchFamily="18" charset="0"/>
              </a:rPr>
              <a:t>• (n-1) + c</a:t>
            </a:r>
            <a:r>
              <a:rPr lang="en-US" sz="2800" baseline="-25000" dirty="0" smtClean="0">
                <a:cs typeface="Times New Roman" pitchFamily="18" charset="0"/>
              </a:rPr>
              <a:t>5</a:t>
            </a:r>
            <a:r>
              <a:rPr lang="en-US" sz="2800" dirty="0" smtClean="0"/>
              <a:t> </a:t>
            </a:r>
            <a:r>
              <a:rPr lang="en-US" sz="2800" dirty="0" smtClean="0">
                <a:cs typeface="Times New Roman" pitchFamily="18" charset="0"/>
              </a:rPr>
              <a:t>• (</a:t>
            </a:r>
            <a:r>
              <a:rPr lang="en-US" sz="2800" dirty="0" smtClean="0">
                <a:sym typeface="Symbol" pitchFamily="18" charset="2"/>
              </a:rPr>
              <a:t>n-1</a:t>
            </a:r>
            <a:r>
              <a:rPr lang="en-US" sz="2800" dirty="0" smtClean="0"/>
              <a:t>)</a:t>
            </a:r>
            <a:r>
              <a:rPr lang="en-US" sz="2800" dirty="0" smtClean="0">
                <a:cs typeface="Times New Roman" pitchFamily="18" charset="0"/>
              </a:rPr>
              <a:t>+ </a:t>
            </a:r>
            <a:r>
              <a:rPr lang="en-US" sz="2800" dirty="0" smtClean="0"/>
              <a:t>c</a:t>
            </a:r>
            <a:r>
              <a:rPr lang="en-US" sz="2800" baseline="-25000" dirty="0" smtClean="0"/>
              <a:t>8</a:t>
            </a:r>
            <a:r>
              <a:rPr lang="en-US" sz="2800" dirty="0" smtClean="0"/>
              <a:t> </a:t>
            </a:r>
            <a:r>
              <a:rPr lang="en-US" sz="2800" dirty="0" smtClean="0">
                <a:cs typeface="Times New Roman" pitchFamily="18" charset="0"/>
              </a:rPr>
              <a:t>• (n-1)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cs typeface="Times New Roman" pitchFamily="18" charset="0"/>
              </a:rPr>
              <a:t>	= n • ( c</a:t>
            </a:r>
            <a:r>
              <a:rPr lang="en-US" sz="2800" baseline="-25000" dirty="0" smtClean="0">
                <a:cs typeface="Times New Roman" pitchFamily="18" charset="0"/>
              </a:rPr>
              <a:t>1</a:t>
            </a:r>
            <a:r>
              <a:rPr lang="en-US" sz="2800" dirty="0" smtClean="0">
                <a:cs typeface="Times New Roman" pitchFamily="18" charset="0"/>
              </a:rPr>
              <a:t> + c</a:t>
            </a:r>
            <a:r>
              <a:rPr lang="en-US" sz="2800" baseline="-25000" dirty="0" smtClean="0">
                <a:cs typeface="Times New Roman" pitchFamily="18" charset="0"/>
              </a:rPr>
              <a:t>2</a:t>
            </a:r>
            <a:r>
              <a:rPr lang="en-US" sz="2800" dirty="0" smtClean="0">
                <a:cs typeface="Times New Roman" pitchFamily="18" charset="0"/>
              </a:rPr>
              <a:t> + c</a:t>
            </a:r>
            <a:r>
              <a:rPr lang="en-US" sz="2800" baseline="-25000" dirty="0" smtClean="0">
                <a:cs typeface="Times New Roman" pitchFamily="18" charset="0"/>
              </a:rPr>
              <a:t>4</a:t>
            </a:r>
            <a:r>
              <a:rPr lang="en-US" sz="2800" dirty="0" smtClean="0">
                <a:cs typeface="Times New Roman" pitchFamily="18" charset="0"/>
              </a:rPr>
              <a:t> + c</a:t>
            </a:r>
            <a:r>
              <a:rPr lang="en-US" sz="2800" baseline="-25000" dirty="0" smtClean="0">
                <a:cs typeface="Times New Roman" pitchFamily="18" charset="0"/>
              </a:rPr>
              <a:t>5</a:t>
            </a:r>
            <a:r>
              <a:rPr lang="en-US" sz="2800" dirty="0" smtClean="0">
                <a:cs typeface="Times New Roman" pitchFamily="18" charset="0"/>
              </a:rPr>
              <a:t> + c</a:t>
            </a:r>
            <a:r>
              <a:rPr lang="en-US" sz="2800" baseline="-25000" dirty="0" smtClean="0">
                <a:cs typeface="Times New Roman" pitchFamily="18" charset="0"/>
              </a:rPr>
              <a:t>8 </a:t>
            </a:r>
            <a:r>
              <a:rPr lang="en-US" sz="2800" dirty="0" smtClean="0"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cs typeface="Times New Roman" pitchFamily="18" charset="0"/>
              </a:rPr>
              <a:t>	   + ( -c</a:t>
            </a:r>
            <a:r>
              <a:rPr lang="en-US" sz="2800" baseline="-25000" dirty="0" smtClean="0">
                <a:cs typeface="Times New Roman" pitchFamily="18" charset="0"/>
              </a:rPr>
              <a:t>2</a:t>
            </a:r>
            <a:r>
              <a:rPr lang="en-US" sz="2800" dirty="0" smtClean="0">
                <a:cs typeface="Times New Roman" pitchFamily="18" charset="0"/>
              </a:rPr>
              <a:t> – c</a:t>
            </a:r>
            <a:r>
              <a:rPr lang="en-US" sz="2800" baseline="-25000" dirty="0" smtClean="0">
                <a:cs typeface="Times New Roman" pitchFamily="18" charset="0"/>
              </a:rPr>
              <a:t>4</a:t>
            </a:r>
            <a:r>
              <a:rPr lang="en-US" sz="2800" dirty="0" smtClean="0">
                <a:cs typeface="Times New Roman" pitchFamily="18" charset="0"/>
              </a:rPr>
              <a:t>  - c</a:t>
            </a:r>
            <a:r>
              <a:rPr lang="en-US" sz="2800" baseline="-25000" dirty="0" smtClean="0">
                <a:cs typeface="Times New Roman" pitchFamily="18" charset="0"/>
              </a:rPr>
              <a:t>5</a:t>
            </a:r>
            <a:r>
              <a:rPr lang="en-US" sz="2800" dirty="0" smtClean="0">
                <a:cs typeface="Times New Roman" pitchFamily="18" charset="0"/>
              </a:rPr>
              <a:t> – c</a:t>
            </a:r>
            <a:r>
              <a:rPr lang="en-US" sz="2800" baseline="-25000" dirty="0" smtClean="0">
                <a:cs typeface="Times New Roman" pitchFamily="18" charset="0"/>
              </a:rPr>
              <a:t>8 </a:t>
            </a:r>
            <a:r>
              <a:rPr lang="en-US" sz="2800" dirty="0" smtClean="0"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cs typeface="Times New Roman" pitchFamily="18" charset="0"/>
              </a:rPr>
              <a:t>	= c</a:t>
            </a:r>
            <a:r>
              <a:rPr lang="en-US" sz="2800" baseline="-25000" dirty="0" smtClean="0">
                <a:cs typeface="Times New Roman" pitchFamily="18" charset="0"/>
              </a:rPr>
              <a:t>9</a:t>
            </a:r>
            <a:r>
              <a:rPr lang="en-US" sz="2800" dirty="0" smtClean="0">
                <a:cs typeface="Times New Roman" pitchFamily="18" charset="0"/>
              </a:rPr>
              <a:t>n + c</a:t>
            </a:r>
            <a:r>
              <a:rPr lang="en-US" sz="2800" baseline="-25000" dirty="0" smtClean="0"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cs typeface="Times New Roman" pitchFamily="18" charset="0"/>
              </a:rPr>
              <a:t>	= 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f</a:t>
            </a:r>
            <a:r>
              <a:rPr lang="en-US" sz="2800" baseline="-25000" dirty="0" smtClean="0"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sz="2800" baseline="30000" dirty="0" smtClean="0"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sz="2800" baseline="-25000" dirty="0" smtClean="0"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sz="2800" baseline="30000" dirty="0" smtClean="0">
                <a:cs typeface="Times New Roman" pitchFamily="18" charset="0"/>
                <a:sym typeface="Symbol" pitchFamily="18" charset="2"/>
              </a:rPr>
              <a:t>0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87375-CFE3-47F1-A421-EC06C4952492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4800" cy="84137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Worst Case T(n)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Occurs when the loop of lines 5-7 is executed as many times as possible, which is when A[] is in reverse sorted order.</a:t>
            </a:r>
            <a:r>
              <a:rPr lang="en-US" smtClean="0">
                <a:sym typeface="Symbol" pitchFamily="18" charset="2"/>
              </a:rPr>
              <a:t> </a:t>
            </a:r>
          </a:p>
          <a:p>
            <a:pPr eaLnBrk="1" hangingPunct="1"/>
            <a:r>
              <a:rPr lang="en-US" smtClean="0">
                <a:sym typeface="Symbol" pitchFamily="18" charset="2"/>
              </a:rPr>
              <a:t>key is A[j] from line 2</a:t>
            </a:r>
          </a:p>
          <a:p>
            <a:pPr eaLnBrk="1" hangingPunct="1"/>
            <a:r>
              <a:rPr lang="en-US" smtClean="0">
                <a:sym typeface="Symbol" pitchFamily="18" charset="2"/>
              </a:rPr>
              <a:t>i starts at j-1 from line 4</a:t>
            </a:r>
          </a:p>
          <a:p>
            <a:pPr eaLnBrk="1" hangingPunct="1"/>
            <a:r>
              <a:rPr lang="en-US" smtClean="0">
                <a:sym typeface="Symbol" pitchFamily="18" charset="2"/>
              </a:rPr>
              <a:t>i goes down to 0 due to line 7</a:t>
            </a:r>
          </a:p>
          <a:p>
            <a:pPr eaLnBrk="1" hangingPunct="1"/>
            <a:r>
              <a:rPr lang="en-US" smtClean="0">
                <a:sym typeface="Symbol" pitchFamily="18" charset="2"/>
              </a:rPr>
              <a:t>So, t</a:t>
            </a:r>
            <a:r>
              <a:rPr lang="en-US" baseline="-25000" smtClean="0">
                <a:sym typeface="Symbol" pitchFamily="18" charset="2"/>
              </a:rPr>
              <a:t>j</a:t>
            </a:r>
            <a:r>
              <a:rPr lang="en-US" smtClean="0">
                <a:sym typeface="Symbol" pitchFamily="18" charset="2"/>
              </a:rPr>
              <a:t> in lines 5-7 is [(j-1) – 0] + 1 = j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400" i="1" smtClean="0">
                <a:solidFill>
                  <a:srgbClr val="3333FF"/>
                </a:solidFill>
                <a:sym typeface="Symbol" pitchFamily="18" charset="2"/>
              </a:rPr>
              <a:t>The ‘1’ at the end is due to the test that fails, causing exit from the loop.</a:t>
            </a:r>
            <a:endParaRPr lang="en-US" sz="2400" i="1" baseline="-25000" smtClean="0">
              <a:solidFill>
                <a:srgbClr val="3333FF"/>
              </a:solidFill>
              <a:sym typeface="Symbol" pitchFamily="18" charset="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76B605-576F-4535-B931-A74203AF8B31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70125"/>
            <a:ext cx="8001000" cy="2987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T(n) = c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[n]+ 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(n-1) + </a:t>
            </a:r>
            <a:r>
              <a:rPr lang="en-US" dirty="0" smtClean="0"/>
              <a:t>c</a:t>
            </a:r>
            <a:r>
              <a:rPr lang="en-US" baseline="-25000" dirty="0" smtClean="0"/>
              <a:t>4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(n-1)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Times New Roman" pitchFamily="18" charset="0"/>
              </a:rPr>
              <a:t>	       + c</a:t>
            </a:r>
            <a:r>
              <a:rPr lang="en-US" baseline="-25000" dirty="0" smtClean="0">
                <a:cs typeface="Times New Roman" pitchFamily="18" charset="0"/>
              </a:rPr>
              <a:t>5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(</a:t>
            </a:r>
            <a:r>
              <a:rPr lang="en-US" dirty="0" smtClean="0">
                <a:sym typeface="Symbol" pitchFamily="18" charset="2"/>
              </a:rPr>
              <a:t></a:t>
            </a:r>
            <a:r>
              <a:rPr lang="en-US" baseline="-25000" dirty="0" smtClean="0">
                <a:sym typeface="Symbol" pitchFamily="18" charset="2"/>
              </a:rPr>
              <a:t>j=2,n</a:t>
            </a:r>
            <a:r>
              <a:rPr lang="en-US" dirty="0" smtClean="0">
                <a:sym typeface="Symbol" pitchFamily="18" charset="2"/>
              </a:rPr>
              <a:t> j</a:t>
            </a:r>
            <a:r>
              <a:rPr lang="en-US" dirty="0" smtClean="0"/>
              <a:t>)+ c</a:t>
            </a:r>
            <a:r>
              <a:rPr lang="en-US" baseline="-25000" dirty="0" smtClean="0"/>
              <a:t>6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[ </a:t>
            </a:r>
            <a:r>
              <a:rPr lang="en-US" dirty="0" smtClean="0">
                <a:sym typeface="Symbol" pitchFamily="18" charset="2"/>
              </a:rPr>
              <a:t></a:t>
            </a:r>
            <a:r>
              <a:rPr lang="en-US" baseline="-25000" dirty="0" smtClean="0">
                <a:sym typeface="Symbol" pitchFamily="18" charset="2"/>
              </a:rPr>
              <a:t>j=2,n</a:t>
            </a:r>
            <a:r>
              <a:rPr lang="en-US" dirty="0" smtClean="0">
                <a:sym typeface="Symbol" pitchFamily="18" charset="2"/>
              </a:rPr>
              <a:t> (j</a:t>
            </a:r>
            <a:r>
              <a:rPr lang="en-US" baseline="-25000" dirty="0" smtClean="0">
                <a:sym typeface="Symbol" pitchFamily="18" charset="2"/>
              </a:rPr>
              <a:t> </a:t>
            </a:r>
            <a:r>
              <a:rPr lang="en-US" dirty="0" smtClean="0"/>
              <a:t>-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          1) ] + c</a:t>
            </a:r>
            <a:r>
              <a:rPr lang="en-US" baseline="-25000" dirty="0" smtClean="0"/>
              <a:t>7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[ </a:t>
            </a:r>
            <a:r>
              <a:rPr lang="en-US" dirty="0" smtClean="0">
                <a:sym typeface="Symbol" pitchFamily="18" charset="2"/>
              </a:rPr>
              <a:t></a:t>
            </a:r>
            <a:r>
              <a:rPr lang="en-US" baseline="-25000" dirty="0" smtClean="0">
                <a:sym typeface="Symbol" pitchFamily="18" charset="2"/>
              </a:rPr>
              <a:t>j=2,n</a:t>
            </a:r>
            <a:r>
              <a:rPr lang="en-US" dirty="0" smtClean="0">
                <a:sym typeface="Symbol" pitchFamily="18" charset="2"/>
              </a:rPr>
              <a:t> (j</a:t>
            </a:r>
            <a:r>
              <a:rPr lang="en-US" baseline="-25000" dirty="0" smtClean="0">
                <a:sym typeface="Symbol" pitchFamily="18" charset="2"/>
              </a:rPr>
              <a:t> </a:t>
            </a:r>
            <a:r>
              <a:rPr lang="en-US" dirty="0" smtClean="0"/>
              <a:t>-1) ]</a:t>
            </a:r>
            <a:r>
              <a:rPr lang="en-US" dirty="0" smtClean="0">
                <a:cs typeface="Times New Roman" pitchFamily="18" charset="0"/>
              </a:rPr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8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Times New Roman" pitchFamily="18" charset="0"/>
              </a:rPr>
              <a:t>          (n-1) 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2B425-B778-4F7F-ABA4-751928BB86DF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86000"/>
            <a:ext cx="7315200" cy="3581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>T(n) =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>	c</a:t>
            </a:r>
            <a:r>
              <a:rPr lang="en-US" sz="2800" baseline="-25000" smtClean="0"/>
              <a:t>1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n + </a:t>
            </a:r>
            <a:r>
              <a:rPr lang="en-US" sz="2800" smtClean="0"/>
              <a:t>c</a:t>
            </a:r>
            <a:r>
              <a:rPr lang="en-US" sz="2800" baseline="-25000" smtClean="0"/>
              <a:t>2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(n-1) + </a:t>
            </a:r>
            <a:r>
              <a:rPr lang="en-US" sz="2800" smtClean="0"/>
              <a:t>c</a:t>
            </a:r>
            <a:r>
              <a:rPr lang="en-US" sz="2800" baseline="-25000" smtClean="0"/>
              <a:t>4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(n-1) + </a:t>
            </a:r>
            <a:r>
              <a:rPr lang="en-US" sz="2800" smtClean="0"/>
              <a:t>c</a:t>
            </a:r>
            <a:r>
              <a:rPr lang="en-US" sz="2800" baseline="-25000" smtClean="0"/>
              <a:t>8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(n-1)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>
                <a:cs typeface="Times New Roman" pitchFamily="18" charset="0"/>
              </a:rPr>
              <a:t>	+ c</a:t>
            </a:r>
            <a:r>
              <a:rPr lang="en-US" sz="2800" baseline="-25000" smtClean="0">
                <a:cs typeface="Times New Roman" pitchFamily="18" charset="0"/>
              </a:rPr>
              <a:t>5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j</a:t>
            </a:r>
            <a:r>
              <a:rPr lang="en-US" sz="2800" smtClean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>	+ c</a:t>
            </a:r>
            <a:r>
              <a:rPr lang="en-US" sz="2800" baseline="-25000" smtClean="0"/>
              <a:t>6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[ 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(j</a:t>
            </a:r>
            <a:r>
              <a:rPr lang="en-US" sz="2800" baseline="-25000" smtClean="0">
                <a:sym typeface="Symbol" pitchFamily="18" charset="2"/>
              </a:rPr>
              <a:t> </a:t>
            </a:r>
            <a:r>
              <a:rPr lang="en-US" sz="2800" smtClean="0"/>
              <a:t>-1) ]+ c</a:t>
            </a:r>
            <a:r>
              <a:rPr lang="en-US" sz="2800" baseline="-25000" smtClean="0"/>
              <a:t>7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[ 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(j</a:t>
            </a:r>
            <a:r>
              <a:rPr lang="en-US" sz="2800" baseline="-25000" smtClean="0">
                <a:sym typeface="Symbol" pitchFamily="18" charset="2"/>
              </a:rPr>
              <a:t> </a:t>
            </a:r>
            <a:r>
              <a:rPr lang="en-US" sz="2800" smtClean="0"/>
              <a:t>-1) 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>   = c</a:t>
            </a:r>
            <a:r>
              <a:rPr lang="en-US" sz="2800" baseline="-25000" smtClean="0"/>
              <a:t>9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n + c</a:t>
            </a:r>
            <a:r>
              <a:rPr lang="en-US" sz="2800" baseline="-25000" smtClean="0">
                <a:cs typeface="Times New Roman" pitchFamily="18" charset="0"/>
              </a:rPr>
              <a:t>10</a:t>
            </a:r>
            <a:r>
              <a:rPr lang="en-US" sz="2800" smtClean="0">
                <a:cs typeface="Times New Roman" pitchFamily="18" charset="0"/>
              </a:rPr>
              <a:t> + c</a:t>
            </a:r>
            <a:r>
              <a:rPr lang="en-US" sz="2800" baseline="-25000" smtClean="0">
                <a:cs typeface="Times New Roman" pitchFamily="18" charset="0"/>
              </a:rPr>
              <a:t>5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j</a:t>
            </a:r>
            <a:r>
              <a:rPr lang="en-US" sz="2800" smtClean="0"/>
              <a:t>) + c</a:t>
            </a:r>
            <a:r>
              <a:rPr lang="en-US" sz="2800" baseline="-25000" smtClean="0"/>
              <a:t>11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>
                <a:cs typeface="Times New Roman" pitchFamily="18" charset="0"/>
              </a:rPr>
              <a:t>      [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(j</a:t>
            </a:r>
            <a:r>
              <a:rPr lang="en-US" sz="2800" baseline="-25000" smtClean="0">
                <a:sym typeface="Symbol" pitchFamily="18" charset="2"/>
              </a:rPr>
              <a:t> </a:t>
            </a:r>
            <a:r>
              <a:rPr lang="en-US" sz="2800" smtClean="0"/>
              <a:t>-1) 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3B3D9B-8A82-4A43-BABE-1503213C4A20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010400" cy="4572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smtClean="0"/>
              <a:t>T(n) = 	c</a:t>
            </a:r>
            <a:r>
              <a:rPr lang="en-US" sz="2800" baseline="-25000" smtClean="0"/>
              <a:t>9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n + c</a:t>
            </a:r>
            <a:r>
              <a:rPr lang="en-US" sz="2800" baseline="-25000" smtClean="0">
                <a:cs typeface="Times New Roman" pitchFamily="18" charset="0"/>
              </a:rPr>
              <a:t>10</a:t>
            </a:r>
            <a:r>
              <a:rPr lang="en-US" sz="2800" smtClean="0">
                <a:cs typeface="Times New Roman" pitchFamily="18" charset="0"/>
              </a:rPr>
              <a:t> + c</a:t>
            </a:r>
            <a:r>
              <a:rPr lang="en-US" sz="2800" baseline="-25000" smtClean="0">
                <a:cs typeface="Times New Roman" pitchFamily="18" charset="0"/>
              </a:rPr>
              <a:t>5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(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j</a:t>
            </a:r>
            <a:r>
              <a:rPr lang="en-US" sz="2800" smtClean="0"/>
              <a:t>) + c</a:t>
            </a:r>
            <a:r>
              <a:rPr lang="en-US" sz="2800" baseline="-25000" smtClean="0"/>
              <a:t>11</a:t>
            </a:r>
            <a:r>
              <a:rPr lang="en-US" sz="2800" smtClean="0"/>
              <a:t> </a:t>
            </a:r>
            <a:r>
              <a:rPr lang="en-US" sz="2800" smtClean="0">
                <a:cs typeface="Times New Roman" pitchFamily="18" charset="0"/>
              </a:rPr>
              <a:t>• [ 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(j</a:t>
            </a:r>
            <a:r>
              <a:rPr lang="en-US" sz="2800" baseline="-25000" smtClean="0">
                <a:sym typeface="Symbol" pitchFamily="18" charset="2"/>
              </a:rPr>
              <a:t> </a:t>
            </a:r>
            <a:r>
              <a:rPr lang="en-US" sz="2800" smtClean="0"/>
              <a:t>-1) 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/>
              <a:t>           But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/>
              <a:t>	       </a:t>
            </a:r>
            <a:r>
              <a:rPr lang="en-US" sz="2800" smtClean="0">
                <a:sym typeface="Symbol" pitchFamily="18" charset="2"/>
              </a:rPr>
              <a:t>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j = [n(n+1)/2] –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 so that</a:t>
            </a:r>
            <a:endParaRPr lang="en-US" sz="28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	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(j-1) = </a:t>
            </a:r>
            <a:r>
              <a:rPr lang="en-US" sz="2800" baseline="-25000" smtClean="0">
                <a:sym typeface="Symbol" pitchFamily="18" charset="2"/>
              </a:rPr>
              <a:t>j=2,n </a:t>
            </a:r>
            <a:r>
              <a:rPr lang="en-US" sz="2800" smtClean="0">
                <a:sym typeface="Symbol" pitchFamily="18" charset="2"/>
              </a:rPr>
              <a:t>j – </a:t>
            </a:r>
            <a:r>
              <a:rPr lang="en-US" sz="2800" baseline="-25000" smtClean="0">
                <a:sym typeface="Symbol" pitchFamily="18" charset="2"/>
              </a:rPr>
              <a:t>j=2,n</a:t>
            </a:r>
            <a:r>
              <a:rPr lang="en-US" sz="2800" smtClean="0">
                <a:sym typeface="Symbol" pitchFamily="18" charset="2"/>
              </a:rPr>
              <a:t> (1)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		= [n(n+1)/2] – 1 – (n-2+1)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		= [n(n+1)/2] – 1 – n + 1 = n(n+1)/2 - 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		= [n(n+1)-2n]/2 = [n(n+1-2)]/2 = n(n-1)/2</a:t>
            </a:r>
          </a:p>
          <a:p>
            <a:pPr eaLnBrk="1" hangingPunct="1">
              <a:buFont typeface="Wingdings" pitchFamily="2" charset="2"/>
              <a:buNone/>
            </a:pPr>
            <a:endParaRPr lang="en-US" sz="2800" smtClean="0">
              <a:sym typeface="Symbol" pitchFamily="18" charset="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i="1" smtClean="0">
                <a:solidFill>
                  <a:srgbClr val="3333FF"/>
                </a:solidFill>
                <a:sym typeface="Symbol" pitchFamily="18" charset="2"/>
              </a:rPr>
              <a:t>Wasn’t that fun?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252D-9EAE-4FD9-93EA-1E71DCF2326B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In conclusion,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T(n) = c</a:t>
            </a:r>
            <a:r>
              <a:rPr lang="en-US" baseline="-25000" dirty="0" smtClean="0"/>
              <a:t>9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n + c</a:t>
            </a:r>
            <a:r>
              <a:rPr lang="en-US" baseline="-25000" dirty="0" smtClean="0">
                <a:cs typeface="Times New Roman" pitchFamily="18" charset="0"/>
              </a:rPr>
              <a:t>10</a:t>
            </a:r>
            <a:r>
              <a:rPr lang="en-US" dirty="0" smtClean="0">
                <a:cs typeface="Times New Roman" pitchFamily="18" charset="0"/>
              </a:rPr>
              <a:t> + c</a:t>
            </a:r>
            <a:r>
              <a:rPr lang="en-US" baseline="-25000" dirty="0" smtClean="0">
                <a:cs typeface="Times New Roman" pitchFamily="18" charset="0"/>
              </a:rPr>
              <a:t>5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</a:t>
            </a:r>
            <a:r>
              <a:rPr lang="en-US" dirty="0" smtClean="0">
                <a:sym typeface="Symbol" pitchFamily="18" charset="2"/>
              </a:rPr>
              <a:t>[n(n+1)/2] – 1</a:t>
            </a:r>
            <a:r>
              <a:rPr lang="en-US" dirty="0" smtClean="0"/>
              <a:t> + c</a:t>
            </a:r>
            <a:r>
              <a:rPr lang="en-US" baseline="-25000" dirty="0" smtClean="0"/>
              <a:t>11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</a:t>
            </a:r>
            <a:r>
              <a:rPr lang="en-US" dirty="0" smtClean="0">
                <a:sym typeface="Symbol" pitchFamily="18" charset="2"/>
              </a:rPr>
              <a:t>n(n-1)/2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	= c</a:t>
            </a:r>
            <a:r>
              <a:rPr lang="en-US" baseline="-25000" dirty="0" smtClean="0">
                <a:sym typeface="Symbol" pitchFamily="18" charset="2"/>
              </a:rPr>
              <a:t>12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cs typeface="Times New Roman" pitchFamily="18" charset="0"/>
              </a:rPr>
              <a:t>• n</a:t>
            </a:r>
            <a:r>
              <a:rPr lang="en-US" baseline="30000" dirty="0" smtClean="0">
                <a:cs typeface="Times New Roman" pitchFamily="18" charset="0"/>
              </a:rPr>
              <a:t>2</a:t>
            </a:r>
            <a:r>
              <a:rPr lang="en-US" dirty="0" smtClean="0">
                <a:cs typeface="Times New Roman" pitchFamily="18" charset="0"/>
              </a:rPr>
              <a:t> + </a:t>
            </a:r>
            <a:r>
              <a:rPr lang="en-US" dirty="0" smtClean="0"/>
              <a:t>c</a:t>
            </a:r>
            <a:r>
              <a:rPr lang="en-US" baseline="-25000" dirty="0" smtClean="0"/>
              <a:t>13</a:t>
            </a:r>
            <a:r>
              <a:rPr lang="en-US" dirty="0" smtClean="0"/>
              <a:t> </a:t>
            </a:r>
            <a:r>
              <a:rPr lang="en-US" dirty="0" smtClean="0">
                <a:cs typeface="Times New Roman" pitchFamily="18" charset="0"/>
              </a:rPr>
              <a:t>• n + c</a:t>
            </a:r>
            <a:r>
              <a:rPr lang="en-US" baseline="-25000" dirty="0" smtClean="0">
                <a:cs typeface="Times New Roman" pitchFamily="18" charset="0"/>
              </a:rPr>
              <a:t>14</a:t>
            </a:r>
            <a:r>
              <a:rPr lang="en-US" dirty="0" smtClean="0">
                <a:cs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Times New Roman" pitchFamily="18" charset="0"/>
              </a:rPr>
              <a:t>	= 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f</a:t>
            </a:r>
            <a:r>
              <a:rPr lang="en-US" baseline="-25000" dirty="0" smtClean="0">
                <a:cs typeface="Times New Roman" pitchFamily="18" charset="0"/>
                <a:sym typeface="Symbol" pitchFamily="18" charset="2"/>
              </a:rPr>
              <a:t>1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 smtClean="0">
                <a:cs typeface="Times New Roman" pitchFamily="18" charset="0"/>
                <a:sym typeface="Symbol" pitchFamily="18" charset="2"/>
              </a:rPr>
              <a:t>2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baseline="-25000" dirty="0" smtClean="0">
                <a:cs typeface="Times New Roman" pitchFamily="18" charset="0"/>
                <a:sym typeface="Symbol" pitchFamily="18" charset="2"/>
              </a:rPr>
              <a:t>2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 smtClean="0">
                <a:cs typeface="Times New Roman" pitchFamily="18" charset="0"/>
                <a:sym typeface="Symbol" pitchFamily="18" charset="2"/>
              </a:rPr>
              <a:t>1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baseline="-25000" dirty="0" smtClean="0">
                <a:cs typeface="Times New Roman" pitchFamily="18" charset="0"/>
                <a:sym typeface="Symbol" pitchFamily="18" charset="2"/>
              </a:rPr>
              <a:t>3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 smtClean="0">
                <a:cs typeface="Times New Roman" pitchFamily="18" charset="0"/>
                <a:sym typeface="Symbol" pitchFamily="18" charset="2"/>
              </a:rPr>
              <a:t>0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)</a:t>
            </a:r>
            <a:endParaRPr lang="en-US" dirty="0" smtClean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247AED-C07B-4A85-8717-2942D520DF52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Sort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insertion sort a fast sorting algorithm?</a:t>
            </a:r>
          </a:p>
          <a:p>
            <a:pPr lvl="1"/>
            <a:r>
              <a:rPr lang="en-US" dirty="0" smtClean="0"/>
              <a:t>Moderately so, for small n</a:t>
            </a:r>
          </a:p>
          <a:p>
            <a:pPr lvl="1"/>
            <a:r>
              <a:rPr lang="en-US" dirty="0" smtClean="0"/>
              <a:t>Not at all, for large 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A5F62-41D1-4BDE-98B4-A345B8163154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55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3280</TotalTime>
  <Words>529</Words>
  <Application>Microsoft Office PowerPoint</Application>
  <PresentationFormat>On-screen Show (4:3)</PresentationFormat>
  <Paragraphs>126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Courier New</vt:lpstr>
      <vt:lpstr>Garamond</vt:lpstr>
      <vt:lpstr>Symbol</vt:lpstr>
      <vt:lpstr>Times New Roman</vt:lpstr>
      <vt:lpstr>Wingdings</vt:lpstr>
      <vt:lpstr>Edge</vt:lpstr>
      <vt:lpstr>Equation</vt:lpstr>
      <vt:lpstr>   Design and Analysis of Algorithms</vt:lpstr>
      <vt:lpstr>Example Sorting (Insertion Sort)</vt:lpstr>
      <vt:lpstr>Running time of Insertion Sort</vt:lpstr>
      <vt:lpstr>Kinds of Analyses</vt:lpstr>
      <vt:lpstr>Analysis of Insertion Sort</vt:lpstr>
      <vt:lpstr>Insertion-Sort Running Time</vt:lpstr>
      <vt:lpstr>Best/Worst/Average Case</vt:lpstr>
      <vt:lpstr>Best Case Result</vt:lpstr>
      <vt:lpstr>Worst Case T(n)</vt:lpstr>
      <vt:lpstr>Worst Case T(n), ctd.</vt:lpstr>
      <vt:lpstr>Worst Case T(n), ctd.</vt:lpstr>
      <vt:lpstr>Worst Case T(n), ctd.</vt:lpstr>
      <vt:lpstr>Worst Case T(n), ctd.</vt:lpstr>
      <vt:lpstr>Insertion Sort Analysis</vt:lpstr>
    </vt:vector>
  </TitlesOfParts>
  <Company>UIBK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Lecture-2-4</dc:title>
  <dc:creator>Dr. Kashif Munir</dc:creator>
  <cp:lastModifiedBy>Admin</cp:lastModifiedBy>
  <cp:revision>731</cp:revision>
  <dcterms:created xsi:type="dcterms:W3CDTF">2005-10-13T05:19:49Z</dcterms:created>
  <dcterms:modified xsi:type="dcterms:W3CDTF">2020-09-24T07:08:09Z</dcterms:modified>
</cp:coreProperties>
</file>